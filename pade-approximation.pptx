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14"/>
  </p:notesMasterIdLst>
  <p:sldIdLst>
    <p:sldId id="256" r:id="rId3"/>
    <p:sldId id="258" r:id="rId4"/>
    <p:sldId id="259" r:id="rId5"/>
    <p:sldId id="260" r:id="rId6"/>
    <p:sldId id="263" r:id="rId7"/>
    <p:sldId id="261" r:id="rId8"/>
    <p:sldId id="267" r:id="rId9"/>
    <p:sldId id="268" r:id="rId10"/>
    <p:sldId id="269" r:id="rId11"/>
    <p:sldId id="265" r:id="rId12"/>
    <p:sldId id="266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78" autoAdjust="0"/>
  </p:normalViewPr>
  <p:slideViewPr>
    <p:cSldViewPr>
      <p:cViewPr>
        <p:scale>
          <a:sx n="100" d="100"/>
          <a:sy n="100" d="100"/>
        </p:scale>
        <p:origin x="-1944" y="-8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AFACD-3180-461E-B804-BD2AB12E3FEF}" type="datetimeFigureOut">
              <a:rPr lang="de-DE" smtClean="0"/>
              <a:t>20.10.2026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22DD9-84BF-407A-9CB5-1020395C9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94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2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71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67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2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73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78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816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35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69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001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October 20,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0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October 20,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October 20, 2026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3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36512" y="-68739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7000" b="1" dirty="0" err="1"/>
              <a:t>Padé</a:t>
            </a:r>
            <a:r>
              <a:rPr lang="de-DE" sz="7000" b="1" dirty="0"/>
              <a:t>-Approximation</a:t>
            </a:r>
            <a:endParaRPr lang="de-DE" sz="7000" b="1" dirty="0" smtClean="0"/>
          </a:p>
        </p:txBody>
      </p:sp>
      <p:sp>
        <p:nvSpPr>
          <p:cNvPr id="4" name="Textfeld 3"/>
          <p:cNvSpPr txBox="1"/>
          <p:nvPr/>
        </p:nvSpPr>
        <p:spPr>
          <a:xfrm>
            <a:off x="1115616" y="948665"/>
            <a:ext cx="89289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900" dirty="0" smtClean="0">
                <a:solidFill>
                  <a:srgbClr val="FF0000"/>
                </a:solidFill>
              </a:rPr>
              <a:t>Besser als Taylorreihen?</a:t>
            </a:r>
            <a:endParaRPr lang="de-DE" sz="4900" dirty="0">
              <a:solidFill>
                <a:srgbClr val="FF0000"/>
              </a:solidFill>
            </a:endParaRPr>
          </a:p>
        </p:txBody>
      </p:sp>
      <p:pic>
        <p:nvPicPr>
          <p:cNvPr id="1028" name="Picture 4" descr="undefined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53731" y1="23926" x2="58209" y2="59816"/>
                        <a14:foregroundMark x1="44030" y1="64110" x2="41045" y2="75767"/>
                        <a14:foregroundMark x1="39552" y1="73006" x2="63433" y2="98773"/>
                        <a14:foregroundMark x1="65299" y1="97546" x2="37687" y2="90798"/>
                        <a14:foregroundMark x1="38806" y1="48160" x2="41045" y2="14724"/>
                        <a14:foregroundMark x1="41418" y1="10429" x2="53731" y2="10736"/>
                        <a14:foregroundMark x1="53731" y1="10736" x2="60075" y2="23313"/>
                        <a14:foregroundMark x1="59328" y1="24233" x2="45896" y2="26380"/>
                        <a14:foregroundMark x1="45896" y1="26380" x2="47015" y2="21472"/>
                        <a14:foregroundMark x1="47015" y1="21472" x2="54478" y2="21472"/>
                        <a14:foregroundMark x1="54478" y1="21472" x2="44776" y2="28834"/>
                        <a14:foregroundMark x1="44776" y1="30061" x2="47388" y2="21472"/>
                        <a14:foregroundMark x1="42910" y1="14724" x2="38806" y2="28528"/>
                        <a14:foregroundMark x1="58955" y1="40184" x2="60075" y2="48773"/>
                        <a14:foregroundMark x1="62687" y1="45706" x2="61940" y2="41104"/>
                        <a14:foregroundMark x1="24254" y1="41411" x2="30970" y2="49387"/>
                        <a14:foregroundMark x1="29851" y1="45706" x2="29851" y2="42945"/>
                        <a14:foregroundMark x1="23881" y1="42945" x2="27239" y2="47239"/>
                        <a14:foregroundMark x1="30970" y1="51534" x2="30970" y2="60429"/>
                        <a14:foregroundMark x1="61940" y1="43252" x2="60448" y2="40798"/>
                        <a14:foregroundMark x1="25373" y1="35890" x2="25746" y2="41718"/>
                        <a14:foregroundMark x1="45149" y1="17485" x2="38060" y2="26687"/>
                        <a14:foregroundMark x1="38060" y1="27301" x2="54478" y2="22393"/>
                        <a14:foregroundMark x1="51493" y1="15644" x2="53358" y2="25460"/>
                        <a14:foregroundMark x1="54478" y1="19018" x2="40299" y2="27301"/>
                        <a14:foregroundMark x1="38433" y1="26074" x2="50373" y2="18098"/>
                        <a14:foregroundMark x1="50373" y1="18098" x2="43284" y2="27301"/>
                        <a14:foregroundMark x1="43284" y1="27301" x2="67164" y2="21166"/>
                        <a14:foregroundMark x1="55597" y1="21472" x2="44776" y2="285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385"/>
          <a:stretch/>
        </p:blipFill>
        <p:spPr bwMode="auto">
          <a:xfrm>
            <a:off x="-49807" y="609262"/>
            <a:ext cx="3168352" cy="455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177033"/>
            <a:ext cx="16287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1"/>
          <a:stretch/>
        </p:blipFill>
        <p:spPr bwMode="auto">
          <a:xfrm>
            <a:off x="4283968" y="2075777"/>
            <a:ext cx="4464496" cy="893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918" y="3549332"/>
            <a:ext cx="6500564" cy="1163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hteck 6"/>
          <p:cNvSpPr/>
          <p:nvPr/>
        </p:nvSpPr>
        <p:spPr>
          <a:xfrm>
            <a:off x="2571750" y="1999481"/>
            <a:ext cx="6238875" cy="10763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B050"/>
              </a:solidFill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2555776" y="3291830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u="sng" dirty="0" smtClean="0"/>
              <a:t>Beispiel</a:t>
            </a:r>
            <a:r>
              <a:rPr lang="de-DE" sz="2400" b="1" dirty="0" smtClean="0"/>
              <a:t>:</a:t>
            </a:r>
            <a:endParaRPr lang="de-DE" sz="2400" b="1" dirty="0"/>
          </a:p>
        </p:txBody>
      </p:sp>
    </p:spTree>
    <p:extLst>
      <p:ext uri="{BB962C8B-B14F-4D97-AF65-F5344CB8AC3E}">
        <p14:creationId xmlns:p14="http://schemas.microsoft.com/office/powerpoint/2010/main" val="187956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Taylorproblem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1" name="Picture 6" descr="C:\Users\Anton\Desktop\Screenshot 2024-12-18 11234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4387056" cy="59670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62" y="1419622"/>
            <a:ext cx="864096" cy="202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1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96628"/>
            <a:ext cx="4332287" cy="1091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1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32" y="3035086"/>
            <a:ext cx="1063709" cy="24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1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105" y="3035085"/>
            <a:ext cx="1200878" cy="264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119" y="3054539"/>
            <a:ext cx="1243825" cy="254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27" y="3532449"/>
            <a:ext cx="1368152" cy="233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880" y="3476568"/>
            <a:ext cx="1800200" cy="278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Rechteck 28"/>
          <p:cNvSpPr/>
          <p:nvPr/>
        </p:nvSpPr>
        <p:spPr>
          <a:xfrm>
            <a:off x="2107619" y="3435846"/>
            <a:ext cx="1560468" cy="3600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0" name="Picture 2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59019"/>
            <a:ext cx="2424187" cy="750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427" y="4011910"/>
            <a:ext cx="1533525" cy="856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820" y="915566"/>
            <a:ext cx="3975660" cy="294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4788024" y="4083918"/>
            <a:ext cx="410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Abbildung: </a:t>
            </a:r>
            <a:r>
              <a:rPr lang="de-DE" dirty="0" smtClean="0"/>
              <a:t>Entwicklung einer Taylorreihe für sin(x) bis zur 11-ten Ordnung an a=3.5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488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Padé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-Approximation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71550"/>
            <a:ext cx="2761367" cy="3358976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/>
          <p:cNvSpPr txBox="1"/>
          <p:nvPr/>
        </p:nvSpPr>
        <p:spPr>
          <a:xfrm>
            <a:off x="179512" y="4227934"/>
            <a:ext cx="30243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Henri </a:t>
            </a:r>
            <a:r>
              <a:rPr lang="de-DE" sz="2400" b="1" dirty="0" smtClean="0"/>
              <a:t>Eugène Padé </a:t>
            </a:r>
          </a:p>
          <a:p>
            <a:pPr algn="ctr"/>
            <a:r>
              <a:rPr lang="de-DE" sz="2000" dirty="0" smtClean="0"/>
              <a:t>(1863-1953)</a:t>
            </a:r>
            <a:endParaRPr lang="de-DE" sz="2000" dirty="0"/>
          </a:p>
        </p:txBody>
      </p:sp>
      <p:sp>
        <p:nvSpPr>
          <p:cNvPr id="8" name="Textfeld 7"/>
          <p:cNvSpPr txBox="1"/>
          <p:nvPr/>
        </p:nvSpPr>
        <p:spPr>
          <a:xfrm>
            <a:off x="3347864" y="699542"/>
            <a:ext cx="5400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/>
              <a:t>„Beste“ Approximation einer Funktion durch rationale Funktionen.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/>
              <a:t>Führt oft zu besseren Ergebnis als die Taylor-Approximation (kein „Verschwinden ins Unendliche“)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/>
              <a:t>Manchmal auch dann nützlich, wenn die Taylorreihe nicht konvergiert.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923678"/>
            <a:ext cx="4392488" cy="205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9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852" y="4099274"/>
            <a:ext cx="4741540" cy="848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393" y="4314466"/>
            <a:ext cx="926143" cy="292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567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Padé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-Approximation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19"/>
          <a:stretch/>
        </p:blipFill>
        <p:spPr bwMode="auto">
          <a:xfrm>
            <a:off x="173027" y="627534"/>
            <a:ext cx="8784976" cy="55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7" t="50000" r="38831"/>
          <a:stretch/>
        </p:blipFill>
        <p:spPr bwMode="auto">
          <a:xfrm>
            <a:off x="1821204" y="1147527"/>
            <a:ext cx="5055052" cy="632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70500"/>
            <a:ext cx="3816424" cy="271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9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08" y="2355726"/>
            <a:ext cx="4741540" cy="848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244056"/>
            <a:ext cx="3024336" cy="975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324928"/>
            <a:ext cx="3744416" cy="174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35496" y="2211710"/>
            <a:ext cx="90730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116" y="3204465"/>
            <a:ext cx="2676458" cy="1853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287524" y="3334221"/>
            <a:ext cx="1980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Padé</a:t>
            </a:r>
            <a:r>
              <a:rPr lang="de-DE" sz="1200" dirty="0" smtClean="0"/>
              <a:t>-Approximation des Sinus von der Ordnung [5/6]</a:t>
            </a:r>
            <a:endParaRPr lang="de-DE" sz="1200" dirty="0"/>
          </a:p>
        </p:txBody>
      </p:sp>
      <p:sp>
        <p:nvSpPr>
          <p:cNvPr id="21" name="Textfeld 20"/>
          <p:cNvSpPr txBox="1"/>
          <p:nvPr/>
        </p:nvSpPr>
        <p:spPr>
          <a:xfrm>
            <a:off x="6012160" y="4126309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Padé</a:t>
            </a:r>
            <a:r>
              <a:rPr lang="de-DE" sz="1200" dirty="0" smtClean="0"/>
              <a:t>-Approximation des natürlichen Logarithmus von der Ordnung [2/2]</a:t>
            </a:r>
            <a:endParaRPr lang="de-DE" sz="1200" dirty="0"/>
          </a:p>
        </p:txBody>
      </p:sp>
      <p:sp>
        <p:nvSpPr>
          <p:cNvPr id="2" name="Textfeld 1"/>
          <p:cNvSpPr txBox="1"/>
          <p:nvPr/>
        </p:nvSpPr>
        <p:spPr>
          <a:xfrm>
            <a:off x="3995936" y="1851670"/>
            <a:ext cx="5040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(In diesem Sinne ist „beste“ gemeint)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62593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Padé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-Approximation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19"/>
          <a:stretch/>
        </p:blipFill>
        <p:spPr bwMode="auto">
          <a:xfrm>
            <a:off x="173027" y="627534"/>
            <a:ext cx="8784976" cy="55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7" t="50000" r="38831"/>
          <a:stretch/>
        </p:blipFill>
        <p:spPr bwMode="auto">
          <a:xfrm>
            <a:off x="1821204" y="1147527"/>
            <a:ext cx="5055052" cy="632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70500"/>
            <a:ext cx="3816424" cy="271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35496" y="2283718"/>
            <a:ext cx="90730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3"/>
          <p:cNvCxnSpPr/>
          <p:nvPr/>
        </p:nvCxnSpPr>
        <p:spPr>
          <a:xfrm>
            <a:off x="755576" y="2142272"/>
            <a:ext cx="133214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/>
          <p:cNvSpPr txBox="1"/>
          <p:nvPr/>
        </p:nvSpPr>
        <p:spPr>
          <a:xfrm>
            <a:off x="107504" y="2382346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 smtClean="0"/>
              <a:t>Berechnung der </a:t>
            </a:r>
            <a:r>
              <a:rPr lang="de-DE" u="sng" dirty="0" err="1" smtClean="0"/>
              <a:t>Padé</a:t>
            </a:r>
            <a:r>
              <a:rPr lang="de-DE" u="sng" dirty="0" smtClean="0"/>
              <a:t>-Approximation</a:t>
            </a:r>
            <a:endParaRPr lang="de-DE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08" y="2854721"/>
            <a:ext cx="6983288" cy="259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32" y="3280406"/>
            <a:ext cx="6624736" cy="1019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32" y="4443958"/>
            <a:ext cx="7853476" cy="379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682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1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31"/>
          <a:stretch/>
        </p:blipFill>
        <p:spPr bwMode="auto">
          <a:xfrm>
            <a:off x="121072" y="3218388"/>
            <a:ext cx="8712968" cy="289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berechnet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Padé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-Approximation?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65"/>
          <a:stretch/>
        </p:blipFill>
        <p:spPr bwMode="auto">
          <a:xfrm>
            <a:off x="128588" y="713212"/>
            <a:ext cx="3538537" cy="293907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003"/>
          <a:stretch/>
        </p:blipFill>
        <p:spPr bwMode="auto">
          <a:xfrm>
            <a:off x="179512" y="1203599"/>
            <a:ext cx="8712968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638991"/>
            <a:ext cx="8280920" cy="1237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1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85" b="29364"/>
          <a:stretch/>
        </p:blipFill>
        <p:spPr bwMode="auto">
          <a:xfrm>
            <a:off x="151954" y="2139702"/>
            <a:ext cx="8712968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1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62" b="54469"/>
          <a:stretch/>
        </p:blipFill>
        <p:spPr bwMode="auto">
          <a:xfrm>
            <a:off x="166812" y="1563639"/>
            <a:ext cx="8712968" cy="517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1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44" b="14728"/>
          <a:stretch/>
        </p:blipFill>
        <p:spPr bwMode="auto">
          <a:xfrm>
            <a:off x="126120" y="2709158"/>
            <a:ext cx="8712968" cy="294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206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berechnet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Padé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-Approximation?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9542"/>
            <a:ext cx="8280920" cy="1237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96" y="2067694"/>
            <a:ext cx="4945691" cy="324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571750"/>
            <a:ext cx="5879812" cy="20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067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berechnet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Padé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-Approximation?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284" y="1275606"/>
            <a:ext cx="7205116" cy="1981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9" y="771550"/>
            <a:ext cx="921703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403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berechnet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Padé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-Approximation?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82725"/>
            <a:ext cx="7704856" cy="1965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319158"/>
            <a:ext cx="6624736" cy="364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99542"/>
            <a:ext cx="1296144" cy="33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418448"/>
            <a:ext cx="8352928" cy="674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883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6059160" cy="30616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10707"/>
            <a:ext cx="5112568" cy="280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635646"/>
            <a:ext cx="3024336" cy="61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355726"/>
            <a:ext cx="5688631" cy="32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82" y="2733278"/>
            <a:ext cx="677610" cy="34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148186"/>
            <a:ext cx="71262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867894"/>
            <a:ext cx="722153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82" y="4659981"/>
            <a:ext cx="5142106" cy="327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09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6059160" cy="30616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31590"/>
            <a:ext cx="6480720" cy="65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39702"/>
            <a:ext cx="2771006" cy="617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099" y="1937077"/>
            <a:ext cx="3351317" cy="293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171354"/>
            <a:ext cx="2160240" cy="688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651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136</Words>
  <Application>Microsoft Office PowerPoint</Application>
  <PresentationFormat>Bildschirmpräsentation (16:9)</PresentationFormat>
  <Paragraphs>33</Paragraphs>
  <Slides>11</Slides>
  <Notes>10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11</vt:i4>
      </vt:variant>
    </vt:vector>
  </HeadingPairs>
  <TitlesOfParts>
    <vt:vector size="13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48</cp:revision>
  <dcterms:created xsi:type="dcterms:W3CDTF">2025-09-30T10:15:36Z</dcterms:created>
  <dcterms:modified xsi:type="dcterms:W3CDTF">2026-10-19T22:18:17Z</dcterms:modified>
</cp:coreProperties>
</file>