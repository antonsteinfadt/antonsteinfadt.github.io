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  <p:sldMasterId id="2147483696" r:id="rId2"/>
  </p:sldMasterIdLst>
  <p:notesMasterIdLst>
    <p:notesMasterId r:id="rId22"/>
  </p:notesMasterIdLst>
  <p:sldIdLst>
    <p:sldId id="256" r:id="rId3"/>
    <p:sldId id="257" r:id="rId4"/>
    <p:sldId id="258" r:id="rId5"/>
    <p:sldId id="266" r:id="rId6"/>
    <p:sldId id="271" r:id="rId7"/>
    <p:sldId id="272" r:id="rId8"/>
    <p:sldId id="273" r:id="rId9"/>
    <p:sldId id="259" r:id="rId10"/>
    <p:sldId id="274" r:id="rId11"/>
    <p:sldId id="269" r:id="rId12"/>
    <p:sldId id="270" r:id="rId13"/>
    <p:sldId id="261" r:id="rId14"/>
    <p:sldId id="262" r:id="rId15"/>
    <p:sldId id="264" r:id="rId16"/>
    <p:sldId id="263" r:id="rId17"/>
    <p:sldId id="267" r:id="rId18"/>
    <p:sldId id="268" r:id="rId19"/>
    <p:sldId id="265" r:id="rId20"/>
    <p:sldId id="275" r:id="rId21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47" d="100"/>
          <a:sy n="147" d="100"/>
        </p:scale>
        <p:origin x="-594" y="-10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AF02B5-F590-4683-BF2D-A37AB1F66720}" type="datetimeFigureOut">
              <a:rPr lang="de-DE" smtClean="0"/>
              <a:t>06.04.2026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4B8473-9041-40A8-B51D-6031EE68F06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668529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05DCCD-9A90-4864-80D3-B3D07D5C9048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512069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05DCCD-9A90-4864-80D3-B3D07D5C9048}" type="slidenum">
              <a:rPr lang="en-CA" smtClean="0"/>
              <a:t>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512069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05DCCD-9A90-4864-80D3-B3D07D5C9048}" type="slidenum">
              <a:rPr lang="en-CA" smtClean="0"/>
              <a:t>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512069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05DCCD-9A90-4864-80D3-B3D07D5C9048}" type="slidenum">
              <a:rPr lang="en-CA" smtClean="0"/>
              <a:t>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512069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05DCCD-9A90-4864-80D3-B3D07D5C9048}" type="slidenum">
              <a:rPr lang="en-CA" smtClean="0"/>
              <a:t>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5120690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05DCCD-9A90-4864-80D3-B3D07D5C9048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512069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05DCCD-9A90-4864-80D3-B3D07D5C9048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512069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05DCCD-9A90-4864-80D3-B3D07D5C9048}" type="slidenum">
              <a:rPr lang="en-CA" smtClean="0"/>
              <a:t>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512069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28C03F-9F01-4F86-B08C-FCCA303DBFE3}" type="slidenum">
              <a:rPr lang="de-DE" smtClean="0"/>
              <a:t>10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9570863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E28C03F-9F01-4F86-B08C-FCCA303DBFE3}" type="slidenum">
              <a:rPr lang="de-DE" smtClean="0"/>
              <a:t>11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957086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05DCCD-9A90-4864-80D3-B3D07D5C9048}" type="slidenum">
              <a:rPr lang="en-CA" smtClean="0"/>
              <a:t>12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512069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05DCCD-9A90-4864-80D3-B3D07D5C9048}" type="slidenum">
              <a:rPr lang="en-CA" smtClean="0"/>
              <a:t>13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5120690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05DCCD-9A90-4864-80D3-B3D07D5C9048}" type="slidenum">
              <a:rPr lang="en-CA" smtClean="0"/>
              <a:t>14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5120690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05DCCD-9A90-4864-80D3-B3D07D5C9048}" type="slidenum">
              <a:rPr lang="en-CA" smtClean="0"/>
              <a:t>15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5120690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05DCCD-9A90-4864-80D3-B3D07D5C9048}" type="slidenum">
              <a:rPr lang="en-CA" smtClean="0"/>
              <a:t>16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5120690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05DCCD-9A90-4864-80D3-B3D07D5C9048}" type="slidenum">
              <a:rPr lang="en-CA" smtClean="0"/>
              <a:t>17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512069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05DCCD-9A90-4864-80D3-B3D07D5C9048}" type="slidenum">
              <a:rPr lang="en-CA" smtClean="0"/>
              <a:t>18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5120690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D05DCCD-9A90-4864-80D3-B3D07D5C9048}" type="slidenum">
              <a:rPr lang="en-CA" smtClean="0"/>
              <a:t>19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512069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57201"/>
            <a:ext cx="7772400" cy="3200400"/>
          </a:xfrm>
        </p:spPr>
        <p:txBody>
          <a:bodyPr anchor="b">
            <a:noAutofit/>
          </a:bodyPr>
          <a:lstStyle>
            <a:lvl1pPr>
              <a:lnSpc>
                <a:spcPct val="100000"/>
              </a:lnSpc>
              <a:defRPr sz="8000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714750"/>
            <a:ext cx="6400800" cy="914400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smtClean="0"/>
              <a:t>Formatvorlage des Untertitelmasters durch Klicken bearbeiten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065BE-0657-4A47-90AD-C21C55E16B19}" type="datetime4">
              <a:rPr lang="en-US" smtClean="0"/>
              <a:pPr/>
              <a:t>April 6, 2026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buFont typeface="Arial" pitchFamily="34" charset="0"/>
              <a:buChar char="•"/>
              <a:defRPr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BB8AF-C16A-4836-A92D-61834B5F0BA5}" type="datetime4">
              <a:rPr lang="en-US" smtClean="0"/>
              <a:pPr/>
              <a:t>April 6,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028701"/>
            <a:ext cx="7772400" cy="1878806"/>
          </a:xfrm>
        </p:spPr>
        <p:txBody>
          <a:bodyPr anchor="b"/>
          <a:lstStyle>
            <a:lvl1pPr algn="ct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800" kern="1200" dirty="0" smtClean="0">
                <a:solidFill>
                  <a:schemeClr val="tx2"/>
                </a:solidFill>
                <a:effectLst>
                  <a:outerShdw blurRad="63500" dist="38100" dir="5400000" algn="t" rotWithShape="0">
                    <a:prstClr val="black">
                      <a:alpha val="25000"/>
                    </a:prstClr>
                  </a:outerShdw>
                </a:effectLst>
                <a:latin typeface="+mn-lt"/>
                <a:ea typeface="+mj-ea"/>
                <a:cs typeface="+mj-cs"/>
              </a:defRPr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051573"/>
            <a:ext cx="7772400" cy="848915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D2193-4505-4A75-99BB-880C6989A757}" type="datetime4">
              <a:rPr lang="en-US" smtClean="0"/>
              <a:pPr/>
              <a:t>April 6,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4495800" y="2943225"/>
            <a:ext cx="84772" cy="63579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4695825" y="2943225"/>
            <a:ext cx="84772" cy="63579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4296728" y="2943225"/>
            <a:ext cx="84772" cy="63579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4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A18F4-33C3-445B-924C-31108C51719C}" type="datetime4">
              <a:rPr lang="en-US" smtClean="0"/>
              <a:pPr/>
              <a:t>April 6,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65760" y="1200150"/>
            <a:ext cx="4041648" cy="3394710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4040188" cy="4572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8201" y="1200150"/>
            <a:ext cx="4041775" cy="457200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7543A-E259-478F-9E0D-57BA40E442B7}" type="datetime4">
              <a:rPr lang="en-US" smtClean="0"/>
              <a:pPr/>
              <a:t>April 6, 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3"/>
          </p:nvPr>
        </p:nvSpPr>
        <p:spPr>
          <a:xfrm>
            <a:off x="457200" y="1659636"/>
            <a:ext cx="4041648" cy="2935224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4"/>
          </p:nvPr>
        </p:nvSpPr>
        <p:spPr>
          <a:xfrm>
            <a:off x="4672584" y="1659637"/>
            <a:ext cx="4041648" cy="2934890"/>
          </a:xfrm>
        </p:spPr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B012D-77A1-44B0-BB26-329BA1EE55C9}" type="datetime4">
              <a:rPr lang="en-US" smtClean="0"/>
              <a:pPr/>
              <a:t>April 6, 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7499E-3031-413E-B01E-B94970708CAA}" type="datetime4">
              <a:rPr lang="en-US" smtClean="0"/>
              <a:pPr/>
              <a:t>April 6, 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07088" y="200025"/>
            <a:ext cx="3008313" cy="1571625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>
                <a:effectLst>
                  <a:outerShdw blurRad="50800" dist="25400" dir="5400000" algn="t" rotWithShape="0">
                    <a:prstClr val="black">
                      <a:alpha val="25000"/>
                    </a:prstClr>
                  </a:outerShdw>
                </a:effectLst>
              </a:defRPr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138" y="204788"/>
            <a:ext cx="4995863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907088" y="1828801"/>
            <a:ext cx="3008313" cy="2765822"/>
          </a:xfrm>
        </p:spPr>
        <p:txBody>
          <a:bodyPr>
            <a:normAutofit/>
          </a:bodyPr>
          <a:lstStyle>
            <a:lvl1pPr marL="0" indent="0" algn="ctr">
              <a:lnSpc>
                <a:spcPct val="125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AB0C-2220-4D0E-A0DD-DB7FA0F742F4}" type="datetime4">
              <a:rPr lang="en-US" smtClean="0"/>
              <a:pPr/>
              <a:t>April 6,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9576" y="171450"/>
            <a:ext cx="5711824" cy="671513"/>
          </a:xfrm>
        </p:spPr>
        <p:txBody>
          <a:bodyPr anchor="b"/>
          <a:lstStyle>
            <a:lvl1pPr algn="ctr">
              <a:lnSpc>
                <a:spcPct val="100000"/>
              </a:lnSpc>
              <a:defRPr sz="2800" b="0"/>
            </a:lvl1pPr>
          </a:lstStyle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508126" y="857250"/>
            <a:ext cx="6054724" cy="3405783"/>
          </a:xfrm>
          <a:ln w="76200">
            <a:solidFill>
              <a:schemeClr val="bg1"/>
            </a:solidFill>
          </a:ln>
          <a:effectLst>
            <a:outerShdw blurRad="88900" dist="50800" dir="5400000" algn="ctr" rotWithShape="0">
              <a:srgbClr val="000000">
                <a:alpha val="25000"/>
              </a:srgbClr>
            </a:outerShdw>
          </a:effectLst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de-DE" smtClean="0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9576" y="4357688"/>
            <a:ext cx="5711824" cy="40005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16D63-31BF-4B94-B6C5-E20B2C63F515}" type="datetime4">
              <a:rPr lang="en-US" smtClean="0"/>
              <a:pPr/>
              <a:t>April 6, 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C3AA4-67BE-44F7-809A-3582401494AF}" type="datetime4">
              <a:rPr lang="en-US" smtClean="0"/>
              <a:pPr/>
              <a:t>April 6,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72EEB-1769-4776-AD69-E7C1260563EB}" type="datetime4">
              <a:rPr lang="en-US" smtClean="0"/>
              <a:pPr/>
              <a:t>April 6, 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85800" y="1597823"/>
            <a:ext cx="7772400" cy="1102519"/>
          </a:xfrm>
        </p:spPr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de-DE" smtClean="0"/>
              <a:t>Formatvorlage des Untertitelmasters durch Klicken bearbeiten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0065BE-0657-4A47-90AD-C21C55E16B19}" type="datetime4">
              <a:rPr lang="en-US" smtClean="0"/>
              <a:pPr/>
              <a:t>April 6, 2026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756471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BB8AF-C16A-4836-A92D-61834B5F0BA5}" type="datetime4">
              <a:rPr lang="en-US" smtClean="0"/>
              <a:pPr/>
              <a:t>April 6, 2026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0850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7D2193-4505-4A75-99BB-880C6989A757}" type="datetime4">
              <a:rPr lang="en-US" smtClean="0"/>
              <a:pPr/>
              <a:t>April 6, 2026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21396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A18F4-33C3-445B-924C-31108C51719C}" type="datetime4">
              <a:rPr lang="en-US" smtClean="0"/>
              <a:pPr/>
              <a:t>April 6, 2026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5494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4645033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4645033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F7543A-E259-478F-9E0D-57BA40E442B7}" type="datetime4">
              <a:rPr lang="en-US" smtClean="0"/>
              <a:pPr/>
              <a:t>April 6, 2026</a:t>
            </a:fld>
            <a:endParaRPr lang="en-US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9939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FB012D-77A1-44B0-BB26-329BA1EE55C9}" type="datetime4">
              <a:rPr lang="en-US" smtClean="0"/>
              <a:pPr/>
              <a:t>April 6, 2026</a:t>
            </a:fld>
            <a:endParaRPr lang="en-US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9877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B7499E-3031-413E-B01E-B94970708CAA}" type="datetime4">
              <a:rPr lang="en-US" smtClean="0"/>
              <a:pPr/>
              <a:t>April 6, 2026</a:t>
            </a:fld>
            <a:endParaRPr lang="en-US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14093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57209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75050" y="204792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457209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AB0C-2220-4D0E-A0DD-DB7FA0F742F4}" type="datetime4">
              <a:rPr lang="en-US" smtClean="0"/>
              <a:pPr/>
              <a:t>April 6, 2026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733749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792288" y="4025507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 smtClean="0"/>
              <a:t>Textmasterformat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16D63-31BF-4B94-B6C5-E20B2C63F515}" type="datetime4">
              <a:rPr lang="en-US" smtClean="0"/>
              <a:pPr/>
              <a:t>April 6, 2026</a:t>
            </a:fld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487148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C3AA4-67BE-44F7-809A-3582401494AF}" type="datetime4">
              <a:rPr lang="en-US" smtClean="0"/>
              <a:pPr/>
              <a:t>April 6, 2026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23777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172EEB-1769-4776-AD69-E7C1260563EB}" type="datetime4">
              <a:rPr lang="en-US" smtClean="0"/>
              <a:pPr/>
              <a:t>April 6, 2026</a:t>
            </a:fld>
            <a:endParaRPr lang="en-US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54ED01-E2A0-4C1E-8E21-014B99041579}" type="slidenum">
              <a:rPr lang="en-US" smtClean="0"/>
              <a:pPr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3892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20015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de-DE" smtClean="0"/>
              <a:t>Titelmasterformat durch Klicken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en-US" dirty="0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63348" y="4767263"/>
            <a:ext cx="2085975" cy="273844"/>
          </a:xfrm>
          <a:prstGeom prst="rect">
            <a:avLst/>
          </a:prstGeom>
        </p:spPr>
        <p:txBody>
          <a:bodyPr vert="horz" lIns="91440" tIns="45720" rIns="4572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62B1B13E-D5AF-485E-81A1-82A140076526}" type="datetime4">
              <a:rPr lang="en-US" smtClean="0"/>
              <a:pPr/>
              <a:t>April 6, 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59166" y="4767263"/>
            <a:ext cx="2847975" cy="273844"/>
          </a:xfrm>
          <a:prstGeom prst="rect">
            <a:avLst/>
          </a:prstGeom>
        </p:spPr>
        <p:txBody>
          <a:bodyPr vert="horz" lIns="4572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43279" y="4767263"/>
            <a:ext cx="561975" cy="273844"/>
          </a:xfrm>
          <a:prstGeom prst="rect">
            <a:avLst/>
          </a:prstGeom>
        </p:spPr>
        <p:txBody>
          <a:bodyPr vert="horz" lIns="27432" tIns="45720" rIns="4572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  <a:latin typeface="Century Gothic" pitchFamily="34" charset="0"/>
              </a:defRPr>
            </a:lvl1pPr>
          </a:lstStyle>
          <a:p>
            <a:fld id="{2754ED01-E2A0-4C1E-8E21-014B99041579}" type="slidenum">
              <a:rPr lang="en-US" smtClean="0"/>
              <a:pPr/>
              <a:t>‹Nr.›</a:t>
            </a:fld>
            <a:endParaRPr lang="en-US" dirty="0"/>
          </a:p>
        </p:txBody>
      </p:sp>
      <p:sp>
        <p:nvSpPr>
          <p:cNvPr id="7" name="Oval 6"/>
          <p:cNvSpPr/>
          <p:nvPr/>
        </p:nvSpPr>
        <p:spPr>
          <a:xfrm>
            <a:off x="8457760" y="4874538"/>
            <a:ext cx="84772" cy="63579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algn="ctr" defTabSz="914400" rtl="0" eaLnBrk="1" latinLnBrk="0" hangingPunct="1"/>
            <a:endParaRPr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Oval 7"/>
          <p:cNvSpPr/>
          <p:nvPr/>
        </p:nvSpPr>
        <p:spPr>
          <a:xfrm>
            <a:off x="569119" y="4874538"/>
            <a:ext cx="84772" cy="63579"/>
          </a:xfrm>
          <a:prstGeom prst="ellipse">
            <a:avLst/>
          </a:prstGeom>
          <a:solidFill>
            <a:schemeClr val="tx1">
              <a:lumMod val="50000"/>
              <a:lumOff val="50000"/>
            </a:schemeClr>
          </a:solidFill>
          <a:ln w="127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ctr" defTabSz="914400" rtl="0" eaLnBrk="1" latinLnBrk="0" hangingPunct="1">
        <a:lnSpc>
          <a:spcPts val="5800"/>
        </a:lnSpc>
        <a:spcBef>
          <a:spcPct val="0"/>
        </a:spcBef>
        <a:buNone/>
        <a:defRPr sz="5400" kern="1200">
          <a:solidFill>
            <a:schemeClr val="tx2"/>
          </a:solidFill>
          <a:effectLst>
            <a:outerShdw blurRad="63500" dist="38100" dir="5400000" algn="t" rotWithShape="0">
              <a:prstClr val="black">
                <a:alpha val="25000"/>
              </a:prstClr>
            </a:outerShdw>
          </a:effectLst>
          <a:latin typeface="+mn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Courier New" pitchFamily="49" charset="0"/>
        <a:buChar char="o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>
              <a:lumMod val="50000"/>
              <a:lumOff val="50000"/>
            </a:schemeClr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smtClean="0"/>
              <a:t>Titelmasterformat durch Klicken bearbeiten</a:t>
            </a:r>
            <a:endParaRPr lang="de-DE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smtClean="0"/>
              <a:t>Textmasterformat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B1B13E-D5AF-485E-81A1-82A140076526}" type="datetime4">
              <a:rPr lang="en-US" smtClean="0"/>
              <a:pPr/>
              <a:t>April 6, 2026</a:t>
            </a:fld>
            <a:endParaRPr lang="en-US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54ED01-E2A0-4C1E-8E21-014B99041579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2163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gif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de/books/edition/Die_Geometrie/x3jOGK-D8jwC?hl=de&amp;gbpv=1&amp;dq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png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5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5.png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12" Type="http://schemas.openxmlformats.org/officeDocument/2006/relationships/image" Target="../media/image5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9.png"/><Relationship Id="rId11" Type="http://schemas.openxmlformats.org/officeDocument/2006/relationships/image" Target="../media/image54.png"/><Relationship Id="rId5" Type="http://schemas.openxmlformats.org/officeDocument/2006/relationships/image" Target="../media/image48.png"/><Relationship Id="rId10" Type="http://schemas.openxmlformats.org/officeDocument/2006/relationships/image" Target="../media/image53.png"/><Relationship Id="rId4" Type="http://schemas.openxmlformats.org/officeDocument/2006/relationships/image" Target="../media/image47.png"/><Relationship Id="rId9" Type="http://schemas.openxmlformats.org/officeDocument/2006/relationships/image" Target="../media/image5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6.png"/><Relationship Id="rId7" Type="http://schemas.openxmlformats.org/officeDocument/2006/relationships/image" Target="../media/image6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5.png"/><Relationship Id="rId5" Type="http://schemas.openxmlformats.org/officeDocument/2006/relationships/image" Target="../media/image64.png"/><Relationship Id="rId4" Type="http://schemas.openxmlformats.org/officeDocument/2006/relationships/image" Target="../media/image63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png"/><Relationship Id="rId3" Type="http://schemas.openxmlformats.org/officeDocument/2006/relationships/image" Target="../media/image66.png"/><Relationship Id="rId7" Type="http://schemas.openxmlformats.org/officeDocument/2006/relationships/image" Target="../media/image7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9.png"/><Relationship Id="rId5" Type="http://schemas.openxmlformats.org/officeDocument/2006/relationships/image" Target="../media/image68.png"/><Relationship Id="rId4" Type="http://schemas.openxmlformats.org/officeDocument/2006/relationships/image" Target="../media/image67.png"/><Relationship Id="rId9" Type="http://schemas.openxmlformats.org/officeDocument/2006/relationships/image" Target="../media/image7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uppieren 8"/>
          <p:cNvGrpSpPr/>
          <p:nvPr/>
        </p:nvGrpSpPr>
        <p:grpSpPr>
          <a:xfrm>
            <a:off x="2843808" y="1943410"/>
            <a:ext cx="3714286" cy="3203381"/>
            <a:chOff x="3028588" y="1943410"/>
            <a:chExt cx="3714286" cy="3203381"/>
          </a:xfrm>
        </p:grpSpPr>
        <p:pic>
          <p:nvPicPr>
            <p:cNvPr id="7" name="Picture 2" descr="https://i.gyazo.com/df26b78b2c3884b888197b23350ee4d9.pn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28588" y="1943410"/>
              <a:ext cx="3714286" cy="32033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Ellipse 7"/>
            <p:cNvSpPr/>
            <p:nvPr/>
          </p:nvSpPr>
          <p:spPr>
            <a:xfrm>
              <a:off x="5301888" y="4309961"/>
              <a:ext cx="288032" cy="288032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pic>
        <p:nvPicPr>
          <p:cNvPr id="4" name="Picture 4" descr="Big Thinker: French philosopher René Descartes - The Ethics Centre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0" b="100000" l="23786" r="65786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7667" r="34609"/>
          <a:stretch/>
        </p:blipFill>
        <p:spPr bwMode="auto">
          <a:xfrm>
            <a:off x="-682" y="-20538"/>
            <a:ext cx="3335846" cy="5164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hteck 4"/>
          <p:cNvSpPr/>
          <p:nvPr/>
        </p:nvSpPr>
        <p:spPr>
          <a:xfrm>
            <a:off x="2689475" y="8721"/>
            <a:ext cx="6342378" cy="209288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de-DE" sz="6500" b="1" dirty="0" smtClean="0"/>
              <a:t>Vorzeichenregel</a:t>
            </a:r>
          </a:p>
          <a:p>
            <a:pPr algn="ctr"/>
            <a:r>
              <a:rPr lang="de-DE" sz="6500" b="1" dirty="0" smtClean="0">
                <a:solidFill>
                  <a:srgbClr val="FF0000"/>
                </a:solidFill>
              </a:rPr>
              <a:t>von</a:t>
            </a:r>
            <a:r>
              <a:rPr lang="de-DE" sz="6500" b="1" dirty="0" smtClean="0"/>
              <a:t> </a:t>
            </a:r>
            <a:r>
              <a:rPr lang="de-DE" sz="6500" b="1" dirty="0" smtClean="0">
                <a:solidFill>
                  <a:srgbClr val="FF0000"/>
                </a:solidFill>
              </a:rPr>
              <a:t>Descartes</a:t>
            </a:r>
          </a:p>
        </p:txBody>
      </p:sp>
      <p:pic>
        <p:nvPicPr>
          <p:cNvPr id="6" name="Picture 2" descr="undefined"/>
          <p:cNvPicPr>
            <a:picLocks noChangeAspect="1" noChangeArrowheads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57" t="3794" r="4536" b="22068"/>
          <a:stretch/>
        </p:blipFill>
        <p:spPr bwMode="auto">
          <a:xfrm flipH="1">
            <a:off x="6191895" y="2179330"/>
            <a:ext cx="2952328" cy="29775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02789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Textfeld 3"/>
          <p:cNvSpPr txBox="1"/>
          <p:nvPr/>
        </p:nvSpPr>
        <p:spPr>
          <a:xfrm>
            <a:off x="1691680" y="-29249"/>
            <a:ext cx="57606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Vorzeichenregel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von Descartes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extfeld 4"/>
          <p:cNvSpPr txBox="1"/>
          <p:nvPr/>
        </p:nvSpPr>
        <p:spPr>
          <a:xfrm>
            <a:off x="363110" y="652495"/>
            <a:ext cx="53285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u="sng" dirty="0" err="1" smtClean="0"/>
              <a:t>Anzahl</a:t>
            </a:r>
            <a:r>
              <a:rPr lang="en-CA" u="sng" dirty="0" smtClean="0"/>
              <a:t> </a:t>
            </a:r>
            <a:r>
              <a:rPr lang="en-CA" u="sng" dirty="0" err="1" smtClean="0">
                <a:solidFill>
                  <a:schemeClr val="accent3"/>
                </a:solidFill>
              </a:rPr>
              <a:t>positiver</a:t>
            </a:r>
            <a:r>
              <a:rPr lang="en-CA" u="sng" dirty="0" smtClean="0">
                <a:solidFill>
                  <a:schemeClr val="accent3"/>
                </a:solidFill>
              </a:rPr>
              <a:t> </a:t>
            </a:r>
            <a:r>
              <a:rPr lang="en-CA" u="sng" dirty="0" err="1" smtClean="0"/>
              <a:t>Nullstellen</a:t>
            </a:r>
            <a:r>
              <a:rPr lang="en-CA" u="sng" dirty="0" smtClean="0"/>
              <a:t> </a:t>
            </a:r>
            <a:r>
              <a:rPr lang="en-CA" u="sng" dirty="0" err="1" smtClean="0"/>
              <a:t>eines</a:t>
            </a:r>
            <a:r>
              <a:rPr lang="en-CA" u="sng" dirty="0" smtClean="0"/>
              <a:t> </a:t>
            </a:r>
            <a:r>
              <a:rPr lang="en-CA" u="sng" dirty="0" err="1" smtClean="0"/>
              <a:t>reellen</a:t>
            </a:r>
            <a:r>
              <a:rPr lang="en-CA" u="sng" dirty="0" smtClean="0"/>
              <a:t> </a:t>
            </a:r>
            <a:r>
              <a:rPr lang="en-CA" u="sng" dirty="0" err="1" smtClean="0"/>
              <a:t>Polynoms</a:t>
            </a:r>
            <a:endParaRPr lang="en-CA" u="sng" dirty="0"/>
          </a:p>
        </p:txBody>
      </p:sp>
      <p:pic>
        <p:nvPicPr>
          <p:cNvPr id="1030" name="Picture 6" descr="https://i.gyazo.com/8c42aeffe81d9e6d1b9b47d2325ed03a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5688" y="2619396"/>
            <a:ext cx="4176464" cy="468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eschweifte Klammer links 6"/>
          <p:cNvSpPr/>
          <p:nvPr/>
        </p:nvSpPr>
        <p:spPr>
          <a:xfrm rot="16200000">
            <a:off x="2609375" y="1208280"/>
            <a:ext cx="202204" cy="3960440"/>
          </a:xfrm>
          <a:prstGeom prst="lef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8" name="Textfeld 7"/>
          <p:cNvSpPr txBox="1"/>
          <p:nvPr/>
        </p:nvSpPr>
        <p:spPr>
          <a:xfrm>
            <a:off x="605688" y="3424390"/>
            <a:ext cx="49979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 smtClean="0"/>
              <a:t>4 Vorzeichenwechsel </a:t>
            </a:r>
            <a:r>
              <a:rPr lang="de-DE" dirty="0" smtClean="0"/>
              <a:t>⇒ 4, 2 Nullstellen oder keine  </a:t>
            </a:r>
            <a:endParaRPr lang="en-CA" dirty="0"/>
          </a:p>
        </p:txBody>
      </p:sp>
      <p:pic>
        <p:nvPicPr>
          <p:cNvPr id="1032" name="Picture 8" descr="https://i.gyazo.com/950e68c2987a8dba174606f54acf295d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5255" y="979229"/>
            <a:ext cx="8327758" cy="8432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https://i.gyazo.com/8e382e946e1d368f496880ad51e2ab35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38577" y="2000864"/>
            <a:ext cx="2227485" cy="2853827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feld 2"/>
          <p:cNvSpPr txBox="1"/>
          <p:nvPr/>
        </p:nvSpPr>
        <p:spPr>
          <a:xfrm>
            <a:off x="401271" y="2062497"/>
            <a:ext cx="12650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sz="2400" u="sng" dirty="0" err="1" smtClean="0">
                <a:latin typeface="Arial" panose="020B0604020202020204" pitchFamily="34" charset="0"/>
                <a:cs typeface="Arial" panose="020B0604020202020204" pitchFamily="34" charset="0"/>
              </a:rPr>
              <a:t>Beispiel</a:t>
            </a:r>
            <a:endParaRPr lang="en-CA" sz="2400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Rechteck 10"/>
          <p:cNvSpPr/>
          <p:nvPr/>
        </p:nvSpPr>
        <p:spPr>
          <a:xfrm>
            <a:off x="3134152" y="3480654"/>
            <a:ext cx="1196505" cy="256803"/>
          </a:xfrm>
          <a:prstGeom prst="rect">
            <a:avLst/>
          </a:prstGeom>
          <a:noFill/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13" name="Gerade Verbindung mit Pfeil 12"/>
          <p:cNvCxnSpPr/>
          <p:nvPr/>
        </p:nvCxnSpPr>
        <p:spPr>
          <a:xfrm>
            <a:off x="4330657" y="3737457"/>
            <a:ext cx="3256255" cy="523368"/>
          </a:xfrm>
          <a:prstGeom prst="straightConnector1">
            <a:avLst/>
          </a:prstGeom>
          <a:ln>
            <a:solidFill>
              <a:schemeClr val="accent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Gerade Verbindung mit Pfeil 18"/>
          <p:cNvCxnSpPr/>
          <p:nvPr/>
        </p:nvCxnSpPr>
        <p:spPr>
          <a:xfrm>
            <a:off x="4330657" y="3480654"/>
            <a:ext cx="3463174" cy="777021"/>
          </a:xfrm>
          <a:prstGeom prst="straightConnector1">
            <a:avLst/>
          </a:prstGeom>
          <a:ln>
            <a:solidFill>
              <a:schemeClr val="accent3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51192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3" grpId="0"/>
      <p:bldP spid="11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Textfeld 3"/>
          <p:cNvSpPr txBox="1"/>
          <p:nvPr/>
        </p:nvSpPr>
        <p:spPr>
          <a:xfrm>
            <a:off x="1691680" y="-29249"/>
            <a:ext cx="57606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Vorzeichenregel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von Descartes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Textfeld 4"/>
          <p:cNvSpPr txBox="1"/>
          <p:nvPr/>
        </p:nvSpPr>
        <p:spPr>
          <a:xfrm>
            <a:off x="363110" y="652495"/>
            <a:ext cx="53285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u="sng" dirty="0" err="1" smtClean="0"/>
              <a:t>Anzahl</a:t>
            </a:r>
            <a:r>
              <a:rPr lang="en-CA" u="sng" dirty="0" smtClean="0"/>
              <a:t> </a:t>
            </a:r>
            <a:r>
              <a:rPr lang="en-CA" u="sng" dirty="0" err="1" smtClean="0">
                <a:solidFill>
                  <a:schemeClr val="accent3"/>
                </a:solidFill>
              </a:rPr>
              <a:t>positiver</a:t>
            </a:r>
            <a:r>
              <a:rPr lang="en-CA" u="sng" dirty="0" smtClean="0">
                <a:solidFill>
                  <a:schemeClr val="accent3"/>
                </a:solidFill>
              </a:rPr>
              <a:t> </a:t>
            </a:r>
            <a:r>
              <a:rPr lang="en-CA" u="sng" dirty="0" err="1" smtClean="0"/>
              <a:t>Nullstellen</a:t>
            </a:r>
            <a:r>
              <a:rPr lang="en-CA" u="sng" dirty="0" smtClean="0"/>
              <a:t> </a:t>
            </a:r>
            <a:r>
              <a:rPr lang="en-CA" u="sng" dirty="0" err="1" smtClean="0"/>
              <a:t>eines</a:t>
            </a:r>
            <a:r>
              <a:rPr lang="en-CA" u="sng" dirty="0" smtClean="0"/>
              <a:t> </a:t>
            </a:r>
            <a:r>
              <a:rPr lang="en-CA" u="sng" dirty="0" err="1" smtClean="0"/>
              <a:t>reellen</a:t>
            </a:r>
            <a:r>
              <a:rPr lang="en-CA" u="sng" dirty="0" smtClean="0"/>
              <a:t> </a:t>
            </a:r>
            <a:r>
              <a:rPr lang="en-CA" u="sng" dirty="0" err="1" smtClean="0"/>
              <a:t>Polynoms</a:t>
            </a:r>
            <a:endParaRPr lang="en-CA" u="sng" dirty="0"/>
          </a:p>
        </p:txBody>
      </p:sp>
      <p:sp>
        <p:nvSpPr>
          <p:cNvPr id="9" name="Textfeld 8"/>
          <p:cNvSpPr txBox="1"/>
          <p:nvPr/>
        </p:nvSpPr>
        <p:spPr>
          <a:xfrm>
            <a:off x="4362946" y="1291575"/>
            <a:ext cx="3750022" cy="400110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CA" sz="2000" dirty="0" smtClean="0"/>
              <a:t>Auf </a:t>
            </a:r>
            <a:r>
              <a:rPr lang="en-CA" sz="2000" dirty="0" err="1" smtClean="0"/>
              <a:t>Vielfachheiten</a:t>
            </a:r>
            <a:r>
              <a:rPr lang="en-CA" sz="2000" dirty="0" smtClean="0"/>
              <a:t> </a:t>
            </a:r>
            <a:r>
              <a:rPr lang="en-CA" sz="2000" dirty="0" err="1" smtClean="0"/>
              <a:t>achten</a:t>
            </a:r>
            <a:r>
              <a:rPr lang="en-CA" sz="2000" dirty="0" smtClean="0"/>
              <a:t>!</a:t>
            </a:r>
            <a:endParaRPr lang="en-CA" sz="2000" dirty="0"/>
          </a:p>
        </p:txBody>
      </p:sp>
      <p:pic>
        <p:nvPicPr>
          <p:cNvPr id="1026" name="Picture 2" descr="https://i.gyazo.com/df26b78b2c3884b888197b23350ee4d9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48" y="1391235"/>
            <a:ext cx="3714286" cy="32033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8" descr="https://i.gyazo.com/1dd6e069c3b742d2c3b4f177ea47198e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08163" y="2618478"/>
            <a:ext cx="2020021" cy="3298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feld 5"/>
          <p:cNvSpPr txBox="1"/>
          <p:nvPr/>
        </p:nvSpPr>
        <p:spPr>
          <a:xfrm>
            <a:off x="4116364" y="2948370"/>
            <a:ext cx="47761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dirty="0" smtClean="0"/>
              <a:t>2 Vorzeichenwechsel </a:t>
            </a:r>
            <a:r>
              <a:rPr lang="de-DE" dirty="0" smtClean="0"/>
              <a:t>⇒ 2 oder 0 pos. Nullstellen</a:t>
            </a:r>
            <a:r>
              <a:rPr lang="en-CA" dirty="0" smtClean="0"/>
              <a:t> </a:t>
            </a:r>
            <a:endParaRPr lang="en-CA" dirty="0"/>
          </a:p>
        </p:txBody>
      </p:sp>
      <p:sp>
        <p:nvSpPr>
          <p:cNvPr id="14" name="Ellipse 13"/>
          <p:cNvSpPr/>
          <p:nvPr/>
        </p:nvSpPr>
        <p:spPr>
          <a:xfrm>
            <a:off x="2283748" y="3757786"/>
            <a:ext cx="288032" cy="28803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20" name="Textfeld 19"/>
          <p:cNvSpPr txBox="1"/>
          <p:nvPr/>
        </p:nvSpPr>
        <p:spPr>
          <a:xfrm>
            <a:off x="4051075" y="4003168"/>
            <a:ext cx="4891039" cy="646331"/>
          </a:xfrm>
          <a:prstGeom prst="rect">
            <a:avLst/>
          </a:prstGeom>
          <a:noFill/>
          <a:ln w="28575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CA" b="1" i="1" dirty="0" err="1" smtClean="0"/>
              <a:t>Folgerung</a:t>
            </a:r>
            <a:r>
              <a:rPr lang="en-CA" b="1" i="1" dirty="0" smtClean="0"/>
              <a:t>: </a:t>
            </a:r>
            <a:r>
              <a:rPr lang="en-CA" dirty="0" err="1" smtClean="0"/>
              <a:t>Nur</a:t>
            </a:r>
            <a:r>
              <a:rPr lang="en-CA" dirty="0" smtClean="0"/>
              <a:t> </a:t>
            </a:r>
            <a:r>
              <a:rPr lang="en-CA" dirty="0" err="1" smtClean="0"/>
              <a:t>ein</a:t>
            </a:r>
            <a:r>
              <a:rPr lang="en-CA" dirty="0" smtClean="0"/>
              <a:t> VZW </a:t>
            </a:r>
            <a:r>
              <a:rPr lang="de-DE" dirty="0" smtClean="0"/>
              <a:t>⇒ Das reelle Polynom hat </a:t>
            </a:r>
            <a:r>
              <a:rPr lang="de-DE" i="1" dirty="0" smtClean="0"/>
              <a:t>genau</a:t>
            </a:r>
            <a:r>
              <a:rPr lang="de-DE" dirty="0" smtClean="0"/>
              <a:t> </a:t>
            </a:r>
            <a:r>
              <a:rPr lang="de-DE" i="1" dirty="0" smtClean="0"/>
              <a:t>eine</a:t>
            </a:r>
            <a:r>
              <a:rPr lang="de-DE" dirty="0" smtClean="0"/>
              <a:t> </a:t>
            </a:r>
            <a:r>
              <a:rPr lang="de-DE" i="1" dirty="0" smtClean="0"/>
              <a:t>einfache</a:t>
            </a:r>
            <a:r>
              <a:rPr lang="de-DE" dirty="0" smtClean="0"/>
              <a:t> positive Nullstelle</a:t>
            </a:r>
            <a:endParaRPr lang="en-CA" dirty="0"/>
          </a:p>
        </p:txBody>
      </p:sp>
      <p:sp>
        <p:nvSpPr>
          <p:cNvPr id="15" name="Rechteck 14"/>
          <p:cNvSpPr/>
          <p:nvPr/>
        </p:nvSpPr>
        <p:spPr>
          <a:xfrm>
            <a:off x="4110252" y="2200921"/>
            <a:ext cx="9284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CA" b="1" u="sng" dirty="0" err="1" smtClean="0"/>
              <a:t>Beispiel</a:t>
            </a:r>
            <a:endParaRPr lang="en-CA" b="1" u="sng" dirty="0"/>
          </a:p>
        </p:txBody>
      </p:sp>
    </p:spTree>
    <p:extLst>
      <p:ext uri="{BB962C8B-B14F-4D97-AF65-F5344CB8AC3E}">
        <p14:creationId xmlns:p14="http://schemas.microsoft.com/office/powerpoint/2010/main" val="26841123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6" grpId="0"/>
      <p:bldP spid="14" grpId="0" animBg="1"/>
      <p:bldP spid="20" grpId="0" animBg="1"/>
      <p:bldP spid="1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Textfeld 3"/>
          <p:cNvSpPr txBox="1"/>
          <p:nvPr/>
        </p:nvSpPr>
        <p:spPr>
          <a:xfrm>
            <a:off x="1691680" y="-29249"/>
            <a:ext cx="57606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Descartes’ </a:t>
            </a:r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eigene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Überlegungen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Rechteck 2"/>
          <p:cNvSpPr/>
          <p:nvPr/>
        </p:nvSpPr>
        <p:spPr>
          <a:xfrm>
            <a:off x="7236296" y="3219822"/>
            <a:ext cx="57606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de-DE" dirty="0" smtClean="0">
                <a:hlinkClick r:id="rId3"/>
              </a:rPr>
              <a:t>Hier</a:t>
            </a:r>
            <a:endParaRPr lang="de-DE" dirty="0"/>
          </a:p>
        </p:txBody>
      </p:sp>
      <p:pic>
        <p:nvPicPr>
          <p:cNvPr id="13" name="Picture 4" descr="Big Thinker: French philosopher René Descartes - The Ethics Centre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0" b="100000" l="23786" r="65786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7667" r="34609"/>
          <a:stretch/>
        </p:blipFill>
        <p:spPr bwMode="auto">
          <a:xfrm>
            <a:off x="-36512" y="555526"/>
            <a:ext cx="2976990" cy="46085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Picture 2" descr="La Géométrie – Wikipedia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7621" y="797472"/>
            <a:ext cx="3584147" cy="41967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feld 6"/>
          <p:cNvSpPr txBox="1"/>
          <p:nvPr/>
        </p:nvSpPr>
        <p:spPr>
          <a:xfrm>
            <a:off x="6300192" y="771550"/>
            <a:ext cx="264874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b="1" dirty="0" smtClean="0"/>
              <a:t>Eckdaten: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de-DE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 smtClean="0"/>
              <a:t>1637 </a:t>
            </a:r>
            <a:r>
              <a:rPr lang="de-DE" sz="1400" dirty="0"/>
              <a:t>erschienen, Grundtext der analytischen Geometrie.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Verbindet Algebra und Geometrie über Gleichungen.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de-DE" sz="1400" dirty="0"/>
              <a:t>Behandelt Kurven, Konstruktionen und Lösungen von Gleichungen.</a:t>
            </a:r>
          </a:p>
          <a:p>
            <a:endParaRPr lang="de-DE" sz="1400" dirty="0"/>
          </a:p>
        </p:txBody>
      </p:sp>
    </p:spTree>
    <p:extLst>
      <p:ext uri="{BB962C8B-B14F-4D97-AF65-F5344CB8AC3E}">
        <p14:creationId xmlns:p14="http://schemas.microsoft.com/office/powerpoint/2010/main" val="1249188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Textfeld 3"/>
          <p:cNvSpPr txBox="1"/>
          <p:nvPr/>
        </p:nvSpPr>
        <p:spPr>
          <a:xfrm>
            <a:off x="1691680" y="-29249"/>
            <a:ext cx="57606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Descartes’ </a:t>
            </a:r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eigene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Überlegungen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2103" y="699542"/>
            <a:ext cx="7272808" cy="6399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578" y="1558749"/>
            <a:ext cx="7992888" cy="7249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001" y="2499742"/>
            <a:ext cx="7373391" cy="7404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3363838"/>
            <a:ext cx="7200800" cy="16557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23954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Textfeld 3"/>
          <p:cNvSpPr txBox="1"/>
          <p:nvPr/>
        </p:nvSpPr>
        <p:spPr>
          <a:xfrm>
            <a:off x="1691680" y="-29249"/>
            <a:ext cx="57606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Descartes’ </a:t>
            </a:r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eigene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Überlegungen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758292"/>
            <a:ext cx="7920880" cy="8053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779662"/>
            <a:ext cx="8352928" cy="16575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3616448"/>
            <a:ext cx="8352928" cy="6114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93510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Textfeld 3"/>
          <p:cNvSpPr txBox="1"/>
          <p:nvPr/>
        </p:nvSpPr>
        <p:spPr>
          <a:xfrm>
            <a:off x="1691680" y="-29249"/>
            <a:ext cx="57606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Vorsicht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feld 2"/>
          <p:cNvSpPr txBox="1"/>
          <p:nvPr/>
        </p:nvSpPr>
        <p:spPr>
          <a:xfrm>
            <a:off x="179512" y="699542"/>
            <a:ext cx="82809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arenR"/>
            </a:pPr>
            <a:r>
              <a:rPr lang="de-DE" sz="2400" dirty="0" smtClean="0"/>
              <a:t>Das ist weder vollständig richtig, noch formal korrekt.</a:t>
            </a:r>
          </a:p>
          <a:p>
            <a:pPr marL="342900" indent="-342900">
              <a:buAutoNum type="arabicParenR"/>
            </a:pPr>
            <a:r>
              <a:rPr lang="de-DE" sz="2400" dirty="0" smtClean="0"/>
              <a:t>Descartes könnte auch anderes im Sinn gehabt haben.</a:t>
            </a:r>
            <a:endParaRPr lang="de-DE" sz="2400" dirty="0"/>
          </a:p>
        </p:txBody>
      </p:sp>
    </p:spTree>
    <p:extLst>
      <p:ext uri="{BB962C8B-B14F-4D97-AF65-F5344CB8AC3E}">
        <p14:creationId xmlns:p14="http://schemas.microsoft.com/office/powerpoint/2010/main" val="13389666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Textfeld 3"/>
          <p:cNvSpPr txBox="1"/>
          <p:nvPr/>
        </p:nvSpPr>
        <p:spPr>
          <a:xfrm>
            <a:off x="1691680" y="-29249"/>
            <a:ext cx="57606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Vorzeichenregel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von Descartes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516" y="674119"/>
            <a:ext cx="8712968" cy="17875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516" y="2571750"/>
            <a:ext cx="8712968" cy="131260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03648" y="4155926"/>
            <a:ext cx="6012668" cy="660123"/>
          </a:xfrm>
          <a:prstGeom prst="rect">
            <a:avLst/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09188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Textfeld 3"/>
          <p:cNvSpPr txBox="1"/>
          <p:nvPr/>
        </p:nvSpPr>
        <p:spPr>
          <a:xfrm>
            <a:off x="1691680" y="-29249"/>
            <a:ext cx="57606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Lemma 1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5638" y="699542"/>
            <a:ext cx="8706841" cy="9756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367" y="2948707"/>
            <a:ext cx="8334089" cy="2143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064" y="1779662"/>
            <a:ext cx="4771984" cy="2245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8811" y="1786147"/>
            <a:ext cx="3833359" cy="2137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1680" y="2128604"/>
            <a:ext cx="7200799" cy="675572"/>
          </a:xfrm>
          <a:prstGeom prst="rect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0407" y="4735830"/>
            <a:ext cx="1752600" cy="266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98810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0" name="Textfeld 9"/>
          <p:cNvSpPr txBox="1"/>
          <p:nvPr/>
        </p:nvSpPr>
        <p:spPr>
          <a:xfrm>
            <a:off x="0" y="-29245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Der </a:t>
            </a:r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Satz</a:t>
            </a:r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von Rolle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074" name="Picture 2" descr="undefined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6544" y="1908404"/>
            <a:ext cx="5275736" cy="29676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https://i.gyazo.com/8dd9007203bc94e21623f2ffd07d47de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699542"/>
            <a:ext cx="8784976" cy="8977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673867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 dirty="0"/>
          </a:p>
        </p:txBody>
      </p:sp>
      <p:sp>
        <p:nvSpPr>
          <p:cNvPr id="10" name="Textfeld 9"/>
          <p:cNvSpPr txBox="1"/>
          <p:nvPr/>
        </p:nvSpPr>
        <p:spPr>
          <a:xfrm>
            <a:off x="0" y="-29245"/>
            <a:ext cx="914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Lemma 2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690355"/>
            <a:ext cx="8712968" cy="5757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480" y="1400504"/>
            <a:ext cx="8462976" cy="51480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2028991"/>
            <a:ext cx="8496944" cy="5427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984" y="2699321"/>
            <a:ext cx="6840760" cy="3044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04" y="3134228"/>
            <a:ext cx="8568952" cy="5176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331" y="3777951"/>
            <a:ext cx="8505125" cy="11789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40306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Textfeld 3"/>
          <p:cNvSpPr txBox="1"/>
          <p:nvPr/>
        </p:nvSpPr>
        <p:spPr>
          <a:xfrm>
            <a:off x="1691680" y="-29249"/>
            <a:ext cx="57606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Beweis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544" y="699542"/>
            <a:ext cx="8136904" cy="20672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2981574"/>
            <a:ext cx="4248472" cy="2756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63319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Textfeld 3"/>
          <p:cNvSpPr txBox="1"/>
          <p:nvPr/>
        </p:nvSpPr>
        <p:spPr>
          <a:xfrm>
            <a:off x="1691680" y="-29249"/>
            <a:ext cx="57606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Beweis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692375"/>
            <a:ext cx="2520280" cy="295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562" y="1059582"/>
            <a:ext cx="8850586" cy="5501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1851670"/>
            <a:ext cx="3024336" cy="2502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2211710"/>
            <a:ext cx="7776864" cy="5390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1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2859933"/>
            <a:ext cx="7776864" cy="513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32" name="Picture 8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3507854"/>
            <a:ext cx="5760640" cy="263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51604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Textfeld 3"/>
          <p:cNvSpPr txBox="1"/>
          <p:nvPr/>
        </p:nvSpPr>
        <p:spPr>
          <a:xfrm>
            <a:off x="1691680" y="-29249"/>
            <a:ext cx="57606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Beweis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758134"/>
            <a:ext cx="2880320" cy="282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615"/>
          <a:stretch/>
        </p:blipFill>
        <p:spPr bwMode="auto">
          <a:xfrm>
            <a:off x="228228" y="1153952"/>
            <a:ext cx="8232204" cy="8340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370" y="2166211"/>
            <a:ext cx="5894238" cy="3057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3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803" y="2563106"/>
            <a:ext cx="8568952" cy="3070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401506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Textfeld 3"/>
          <p:cNvSpPr txBox="1"/>
          <p:nvPr/>
        </p:nvSpPr>
        <p:spPr>
          <a:xfrm>
            <a:off x="1691680" y="-29249"/>
            <a:ext cx="57606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Beweis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627534"/>
            <a:ext cx="2520280" cy="3428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832" y="1012445"/>
            <a:ext cx="4667200" cy="2631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2916" y="1419622"/>
            <a:ext cx="1800199" cy="2738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6" y="1762682"/>
            <a:ext cx="5832648" cy="2696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8" name="Picture 6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7556" y="2059033"/>
            <a:ext cx="6150768" cy="273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9" name="Picture 7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5617" y="2427734"/>
            <a:ext cx="2448272" cy="2667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0" name="Picture 8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872" y="2715766"/>
            <a:ext cx="2681481" cy="3625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1" name="Picture 9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7432" y="3147814"/>
            <a:ext cx="7310992" cy="7721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2" name="Picture 10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8" y="4011910"/>
            <a:ext cx="6408712" cy="5331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83" name="Picture 11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3888" y="4774756"/>
            <a:ext cx="2376264" cy="2452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Textfeld 2"/>
          <p:cNvSpPr txBox="1"/>
          <p:nvPr/>
        </p:nvSpPr>
        <p:spPr>
          <a:xfrm>
            <a:off x="6300192" y="2715766"/>
            <a:ext cx="15841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 smtClean="0"/>
              <a:t>(Lemma 1)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198455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Textfeld 3"/>
          <p:cNvSpPr txBox="1"/>
          <p:nvPr/>
        </p:nvSpPr>
        <p:spPr>
          <a:xfrm>
            <a:off x="1691680" y="-29249"/>
            <a:ext cx="57606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Beweis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106"/>
          <a:stretch/>
        </p:blipFill>
        <p:spPr bwMode="auto">
          <a:xfrm>
            <a:off x="609079" y="801772"/>
            <a:ext cx="8374902" cy="54584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56"/>
          <a:stretch/>
        </p:blipFill>
        <p:spPr bwMode="auto">
          <a:xfrm>
            <a:off x="609078" y="1491630"/>
            <a:ext cx="8534922" cy="7931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27"/>
          <a:stretch/>
        </p:blipFill>
        <p:spPr bwMode="auto">
          <a:xfrm>
            <a:off x="644353" y="2284766"/>
            <a:ext cx="8072928" cy="8379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3" name="Picture 7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360" y="3284952"/>
            <a:ext cx="2631504" cy="2949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4" name="Picture 8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1514" y="3312735"/>
            <a:ext cx="4435326" cy="300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7" name="Picture 11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9318" y="3867894"/>
            <a:ext cx="3384376" cy="2986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169319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Textfeld 3"/>
          <p:cNvSpPr txBox="1"/>
          <p:nvPr/>
        </p:nvSpPr>
        <p:spPr>
          <a:xfrm>
            <a:off x="1691680" y="-29249"/>
            <a:ext cx="57606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Beweis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839" y="699542"/>
            <a:ext cx="1951881" cy="3090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032" y="1131589"/>
            <a:ext cx="8784976" cy="7975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032" y="2148392"/>
            <a:ext cx="8784976" cy="783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032" y="3105136"/>
            <a:ext cx="8784976" cy="1482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feld 7"/>
          <p:cNvSpPr txBox="1"/>
          <p:nvPr/>
        </p:nvSpPr>
        <p:spPr>
          <a:xfrm>
            <a:off x="2537291" y="2387161"/>
            <a:ext cx="63062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 smtClean="0"/>
              <a:t>,dass z(p‘) gerade und z(p) ungerade ist (oder umgekehrt).</a:t>
            </a:r>
            <a:endParaRPr lang="de-DE" sz="1400" dirty="0"/>
          </a:p>
        </p:txBody>
      </p:sp>
    </p:spTree>
    <p:extLst>
      <p:ext uri="{BB962C8B-B14F-4D97-AF65-F5344CB8AC3E}">
        <p14:creationId xmlns:p14="http://schemas.microsoft.com/office/powerpoint/2010/main" val="11214666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/>
          <p:cNvSpPr/>
          <p:nvPr/>
        </p:nvSpPr>
        <p:spPr>
          <a:xfrm>
            <a:off x="0" y="0"/>
            <a:ext cx="9144000" cy="555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" name="Textfeld 3"/>
          <p:cNvSpPr txBox="1"/>
          <p:nvPr/>
        </p:nvSpPr>
        <p:spPr>
          <a:xfrm>
            <a:off x="1691680" y="-29249"/>
            <a:ext cx="57606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3200" dirty="0" err="1" smtClean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Beweis</a:t>
            </a:r>
            <a:endParaRPr lang="en-CA" sz="32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771550"/>
            <a:ext cx="8064896" cy="8273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3" y="1640296"/>
            <a:ext cx="7585267" cy="8150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2643758"/>
            <a:ext cx="3672407" cy="2662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3147814"/>
            <a:ext cx="8064896" cy="8089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cxnSp>
        <p:nvCxnSpPr>
          <p:cNvPr id="7" name="Gerade Verbindung 6"/>
          <p:cNvCxnSpPr/>
          <p:nvPr/>
        </p:nvCxnSpPr>
        <p:spPr>
          <a:xfrm>
            <a:off x="187132" y="3041898"/>
            <a:ext cx="8568952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600" y="4027150"/>
            <a:ext cx="6768752" cy="2270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0" name="Picture 4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848" y="4379396"/>
            <a:ext cx="2880320" cy="2992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101" name="Picture 5"/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8936" y="4803997"/>
            <a:ext cx="6751416" cy="2497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7965366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Descartes Rene - Wordsworth Editions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40568" y="1226820"/>
            <a:ext cx="3940914" cy="3940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feld 5"/>
          <p:cNvSpPr txBox="1"/>
          <p:nvPr/>
        </p:nvSpPr>
        <p:spPr>
          <a:xfrm>
            <a:off x="-540568" y="639728"/>
            <a:ext cx="417646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2400" b="1" dirty="0" smtClean="0"/>
              <a:t>René Descartes</a:t>
            </a:r>
          </a:p>
          <a:p>
            <a:pPr algn="ctr"/>
            <a:r>
              <a:rPr lang="de-DE" sz="1600" dirty="0" smtClean="0"/>
              <a:t>(1596-1650)</a:t>
            </a:r>
            <a:endParaRPr lang="de-DE" sz="1600" dirty="0"/>
          </a:p>
        </p:txBody>
      </p:sp>
      <p:sp>
        <p:nvSpPr>
          <p:cNvPr id="8" name="Textfeld 7"/>
          <p:cNvSpPr txBox="1"/>
          <p:nvPr/>
        </p:nvSpPr>
        <p:spPr>
          <a:xfrm>
            <a:off x="2843808" y="1059577"/>
            <a:ext cx="5976664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de-DE" sz="2800" dirty="0" smtClean="0"/>
              <a:t>„Als </a:t>
            </a:r>
            <a:r>
              <a:rPr lang="de-DE" sz="2800" dirty="0"/>
              <a:t>Jugendlicher habe ich mich bei einer geistreichen </a:t>
            </a:r>
            <a:r>
              <a:rPr lang="de-DE" sz="2800" dirty="0" smtClean="0"/>
              <a:t>Erfindung [oft</a:t>
            </a:r>
            <a:r>
              <a:rPr lang="de-DE" sz="2800" dirty="0"/>
              <a:t>] gefragt, ob ich sie nicht selbst herausfinden könne ohne den Autoren gelesen zu haben. So habe ich nach und nach bemerkt, daß ich bestimmte Regeln </a:t>
            </a:r>
            <a:r>
              <a:rPr lang="de-DE" sz="2800" dirty="0" smtClean="0"/>
              <a:t>verwende.“</a:t>
            </a:r>
          </a:p>
          <a:p>
            <a:pPr algn="just"/>
            <a:endParaRPr lang="de-DE" sz="2800" dirty="0" smtClean="0"/>
          </a:p>
          <a:p>
            <a:pPr algn="just"/>
            <a:r>
              <a:rPr lang="de-DE" dirty="0" smtClean="0"/>
              <a:t>(Aus den </a:t>
            </a:r>
            <a:r>
              <a:rPr lang="de-DE" i="1" dirty="0" smtClean="0"/>
              <a:t>Cogitationes privatae</a:t>
            </a:r>
            <a:r>
              <a:rPr lang="de-DE" dirty="0" smtClean="0"/>
              <a:t>)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9700342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xecutive">
  <a:themeElements>
    <a:clrScheme name="Executive">
      <a:dk1>
        <a:sysClr val="windowText" lastClr="000000"/>
      </a:dk1>
      <a:lt1>
        <a:sysClr val="window" lastClr="FFFFFF"/>
      </a:lt1>
      <a:dk2>
        <a:srgbClr val="2F5897"/>
      </a:dk2>
      <a:lt2>
        <a:srgbClr val="E4E9EF"/>
      </a:lt2>
      <a:accent1>
        <a:srgbClr val="6076B4"/>
      </a:accent1>
      <a:accent2>
        <a:srgbClr val="9C5252"/>
      </a:accent2>
      <a:accent3>
        <a:srgbClr val="E68422"/>
      </a:accent3>
      <a:accent4>
        <a:srgbClr val="846648"/>
      </a:accent4>
      <a:accent5>
        <a:srgbClr val="63891F"/>
      </a:accent5>
      <a:accent6>
        <a:srgbClr val="758085"/>
      </a:accent6>
      <a:hlink>
        <a:srgbClr val="3399FF"/>
      </a:hlink>
      <a:folHlink>
        <a:srgbClr val="B2B2B2"/>
      </a:folHlink>
    </a:clrScheme>
    <a:fontScheme name="Executi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xecutiv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  <a:ln w="50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50000">
              <a:schemeClr val="phClr">
                <a:tint val="80000"/>
                <a:satMod val="250000"/>
              </a:schemeClr>
            </a:gs>
            <a:gs pos="76000">
              <a:schemeClr val="phClr">
                <a:tint val="90000"/>
                <a:shade val="90000"/>
                <a:satMod val="200000"/>
              </a:schemeClr>
            </a:gs>
            <a:gs pos="92000">
              <a:schemeClr val="phClr">
                <a:tint val="90000"/>
                <a:shade val="70000"/>
                <a:satMod val="250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227</Words>
  <Application>Microsoft Office PowerPoint</Application>
  <PresentationFormat>Bildschirmpräsentation (16:9)</PresentationFormat>
  <Paragraphs>60</Paragraphs>
  <Slides>19</Slides>
  <Notes>18</Notes>
  <HiddenSlides>0</HiddenSlides>
  <MMClips>0</MMClips>
  <ScaleCrop>false</ScaleCrop>
  <HeadingPairs>
    <vt:vector size="4" baseType="variant">
      <vt:variant>
        <vt:lpstr>Design</vt:lpstr>
      </vt:variant>
      <vt:variant>
        <vt:i4>2</vt:i4>
      </vt:variant>
      <vt:variant>
        <vt:lpstr>Folientitel</vt:lpstr>
      </vt:variant>
      <vt:variant>
        <vt:i4>19</vt:i4>
      </vt:variant>
    </vt:vector>
  </HeadingPairs>
  <TitlesOfParts>
    <vt:vector size="21" baseType="lpstr">
      <vt:lpstr>Executive</vt:lpstr>
      <vt:lpstr>Larissa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Anton</dc:creator>
  <cp:lastModifiedBy>Anton </cp:lastModifiedBy>
  <cp:revision>31</cp:revision>
  <dcterms:created xsi:type="dcterms:W3CDTF">2026-03-28T21:46:05Z</dcterms:created>
  <dcterms:modified xsi:type="dcterms:W3CDTF">2026-04-06T17:25:26Z</dcterms:modified>
</cp:coreProperties>
</file>