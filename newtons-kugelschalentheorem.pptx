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4" r:id="rId2"/>
  </p:sldMasterIdLst>
  <p:notesMasterIdLst>
    <p:notesMasterId r:id="rId13"/>
  </p:notesMasterIdLst>
  <p:sldIdLst>
    <p:sldId id="256" r:id="rId3"/>
    <p:sldId id="258" r:id="rId4"/>
    <p:sldId id="259" r:id="rId5"/>
    <p:sldId id="261" r:id="rId6"/>
    <p:sldId id="260" r:id="rId7"/>
    <p:sldId id="262" r:id="rId8"/>
    <p:sldId id="266" r:id="rId9"/>
    <p:sldId id="267" r:id="rId10"/>
    <p:sldId id="264" r:id="rId11"/>
    <p:sldId id="265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428" autoAdjust="0"/>
  </p:normalViewPr>
  <p:slideViewPr>
    <p:cSldViewPr>
      <p:cViewPr varScale="1">
        <p:scale>
          <a:sx n="152" d="100"/>
          <a:sy n="152" d="100"/>
        </p:scale>
        <p:origin x="-44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968C5-6F45-47BF-AE3A-906129B2162E}" type="datetimeFigureOut">
              <a:rPr lang="de-DE" smtClean="0"/>
              <a:t>27.01.2025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368A5E-402D-4BD3-9512-0549E8BC17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8351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368A5E-402D-4BD3-9512-0549E8BC175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330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3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00025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04788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0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0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20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42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217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59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10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587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860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9391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418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001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January 27,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33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4767263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January 27,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4767263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9" y="4767263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January 27, 2025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11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gif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1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27.png"/><Relationship Id="rId3" Type="http://schemas.openxmlformats.org/officeDocument/2006/relationships/image" Target="../media/image21.png"/><Relationship Id="rId7" Type="http://schemas.openxmlformats.org/officeDocument/2006/relationships/image" Target="../media/image37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11" Type="http://schemas.openxmlformats.org/officeDocument/2006/relationships/image" Target="../media/image40.png"/><Relationship Id="rId5" Type="http://schemas.openxmlformats.org/officeDocument/2006/relationships/image" Target="../media/image36.png"/><Relationship Id="rId10" Type="http://schemas.openxmlformats.org/officeDocument/2006/relationships/image" Target="../media/image26.png"/><Relationship Id="rId4" Type="http://schemas.openxmlformats.org/officeDocument/2006/relationships/image" Target="../media/image24.png"/><Relationship Id="rId9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saac Newton Scientific Revolution Scientist Mathematician Astronomer PNG,  Clipart, Astronomer, Death Mask, Forehead, Francis Bacon, Gentleman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03" b="100000" l="9753" r="89973">
                        <a14:backgroundMark x1="19368" y1="92421" x2="16758" y2="96673"/>
                        <a14:backgroundMark x1="49451" y1="9242" x2="52060" y2="75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0608" y="1419622"/>
            <a:ext cx="5040560" cy="37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ndefined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989662"/>
            <a:ext cx="5688632" cy="274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eck 7"/>
          <p:cNvSpPr/>
          <p:nvPr/>
        </p:nvSpPr>
        <p:spPr>
          <a:xfrm>
            <a:off x="107504" y="29111"/>
            <a:ext cx="8928992" cy="112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6700" b="1" dirty="0" smtClean="0"/>
              <a:t>Kugelschalentheorem</a:t>
            </a:r>
            <a:endParaRPr lang="de-DE" sz="6700" b="1" dirty="0" smtClean="0"/>
          </a:p>
        </p:txBody>
      </p:sp>
      <p:sp>
        <p:nvSpPr>
          <p:cNvPr id="4" name="Textfeld 3"/>
          <p:cNvSpPr txBox="1"/>
          <p:nvPr/>
        </p:nvSpPr>
        <p:spPr>
          <a:xfrm>
            <a:off x="251520" y="1059582"/>
            <a:ext cx="86409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smtClean="0">
                <a:solidFill>
                  <a:srgbClr val="FF0000"/>
                </a:solidFill>
              </a:rPr>
              <a:t>Der theoretische Unterbau der „Punktmasse“</a:t>
            </a:r>
            <a:endParaRPr lang="de-DE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082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Gravitationskraft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7534"/>
            <a:ext cx="4752528" cy="297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5004048" y="727412"/>
            <a:ext cx="396044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 smtClean="0"/>
              <a:t>Problem: </a:t>
            </a:r>
            <a:r>
              <a:rPr lang="de-DE" sz="2000" dirty="0" smtClean="0"/>
              <a:t>Was ist, wenn die Ausdehnung eines Körpers nicht vernachlässigbar ist?</a:t>
            </a:r>
            <a:endParaRPr lang="de-DE" sz="2000" dirty="0"/>
          </a:p>
          <a:p>
            <a:pPr marL="342900" indent="-342900">
              <a:buFont typeface="Wingdings"/>
              <a:buChar char="à"/>
            </a:pPr>
            <a:r>
              <a:rPr lang="de-DE" sz="2000" dirty="0" smtClean="0">
                <a:sym typeface="Wingdings" panose="05000000000000000000" pitchFamily="2" charset="2"/>
              </a:rPr>
              <a:t>Schwierig!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r>
              <a:rPr lang="de-DE" dirty="0" smtClean="0">
                <a:sym typeface="Wingdings" panose="05000000000000000000" pitchFamily="2" charset="2"/>
              </a:rPr>
              <a:t>Das </a:t>
            </a:r>
            <a:r>
              <a:rPr lang="de-DE" dirty="0" err="1" smtClean="0">
                <a:sym typeface="Wingdings" panose="05000000000000000000" pitchFamily="2" charset="2"/>
              </a:rPr>
              <a:t>Newtonsche</a:t>
            </a:r>
            <a:r>
              <a:rPr lang="de-DE" dirty="0" smtClean="0">
                <a:sym typeface="Wingdings" panose="05000000000000000000" pitchFamily="2" charset="2"/>
              </a:rPr>
              <a:t> Schalentheorem vereinfacht die Rechnung für Kugeln, Kugelschalen mit radialsymmetrischer Massendichte.</a:t>
            </a:r>
            <a:endParaRPr lang="de-DE" dirty="0"/>
          </a:p>
        </p:txBody>
      </p:sp>
      <p:sp>
        <p:nvSpPr>
          <p:cNvPr id="3" name="Textfeld 2"/>
          <p:cNvSpPr txBox="1"/>
          <p:nvPr/>
        </p:nvSpPr>
        <p:spPr>
          <a:xfrm>
            <a:off x="251520" y="3795886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/>
              <a:t>Auf ein Objekt außerhalb der Kugel wirkt deren Anziehungskraft so, als wäre deren gesamte Masse in ihrem Mittelpunkt konzentriert.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Wenn die Kugel hohl ist, bewirkt sie innerhalb des hohlen Bereichs keine Schwerkraft.</a:t>
            </a:r>
          </a:p>
        </p:txBody>
      </p:sp>
    </p:spTree>
    <p:extLst>
      <p:ext uri="{BB962C8B-B14F-4D97-AF65-F5344CB8AC3E}">
        <p14:creationId xmlns:p14="http://schemas.microsoft.com/office/powerpoint/2010/main" val="96794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Kugelschale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867276"/>
            <a:ext cx="6513412" cy="3792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57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Kreisbogen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518" y="718491"/>
            <a:ext cx="3941490" cy="394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1" y="953583"/>
            <a:ext cx="2232248" cy="1328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101" y="3075806"/>
            <a:ext cx="1459235" cy="46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643758"/>
            <a:ext cx="2304256" cy="304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64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16076"/>
            <a:ext cx="5177308" cy="249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71" y="656418"/>
            <a:ext cx="8417685" cy="547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627283"/>
            <a:ext cx="2952328" cy="296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022466"/>
            <a:ext cx="2160240" cy="333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85" y="1995686"/>
            <a:ext cx="1665104" cy="309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519380"/>
            <a:ext cx="2088232" cy="412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020" y="3147814"/>
            <a:ext cx="6080452" cy="23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492778"/>
            <a:ext cx="2376264" cy="591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365528"/>
            <a:ext cx="2080981" cy="36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7" name="Picture 1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337" y="4278566"/>
            <a:ext cx="2557580" cy="597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8" name="Picture 1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476" y="4304682"/>
            <a:ext cx="1555082" cy="545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2"/>
          <p:cNvCxnSpPr/>
          <p:nvPr/>
        </p:nvCxnSpPr>
        <p:spPr>
          <a:xfrm>
            <a:off x="2224882" y="1837382"/>
            <a:ext cx="0" cy="92661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7"/>
          <p:cNvCxnSpPr/>
          <p:nvPr/>
        </p:nvCxnSpPr>
        <p:spPr>
          <a:xfrm flipH="1">
            <a:off x="5514182" y="2344893"/>
            <a:ext cx="75455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403" y="1347614"/>
            <a:ext cx="1116533" cy="23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Gerade Verbindung 6"/>
          <p:cNvCxnSpPr/>
          <p:nvPr/>
        </p:nvCxnSpPr>
        <p:spPr>
          <a:xfrm>
            <a:off x="2879403" y="1578174"/>
            <a:ext cx="111653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22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88" y="699542"/>
            <a:ext cx="4601244" cy="221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63838"/>
            <a:ext cx="3583231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244" y="699542"/>
            <a:ext cx="3947236" cy="1873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" name="Picture 2" descr="C:\Users\Anton\Desktop\Shell-diag-1-anim.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2487" y="2565434"/>
            <a:ext cx="4809993" cy="2364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Ellipse 17"/>
          <p:cNvSpPr/>
          <p:nvPr/>
        </p:nvSpPr>
        <p:spPr>
          <a:xfrm>
            <a:off x="1870175" y="1060723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Ellipse 46"/>
          <p:cNvSpPr/>
          <p:nvPr/>
        </p:nvSpPr>
        <p:spPr>
          <a:xfrm>
            <a:off x="1870175" y="242141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14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66" y="677962"/>
            <a:ext cx="4601244" cy="221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699542"/>
            <a:ext cx="3270944" cy="78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655" y="1619027"/>
            <a:ext cx="2528887" cy="703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398" y="2592501"/>
            <a:ext cx="2082602" cy="202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124" y="2447422"/>
            <a:ext cx="1800200" cy="446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982" y="2384353"/>
            <a:ext cx="1982626" cy="509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2"/>
          <p:cNvCxnSpPr/>
          <p:nvPr/>
        </p:nvCxnSpPr>
        <p:spPr>
          <a:xfrm flipH="1">
            <a:off x="1335881" y="1787027"/>
            <a:ext cx="3308127" cy="3673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/>
        </p:nvCxnSpPr>
        <p:spPr>
          <a:xfrm flipH="1" flipV="1">
            <a:off x="2071689" y="947739"/>
            <a:ext cx="2581274" cy="833436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/>
          <p:cNvCxnSpPr/>
          <p:nvPr/>
        </p:nvCxnSpPr>
        <p:spPr>
          <a:xfrm flipV="1">
            <a:off x="1335881" y="947739"/>
            <a:ext cx="726284" cy="852486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78" b="73906"/>
          <a:stretch/>
        </p:blipFill>
        <p:spPr bwMode="auto">
          <a:xfrm>
            <a:off x="107504" y="3034434"/>
            <a:ext cx="4292937" cy="21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291830"/>
            <a:ext cx="2892178" cy="473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612" y="4083918"/>
            <a:ext cx="1814348" cy="435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083918"/>
            <a:ext cx="1872208" cy="435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Gerade Verbindung mit Pfeil 3"/>
          <p:cNvCxnSpPr/>
          <p:nvPr/>
        </p:nvCxnSpPr>
        <p:spPr>
          <a:xfrm>
            <a:off x="3903433" y="776885"/>
            <a:ext cx="740575" cy="34756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/>
        </p:nvCxnSpPr>
        <p:spPr>
          <a:xfrm>
            <a:off x="3908195" y="771550"/>
            <a:ext cx="0" cy="34756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/>
        </p:nvCxnSpPr>
        <p:spPr>
          <a:xfrm flipH="1">
            <a:off x="3908195" y="1126827"/>
            <a:ext cx="73581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922" y="1150640"/>
            <a:ext cx="435000" cy="132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898" y="772802"/>
            <a:ext cx="139007" cy="142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91" y="883767"/>
            <a:ext cx="392359" cy="12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441" y="1045294"/>
            <a:ext cx="45719" cy="65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Bogen 15"/>
          <p:cNvSpPr/>
          <p:nvPr/>
        </p:nvSpPr>
        <p:spPr>
          <a:xfrm rot="13109737">
            <a:off x="4368022" y="975528"/>
            <a:ext cx="129701" cy="159545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" name="Gerade Verbindung 8"/>
          <p:cNvCxnSpPr/>
          <p:nvPr/>
        </p:nvCxnSpPr>
        <p:spPr>
          <a:xfrm>
            <a:off x="2656359" y="2759199"/>
            <a:ext cx="174408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4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2" t="38653" r="50758"/>
          <a:stretch/>
        </p:blipFill>
        <p:spPr bwMode="auto">
          <a:xfrm>
            <a:off x="323528" y="3251915"/>
            <a:ext cx="2562896" cy="511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" name="Picture 4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0824"/>
          <a:stretch/>
        </p:blipFill>
        <p:spPr bwMode="auto">
          <a:xfrm>
            <a:off x="2915816" y="3270013"/>
            <a:ext cx="2880320" cy="493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Gerade Verbindung 12"/>
          <p:cNvCxnSpPr/>
          <p:nvPr/>
        </p:nvCxnSpPr>
        <p:spPr>
          <a:xfrm>
            <a:off x="4236898" y="3763220"/>
            <a:ext cx="15592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9"/>
          <p:cNvCxnSpPr/>
          <p:nvPr/>
        </p:nvCxnSpPr>
        <p:spPr>
          <a:xfrm>
            <a:off x="8460432" y="3765250"/>
            <a:ext cx="3681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91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56" y="1059582"/>
            <a:ext cx="3270944" cy="78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680" y="1102353"/>
            <a:ext cx="2528887" cy="703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62760"/>
            <a:ext cx="5395876" cy="252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79"/>
          <a:stretch/>
        </p:blipFill>
        <p:spPr bwMode="auto">
          <a:xfrm>
            <a:off x="7020272" y="1995686"/>
            <a:ext cx="1591757" cy="4356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7"/>
          <a:stretch/>
        </p:blipFill>
        <p:spPr bwMode="auto">
          <a:xfrm>
            <a:off x="3563888" y="1935119"/>
            <a:ext cx="3032713" cy="544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2715766"/>
            <a:ext cx="1334492" cy="468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715766"/>
            <a:ext cx="864096" cy="46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Gerade Verbindung 6"/>
          <p:cNvCxnSpPr/>
          <p:nvPr/>
        </p:nvCxnSpPr>
        <p:spPr>
          <a:xfrm>
            <a:off x="3635896" y="2499742"/>
            <a:ext cx="296070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/>
          <p:nvPr/>
        </p:nvCxnSpPr>
        <p:spPr>
          <a:xfrm flipH="1" flipV="1">
            <a:off x="6596602" y="2715766"/>
            <a:ext cx="535870" cy="23207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/>
        </p:nvSpPr>
        <p:spPr>
          <a:xfrm>
            <a:off x="7164288" y="2831801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Merken!</a:t>
            </a:r>
            <a:endParaRPr lang="de-DE" dirty="0"/>
          </a:p>
        </p:txBody>
      </p:sp>
      <p:pic>
        <p:nvPicPr>
          <p:cNvPr id="38" name="Picture 6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050" y="1402102"/>
            <a:ext cx="1800200" cy="4462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57" y="3291830"/>
            <a:ext cx="2082296" cy="261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44" y="3651870"/>
            <a:ext cx="5251860" cy="1245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10485"/>
            <a:ext cx="1982626" cy="509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Gerade Verbindung 14"/>
          <p:cNvCxnSpPr/>
          <p:nvPr/>
        </p:nvCxnSpPr>
        <p:spPr>
          <a:xfrm>
            <a:off x="5044240" y="3219822"/>
            <a:ext cx="823904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 flipH="1" flipV="1">
            <a:off x="5796136" y="3436877"/>
            <a:ext cx="535870" cy="232071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/>
          <p:cNvSpPr txBox="1"/>
          <p:nvPr/>
        </p:nvSpPr>
        <p:spPr>
          <a:xfrm>
            <a:off x="6372200" y="3507854"/>
            <a:ext cx="25922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smtClean="0"/>
              <a:t>F ist gleich Kraft</a:t>
            </a:r>
            <a:r>
              <a:rPr lang="de-DE" sz="1600" dirty="0"/>
              <a:t>, die wirken würde, wenn die Masse der Kugelschale auf ihren Mittelpunkt konzentriert wäre.</a:t>
            </a:r>
          </a:p>
        </p:txBody>
      </p:sp>
      <p:cxnSp>
        <p:nvCxnSpPr>
          <p:cNvPr id="48" name="Gerade Verbindung 47"/>
          <p:cNvCxnSpPr/>
          <p:nvPr/>
        </p:nvCxnSpPr>
        <p:spPr>
          <a:xfrm>
            <a:off x="179512" y="1563638"/>
            <a:ext cx="288032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03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46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23678"/>
            <a:ext cx="2808312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15566"/>
            <a:ext cx="8856984" cy="823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620"/>
          <a:stretch/>
        </p:blipFill>
        <p:spPr bwMode="auto">
          <a:xfrm>
            <a:off x="6300192" y="6028134"/>
            <a:ext cx="1419555" cy="50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3082359"/>
            <a:ext cx="350432" cy="257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27534"/>
            <a:ext cx="1158429" cy="231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7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2"/>
          <a:stretch/>
        </p:blipFill>
        <p:spPr bwMode="auto">
          <a:xfrm>
            <a:off x="3563888" y="2931790"/>
            <a:ext cx="4155859" cy="55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192" y="2067694"/>
            <a:ext cx="2952328" cy="72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528" y="2136527"/>
            <a:ext cx="2344936" cy="585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Gerade Verbindung 3"/>
          <p:cNvCxnSpPr/>
          <p:nvPr/>
        </p:nvCxnSpPr>
        <p:spPr>
          <a:xfrm>
            <a:off x="219126" y="858676"/>
            <a:ext cx="1118815" cy="201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/>
        </p:nvCxnSpPr>
        <p:spPr>
          <a:xfrm>
            <a:off x="2719412" y="3320976"/>
            <a:ext cx="3600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04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Umkehrung</a:t>
            </a:r>
            <a:r>
              <a:rPr lang="en-CA" sz="3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48375" y="614655"/>
            <a:ext cx="885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Ist jede Kraft, die diesem Theorem gehorcht, die Gravitationskraft?</a:t>
            </a:r>
            <a:endParaRPr lang="de-DE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33353"/>
            <a:ext cx="7344816" cy="1101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157489"/>
            <a:ext cx="5328592" cy="206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87574"/>
            <a:ext cx="8784976" cy="644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107504" y="3579862"/>
            <a:ext cx="8784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 smtClean="0"/>
              <a:t>Hinweis: </a:t>
            </a:r>
            <a:r>
              <a:rPr lang="de-DE" sz="1200" dirty="0" smtClean="0"/>
              <a:t>Wenn wir auch den zweiten Teil des Schalentheorems fordern, so ist F eindeutig durch die </a:t>
            </a:r>
            <a:r>
              <a:rPr lang="de-DE" sz="1200" dirty="0" err="1" smtClean="0"/>
              <a:t>Graviationskraft</a:t>
            </a:r>
            <a:r>
              <a:rPr lang="de-DE" sz="1200" dirty="0" smtClean="0"/>
              <a:t> gegeben.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405371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149</Words>
  <Application>Microsoft Office PowerPoint</Application>
  <PresentationFormat>Bildschirmpräsentation (16:9)</PresentationFormat>
  <Paragraphs>31</Paragraphs>
  <Slides>10</Slides>
  <Notes>10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10</vt:i4>
      </vt:variant>
    </vt:vector>
  </HeadingPairs>
  <TitlesOfParts>
    <vt:vector size="12" baseType="lpstr">
      <vt:lpstr>Executive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32</cp:revision>
  <dcterms:created xsi:type="dcterms:W3CDTF">2025-01-18T18:07:06Z</dcterms:created>
  <dcterms:modified xsi:type="dcterms:W3CDTF">2025-01-27T23:46:40Z</dcterms:modified>
</cp:coreProperties>
</file>