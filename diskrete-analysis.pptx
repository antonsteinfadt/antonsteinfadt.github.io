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  <p:sldMasterId id="2147483696" r:id="rId2"/>
  </p:sldMasterIdLst>
  <p:notesMasterIdLst>
    <p:notesMasterId r:id="rId13"/>
  </p:notesMasterIdLst>
  <p:sldIdLst>
    <p:sldId id="256" r:id="rId3"/>
    <p:sldId id="257" r:id="rId4"/>
    <p:sldId id="258" r:id="rId5"/>
    <p:sldId id="261" r:id="rId6"/>
    <p:sldId id="260" r:id="rId7"/>
    <p:sldId id="265" r:id="rId8"/>
    <p:sldId id="267" r:id="rId9"/>
    <p:sldId id="268" r:id="rId10"/>
    <p:sldId id="262" r:id="rId11"/>
    <p:sldId id="263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7156C-D605-4E3C-AEC6-E2416C001523}" type="datetimeFigureOut">
              <a:rPr lang="de-DE" smtClean="0"/>
              <a:t>10.11.2024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1D31F-17ED-429A-93A5-D1C3F880C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17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1D31F-17ED-429A-93A5-D1C3F880CDF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75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1D31F-17ED-429A-93A5-D1C3F880CDF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4495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1D31F-17ED-429A-93A5-D1C3F880CDF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04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2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36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54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16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91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20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6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55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1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69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November 10,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7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November 10,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November 10, 2024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50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11" Type="http://schemas.openxmlformats.org/officeDocument/2006/relationships/image" Target="../media/image17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07504" y="195486"/>
            <a:ext cx="89289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7200" b="1" dirty="0" smtClean="0"/>
              <a:t>In</a:t>
            </a:r>
            <a:r>
              <a:rPr lang="de-DE" sz="7200" b="1" dirty="0" smtClean="0">
                <a:solidFill>
                  <a:srgbClr val="00B050"/>
                </a:solidFill>
              </a:rPr>
              <a:t>finit</a:t>
            </a:r>
            <a:r>
              <a:rPr lang="de-DE" sz="7200" b="1" dirty="0" smtClean="0"/>
              <a:t>esimalkalkül</a:t>
            </a:r>
          </a:p>
          <a:p>
            <a:pPr algn="ctr"/>
            <a:r>
              <a:rPr lang="de-DE" sz="6000" b="1" dirty="0" smtClean="0">
                <a:solidFill>
                  <a:srgbClr val="00B050"/>
                </a:solidFill>
              </a:rPr>
              <a:t>Diskrete</a:t>
            </a:r>
            <a:r>
              <a:rPr lang="de-DE" sz="6000" b="1" dirty="0" smtClean="0">
                <a:solidFill>
                  <a:srgbClr val="FF0000"/>
                </a:solidFill>
              </a:rPr>
              <a:t> Analysis</a:t>
            </a:r>
          </a:p>
        </p:txBody>
      </p:sp>
      <p:cxnSp>
        <p:nvCxnSpPr>
          <p:cNvPr id="6" name="Gerade Verbindung 5"/>
          <p:cNvCxnSpPr/>
          <p:nvPr/>
        </p:nvCxnSpPr>
        <p:spPr>
          <a:xfrm flipV="1">
            <a:off x="395536" y="367378"/>
            <a:ext cx="936104" cy="93610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/>
          <p:cNvCxnSpPr/>
          <p:nvPr/>
        </p:nvCxnSpPr>
        <p:spPr>
          <a:xfrm>
            <a:off x="410028" y="343509"/>
            <a:ext cx="936104" cy="93610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540053"/>
            <a:ext cx="7488832" cy="823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80" y="3651870"/>
            <a:ext cx="5575624" cy="99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62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Grundbegriffe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294"/>
            <a:ext cx="4956100" cy="367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47957"/>
            <a:ext cx="6468888" cy="415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251520" y="1707654"/>
            <a:ext cx="86409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51670"/>
            <a:ext cx="1080120" cy="35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561" y="1879764"/>
            <a:ext cx="5647719" cy="33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53861"/>
            <a:ext cx="1224136" cy="426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424992"/>
            <a:ext cx="4248472" cy="28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42881"/>
            <a:ext cx="4104456" cy="27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43" y="3406423"/>
            <a:ext cx="1250279" cy="213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361973"/>
            <a:ext cx="7056784" cy="26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075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Grundbegriffe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20487"/>
            <a:ext cx="1224136" cy="426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791618"/>
            <a:ext cx="4248472" cy="28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86697"/>
            <a:ext cx="4104456" cy="27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43" y="1773049"/>
            <a:ext cx="1250279" cy="213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28599"/>
            <a:ext cx="7056784" cy="26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95" y="2148741"/>
            <a:ext cx="2761017" cy="1935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740252"/>
            <a:ext cx="4051435" cy="623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99942"/>
            <a:ext cx="3672408" cy="68237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346807"/>
            <a:ext cx="4752528" cy="601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870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Ableitungsregeln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665" r="54861" b="75394"/>
          <a:stretch/>
        </p:blipFill>
        <p:spPr bwMode="auto">
          <a:xfrm>
            <a:off x="251520" y="2499742"/>
            <a:ext cx="2366149" cy="43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6767660" cy="1582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673" y="2633603"/>
            <a:ext cx="5885799" cy="1666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3"/>
          <p:cNvCxnSpPr/>
          <p:nvPr/>
        </p:nvCxnSpPr>
        <p:spPr>
          <a:xfrm flipV="1">
            <a:off x="0" y="2353960"/>
            <a:ext cx="9144000" cy="17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075806"/>
            <a:ext cx="2448272" cy="201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19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Ableitungen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643" y="3507854"/>
            <a:ext cx="4104456" cy="1324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541" y="3983800"/>
            <a:ext cx="2125771" cy="51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92" y="771550"/>
            <a:ext cx="2880320" cy="383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63" y="1203598"/>
            <a:ext cx="8062825" cy="362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40" y="1707654"/>
            <a:ext cx="5403932" cy="308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35" y="2139702"/>
            <a:ext cx="1523834" cy="386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251520" y="3075806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smtClean="0"/>
              <a:t>Das Analogon der </a:t>
            </a:r>
            <a:r>
              <a:rPr lang="de-DE" sz="2000" b="1" dirty="0" err="1" smtClean="0"/>
              <a:t>Eulerschen</a:t>
            </a:r>
            <a:r>
              <a:rPr lang="de-DE" sz="2000" b="1" dirty="0" smtClean="0"/>
              <a:t> Zahl</a:t>
            </a:r>
            <a:endParaRPr lang="de-DE" sz="2000" b="1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34"/>
          <a:stretch/>
        </p:blipFill>
        <p:spPr bwMode="auto">
          <a:xfrm>
            <a:off x="3552023" y="2139703"/>
            <a:ext cx="4764393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mit Pfeil 3"/>
          <p:cNvCxnSpPr/>
          <p:nvPr/>
        </p:nvCxnSpPr>
        <p:spPr>
          <a:xfrm>
            <a:off x="5652120" y="3003798"/>
            <a:ext cx="432048" cy="4721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6156176" y="321982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Harmonische Zahl („diskreter Logarithmus“)</a:t>
            </a:r>
            <a:endParaRPr lang="de-DE" dirty="0"/>
          </a:p>
        </p:txBody>
      </p:sp>
      <p:cxnSp>
        <p:nvCxnSpPr>
          <p:cNvPr id="13" name="Gerade Verbindung 12"/>
          <p:cNvCxnSpPr/>
          <p:nvPr/>
        </p:nvCxnSpPr>
        <p:spPr>
          <a:xfrm>
            <a:off x="1259632" y="1566228"/>
            <a:ext cx="7200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/>
        </p:nvCxnSpPr>
        <p:spPr>
          <a:xfrm>
            <a:off x="7740352" y="1572788"/>
            <a:ext cx="10801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/>
          <p:cNvCxnSpPr/>
          <p:nvPr/>
        </p:nvCxnSpPr>
        <p:spPr>
          <a:xfrm>
            <a:off x="1333712" y="2016083"/>
            <a:ext cx="7200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/>
          <p:nvPr/>
        </p:nvCxnSpPr>
        <p:spPr>
          <a:xfrm>
            <a:off x="2195736" y="2016083"/>
            <a:ext cx="12961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48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Logarithmus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der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Differenzenrechnung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5688632" cy="116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203598"/>
            <a:ext cx="2304256" cy="58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90" y="1981453"/>
            <a:ext cx="5679454" cy="302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20114"/>
            <a:ext cx="5544615" cy="387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862187"/>
            <a:ext cx="7371928" cy="58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396" y="3579863"/>
            <a:ext cx="3994647" cy="26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054823"/>
            <a:ext cx="2423437" cy="245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443958"/>
            <a:ext cx="660091" cy="293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81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Bestimmtes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diskretes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Integral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3"/>
            <a:ext cx="5760640" cy="372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42" y="1203598"/>
            <a:ext cx="4612782" cy="27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563638"/>
            <a:ext cx="2686267" cy="806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27734"/>
            <a:ext cx="4104456" cy="3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59782"/>
            <a:ext cx="2952328" cy="70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040442"/>
            <a:ext cx="4905016" cy="343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488812"/>
            <a:ext cx="1656184" cy="307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3887507"/>
            <a:ext cx="1473324" cy="34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371950"/>
            <a:ext cx="5904656" cy="592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803975"/>
            <a:ext cx="2754908" cy="222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72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Weg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Faulhaber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-Formel?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72" y="1779662"/>
            <a:ext cx="1055957" cy="914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548" y="1880059"/>
            <a:ext cx="792088" cy="713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96" y="1851670"/>
            <a:ext cx="1767724" cy="714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Geschweifte Klammer rechts 2"/>
          <p:cNvSpPr/>
          <p:nvPr/>
        </p:nvSpPr>
        <p:spPr>
          <a:xfrm>
            <a:off x="4251492" y="771550"/>
            <a:ext cx="1040588" cy="403244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4932040" y="1104159"/>
            <a:ext cx="4067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/>
              <a:t>Kommen wir so an die </a:t>
            </a:r>
            <a:r>
              <a:rPr lang="de-DE" sz="1600" b="1" dirty="0" err="1" smtClean="0"/>
              <a:t>Faulhabersche</a:t>
            </a:r>
            <a:r>
              <a:rPr lang="de-DE" sz="1600" b="1" dirty="0" smtClean="0"/>
              <a:t> Formel</a:t>
            </a:r>
            <a:r>
              <a:rPr lang="de-DE" sz="1600" dirty="0" smtClean="0"/>
              <a:t>?</a:t>
            </a:r>
            <a:endParaRPr lang="de-DE" sz="16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584" y="1581213"/>
            <a:ext cx="3089523" cy="58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6"/>
          <a:stretch/>
        </p:blipFill>
        <p:spPr bwMode="auto">
          <a:xfrm>
            <a:off x="179512" y="3075805"/>
            <a:ext cx="1634936" cy="58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56" y="3047750"/>
            <a:ext cx="2574688" cy="554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382" y="3723878"/>
            <a:ext cx="2526354" cy="66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856" y="4403050"/>
            <a:ext cx="2160240" cy="68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584" y="2566234"/>
            <a:ext cx="1476573" cy="1517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6983760" y="3221563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Zusammenhang ist nicht trivial!</a:t>
            </a:r>
            <a:endParaRPr lang="de-DE" dirty="0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34"/>
          <a:stretch/>
        </p:blipFill>
        <p:spPr bwMode="auto">
          <a:xfrm>
            <a:off x="211988" y="805547"/>
            <a:ext cx="3927964" cy="77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48" y="1615739"/>
            <a:ext cx="595399" cy="32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Gerade Verbindung mit Pfeil 7"/>
          <p:cNvCxnSpPr/>
          <p:nvPr/>
        </p:nvCxnSpPr>
        <p:spPr>
          <a:xfrm flipV="1">
            <a:off x="827584" y="1923678"/>
            <a:ext cx="0" cy="2235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31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Partielle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Summation/Integration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73" y="699542"/>
            <a:ext cx="5909295" cy="297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46" y="1127353"/>
            <a:ext cx="2450591" cy="364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426" y="1142864"/>
            <a:ext cx="2362767" cy="348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706" y="1157210"/>
            <a:ext cx="2396678" cy="334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07655"/>
            <a:ext cx="3533031" cy="219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95686"/>
            <a:ext cx="4968552" cy="445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575215"/>
            <a:ext cx="384229" cy="257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472734"/>
            <a:ext cx="5760640" cy="45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47814"/>
            <a:ext cx="384229" cy="257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003798"/>
            <a:ext cx="5400600" cy="50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90993"/>
            <a:ext cx="8712968" cy="276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12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1"/>
          <a:stretch/>
        </p:blipFill>
        <p:spPr bwMode="auto">
          <a:xfrm>
            <a:off x="2697132" y="4062294"/>
            <a:ext cx="3459044" cy="52568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249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Beispielrechnung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6" y="699542"/>
            <a:ext cx="3821248" cy="72013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16" y="1563637"/>
            <a:ext cx="7943984" cy="348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06955"/>
            <a:ext cx="1179001" cy="498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04" y="3383019"/>
            <a:ext cx="2539890" cy="700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270" y="3507806"/>
            <a:ext cx="1884179" cy="413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7" y="3575906"/>
            <a:ext cx="2160240" cy="363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2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7"/>
          <a:stretch/>
        </p:blipFill>
        <p:spPr bwMode="auto">
          <a:xfrm>
            <a:off x="2915816" y="2139702"/>
            <a:ext cx="2676594" cy="41053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494" y="2892207"/>
            <a:ext cx="3240360" cy="35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59782"/>
            <a:ext cx="1608174" cy="324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442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50</Words>
  <Application>Microsoft Office PowerPoint</Application>
  <PresentationFormat>Bildschirmpräsentation (16:9)</PresentationFormat>
  <Paragraphs>18</Paragraphs>
  <Slides>10</Slides>
  <Notes>3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27</cp:revision>
  <dcterms:created xsi:type="dcterms:W3CDTF">2024-11-02T17:04:14Z</dcterms:created>
  <dcterms:modified xsi:type="dcterms:W3CDTF">2024-11-10T13:26:29Z</dcterms:modified>
</cp:coreProperties>
</file>