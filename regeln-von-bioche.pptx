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2" r:id="rId7"/>
    <p:sldId id="265" r:id="rId8"/>
    <p:sldId id="261" r:id="rId9"/>
    <p:sldId id="260" r:id="rId10"/>
    <p:sldId id="268" r:id="rId11"/>
    <p:sldId id="270" r:id="rId12"/>
    <p:sldId id="263" r:id="rId13"/>
    <p:sldId id="264" r:id="rId14"/>
    <p:sldId id="269" r:id="rId15"/>
    <p:sldId id="266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1158"/>
      </p:cViewPr>
      <p:guideLst>
        <p:guide orient="horz" pos="162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A72EC-1E95-4CBF-A505-46900387322C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6A0D8-A51A-42AF-86B1-12055877B0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10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Bei 2) hat man einen Unterschied: Es ist zwar </a:t>
            </a:r>
            <a:r>
              <a:rPr lang="el-GR" dirty="0" smtClean="0"/>
              <a:t>ω(π−</a:t>
            </a:r>
            <a:r>
              <a:rPr lang="de-DE" dirty="0" smtClean="0"/>
              <a:t>t)=</a:t>
            </a:r>
            <a:r>
              <a:rPr lang="el-GR" dirty="0" smtClean="0"/>
              <a:t>ω(</a:t>
            </a:r>
            <a:r>
              <a:rPr lang="de-DE" dirty="0" smtClean="0"/>
              <a:t>t), aber daraus folgt f(</a:t>
            </a:r>
            <a:r>
              <a:rPr lang="el-GR" dirty="0" smtClean="0"/>
              <a:t>π−</a:t>
            </a:r>
            <a:r>
              <a:rPr lang="de-DE" dirty="0" smtClean="0"/>
              <a:t>t)=−f(t).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Bei 2) hat man einen Unterschied: Es ist zwar </a:t>
            </a:r>
            <a:r>
              <a:rPr lang="el-GR" dirty="0" smtClean="0"/>
              <a:t>ω(π−</a:t>
            </a:r>
            <a:r>
              <a:rPr lang="de-DE" dirty="0" smtClean="0"/>
              <a:t>t)=</a:t>
            </a:r>
            <a:r>
              <a:rPr lang="el-GR" dirty="0" smtClean="0"/>
              <a:t>ω(</a:t>
            </a:r>
            <a:r>
              <a:rPr lang="de-DE" dirty="0" smtClean="0"/>
              <a:t>t), aber daraus folgt f(</a:t>
            </a:r>
            <a:r>
              <a:rPr lang="el-GR" dirty="0" smtClean="0"/>
              <a:t>π−</a:t>
            </a:r>
            <a:r>
              <a:rPr lang="de-DE" dirty="0" smtClean="0"/>
              <a:t>t)=−f(t).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6A0D8-A51A-42AF-86B1-12055877B0D3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70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08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88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10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20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73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001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87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07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June 4,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8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June 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June 4,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20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07504" y="-116646"/>
            <a:ext cx="89289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8000" b="1" dirty="0" smtClean="0"/>
              <a:t>Regeln von </a:t>
            </a:r>
            <a:r>
              <a:rPr lang="de-DE" sz="8000" b="1" dirty="0" err="1" smtClean="0"/>
              <a:t>Bioche</a:t>
            </a:r>
            <a:endParaRPr lang="de-DE" sz="8000" b="1" dirty="0" smtClean="0"/>
          </a:p>
        </p:txBody>
      </p:sp>
      <p:pic>
        <p:nvPicPr>
          <p:cNvPr id="1028" name="Picture 4" descr="Upload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0179" y1="44913" x2="22571" y2="52887"/>
                        <a14:foregroundMark x1="25112" y1="53437" x2="31091" y2="61045"/>
                        <a14:foregroundMark x1="32138" y1="61687" x2="49477" y2="65720"/>
                        <a14:foregroundMark x1="49477" y1="65720" x2="66069" y2="59578"/>
                        <a14:foregroundMark x1="18236" y1="20440" x2="27504" y2="14940"/>
                        <a14:foregroundMark x1="27504" y1="14940" x2="32586" y2="11641"/>
                        <a14:foregroundMark x1="34081" y1="10724" x2="41555" y2="8891"/>
                        <a14:foregroundMark x1="45441" y1="8891" x2="53513" y2="8891"/>
                        <a14:foregroundMark x1="59492" y1="8891" x2="70404" y2="12557"/>
                        <a14:foregroundMark x1="72048" y1="12741" x2="78027" y2="16774"/>
                        <a14:foregroundMark x1="79372" y1="16774" x2="86996" y2="20715"/>
                        <a14:foregroundMark x1="84006" y1="20807" x2="84006" y2="29239"/>
                        <a14:foregroundMark x1="85949" y1="33547" x2="86996" y2="42713"/>
                        <a14:foregroundMark x1="86996" y1="27773" x2="86996" y2="30522"/>
                        <a14:foregroundMark x1="88939" y1="32906" x2="85949" y2="42713"/>
                        <a14:foregroundMark x1="85949" y1="43905" x2="81016" y2="47388"/>
                        <a14:foregroundMark x1="78924" y1="48213" x2="76532" y2="56187"/>
                        <a14:foregroundMark x1="75037" y1="56737" x2="94918" y2="74519"/>
                        <a14:foregroundMark x1="92526" y1="75435" x2="85949" y2="95050"/>
                        <a14:foregroundMark x1="20179" y1="31256" x2="23169" y2="43080"/>
                        <a14:foregroundMark x1="17190" y1="37305" x2="20179" y2="45555"/>
                        <a14:foregroundMark x1="18535" y1="49588" x2="24514" y2="53254"/>
                        <a14:foregroundMark x1="17190" y1="39138" x2="19133" y2="49221"/>
                        <a14:foregroundMark x1="86398" y1="20807" x2="88939" y2="29973"/>
                        <a14:foregroundMark x1="16741" y1="23006" x2="17190" y2="48121"/>
                        <a14:backgroundMark x1="9268" y1="47571" x2="18535" y2="65078"/>
                        <a14:backgroundMark x1="93871" y1="35839" x2="93871" y2="47113"/>
                        <a14:backgroundMark x1="25710" y1="57837" x2="26308" y2="62420"/>
                        <a14:backgroundMark x1="29297" y1="61137" x2="29746" y2="612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440" y="1426107"/>
            <a:ext cx="2296072" cy="3744416"/>
          </a:xfrm>
          <a:prstGeom prst="rect">
            <a:avLst/>
          </a:prstGeom>
          <a:noFill/>
          <a:effectLst>
            <a:glow rad="101600">
              <a:schemeClr val="bg1">
                <a:lumMod val="65000"/>
                <a:alpha val="6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160844" y="1059582"/>
            <a:ext cx="88569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300" dirty="0" smtClean="0">
                <a:solidFill>
                  <a:srgbClr val="FF0000"/>
                </a:solidFill>
              </a:rPr>
              <a:t>Schlüssel</a:t>
            </a:r>
            <a:r>
              <a:rPr lang="de-DE" sz="3300" dirty="0" smtClean="0"/>
              <a:t> für </a:t>
            </a:r>
            <a:r>
              <a:rPr lang="de-DE" sz="3300" dirty="0" smtClean="0">
                <a:solidFill>
                  <a:srgbClr val="FF0000"/>
                </a:solidFill>
              </a:rPr>
              <a:t>trigonometrische Substitutionen</a:t>
            </a:r>
            <a:endParaRPr lang="de-DE" sz="3300" dirty="0">
              <a:solidFill>
                <a:srgbClr val="FF000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9662"/>
            <a:ext cx="648778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323528" y="3157339"/>
            <a:ext cx="6346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solidFill>
                  <a:srgbClr val="00B050"/>
                </a:solidFill>
              </a:rPr>
              <a:t>Wie</a:t>
            </a:r>
            <a:r>
              <a:rPr lang="de-DE" sz="3600" dirty="0" smtClean="0"/>
              <a:t> muss man </a:t>
            </a:r>
            <a:r>
              <a:rPr lang="de-DE" sz="3600" dirty="0" smtClean="0">
                <a:solidFill>
                  <a:srgbClr val="00B050"/>
                </a:solidFill>
              </a:rPr>
              <a:t>substituieren</a:t>
            </a:r>
            <a:r>
              <a:rPr lang="de-DE" sz="3600" dirty="0" smtClean="0"/>
              <a:t>?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57" y="3925641"/>
            <a:ext cx="2491891" cy="44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442799"/>
            <a:ext cx="2664296" cy="433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06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Biographisches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6588224" y="999768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Charles </a:t>
            </a:r>
            <a:r>
              <a:rPr lang="de-D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Bioche</a:t>
            </a:r>
            <a:endParaRPr lang="de-DE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(1859-1949)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0" y="771550"/>
            <a:ext cx="64807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Studierte ab 1879 an der </a:t>
            </a:r>
            <a:r>
              <a:rPr lang="de-DE" dirty="0" err="1"/>
              <a:t>École</a:t>
            </a:r>
            <a:r>
              <a:rPr lang="de-DE" dirty="0"/>
              <a:t> normale </a:t>
            </a:r>
            <a:r>
              <a:rPr lang="de-DE" dirty="0" err="1"/>
              <a:t>supérieure</a:t>
            </a:r>
            <a:r>
              <a:rPr lang="de-DE" dirty="0"/>
              <a:t>, wo </a:t>
            </a:r>
            <a:r>
              <a:rPr lang="de-DE" dirty="0" smtClean="0"/>
              <a:t>er sich mit </a:t>
            </a:r>
            <a:r>
              <a:rPr lang="de-DE" b="1" dirty="0"/>
              <a:t>Henri Bergson </a:t>
            </a:r>
            <a:r>
              <a:rPr lang="de-DE" dirty="0" smtClean="0"/>
              <a:t>befreundete.</a:t>
            </a:r>
          </a:p>
          <a:p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smtClean="0"/>
              <a:t>Lehrtätigkeit</a:t>
            </a:r>
            <a:r>
              <a:rPr lang="de-DE" dirty="0" smtClean="0"/>
              <a:t> ab 1882 an verschiedenen </a:t>
            </a:r>
            <a:r>
              <a:rPr lang="de-DE" dirty="0" err="1" smtClean="0"/>
              <a:t>Lycées</a:t>
            </a:r>
            <a:r>
              <a:rPr lang="de-DE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Neben seiner </a:t>
            </a:r>
            <a:r>
              <a:rPr lang="de-DE" b="1" dirty="0"/>
              <a:t>Unterrichtstätigkeit</a:t>
            </a:r>
            <a:r>
              <a:rPr lang="de-DE" dirty="0"/>
              <a:t> publizierte er von 1883 bis zu seinem Tod zahlreiche </a:t>
            </a:r>
            <a:r>
              <a:rPr lang="de-DE" b="1" dirty="0"/>
              <a:t>Artikel in Fachzeitschriften</a:t>
            </a:r>
            <a:r>
              <a:rPr lang="de-DE" dirty="0"/>
              <a:t>, die sich mit Mathematik, ihrer </a:t>
            </a:r>
            <a:r>
              <a:rPr lang="de-DE" b="1" dirty="0"/>
              <a:t>Geschichte</a:t>
            </a:r>
            <a:r>
              <a:rPr lang="de-DE" dirty="0"/>
              <a:t> und </a:t>
            </a:r>
            <a:r>
              <a:rPr lang="de-DE" b="1" dirty="0"/>
              <a:t>Didaktik</a:t>
            </a:r>
            <a:r>
              <a:rPr lang="de-DE" dirty="0"/>
              <a:t> </a:t>
            </a:r>
            <a:r>
              <a:rPr lang="de-DE" dirty="0" smtClean="0"/>
              <a:t>beschäftigten.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 veröffentlichte vor allem über Geometrie. 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Von 1888 bis zu seinem Tod war </a:t>
            </a:r>
            <a:r>
              <a:rPr lang="de-DE" dirty="0" err="1" smtClean="0"/>
              <a:t>Bioche</a:t>
            </a:r>
            <a:r>
              <a:rPr lang="de-DE" dirty="0" smtClean="0"/>
              <a:t> Mitglied der </a:t>
            </a:r>
            <a:r>
              <a:rPr lang="de-DE" b="1" dirty="0" err="1"/>
              <a:t>Société</a:t>
            </a:r>
            <a:r>
              <a:rPr lang="de-DE" b="1" dirty="0"/>
              <a:t> </a:t>
            </a:r>
            <a:r>
              <a:rPr lang="de-DE" b="1" dirty="0" err="1"/>
              <a:t>mathématique</a:t>
            </a:r>
            <a:r>
              <a:rPr lang="de-DE" b="1" dirty="0"/>
              <a:t> de </a:t>
            </a:r>
            <a:r>
              <a:rPr lang="de-DE" b="1" dirty="0" smtClean="0"/>
              <a:t>France</a:t>
            </a:r>
            <a:r>
              <a:rPr lang="de-DE" dirty="0"/>
              <a:t> </a:t>
            </a:r>
            <a:r>
              <a:rPr lang="de-DE" dirty="0" smtClean="0"/>
              <a:t>; Engagement in diversen Verbänden</a:t>
            </a:r>
            <a:r>
              <a:rPr lang="de-DE" b="1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1909</a:t>
            </a:r>
            <a:r>
              <a:rPr lang="de-DE" dirty="0"/>
              <a:t>: </a:t>
            </a:r>
            <a:r>
              <a:rPr lang="de-DE" b="1" dirty="0"/>
              <a:t>Präsident</a:t>
            </a:r>
            <a:r>
              <a:rPr lang="de-DE" dirty="0"/>
              <a:t> der </a:t>
            </a:r>
            <a:r>
              <a:rPr lang="de-DE" dirty="0" err="1"/>
              <a:t>Société</a:t>
            </a:r>
            <a:r>
              <a:rPr lang="de-DE" dirty="0"/>
              <a:t> </a:t>
            </a:r>
            <a:r>
              <a:rPr lang="de-DE" dirty="0" err="1"/>
              <a:t>mathématique</a:t>
            </a:r>
            <a:r>
              <a:rPr lang="de-DE" dirty="0"/>
              <a:t> de </a:t>
            </a:r>
            <a:r>
              <a:rPr lang="de-DE" dirty="0" smtClean="0"/>
              <a:t>France </a:t>
            </a:r>
            <a:endParaRPr lang="de-DE" dirty="0"/>
          </a:p>
        </p:txBody>
      </p:sp>
      <p:pic>
        <p:nvPicPr>
          <p:cNvPr id="7" name="Picture 4" descr="Upload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0179" y1="44913" x2="22571" y2="52887"/>
                        <a14:foregroundMark x1="25112" y1="53437" x2="31091" y2="61045"/>
                        <a14:foregroundMark x1="32138" y1="61687" x2="49477" y2="65720"/>
                        <a14:foregroundMark x1="49477" y1="65720" x2="66069" y2="59578"/>
                        <a14:foregroundMark x1="18236" y1="20440" x2="27504" y2="14940"/>
                        <a14:foregroundMark x1="27504" y1="14940" x2="32586" y2="11641"/>
                        <a14:foregroundMark x1="34081" y1="10724" x2="41555" y2="8891"/>
                        <a14:foregroundMark x1="45441" y1="8891" x2="53513" y2="8891"/>
                        <a14:foregroundMark x1="59492" y1="8891" x2="70404" y2="12557"/>
                        <a14:foregroundMark x1="72048" y1="12741" x2="78027" y2="16774"/>
                        <a14:foregroundMark x1="79372" y1="16774" x2="86996" y2="20715"/>
                        <a14:foregroundMark x1="84006" y1="20807" x2="84006" y2="29239"/>
                        <a14:foregroundMark x1="85949" y1="33547" x2="86996" y2="42713"/>
                        <a14:foregroundMark x1="86996" y1="27773" x2="86996" y2="30522"/>
                        <a14:foregroundMark x1="88939" y1="32906" x2="85949" y2="42713"/>
                        <a14:foregroundMark x1="85949" y1="43905" x2="81016" y2="47388"/>
                        <a14:foregroundMark x1="78924" y1="48213" x2="76532" y2="56187"/>
                        <a14:foregroundMark x1="75037" y1="56737" x2="94918" y2="74519"/>
                        <a14:foregroundMark x1="92526" y1="75435" x2="85949" y2="95050"/>
                        <a14:foregroundMark x1="20179" y1="31256" x2="23169" y2="43080"/>
                        <a14:foregroundMark x1="17190" y1="37305" x2="20179" y2="45555"/>
                        <a14:foregroundMark x1="18535" y1="49588" x2="24514" y2="53254"/>
                        <a14:foregroundMark x1="17190" y1="39138" x2="19133" y2="49221"/>
                        <a14:foregroundMark x1="86398" y1="20807" x2="88939" y2="29973"/>
                        <a14:foregroundMark x1="16741" y1="23006" x2="17190" y2="48121"/>
                        <a14:backgroundMark x1="9268" y1="47571" x2="18535" y2="65078"/>
                        <a14:backgroundMark x1="93871" y1="35839" x2="93871" y2="47113"/>
                        <a14:backgroundMark x1="25710" y1="57837" x2="26308" y2="62420"/>
                        <a14:backgroundMark x1="29297" y1="61137" x2="29746" y2="612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440" y="1426107"/>
            <a:ext cx="2296072" cy="3744416"/>
          </a:xfrm>
          <a:prstGeom prst="rect">
            <a:avLst/>
          </a:prstGeom>
          <a:noFill/>
          <a:effectLst>
            <a:glow rad="101600">
              <a:schemeClr val="bg1">
                <a:lumMod val="65000"/>
                <a:alpha val="6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87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Société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mathématique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France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79512" y="669925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/>
              <a:t>Präsidenten waren u. a.: 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179512" y="1223923"/>
            <a:ext cx="87849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1873: Michel </a:t>
            </a:r>
            <a:r>
              <a:rPr lang="de-DE" dirty="0" err="1"/>
              <a:t>Chasles</a:t>
            </a:r>
            <a:r>
              <a:rPr lang="de-DE" dirty="0"/>
              <a:t> (1793–1880)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1875: </a:t>
            </a:r>
            <a:r>
              <a:rPr lang="de-DE" b="1" dirty="0"/>
              <a:t>Irénée-Jules </a:t>
            </a:r>
            <a:r>
              <a:rPr lang="de-DE" b="1" dirty="0" err="1"/>
              <a:t>Bienaymé</a:t>
            </a:r>
            <a:r>
              <a:rPr lang="de-DE" b="1" dirty="0"/>
              <a:t> </a:t>
            </a:r>
            <a:r>
              <a:rPr lang="de-DE" dirty="0"/>
              <a:t>(1796–1878) 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1878</a:t>
            </a:r>
            <a:r>
              <a:rPr lang="fr-FR" dirty="0"/>
              <a:t>: Jean Gaston Darboux (1842–1917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1879: Pierre Ossian Bonnet (1819–1892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1880: </a:t>
            </a:r>
            <a:r>
              <a:rPr lang="fr-FR" b="1" dirty="0"/>
              <a:t>Camille Jordan </a:t>
            </a:r>
            <a:r>
              <a:rPr lang="fr-FR" dirty="0"/>
              <a:t>(1838–1922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1883: Eugène Rouché (1832–1910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1884: Émile Picard (1856–1941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1886: </a:t>
            </a:r>
            <a:r>
              <a:rPr lang="fr-FR" b="1" dirty="0"/>
              <a:t>Henri Poincaré </a:t>
            </a:r>
            <a:r>
              <a:rPr lang="fr-FR" dirty="0"/>
              <a:t>(1854–1912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1905: </a:t>
            </a:r>
            <a:r>
              <a:rPr lang="fr-FR" b="1" dirty="0"/>
              <a:t>Émile Borel </a:t>
            </a:r>
            <a:r>
              <a:rPr lang="fr-FR" dirty="0"/>
              <a:t>(1871–1956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1906: </a:t>
            </a:r>
            <a:r>
              <a:rPr lang="fr-FR" b="1" dirty="0"/>
              <a:t>Jacques Hadamard </a:t>
            </a:r>
            <a:r>
              <a:rPr lang="fr-FR" dirty="0"/>
              <a:t>(1865–1963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1915: Élie Cartan (1869–1951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1919: </a:t>
            </a:r>
            <a:r>
              <a:rPr lang="fr-FR" b="1" dirty="0"/>
              <a:t>Henri Lebesgue </a:t>
            </a:r>
            <a:r>
              <a:rPr lang="fr-FR" dirty="0"/>
              <a:t>(1875–1941</a:t>
            </a:r>
            <a:r>
              <a:rPr lang="fr-F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1924: Paul Lévy (1886–1971)</a:t>
            </a:r>
            <a:endParaRPr lang="fr-FR" dirty="0" smtClean="0"/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716016" y="1223923"/>
            <a:ext cx="42484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1925</a:t>
            </a:r>
            <a:r>
              <a:rPr lang="de-DE" dirty="0"/>
              <a:t>: Paul </a:t>
            </a:r>
            <a:r>
              <a:rPr lang="de-DE" dirty="0" err="1"/>
              <a:t>Montel</a:t>
            </a:r>
            <a:r>
              <a:rPr lang="de-DE" dirty="0"/>
              <a:t> (1876–1975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1926: </a:t>
            </a:r>
            <a:r>
              <a:rPr lang="de-DE" b="1" dirty="0"/>
              <a:t>Pierre </a:t>
            </a:r>
            <a:r>
              <a:rPr lang="de-DE" b="1" dirty="0" err="1"/>
              <a:t>Fatou</a:t>
            </a:r>
            <a:r>
              <a:rPr lang="de-DE" b="1" dirty="0"/>
              <a:t> </a:t>
            </a:r>
            <a:r>
              <a:rPr lang="de-DE" dirty="0"/>
              <a:t>(1878–1929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1935: Maurice </a:t>
            </a:r>
            <a:r>
              <a:rPr lang="de-DE" dirty="0" err="1"/>
              <a:t>Fréchet</a:t>
            </a:r>
            <a:r>
              <a:rPr lang="de-DE" dirty="0"/>
              <a:t> (1878–1973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1950: Henri </a:t>
            </a:r>
            <a:r>
              <a:rPr lang="de-DE" dirty="0" err="1"/>
              <a:t>Cartan</a:t>
            </a:r>
            <a:r>
              <a:rPr lang="de-DE" dirty="0"/>
              <a:t> (1904–2008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1961: Gustave </a:t>
            </a:r>
            <a:r>
              <a:rPr lang="de-DE" dirty="0" err="1"/>
              <a:t>Choquet</a:t>
            </a:r>
            <a:r>
              <a:rPr lang="de-DE" dirty="0"/>
              <a:t> (1915–2006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1962: Laurent Schwartz (1915–2002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1964: </a:t>
            </a:r>
            <a:r>
              <a:rPr lang="de-DE" b="1" dirty="0"/>
              <a:t>Jean </a:t>
            </a:r>
            <a:r>
              <a:rPr lang="de-DE" b="1" dirty="0" err="1"/>
              <a:t>Dieudonné</a:t>
            </a:r>
            <a:r>
              <a:rPr lang="de-DE" b="1" dirty="0"/>
              <a:t> </a:t>
            </a:r>
            <a:r>
              <a:rPr lang="de-DE" dirty="0"/>
              <a:t>(1906–1992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1968: </a:t>
            </a:r>
            <a:r>
              <a:rPr lang="de-DE" b="1" dirty="0"/>
              <a:t>René Thom </a:t>
            </a:r>
            <a:r>
              <a:rPr lang="de-DE" dirty="0"/>
              <a:t>(1923–2002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1970: Jean-Pierre </a:t>
            </a:r>
            <a:r>
              <a:rPr lang="de-DE" dirty="0" err="1"/>
              <a:t>Serre</a:t>
            </a:r>
            <a:r>
              <a:rPr lang="de-DE" dirty="0"/>
              <a:t> (* 1926)</a:t>
            </a:r>
          </a:p>
          <a:p>
            <a:endParaRPr lang="de-DE" dirty="0" smtClean="0"/>
          </a:p>
        </p:txBody>
      </p:sp>
      <p:pic>
        <p:nvPicPr>
          <p:cNvPr id="2058" name="Picture 10" descr="SMF revues et e-books (offre INSMI) | licence.rnß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496" y="411510"/>
            <a:ext cx="4572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73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Regeln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Bioche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39" y="680049"/>
            <a:ext cx="3948075" cy="66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723" y="869003"/>
            <a:ext cx="2803353" cy="263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53726"/>
            <a:ext cx="2304256" cy="29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60" y="1851669"/>
            <a:ext cx="6990328" cy="197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Geschweifte Klammer rechts 1"/>
          <p:cNvSpPr/>
          <p:nvPr/>
        </p:nvSpPr>
        <p:spPr>
          <a:xfrm>
            <a:off x="5100243" y="1851669"/>
            <a:ext cx="432048" cy="115212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580112" y="1851670"/>
            <a:ext cx="3312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smtClean="0"/>
              <a:t>Merkregel: </a:t>
            </a:r>
          </a:p>
          <a:p>
            <a:pPr algn="just"/>
            <a:r>
              <a:rPr lang="de-DE" sz="1400" dirty="0" smtClean="0"/>
              <a:t>Nutze als Substitution diejenige Funktion, die das gleiche Transformationsverhalten wie </a:t>
            </a:r>
            <a:r>
              <a:rPr lang="el-GR" sz="1400" dirty="0" smtClean="0"/>
              <a:t>ω</a:t>
            </a:r>
            <a:r>
              <a:rPr lang="en-CA" sz="1400" dirty="0" smtClean="0"/>
              <a:t> hat.</a:t>
            </a:r>
            <a:r>
              <a:rPr lang="de-DE" sz="1400" dirty="0" smtClean="0"/>
              <a:t> </a:t>
            </a:r>
            <a:endParaRPr lang="de-DE" sz="1400" dirty="0"/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5181162" y="3671997"/>
            <a:ext cx="79208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5967437" y="3505917"/>
            <a:ext cx="2349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/>
              <a:t>Weierstraß</a:t>
            </a:r>
            <a:r>
              <a:rPr lang="de-DE" sz="1400" dirty="0" smtClean="0"/>
              <a:t>-Substitution</a:t>
            </a:r>
            <a:endParaRPr lang="de-DE" sz="14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77" y="3957919"/>
            <a:ext cx="3714875" cy="1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939902"/>
            <a:ext cx="909255" cy="101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920091"/>
            <a:ext cx="2043047" cy="95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7236296" y="2738413"/>
            <a:ext cx="1944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100" dirty="0" smtClean="0"/>
          </a:p>
          <a:p>
            <a:r>
              <a:rPr lang="de-DE" sz="1100" b="1" dirty="0" smtClean="0"/>
              <a:t>Auch hier:</a:t>
            </a:r>
          </a:p>
          <a:p>
            <a:r>
              <a:rPr lang="de-DE" sz="1100" dirty="0" smtClean="0"/>
              <a:t>cos(2t)=cos(2(t-</a:t>
            </a:r>
            <a:r>
              <a:rPr lang="el-GR" sz="1100" dirty="0" smtClean="0"/>
              <a:t>π</a:t>
            </a:r>
            <a:r>
              <a:rPr lang="en-CA" sz="1100" dirty="0" smtClean="0"/>
              <a:t>))</a:t>
            </a:r>
          </a:p>
          <a:p>
            <a:r>
              <a:rPr lang="en-CA" sz="1100" dirty="0" smtClean="0"/>
              <a:t>             =cos(2(t+</a:t>
            </a:r>
            <a:r>
              <a:rPr lang="el-GR" sz="1100" dirty="0" smtClean="0"/>
              <a:t>π</a:t>
            </a:r>
            <a:r>
              <a:rPr lang="en-CA" sz="1100" dirty="0" smtClean="0"/>
              <a:t>))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73624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Warum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l-G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ω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f(t)? 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9543"/>
            <a:ext cx="8568952" cy="654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51520" y="2931790"/>
            <a:ext cx="84969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„Because rules 1 and 2 involve flipping the t axis, they flip the sign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therefore the behavior of ω under these transformations differs from that of f by a sign.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rules could be stated in terms of f, stating them in terms of ω has a mnemonic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(Wikipedia –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Bioche’s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rule)</a:t>
            </a:r>
            <a:endParaRPr lang="de-D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35" y="2067694"/>
            <a:ext cx="8477150" cy="71044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90018"/>
            <a:ext cx="7366223" cy="28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5"/>
          <p:cNvCxnSpPr/>
          <p:nvPr/>
        </p:nvCxnSpPr>
        <p:spPr>
          <a:xfrm>
            <a:off x="747912" y="1770137"/>
            <a:ext cx="11521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/>
        </p:nvCxnSpPr>
        <p:spPr>
          <a:xfrm>
            <a:off x="6741468" y="1779662"/>
            <a:ext cx="12961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70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-Substitution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bekannt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71550"/>
            <a:ext cx="5184576" cy="170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96" y="2571750"/>
            <a:ext cx="5200500" cy="164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75806"/>
            <a:ext cx="5163344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280" y="1269000"/>
            <a:ext cx="4284984" cy="133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90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französisches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Geheimnis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24" y="843558"/>
            <a:ext cx="5832648" cy="157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50" y="2715766"/>
            <a:ext cx="4282282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640" y="1995686"/>
            <a:ext cx="5071856" cy="201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979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Warum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gilt die Regel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9" y="680049"/>
            <a:ext cx="3948075" cy="66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43" y="869003"/>
            <a:ext cx="2803353" cy="263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668020"/>
            <a:ext cx="3240359" cy="26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107504" y="1491630"/>
            <a:ext cx="885698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762" y="1679519"/>
            <a:ext cx="482818" cy="22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21" y="1987534"/>
            <a:ext cx="3075755" cy="59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020328"/>
            <a:ext cx="3312368" cy="62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19" b="76716"/>
          <a:stretch/>
        </p:blipFill>
        <p:spPr bwMode="auto">
          <a:xfrm>
            <a:off x="201736" y="2718141"/>
            <a:ext cx="1057896" cy="21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6"/>
          <a:stretch/>
        </p:blipFill>
        <p:spPr bwMode="auto">
          <a:xfrm>
            <a:off x="971600" y="3003798"/>
            <a:ext cx="6746528" cy="536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03" b="62446"/>
          <a:stretch/>
        </p:blipFill>
        <p:spPr bwMode="auto">
          <a:xfrm>
            <a:off x="179513" y="3597203"/>
            <a:ext cx="5588828" cy="25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5" t="50000" r="28439"/>
          <a:stretch/>
        </p:blipFill>
        <p:spPr bwMode="auto">
          <a:xfrm>
            <a:off x="3131840" y="3867894"/>
            <a:ext cx="2849116" cy="36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00" b="65756"/>
          <a:stretch/>
        </p:blipFill>
        <p:spPr bwMode="auto">
          <a:xfrm>
            <a:off x="179513" y="4290965"/>
            <a:ext cx="4320479" cy="225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1" t="50000" r="13417" b="-489"/>
          <a:stretch/>
        </p:blipFill>
        <p:spPr bwMode="auto">
          <a:xfrm>
            <a:off x="3085316" y="4587974"/>
            <a:ext cx="3214876" cy="34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706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Warum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gilt die Regel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49"/>
          <a:stretch/>
        </p:blipFill>
        <p:spPr bwMode="auto">
          <a:xfrm>
            <a:off x="467544" y="699542"/>
            <a:ext cx="7344816" cy="118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7627" b="-10438"/>
          <a:stretch/>
        </p:blipFill>
        <p:spPr bwMode="auto">
          <a:xfrm>
            <a:off x="2547413" y="2121054"/>
            <a:ext cx="1088483" cy="37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60" y="2156842"/>
            <a:ext cx="2057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69" r="13518" b="46424"/>
          <a:stretch/>
        </p:blipFill>
        <p:spPr bwMode="auto">
          <a:xfrm>
            <a:off x="506761" y="2643758"/>
            <a:ext cx="6032315" cy="36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0" t="57679" r="21757" b="19224"/>
          <a:stretch/>
        </p:blipFill>
        <p:spPr bwMode="auto">
          <a:xfrm>
            <a:off x="2915816" y="3104431"/>
            <a:ext cx="3040536" cy="73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56" r="17852" b="2646"/>
          <a:stretch/>
        </p:blipFill>
        <p:spPr bwMode="auto">
          <a:xfrm>
            <a:off x="506760" y="3968527"/>
            <a:ext cx="6104323" cy="345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mit Pfeil 2"/>
          <p:cNvCxnSpPr/>
          <p:nvPr/>
        </p:nvCxnSpPr>
        <p:spPr>
          <a:xfrm>
            <a:off x="1619672" y="4631640"/>
            <a:ext cx="136815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/>
          <p:cNvSpPr txBox="1"/>
          <p:nvPr/>
        </p:nvSpPr>
        <p:spPr>
          <a:xfrm>
            <a:off x="2987824" y="443466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Dann z. B. Partialbruchzerlegung.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98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Heaviside cover-up method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214" y="771299"/>
            <a:ext cx="2037234" cy="309659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929214" y="3896469"/>
            <a:ext cx="203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Oliver Heaviside</a:t>
            </a:r>
          </a:p>
          <a:p>
            <a:pPr algn="ctr"/>
            <a:r>
              <a:rPr lang="de-DE" sz="1400" dirty="0" smtClean="0"/>
              <a:t>(1850-1925)</a:t>
            </a:r>
            <a:endParaRPr lang="de-DE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71550"/>
            <a:ext cx="5976664" cy="73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14" y="1805479"/>
            <a:ext cx="3567130" cy="622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078" y="2566919"/>
            <a:ext cx="3246138" cy="580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42" y="3258116"/>
            <a:ext cx="3295947" cy="566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mit Pfeil 5"/>
          <p:cNvCxnSpPr/>
          <p:nvPr/>
        </p:nvCxnSpPr>
        <p:spPr>
          <a:xfrm>
            <a:off x="251520" y="1102356"/>
            <a:ext cx="0" cy="3519526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57038"/>
            <a:ext cx="6048672" cy="71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0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08" y="699542"/>
            <a:ext cx="1602096" cy="68120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980" y="809650"/>
            <a:ext cx="5634372" cy="429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110" y="1275606"/>
            <a:ext cx="3092946" cy="323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14" y="1726704"/>
            <a:ext cx="1419216" cy="605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738" y="1678387"/>
            <a:ext cx="1297168" cy="677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448" y="1810392"/>
            <a:ext cx="1948036" cy="376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936" y="1841425"/>
            <a:ext cx="2308448" cy="321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87774"/>
            <a:ext cx="1512168" cy="60990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931790"/>
            <a:ext cx="6065738" cy="404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648" y="3434554"/>
            <a:ext cx="2868513" cy="30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930341"/>
            <a:ext cx="2807990" cy="657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083918"/>
            <a:ext cx="3816424" cy="38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305608" y="2499742"/>
            <a:ext cx="8370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97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-Substitution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1728192" cy="72608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771549"/>
            <a:ext cx="6840760" cy="5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463055"/>
            <a:ext cx="1002251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067693"/>
            <a:ext cx="5256584" cy="69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787774"/>
            <a:ext cx="5930205" cy="637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 descr="D:\Downloads\output (3).png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265258"/>
            <a:ext cx="3698756" cy="382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93"/>
          <a:stretch/>
        </p:blipFill>
        <p:spPr bwMode="auto">
          <a:xfrm>
            <a:off x="4986157" y="1455566"/>
            <a:ext cx="1089464" cy="54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9862"/>
            <a:ext cx="2880320" cy="64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817" y="3629826"/>
            <a:ext cx="2540311" cy="609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340954"/>
            <a:ext cx="2474937" cy="60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296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Weierstraß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-Substitution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1728192" cy="72608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812562"/>
            <a:ext cx="2474937" cy="60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28" y="1583702"/>
            <a:ext cx="1184920" cy="628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83718"/>
            <a:ext cx="3201144" cy="335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97" y="826987"/>
            <a:ext cx="2159143" cy="57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91631"/>
            <a:ext cx="2808312" cy="53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9702"/>
            <a:ext cx="3789759" cy="60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63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147814"/>
            <a:ext cx="8712968" cy="175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t="41502" r="54933"/>
          <a:stretch/>
        </p:blipFill>
        <p:spPr bwMode="auto">
          <a:xfrm>
            <a:off x="323528" y="1203598"/>
            <a:ext cx="2448272" cy="6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771550"/>
            <a:ext cx="5328592" cy="224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3" t="41502"/>
          <a:stretch/>
        </p:blipFill>
        <p:spPr bwMode="auto">
          <a:xfrm>
            <a:off x="331540" y="2030687"/>
            <a:ext cx="3016324" cy="61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59532" y="699542"/>
            <a:ext cx="272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Hyperbolische Version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67788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durch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Euler-Formel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19" y="699542"/>
            <a:ext cx="7416824" cy="398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264321"/>
            <a:ext cx="2088232" cy="285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746" y="1146850"/>
            <a:ext cx="1612478" cy="48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890" y="1167728"/>
            <a:ext cx="1596294" cy="47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385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498</Words>
  <Application>Microsoft Office PowerPoint</Application>
  <PresentationFormat>Bildschirmpräsentation (16:9)</PresentationFormat>
  <Paragraphs>87</Paragraphs>
  <Slides>15</Slides>
  <Notes>15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15</vt:i4>
      </vt:variant>
    </vt:vector>
  </HeadingPairs>
  <TitlesOfParts>
    <vt:vector size="17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39</cp:revision>
  <dcterms:created xsi:type="dcterms:W3CDTF">2025-06-03T15:59:12Z</dcterms:created>
  <dcterms:modified xsi:type="dcterms:W3CDTF">2025-06-04T18:48:25Z</dcterms:modified>
</cp:coreProperties>
</file>