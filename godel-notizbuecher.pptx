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684" r:id="rId2"/>
  </p:sldMasterIdLst>
  <p:notesMasterIdLst>
    <p:notesMasterId r:id="rId30"/>
  </p:notesMasterIdLst>
  <p:sldIdLst>
    <p:sldId id="256" r:id="rId3"/>
    <p:sldId id="287" r:id="rId4"/>
    <p:sldId id="279" r:id="rId5"/>
    <p:sldId id="289" r:id="rId6"/>
    <p:sldId id="273" r:id="rId7"/>
    <p:sldId id="282" r:id="rId8"/>
    <p:sldId id="284" r:id="rId9"/>
    <p:sldId id="299" r:id="rId10"/>
    <p:sldId id="296" r:id="rId11"/>
    <p:sldId id="298" r:id="rId12"/>
    <p:sldId id="272" r:id="rId13"/>
    <p:sldId id="291" r:id="rId14"/>
    <p:sldId id="262" r:id="rId15"/>
    <p:sldId id="260" r:id="rId16"/>
    <p:sldId id="258" r:id="rId17"/>
    <p:sldId id="276" r:id="rId18"/>
    <p:sldId id="274" r:id="rId19"/>
    <p:sldId id="259" r:id="rId20"/>
    <p:sldId id="278" r:id="rId21"/>
    <p:sldId id="266" r:id="rId22"/>
    <p:sldId id="300" r:id="rId23"/>
    <p:sldId id="301" r:id="rId24"/>
    <p:sldId id="295" r:id="rId25"/>
    <p:sldId id="297" r:id="rId26"/>
    <p:sldId id="268" r:id="rId27"/>
    <p:sldId id="271" r:id="rId28"/>
    <p:sldId id="267" r:id="rId2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94660"/>
  </p:normalViewPr>
  <p:slideViewPr>
    <p:cSldViewPr>
      <p:cViewPr>
        <p:scale>
          <a:sx n="66" d="100"/>
          <a:sy n="66" d="100"/>
        </p:scale>
        <p:origin x="-48" y="-135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690CC51-AB0A-4585-AA83-ABD7B0089AEE}" type="datetimeFigureOut">
              <a:rPr lang="de-DE" smtClean="0"/>
              <a:t>14.05.2026</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71CF126-E49F-43A6-8AE6-0B858DD89B1A}" type="slidenum">
              <a:rPr lang="de-DE" smtClean="0"/>
              <a:t>‹Nr.›</a:t>
            </a:fld>
            <a:endParaRPr lang="de-DE"/>
          </a:p>
        </p:txBody>
      </p:sp>
    </p:spTree>
    <p:extLst>
      <p:ext uri="{BB962C8B-B14F-4D97-AF65-F5344CB8AC3E}">
        <p14:creationId xmlns:p14="http://schemas.microsoft.com/office/powerpoint/2010/main" val="3475254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2</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3</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4</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5</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6</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7</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8</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9</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10</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11</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12</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13</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14</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15</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16</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17</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18</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19</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20</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21</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22</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23</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24</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25</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26</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27</a:t>
            </a:fld>
            <a:endParaRPr lang="de-DE"/>
          </a:p>
        </p:txBody>
      </p:sp>
    </p:spTree>
    <p:extLst>
      <p:ext uri="{BB962C8B-B14F-4D97-AF65-F5344CB8AC3E}">
        <p14:creationId xmlns:p14="http://schemas.microsoft.com/office/powerpoint/2010/main" val="2031596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3200400"/>
          </a:xfrm>
        </p:spPr>
        <p:txBody>
          <a:bodyPr anchor="b">
            <a:noAutofit/>
          </a:bodyPr>
          <a:lstStyle>
            <a:lvl1pPr>
              <a:lnSpc>
                <a:spcPct val="100000"/>
              </a:lnSpc>
              <a:defRPr sz="8000"/>
            </a:lvl1pPr>
          </a:lstStyle>
          <a:p>
            <a:r>
              <a:rPr lang="de-DE" smtClean="0"/>
              <a:t>Titelmasterformat durch Klicken bearbeiten</a:t>
            </a:r>
            <a:endParaRPr lang="en-US" dirty="0"/>
          </a:p>
        </p:txBody>
      </p:sp>
      <p:sp>
        <p:nvSpPr>
          <p:cNvPr id="3" name="Subtitle 2"/>
          <p:cNvSpPr>
            <a:spLocks noGrp="1"/>
          </p:cNvSpPr>
          <p:nvPr>
            <p:ph type="subTitle" idx="1"/>
          </p:nvPr>
        </p:nvSpPr>
        <p:spPr>
          <a:xfrm>
            <a:off x="1371600" y="3714750"/>
            <a:ext cx="6400800" cy="9144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en-US" dirty="0"/>
          </a:p>
        </p:txBody>
      </p:sp>
      <p:sp>
        <p:nvSpPr>
          <p:cNvPr id="7" name="Date Placeholder 6"/>
          <p:cNvSpPr>
            <a:spLocks noGrp="1"/>
          </p:cNvSpPr>
          <p:nvPr>
            <p:ph type="dt" sz="half" idx="10"/>
          </p:nvPr>
        </p:nvSpPr>
        <p:spPr/>
        <p:txBody>
          <a:bodyPr/>
          <a:lstStyle/>
          <a:p>
            <a:fld id="{7D0065BE-0657-4A47-90AD-C21C55E16B19}" type="datetime4">
              <a:rPr lang="en-US" smtClean="0"/>
              <a:pPr/>
              <a:t>May 14, 2026</a:t>
            </a:fld>
            <a:endParaRPr lang="en-US"/>
          </a:p>
        </p:txBody>
      </p:sp>
      <p:sp>
        <p:nvSpPr>
          <p:cNvPr id="8" name="Slide Number Placeholder 7"/>
          <p:cNvSpPr>
            <a:spLocks noGrp="1"/>
          </p:cNvSpPr>
          <p:nvPr>
            <p:ph type="sldNum" sz="quarter" idx="11"/>
          </p:nvPr>
        </p:nvSpPr>
        <p:spPr/>
        <p:txBody>
          <a:bodyPr/>
          <a:lstStyle/>
          <a:p>
            <a:fld id="{2754ED01-E2A0-4C1E-8E21-014B99041579}" type="slidenum">
              <a:rPr lang="en-US" smtClean="0"/>
              <a:pPr/>
              <a:t>‹Nr.›</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4" name="Date Placeholder 3"/>
          <p:cNvSpPr>
            <a:spLocks noGrp="1"/>
          </p:cNvSpPr>
          <p:nvPr>
            <p:ph type="dt" sz="half" idx="10"/>
          </p:nvPr>
        </p:nvSpPr>
        <p:spPr/>
        <p:txBody>
          <a:bodyPr/>
          <a:lstStyle/>
          <a:p>
            <a:fld id="{D47BB8AF-C16A-4836-A92D-61834B5F0BA5}" type="datetime4">
              <a:rPr lang="en-US" smtClean="0"/>
              <a:pPr/>
              <a:t>May 14,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722313" y="1028701"/>
            <a:ext cx="7772400" cy="1878806"/>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de-DE" smtClean="0"/>
              <a:t>Titelmasterformat durch Klicken bearbeiten</a:t>
            </a:r>
            <a:endParaRPr lang="en-US" dirty="0"/>
          </a:p>
        </p:txBody>
      </p:sp>
      <p:sp>
        <p:nvSpPr>
          <p:cNvPr id="3" name="Text Placeholder 2"/>
          <p:cNvSpPr>
            <a:spLocks noGrp="1"/>
          </p:cNvSpPr>
          <p:nvPr>
            <p:ph type="body" idx="1"/>
          </p:nvPr>
        </p:nvSpPr>
        <p:spPr>
          <a:xfrm>
            <a:off x="722313" y="3051573"/>
            <a:ext cx="7772400" cy="848915"/>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 bearbeiten</a:t>
            </a:r>
          </a:p>
        </p:txBody>
      </p:sp>
      <p:sp>
        <p:nvSpPr>
          <p:cNvPr id="4" name="Date Placeholder 3"/>
          <p:cNvSpPr>
            <a:spLocks noGrp="1"/>
          </p:cNvSpPr>
          <p:nvPr>
            <p:ph type="dt" sz="half" idx="10"/>
          </p:nvPr>
        </p:nvSpPr>
        <p:spPr/>
        <p:txBody>
          <a:bodyPr/>
          <a:lstStyle/>
          <a:p>
            <a:fld id="{647D2193-4505-4A75-99BB-880C6989A757}" type="datetime4">
              <a:rPr lang="en-US" smtClean="0"/>
              <a:pPr/>
              <a:t>May 14,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
        <p:nvSpPr>
          <p:cNvPr id="7" name="Oval 6"/>
          <p:cNvSpPr/>
          <p:nvPr/>
        </p:nvSpPr>
        <p:spPr>
          <a:xfrm>
            <a:off x="4495800"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a:p>
        </p:txBody>
      </p:sp>
      <p:sp>
        <p:nvSpPr>
          <p:cNvPr id="4" name="Content Placeholder 3"/>
          <p:cNvSpPr>
            <a:spLocks noGrp="1"/>
          </p:cNvSpPr>
          <p:nvPr>
            <p:ph sz="half" idx="2"/>
          </p:nvPr>
        </p:nvSpPr>
        <p:spPr>
          <a:xfrm>
            <a:off x="4648200" y="1200151"/>
            <a:ext cx="4038600" cy="3394472"/>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5" name="Date Placeholder 4"/>
          <p:cNvSpPr>
            <a:spLocks noGrp="1"/>
          </p:cNvSpPr>
          <p:nvPr>
            <p:ph type="dt" sz="half" idx="10"/>
          </p:nvPr>
        </p:nvSpPr>
        <p:spPr/>
        <p:txBody>
          <a:bodyPr/>
          <a:lstStyle/>
          <a:p>
            <a:fld id="{113A18F4-33C3-445B-924C-31108C51719C}" type="datetime4">
              <a:rPr lang="en-US" smtClean="0"/>
              <a:pPr/>
              <a:t>May 14,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a:p>
        </p:txBody>
      </p:sp>
      <p:sp>
        <p:nvSpPr>
          <p:cNvPr id="9" name="Content Placeholder 8"/>
          <p:cNvSpPr>
            <a:spLocks noGrp="1"/>
          </p:cNvSpPr>
          <p:nvPr>
            <p:ph sz="quarter" idx="13"/>
          </p:nvPr>
        </p:nvSpPr>
        <p:spPr>
          <a:xfrm>
            <a:off x="365760" y="1200150"/>
            <a:ext cx="4041648" cy="339471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de-DE" smtClean="0"/>
              <a:t>Titelmasterformat durch Klicken bearbeiten</a:t>
            </a:r>
            <a:endParaRPr lang="en-US"/>
          </a:p>
        </p:txBody>
      </p:sp>
      <p:sp>
        <p:nvSpPr>
          <p:cNvPr id="3" name="Text Placeholder 2"/>
          <p:cNvSpPr>
            <a:spLocks noGrp="1"/>
          </p:cNvSpPr>
          <p:nvPr>
            <p:ph type="body" idx="1"/>
          </p:nvPr>
        </p:nvSpPr>
        <p:spPr>
          <a:xfrm>
            <a:off x="457200" y="1200150"/>
            <a:ext cx="4040188"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5" name="Text Placeholder 4"/>
          <p:cNvSpPr>
            <a:spLocks noGrp="1"/>
          </p:cNvSpPr>
          <p:nvPr>
            <p:ph type="body" sz="quarter" idx="3"/>
          </p:nvPr>
        </p:nvSpPr>
        <p:spPr>
          <a:xfrm>
            <a:off x="4648201" y="1200150"/>
            <a:ext cx="4041775"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7" name="Date Placeholder 6"/>
          <p:cNvSpPr>
            <a:spLocks noGrp="1"/>
          </p:cNvSpPr>
          <p:nvPr>
            <p:ph type="dt" sz="half" idx="10"/>
          </p:nvPr>
        </p:nvSpPr>
        <p:spPr/>
        <p:txBody>
          <a:bodyPr/>
          <a:lstStyle/>
          <a:p>
            <a:fld id="{3AF7543A-E259-478F-9E0D-57BA40E442B7}" type="datetime4">
              <a:rPr lang="en-US" smtClean="0"/>
              <a:pPr/>
              <a:t>May 14, 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54ED01-E2A0-4C1E-8E21-014B99041579}" type="slidenum">
              <a:rPr lang="en-US" smtClean="0"/>
              <a:pPr/>
              <a:t>‹Nr.›</a:t>
            </a:fld>
            <a:endParaRPr lang="en-US"/>
          </a:p>
        </p:txBody>
      </p:sp>
      <p:sp>
        <p:nvSpPr>
          <p:cNvPr id="11" name="Content Placeholder 10"/>
          <p:cNvSpPr>
            <a:spLocks noGrp="1"/>
          </p:cNvSpPr>
          <p:nvPr>
            <p:ph sz="quarter" idx="13"/>
          </p:nvPr>
        </p:nvSpPr>
        <p:spPr>
          <a:xfrm>
            <a:off x="457200" y="1659636"/>
            <a:ext cx="4041648" cy="2935224"/>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13" name="Content Placeholder 12"/>
          <p:cNvSpPr>
            <a:spLocks noGrp="1"/>
          </p:cNvSpPr>
          <p:nvPr>
            <p:ph sz="quarter" idx="14"/>
          </p:nvPr>
        </p:nvSpPr>
        <p:spPr>
          <a:xfrm>
            <a:off x="4672584" y="1659637"/>
            <a:ext cx="4041648" cy="293489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Date Placeholder 2"/>
          <p:cNvSpPr>
            <a:spLocks noGrp="1"/>
          </p:cNvSpPr>
          <p:nvPr>
            <p:ph type="dt" sz="half" idx="10"/>
          </p:nvPr>
        </p:nvSpPr>
        <p:spPr/>
        <p:txBody>
          <a:bodyPr/>
          <a:lstStyle/>
          <a:p>
            <a:fld id="{1EFB012D-77A1-44B0-BB26-329BA1EE55C9}" type="datetime4">
              <a:rPr lang="en-US" smtClean="0"/>
              <a:pPr/>
              <a:t>May 14, 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B7499E-3031-413E-B01E-B94970708CAA}" type="datetime4">
              <a:rPr lang="en-US" smtClean="0"/>
              <a:pPr/>
              <a:t>May 14, 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5907088" y="200025"/>
            <a:ext cx="3008313" cy="1571625"/>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de-DE" smtClean="0"/>
              <a:t>Titelmasterformat durch Klicken bearbeiten</a:t>
            </a:r>
            <a:endParaRPr lang="en-US" dirty="0"/>
          </a:p>
        </p:txBody>
      </p:sp>
      <p:sp>
        <p:nvSpPr>
          <p:cNvPr id="3" name="Content Placeholder 2"/>
          <p:cNvSpPr>
            <a:spLocks noGrp="1"/>
          </p:cNvSpPr>
          <p:nvPr>
            <p:ph idx="1"/>
          </p:nvPr>
        </p:nvSpPr>
        <p:spPr>
          <a:xfrm>
            <a:off x="719138" y="204788"/>
            <a:ext cx="4995863"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4" name="Text Placeholder 3"/>
          <p:cNvSpPr>
            <a:spLocks noGrp="1"/>
          </p:cNvSpPr>
          <p:nvPr>
            <p:ph type="body" sz="half" idx="2"/>
          </p:nvPr>
        </p:nvSpPr>
        <p:spPr>
          <a:xfrm>
            <a:off x="5907088" y="1828801"/>
            <a:ext cx="3008313" cy="2765822"/>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e Placeholder 4"/>
          <p:cNvSpPr>
            <a:spLocks noGrp="1"/>
          </p:cNvSpPr>
          <p:nvPr>
            <p:ph type="dt" sz="half" idx="10"/>
          </p:nvPr>
        </p:nvSpPr>
        <p:spPr/>
        <p:txBody>
          <a:bodyPr/>
          <a:lstStyle/>
          <a:p>
            <a:fld id="{DC7EAB0C-2220-4D0E-A0DD-DB7FA0F742F4}" type="datetime4">
              <a:rPr lang="en-US" smtClean="0"/>
              <a:pPr/>
              <a:t>May 14, 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679576" y="171450"/>
            <a:ext cx="5711824" cy="671513"/>
          </a:xfrm>
        </p:spPr>
        <p:txBody>
          <a:bodyPr anchor="b"/>
          <a:lstStyle>
            <a:lvl1pPr algn="ctr">
              <a:lnSpc>
                <a:spcPct val="100000"/>
              </a:lnSpc>
              <a:defRPr sz="2800" b="0"/>
            </a:lvl1pPr>
          </a:lstStyle>
          <a:p>
            <a:r>
              <a:rPr lang="de-DE" smtClean="0"/>
              <a:t>Titelmasterformat durch Klicken bearbeiten</a:t>
            </a:r>
            <a:endParaRPr lang="en-US" dirty="0"/>
          </a:p>
        </p:txBody>
      </p:sp>
      <p:sp>
        <p:nvSpPr>
          <p:cNvPr id="3" name="Picture Placeholder 2"/>
          <p:cNvSpPr>
            <a:spLocks noGrp="1"/>
          </p:cNvSpPr>
          <p:nvPr>
            <p:ph type="pic" idx="1"/>
          </p:nvPr>
        </p:nvSpPr>
        <p:spPr>
          <a:xfrm>
            <a:off x="1508126" y="857250"/>
            <a:ext cx="6054724" cy="3405783"/>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smtClean="0"/>
              <a:t>Bild durch Klicken auf Symbol hinzufügen</a:t>
            </a:r>
            <a:endParaRPr lang="en-US" dirty="0"/>
          </a:p>
        </p:txBody>
      </p:sp>
      <p:sp>
        <p:nvSpPr>
          <p:cNvPr id="4" name="Text Placeholder 3"/>
          <p:cNvSpPr>
            <a:spLocks noGrp="1"/>
          </p:cNvSpPr>
          <p:nvPr>
            <p:ph type="body" sz="half" idx="2"/>
          </p:nvPr>
        </p:nvSpPr>
        <p:spPr>
          <a:xfrm>
            <a:off x="1679576" y="4357688"/>
            <a:ext cx="5711824" cy="40005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e Placeholder 4"/>
          <p:cNvSpPr>
            <a:spLocks noGrp="1"/>
          </p:cNvSpPr>
          <p:nvPr>
            <p:ph type="dt" sz="half" idx="10"/>
          </p:nvPr>
        </p:nvSpPr>
        <p:spPr/>
        <p:txBody>
          <a:bodyPr/>
          <a:lstStyle/>
          <a:p>
            <a:fld id="{E3416D63-31BF-4B94-B6C5-E20B2C63F515}" type="datetime4">
              <a:rPr lang="en-US" smtClean="0"/>
              <a:pPr/>
              <a:t>May 14,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Vertical Text Placehold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e Placeholder 3"/>
          <p:cNvSpPr>
            <a:spLocks noGrp="1"/>
          </p:cNvSpPr>
          <p:nvPr>
            <p:ph type="dt" sz="half" idx="10"/>
          </p:nvPr>
        </p:nvSpPr>
        <p:spPr/>
        <p:txBody>
          <a:bodyPr/>
          <a:lstStyle/>
          <a:p>
            <a:fld id="{A16C3AA4-67BE-44F7-809A-3582401494AF}" type="datetime4">
              <a:rPr lang="en-US" smtClean="0"/>
              <a:pPr/>
              <a:t>May 14,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de-DE" smtClean="0"/>
              <a:t>Titelmasterformat durch Klicken bearbeiten</a:t>
            </a:r>
            <a:endParaRPr lang="en-US" dirty="0"/>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e Placeholder 3"/>
          <p:cNvSpPr>
            <a:spLocks noGrp="1"/>
          </p:cNvSpPr>
          <p:nvPr>
            <p:ph type="dt" sz="half" idx="10"/>
          </p:nvPr>
        </p:nvSpPr>
        <p:spPr/>
        <p:txBody>
          <a:bodyPr/>
          <a:lstStyle/>
          <a:p>
            <a:fld id="{25172EEB-1769-4776-AD69-E7C1260563EB}" type="datetime4">
              <a:rPr lang="en-US" smtClean="0"/>
              <a:pPr/>
              <a:t>May 14,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1597819"/>
            <a:ext cx="7772400" cy="1102519"/>
          </a:xfrm>
        </p:spPr>
        <p:txBody>
          <a:bodyPr/>
          <a:lstStyle/>
          <a:p>
            <a:r>
              <a:rPr lang="de-DE" smtClean="0"/>
              <a:t>Titelmasterformat durch Klicken bearbeiten</a:t>
            </a:r>
            <a:endParaRPr lang="de-DE"/>
          </a:p>
        </p:txBody>
      </p:sp>
      <p:sp>
        <p:nvSpPr>
          <p:cNvPr id="3" name="Untertitel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de-DE"/>
          </a:p>
        </p:txBody>
      </p:sp>
      <p:sp>
        <p:nvSpPr>
          <p:cNvPr id="4" name="Datumsplatzhalter 3"/>
          <p:cNvSpPr>
            <a:spLocks noGrp="1"/>
          </p:cNvSpPr>
          <p:nvPr>
            <p:ph type="dt" sz="half" idx="10"/>
          </p:nvPr>
        </p:nvSpPr>
        <p:spPr/>
        <p:txBody>
          <a:bodyPr/>
          <a:lstStyle/>
          <a:p>
            <a:fld id="{7D0065BE-0657-4A47-90AD-C21C55E16B19}" type="datetime4">
              <a:rPr lang="en-US" smtClean="0"/>
              <a:pPr/>
              <a:t>May 14,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4051880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idx="1"/>
          </p:nvPr>
        </p:nvSpPr>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D47BB8AF-C16A-4836-A92D-61834B5F0BA5}" type="datetime4">
              <a:rPr lang="en-US" smtClean="0"/>
              <a:pPr/>
              <a:t>May 14,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24755557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3305176"/>
            <a:ext cx="7772400" cy="1021556"/>
          </a:xfrm>
        </p:spPr>
        <p:txBody>
          <a:bodyPr anchor="t"/>
          <a:lstStyle>
            <a:lvl1pPr algn="l">
              <a:defRPr sz="4000" b="1" cap="all"/>
            </a:lvl1pPr>
          </a:lstStyle>
          <a:p>
            <a:r>
              <a:rPr lang="de-DE" smtClean="0"/>
              <a:t>Titelmasterformat durch Klicken bearbeiten</a:t>
            </a:r>
            <a:endParaRPr lang="de-DE"/>
          </a:p>
        </p:txBody>
      </p:sp>
      <p:sp>
        <p:nvSpPr>
          <p:cNvPr id="3" name="Textplatzhalt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 bearbeiten</a:t>
            </a:r>
          </a:p>
        </p:txBody>
      </p:sp>
      <p:sp>
        <p:nvSpPr>
          <p:cNvPr id="4" name="Datumsplatzhalter 3"/>
          <p:cNvSpPr>
            <a:spLocks noGrp="1"/>
          </p:cNvSpPr>
          <p:nvPr>
            <p:ph type="dt" sz="half" idx="10"/>
          </p:nvPr>
        </p:nvSpPr>
        <p:spPr/>
        <p:txBody>
          <a:bodyPr/>
          <a:lstStyle/>
          <a:p>
            <a:fld id="{647D2193-4505-4A75-99BB-880C6989A757}" type="datetime4">
              <a:rPr lang="en-US" smtClean="0"/>
              <a:pPr/>
              <a:t>May 14,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40817253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Inhaltsplatzhalt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Datumsplatzhalter 4"/>
          <p:cNvSpPr>
            <a:spLocks noGrp="1"/>
          </p:cNvSpPr>
          <p:nvPr>
            <p:ph type="dt" sz="half" idx="10"/>
          </p:nvPr>
        </p:nvSpPr>
        <p:spPr/>
        <p:txBody>
          <a:bodyPr/>
          <a:lstStyle/>
          <a:p>
            <a:fld id="{113A18F4-33C3-445B-924C-31108C51719C}" type="datetime4">
              <a:rPr lang="en-US" smtClean="0"/>
              <a:pPr/>
              <a:t>May 14, 2026</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9319298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smtClean="0"/>
              <a:t>Titelmasterformat durch Klicken bearbeiten</a:t>
            </a:r>
            <a:endParaRPr lang="de-DE"/>
          </a:p>
        </p:txBody>
      </p:sp>
      <p:sp>
        <p:nvSpPr>
          <p:cNvPr id="3" name="Textplatzhalt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4" name="Inhaltsplatzhalt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Textplatzhalt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6" name="Inhaltsplatzhalt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7" name="Datumsplatzhalter 6"/>
          <p:cNvSpPr>
            <a:spLocks noGrp="1"/>
          </p:cNvSpPr>
          <p:nvPr>
            <p:ph type="dt" sz="half" idx="10"/>
          </p:nvPr>
        </p:nvSpPr>
        <p:spPr/>
        <p:txBody>
          <a:bodyPr/>
          <a:lstStyle/>
          <a:p>
            <a:fld id="{3AF7543A-E259-478F-9E0D-57BA40E442B7}" type="datetime4">
              <a:rPr lang="en-US" smtClean="0"/>
              <a:pPr/>
              <a:t>May 14, 2026</a:t>
            </a:fld>
            <a:endParaRPr lang="en-US"/>
          </a:p>
        </p:txBody>
      </p:sp>
      <p:sp>
        <p:nvSpPr>
          <p:cNvPr id="8" name="Fußzeilenplatzhalter 7"/>
          <p:cNvSpPr>
            <a:spLocks noGrp="1"/>
          </p:cNvSpPr>
          <p:nvPr>
            <p:ph type="ftr" sz="quarter" idx="11"/>
          </p:nvPr>
        </p:nvSpPr>
        <p:spPr/>
        <p:txBody>
          <a:bodyPr/>
          <a:lstStyle/>
          <a:p>
            <a:endParaRPr lang="en-US"/>
          </a:p>
        </p:txBody>
      </p:sp>
      <p:sp>
        <p:nvSpPr>
          <p:cNvPr id="9" name="Foliennummernplatzhalter 8"/>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27868485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Datumsplatzhalter 2"/>
          <p:cNvSpPr>
            <a:spLocks noGrp="1"/>
          </p:cNvSpPr>
          <p:nvPr>
            <p:ph type="dt" sz="half" idx="10"/>
          </p:nvPr>
        </p:nvSpPr>
        <p:spPr/>
        <p:txBody>
          <a:bodyPr/>
          <a:lstStyle/>
          <a:p>
            <a:fld id="{1EFB012D-77A1-44B0-BB26-329BA1EE55C9}" type="datetime4">
              <a:rPr lang="en-US" smtClean="0"/>
              <a:pPr/>
              <a:t>May 14, 2026</a:t>
            </a:fld>
            <a:endParaRPr lang="en-US"/>
          </a:p>
        </p:txBody>
      </p:sp>
      <p:sp>
        <p:nvSpPr>
          <p:cNvPr id="4" name="Fußzeilenplatzhalter 3"/>
          <p:cNvSpPr>
            <a:spLocks noGrp="1"/>
          </p:cNvSpPr>
          <p:nvPr>
            <p:ph type="ftr" sz="quarter" idx="11"/>
          </p:nvPr>
        </p:nvSpPr>
        <p:spPr/>
        <p:txBody>
          <a:bodyPr/>
          <a:lstStyle/>
          <a:p>
            <a:endParaRPr lang="en-US"/>
          </a:p>
        </p:txBody>
      </p:sp>
      <p:sp>
        <p:nvSpPr>
          <p:cNvPr id="5" name="Foliennummernplatzhalter 4"/>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9560270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94B7499E-3031-413E-B01E-B94970708CAA}" type="datetime4">
              <a:rPr lang="en-US" smtClean="0"/>
              <a:pPr/>
              <a:t>May 14, 2026</a:t>
            </a:fld>
            <a:endParaRPr lang="en-US"/>
          </a:p>
        </p:txBody>
      </p:sp>
      <p:sp>
        <p:nvSpPr>
          <p:cNvPr id="3" name="Fußzeilenplatzhalter 2"/>
          <p:cNvSpPr>
            <a:spLocks noGrp="1"/>
          </p:cNvSpPr>
          <p:nvPr>
            <p:ph type="ftr" sz="quarter" idx="11"/>
          </p:nvPr>
        </p:nvSpPr>
        <p:spPr/>
        <p:txBody>
          <a:bodyPr/>
          <a:lstStyle/>
          <a:p>
            <a:endParaRPr lang="en-US"/>
          </a:p>
        </p:txBody>
      </p:sp>
      <p:sp>
        <p:nvSpPr>
          <p:cNvPr id="4" name="Foliennummernplatzhalter 3"/>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9066654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1" y="204787"/>
            <a:ext cx="3008313" cy="871538"/>
          </a:xfrm>
        </p:spPr>
        <p:txBody>
          <a:bodyPr anchor="b"/>
          <a:lstStyle>
            <a:lvl1pPr algn="l">
              <a:defRPr sz="2000" b="1"/>
            </a:lvl1pPr>
          </a:lstStyle>
          <a:p>
            <a:r>
              <a:rPr lang="de-DE" smtClean="0"/>
              <a:t>Titelmasterformat durch Klicken bearbeiten</a:t>
            </a:r>
            <a:endParaRPr lang="de-DE"/>
          </a:p>
        </p:txBody>
      </p:sp>
      <p:sp>
        <p:nvSpPr>
          <p:cNvPr id="3" name="Inhaltsplatzhalt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Textplatzhalt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p>
            <a:fld id="{DC7EAB0C-2220-4D0E-A0DD-DB7FA0F742F4}" type="datetime4">
              <a:rPr lang="en-US" smtClean="0"/>
              <a:pPr/>
              <a:t>May 14, 2026</a:t>
            </a:fld>
            <a:endParaRPr lang="en-US"/>
          </a:p>
        </p:txBody>
      </p:sp>
      <p:sp>
        <p:nvSpPr>
          <p:cNvPr id="6" name="Fußzeilenplatzhalter 5"/>
          <p:cNvSpPr>
            <a:spLocks noGrp="1"/>
          </p:cNvSpPr>
          <p:nvPr>
            <p:ph type="ftr" sz="quarter" idx="11"/>
          </p:nvPr>
        </p:nvSpPr>
        <p:spPr/>
        <p:txBody>
          <a:bodyPr/>
          <a:lstStyle/>
          <a:p>
            <a:endParaRPr lang="en-US" dirty="0"/>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dirty="0"/>
          </a:p>
        </p:txBody>
      </p:sp>
    </p:spTree>
    <p:extLst>
      <p:ext uri="{BB962C8B-B14F-4D97-AF65-F5344CB8AC3E}">
        <p14:creationId xmlns:p14="http://schemas.microsoft.com/office/powerpoint/2010/main" val="29941885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3600450"/>
            <a:ext cx="5486400" cy="425054"/>
          </a:xfrm>
        </p:spPr>
        <p:txBody>
          <a:bodyPr anchor="b"/>
          <a:lstStyle>
            <a:lvl1pPr algn="l">
              <a:defRPr sz="2000" b="1"/>
            </a:lvl1pPr>
          </a:lstStyle>
          <a:p>
            <a:r>
              <a:rPr lang="de-DE" smtClean="0"/>
              <a:t>Titelmasterformat durch Klicken bearbeiten</a:t>
            </a:r>
            <a:endParaRPr lang="de-DE"/>
          </a:p>
        </p:txBody>
      </p:sp>
      <p:sp>
        <p:nvSpPr>
          <p:cNvPr id="3" name="Bildplatzhalt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p>
            <a:fld id="{E3416D63-31BF-4B94-B6C5-E20B2C63F515}" type="datetime4">
              <a:rPr lang="en-US" smtClean="0"/>
              <a:pPr/>
              <a:t>May 14, 2026</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5405908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Vertikaler Textplatzhalt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A16C3AA4-67BE-44F7-809A-3582401494AF}" type="datetime4">
              <a:rPr lang="en-US" smtClean="0"/>
              <a:pPr/>
              <a:t>May 14,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4600779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05979"/>
            <a:ext cx="2057400" cy="4388644"/>
          </a:xfrm>
        </p:spPr>
        <p:txBody>
          <a:bodyPr vert="eaVert"/>
          <a:lstStyle/>
          <a:p>
            <a:r>
              <a:rPr lang="de-DE" smtClean="0"/>
              <a:t>Titelmasterformat durch Klicken bearbeiten</a:t>
            </a:r>
            <a:endParaRPr lang="de-DE"/>
          </a:p>
        </p:txBody>
      </p:sp>
      <p:sp>
        <p:nvSpPr>
          <p:cNvPr id="3" name="Vertikaler Textplatzhalter 2"/>
          <p:cNvSpPr>
            <a:spLocks noGrp="1"/>
          </p:cNvSpPr>
          <p:nvPr>
            <p:ph type="body" orient="vert" idx="1"/>
          </p:nvPr>
        </p:nvSpPr>
        <p:spPr>
          <a:xfrm>
            <a:off x="457200" y="205979"/>
            <a:ext cx="6019800" cy="4388644"/>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25172EEB-1769-4776-AD69-E7C1260563EB}" type="datetime4">
              <a:rPr lang="en-US" smtClean="0"/>
              <a:pPr/>
              <a:t>May 14,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2074059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200150"/>
          </a:xfrm>
          <a:prstGeom prst="rect">
            <a:avLst/>
          </a:prstGeom>
        </p:spPr>
        <p:txBody>
          <a:bodyPr vert="horz" lIns="91440" tIns="45720" rIns="91440" bIns="45720" rtlCol="0" anchor="b">
            <a:noAutofit/>
          </a:bodyPr>
          <a:lstStyle/>
          <a:p>
            <a:r>
              <a:rPr lang="de-DE" smtClean="0"/>
              <a:t>Titelmasterformat durch Klicken bearbeiten</a:t>
            </a:r>
            <a:endParaRPr lang="en-US" dirty="0"/>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4" name="Date Placeholder 3"/>
          <p:cNvSpPr>
            <a:spLocks noGrp="1"/>
          </p:cNvSpPr>
          <p:nvPr>
            <p:ph type="dt" sz="half" idx="2"/>
          </p:nvPr>
        </p:nvSpPr>
        <p:spPr>
          <a:xfrm>
            <a:off x="6363348" y="4767263"/>
            <a:ext cx="2085975" cy="273844"/>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62B1B13E-D5AF-485E-81A1-82A140076526}" type="datetime4">
              <a:rPr lang="en-US" smtClean="0"/>
              <a:pPr/>
              <a:t>May 14, 2026</a:t>
            </a:fld>
            <a:endParaRPr lang="en-US" dirty="0"/>
          </a:p>
        </p:txBody>
      </p:sp>
      <p:sp>
        <p:nvSpPr>
          <p:cNvPr id="5" name="Footer Placeholder 4"/>
          <p:cNvSpPr>
            <a:spLocks noGrp="1"/>
          </p:cNvSpPr>
          <p:nvPr>
            <p:ph type="ftr" sz="quarter" idx="3"/>
          </p:nvPr>
        </p:nvSpPr>
        <p:spPr>
          <a:xfrm>
            <a:off x="659166" y="4767263"/>
            <a:ext cx="2847975" cy="273844"/>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US" dirty="0"/>
          </a:p>
        </p:txBody>
      </p:sp>
      <p:sp>
        <p:nvSpPr>
          <p:cNvPr id="6" name="Slide Number Placeholder 5"/>
          <p:cNvSpPr>
            <a:spLocks noGrp="1"/>
          </p:cNvSpPr>
          <p:nvPr>
            <p:ph type="sldNum" sz="quarter" idx="4"/>
          </p:nvPr>
        </p:nvSpPr>
        <p:spPr>
          <a:xfrm>
            <a:off x="8543279" y="4767263"/>
            <a:ext cx="561975" cy="273844"/>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2754ED01-E2A0-4C1E-8E21-014B99041579}" type="slidenum">
              <a:rPr lang="en-US" smtClean="0"/>
              <a:pPr/>
              <a:t>‹Nr.›</a:t>
            </a:fld>
            <a:endParaRPr lang="en-US" dirty="0"/>
          </a:p>
        </p:txBody>
      </p:sp>
      <p:sp>
        <p:nvSpPr>
          <p:cNvPr id="7" name="Oval 6"/>
          <p:cNvSpPr/>
          <p:nvPr/>
        </p:nvSpPr>
        <p:spPr>
          <a:xfrm>
            <a:off x="8457760" y="4874538"/>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4874538"/>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62B1B13E-D5AF-485E-81A1-82A140076526}" type="datetime4">
              <a:rPr lang="en-US" smtClean="0"/>
              <a:pPr/>
              <a:t>May 14, 2026</a:t>
            </a:fld>
            <a:endParaRPr lang="en-US" dirty="0"/>
          </a:p>
        </p:txBody>
      </p:sp>
      <p:sp>
        <p:nvSpPr>
          <p:cNvPr id="5" name="Fußzeilenplatzhalt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Foliennummernplatzhalt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2754ED01-E2A0-4C1E-8E21-014B99041579}" type="slidenum">
              <a:rPr lang="en-US" smtClean="0"/>
              <a:pPr/>
              <a:t>‹Nr.›</a:t>
            </a:fld>
            <a:endParaRPr lang="en-US" dirty="0"/>
          </a:p>
        </p:txBody>
      </p:sp>
    </p:spTree>
    <p:extLst>
      <p:ext uri="{BB962C8B-B14F-4D97-AF65-F5344CB8AC3E}">
        <p14:creationId xmlns:p14="http://schemas.microsoft.com/office/powerpoint/2010/main" val="21011450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Kurt Gödel | Austrian Logician, Mathematician &amp; Philosopher | Britannica"/>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0" b="100000" l="0" r="100000">
                        <a14:foregroundMark x1="69421" y1="72444" x2="97245" y2="81778"/>
                        <a14:foregroundMark x1="79339" y1="83556" x2="54545" y2="96444"/>
                        <a14:foregroundMark x1="66391" y1="98889" x2="2204" y2="95333"/>
                        <a14:foregroundMark x1="2479" y1="68667" x2="6887" y2="68667"/>
                        <a14:foregroundMark x1="20937" y1="20667" x2="27548" y2="11778"/>
                        <a14:foregroundMark x1="28926" y1="11778" x2="17080" y2="29778"/>
                        <a14:foregroundMark x1="16804" y1="22444" x2="33333" y2="8222"/>
                        <a14:foregroundMark x1="37741" y1="8222" x2="48760" y2="8889"/>
                        <a14:foregroundMark x1="56198" y1="12000" x2="69697" y2="27556"/>
                        <a14:foregroundMark x1="74931" y1="36000" x2="70523" y2="49778"/>
                        <a14:foregroundMark x1="88154" y1="90667" x2="89256" y2="97333"/>
                        <a14:foregroundMark x1="7713" y1="37556" x2="6336" y2="40222"/>
                        <a14:foregroundMark x1="6336" y1="40444" x2="6612" y2="44667"/>
                        <a14:foregroundMark x1="8264" y1="26000" x2="8264" y2="36444"/>
                        <a14:foregroundMark x1="65014" y1="12889" x2="66116" y2="15333"/>
                        <a14:backgroundMark x1="91460" y1="19778" x2="99174" y2="62222"/>
                        <a14:backgroundMark x1="92562" y1="44667" x2="79339" y2="1111"/>
                        <a14:backgroundMark x1="32782" y1="1111" x2="3030" y2="4889"/>
                        <a14:backgroundMark x1="3030" y1="17333" x2="1377" y2="57333"/>
                      </a14:backgroundRemoval>
                    </a14:imgEffect>
                  </a14:imgLayer>
                </a14:imgProps>
              </a:ext>
              <a:ext uri="{28A0092B-C50C-407E-A947-70E740481C1C}">
                <a14:useLocalDpi xmlns:a14="http://schemas.microsoft.com/office/drawing/2010/main" val="0"/>
              </a:ext>
            </a:extLst>
          </a:blip>
          <a:srcRect r="12442"/>
          <a:stretch/>
        </p:blipFill>
        <p:spPr bwMode="auto">
          <a:xfrm>
            <a:off x="-13250" y="1647824"/>
            <a:ext cx="2483488" cy="3516213"/>
          </a:xfrm>
          <a:prstGeom prst="rect">
            <a:avLst/>
          </a:prstGeom>
          <a:noFill/>
          <a:effectLst>
            <a:glow rad="63500">
              <a:schemeClr val="accent6">
                <a:satMod val="175000"/>
                <a:alpha val="40000"/>
              </a:schemeClr>
            </a:glow>
            <a:softEdge rad="12700"/>
          </a:effectLst>
          <a:extLst>
            <a:ext uri="{909E8E84-426E-40DD-AFC4-6F175D3DCCD1}">
              <a14:hiddenFill xmlns:a14="http://schemas.microsoft.com/office/drawing/2010/main">
                <a:solidFill>
                  <a:srgbClr val="FFFFFF"/>
                </a:solidFill>
              </a14:hiddenFill>
            </a:ext>
          </a:extLst>
        </p:spPr>
      </p:pic>
      <p:sp>
        <p:nvSpPr>
          <p:cNvPr id="5" name="Rechteck 4"/>
          <p:cNvSpPr/>
          <p:nvPr/>
        </p:nvSpPr>
        <p:spPr>
          <a:xfrm>
            <a:off x="0" y="-12119"/>
            <a:ext cx="9144000" cy="1215717"/>
          </a:xfrm>
          <a:prstGeom prst="rect">
            <a:avLst/>
          </a:prstGeom>
        </p:spPr>
        <p:txBody>
          <a:bodyPr wrap="square">
            <a:spAutoFit/>
          </a:bodyPr>
          <a:lstStyle/>
          <a:p>
            <a:pPr algn="ctr"/>
            <a:r>
              <a:rPr lang="de-DE" sz="7300" b="1" dirty="0" smtClean="0"/>
              <a:t>Gödels Notizbücher</a:t>
            </a:r>
          </a:p>
        </p:txBody>
      </p:sp>
      <p:sp>
        <p:nvSpPr>
          <p:cNvPr id="4" name="Textfeld 3"/>
          <p:cNvSpPr txBox="1"/>
          <p:nvPr/>
        </p:nvSpPr>
        <p:spPr>
          <a:xfrm>
            <a:off x="323528" y="1020093"/>
            <a:ext cx="8496944" cy="646331"/>
          </a:xfrm>
          <a:prstGeom prst="rect">
            <a:avLst/>
          </a:prstGeom>
          <a:noFill/>
        </p:spPr>
        <p:txBody>
          <a:bodyPr wrap="square" rtlCol="0">
            <a:spAutoFit/>
          </a:bodyPr>
          <a:lstStyle/>
          <a:p>
            <a:pPr algn="ctr"/>
            <a:r>
              <a:rPr lang="de-DE" sz="3600" dirty="0" smtClean="0">
                <a:solidFill>
                  <a:srgbClr val="FF0000"/>
                </a:solidFill>
              </a:rPr>
              <a:t>mit Blick auf die Unvollständigkeitssätze</a:t>
            </a:r>
            <a:endParaRPr lang="de-DE" sz="3600" dirty="0">
              <a:solidFill>
                <a:srgbClr val="FF0000"/>
              </a:solidFill>
            </a:endParaRPr>
          </a:p>
        </p:txBody>
      </p:sp>
      <p:pic>
        <p:nvPicPr>
          <p:cNvPr id="102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32169" y="2589144"/>
            <a:ext cx="1498921" cy="2358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95736" y="1669554"/>
            <a:ext cx="6552728" cy="699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591626" y="2589144"/>
            <a:ext cx="1756191" cy="2358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3" name="Picture 9" descr="Philosophische Notizbücher / Philosophical Notebooks"/>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22848" y="2276475"/>
            <a:ext cx="1904842" cy="2681064"/>
          </a:xfrm>
          <a:prstGeom prst="rect">
            <a:avLst/>
          </a:prstGeom>
          <a:noFill/>
          <a:ln w="190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62424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502" y="267494"/>
            <a:ext cx="8136904" cy="468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196034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3410646"/>
            <a:ext cx="7992888" cy="11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hteck 5"/>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7" name="Textfeld 6"/>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Kostproben</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aus</a:t>
            </a:r>
            <a:r>
              <a:rPr lang="en-CA" sz="3200" dirty="0" smtClean="0">
                <a:solidFill>
                  <a:schemeClr val="bg1"/>
                </a:solidFill>
                <a:effectLst>
                  <a:outerShdw blurRad="38100" dist="38100" dir="2700000" algn="tl">
                    <a:srgbClr val="000000">
                      <a:alpha val="43137"/>
                    </a:srgbClr>
                  </a:outerShdw>
                </a:effectLst>
              </a:rPr>
              <a:t> den </a:t>
            </a:r>
            <a:r>
              <a:rPr lang="en-CA" sz="3200" dirty="0" err="1" smtClean="0">
                <a:solidFill>
                  <a:schemeClr val="bg1"/>
                </a:solidFill>
                <a:effectLst>
                  <a:outerShdw blurRad="38100" dist="38100" dir="2700000" algn="tl">
                    <a:srgbClr val="000000">
                      <a:alpha val="43137"/>
                    </a:srgbClr>
                  </a:outerShdw>
                </a:effectLst>
              </a:rPr>
              <a:t>Frühen</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Heften</a:t>
            </a:r>
            <a:endParaRPr lang="en-CA" sz="3200" dirty="0">
              <a:solidFill>
                <a:schemeClr val="bg1"/>
              </a:solidFill>
              <a:effectLst>
                <a:outerShdw blurRad="38100" dist="38100" dir="2700000" algn="tl">
                  <a:srgbClr val="000000">
                    <a:alpha val="43137"/>
                  </a:srgbClr>
                </a:outerShdw>
              </a:effectLst>
            </a:endParaRPr>
          </a:p>
        </p:txBody>
      </p:sp>
      <p:pic>
        <p:nvPicPr>
          <p:cNvPr id="1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255" y="771550"/>
            <a:ext cx="7809185" cy="2287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50601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146732"/>
            <a:ext cx="5256584" cy="4801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590950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59618"/>
          <a:stretch/>
        </p:blipFill>
        <p:spPr bwMode="auto">
          <a:xfrm>
            <a:off x="899592" y="1131590"/>
            <a:ext cx="7920880" cy="1485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hteck 3"/>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5" name="Textfeld 4"/>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Kostproben</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aus</a:t>
            </a:r>
            <a:r>
              <a:rPr lang="en-CA" sz="3200" dirty="0" smtClean="0">
                <a:solidFill>
                  <a:schemeClr val="bg1"/>
                </a:solidFill>
                <a:effectLst>
                  <a:outerShdw blurRad="38100" dist="38100" dir="2700000" algn="tl">
                    <a:srgbClr val="000000">
                      <a:alpha val="43137"/>
                    </a:srgbClr>
                  </a:outerShdw>
                </a:effectLst>
              </a:rPr>
              <a:t> den </a:t>
            </a:r>
            <a:r>
              <a:rPr lang="en-CA" sz="3200" dirty="0" err="1" smtClean="0">
                <a:solidFill>
                  <a:schemeClr val="bg1"/>
                </a:solidFill>
                <a:effectLst>
                  <a:outerShdw blurRad="38100" dist="38100" dir="2700000" algn="tl">
                    <a:srgbClr val="000000">
                      <a:alpha val="43137"/>
                    </a:srgbClr>
                  </a:outerShdw>
                </a:effectLst>
              </a:rPr>
              <a:t>Frühen</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Heften</a:t>
            </a:r>
            <a:endParaRPr lang="en-CA" sz="3200"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373886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593" y="699542"/>
            <a:ext cx="8297863" cy="207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644" y="2843262"/>
            <a:ext cx="8379812" cy="1960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Kostproben</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aus</a:t>
            </a:r>
            <a:r>
              <a:rPr lang="en-CA" sz="3200" dirty="0" smtClean="0">
                <a:solidFill>
                  <a:schemeClr val="bg1"/>
                </a:solidFill>
                <a:effectLst>
                  <a:outerShdw blurRad="38100" dist="38100" dir="2700000" algn="tl">
                    <a:srgbClr val="000000">
                      <a:alpha val="43137"/>
                    </a:srgbClr>
                  </a:outerShdw>
                </a:effectLst>
              </a:rPr>
              <a:t> den </a:t>
            </a:r>
            <a:r>
              <a:rPr lang="en-CA" sz="3200" dirty="0" err="1" smtClean="0">
                <a:solidFill>
                  <a:schemeClr val="bg1"/>
                </a:solidFill>
                <a:effectLst>
                  <a:outerShdw blurRad="38100" dist="38100" dir="2700000" algn="tl">
                    <a:srgbClr val="000000">
                      <a:alpha val="43137"/>
                    </a:srgbClr>
                  </a:outerShdw>
                </a:effectLst>
              </a:rPr>
              <a:t>Frühen</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Heften</a:t>
            </a:r>
            <a:endParaRPr lang="en-CA" sz="3200"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8323180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843558"/>
            <a:ext cx="8434851" cy="2333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hteck 3"/>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5" name="Textfeld 4"/>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Kostproben</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aus</a:t>
            </a:r>
            <a:r>
              <a:rPr lang="en-CA" sz="3200" dirty="0" smtClean="0">
                <a:solidFill>
                  <a:schemeClr val="bg1"/>
                </a:solidFill>
                <a:effectLst>
                  <a:outerShdw blurRad="38100" dist="38100" dir="2700000" algn="tl">
                    <a:srgbClr val="000000">
                      <a:alpha val="43137"/>
                    </a:srgbClr>
                  </a:outerShdw>
                </a:effectLst>
              </a:rPr>
              <a:t> den </a:t>
            </a:r>
            <a:r>
              <a:rPr lang="en-CA" sz="3200" dirty="0" err="1" smtClean="0">
                <a:solidFill>
                  <a:schemeClr val="bg1"/>
                </a:solidFill>
                <a:effectLst>
                  <a:outerShdw blurRad="38100" dist="38100" dir="2700000" algn="tl">
                    <a:srgbClr val="000000">
                      <a:alpha val="43137"/>
                    </a:srgbClr>
                  </a:outerShdw>
                </a:effectLst>
              </a:rPr>
              <a:t>Frühen</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Heften</a:t>
            </a:r>
            <a:endParaRPr lang="en-CA" sz="3200"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712141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p:cNvSpPr txBox="1"/>
          <p:nvPr/>
        </p:nvSpPr>
        <p:spPr>
          <a:xfrm>
            <a:off x="0" y="1923678"/>
            <a:ext cx="9231168" cy="923330"/>
          </a:xfrm>
          <a:prstGeom prst="rect">
            <a:avLst/>
          </a:prstGeom>
          <a:noFill/>
        </p:spPr>
        <p:txBody>
          <a:bodyPr wrap="square" rtlCol="0">
            <a:spAutoFit/>
          </a:bodyPr>
          <a:lstStyle/>
          <a:p>
            <a:pPr algn="ctr"/>
            <a:r>
              <a:rPr lang="de-DE" sz="5400" dirty="0" smtClean="0">
                <a:latin typeface="Times New Roman" panose="02020603050405020304" pitchFamily="18" charset="0"/>
                <a:cs typeface="Times New Roman" panose="02020603050405020304" pitchFamily="18" charset="0"/>
              </a:rPr>
              <a:t>Gödel als Philosoph</a:t>
            </a:r>
            <a:endParaRPr lang="de-DE" sz="5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14845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Einflüsse</a:t>
            </a:r>
            <a:endParaRPr lang="en-CA" sz="3200" dirty="0">
              <a:solidFill>
                <a:schemeClr val="bg1"/>
              </a:solidFill>
              <a:effectLst>
                <a:outerShdw blurRad="38100" dist="38100" dir="2700000" algn="tl">
                  <a:srgbClr val="000000">
                    <a:alpha val="43137"/>
                  </a:srgbClr>
                </a:outerShdw>
              </a:effectLst>
            </a:endParaRPr>
          </a:p>
        </p:txBody>
      </p:sp>
      <p:pic>
        <p:nvPicPr>
          <p:cNvPr id="6146" name="Picture 2" descr="Der Wiener Kreis – eine wissenschaftliche Weltauffassu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520" y="696532"/>
            <a:ext cx="3816424" cy="2955338"/>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Edmund Husserl – Wikipedi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702552"/>
            <a:ext cx="2088232" cy="2741116"/>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Gottfried Wilhelm Leibniz – Wikipedia"/>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60232" y="699542"/>
            <a:ext cx="2304640" cy="2845095"/>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Immanuel Kant – Wikipedia"/>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652120" y="2718776"/>
            <a:ext cx="2053187" cy="2288091"/>
          </a:xfrm>
          <a:prstGeom prst="rect">
            <a:avLst/>
          </a:prstGeom>
          <a:noFill/>
          <a:extLst>
            <a:ext uri="{909E8E84-426E-40DD-AFC4-6F175D3DCCD1}">
              <a14:hiddenFill xmlns:a14="http://schemas.microsoft.com/office/drawing/2010/main">
                <a:solidFill>
                  <a:srgbClr val="FFFFFF"/>
                </a:solidFill>
              </a14:hiddenFill>
            </a:ext>
          </a:extLst>
        </p:spPr>
      </p:pic>
      <p:sp>
        <p:nvSpPr>
          <p:cNvPr id="3" name="Textfeld 2"/>
          <p:cNvSpPr txBox="1"/>
          <p:nvPr/>
        </p:nvSpPr>
        <p:spPr>
          <a:xfrm>
            <a:off x="467544" y="3723878"/>
            <a:ext cx="3096344" cy="461665"/>
          </a:xfrm>
          <a:prstGeom prst="rect">
            <a:avLst/>
          </a:prstGeom>
          <a:noFill/>
        </p:spPr>
        <p:txBody>
          <a:bodyPr wrap="square" rtlCol="0">
            <a:spAutoFit/>
          </a:bodyPr>
          <a:lstStyle/>
          <a:p>
            <a:pPr algn="ctr"/>
            <a:r>
              <a:rPr lang="de-DE" sz="2400" dirty="0" smtClean="0">
                <a:latin typeface="Times New Roman" panose="02020603050405020304" pitchFamily="18" charset="0"/>
                <a:cs typeface="Times New Roman" panose="02020603050405020304" pitchFamily="18" charset="0"/>
              </a:rPr>
              <a:t>Wiener Kreis</a:t>
            </a:r>
            <a:endParaRPr lang="de-DE"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787580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Rationalismus</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Idealismus</a:t>
            </a:r>
            <a:endParaRPr lang="en-CA" sz="3200" dirty="0">
              <a:solidFill>
                <a:schemeClr val="bg1"/>
              </a:solidFill>
              <a:effectLst>
                <a:outerShdw blurRad="38100" dist="38100" dir="2700000" algn="tl">
                  <a:srgbClr val="000000">
                    <a:alpha val="43137"/>
                  </a:srgbClr>
                </a:outerShdw>
              </a:effectLst>
            </a:endParaRP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256" y="627534"/>
            <a:ext cx="8457208" cy="224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Gerade Verbindung 10"/>
          <p:cNvCxnSpPr/>
          <p:nvPr/>
        </p:nvCxnSpPr>
        <p:spPr>
          <a:xfrm>
            <a:off x="4139952" y="2355726"/>
            <a:ext cx="439248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Gerade Verbindung 14"/>
          <p:cNvCxnSpPr/>
          <p:nvPr/>
        </p:nvCxnSpPr>
        <p:spPr>
          <a:xfrm>
            <a:off x="539552" y="2787774"/>
            <a:ext cx="381642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028" y="3147814"/>
            <a:ext cx="3819525"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rotWithShape="1">
          <a:blip r:embed="rId5">
            <a:extLst>
              <a:ext uri="{28A0092B-C50C-407E-A947-70E740481C1C}">
                <a14:useLocalDpi xmlns:a14="http://schemas.microsoft.com/office/drawing/2010/main" val="0"/>
              </a:ext>
            </a:extLst>
          </a:blip>
          <a:srcRect t="16001"/>
          <a:stretch/>
        </p:blipFill>
        <p:spPr bwMode="auto">
          <a:xfrm>
            <a:off x="511953" y="3795886"/>
            <a:ext cx="7916863" cy="288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7544" y="4155926"/>
            <a:ext cx="32004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feld 1"/>
          <p:cNvSpPr txBox="1"/>
          <p:nvPr/>
        </p:nvSpPr>
        <p:spPr>
          <a:xfrm>
            <a:off x="7308304" y="2490450"/>
            <a:ext cx="2304256" cy="307777"/>
          </a:xfrm>
          <a:prstGeom prst="rect">
            <a:avLst/>
          </a:prstGeom>
          <a:noFill/>
        </p:spPr>
        <p:txBody>
          <a:bodyPr wrap="square" rtlCol="0">
            <a:spAutoFit/>
          </a:bodyPr>
          <a:lstStyle/>
          <a:p>
            <a:r>
              <a:rPr lang="de-DE" sz="1400" dirty="0" smtClean="0"/>
              <a:t>(</a:t>
            </a:r>
            <a:r>
              <a:rPr lang="de-DE" sz="1400" dirty="0"/>
              <a:t>Max IV, S. </a:t>
            </a:r>
            <a:r>
              <a:rPr lang="de-DE" sz="1400" dirty="0" smtClean="0"/>
              <a:t>100)</a:t>
            </a:r>
            <a:endParaRPr lang="de-DE" sz="1400" dirty="0"/>
          </a:p>
        </p:txBody>
      </p:sp>
    </p:spTree>
    <p:extLst>
      <p:ext uri="{BB962C8B-B14F-4D97-AF65-F5344CB8AC3E}">
        <p14:creationId xmlns:p14="http://schemas.microsoft.com/office/powerpoint/2010/main" val="1372483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Scientia </a:t>
            </a:r>
            <a:r>
              <a:rPr lang="en-CA" sz="3200" dirty="0" err="1" smtClean="0">
                <a:solidFill>
                  <a:schemeClr val="bg1"/>
                </a:solidFill>
                <a:effectLst>
                  <a:outerShdw blurRad="38100" dist="38100" dir="2700000" algn="tl">
                    <a:srgbClr val="000000">
                      <a:alpha val="43137"/>
                    </a:srgbClr>
                  </a:outerShdw>
                </a:effectLst>
              </a:rPr>
              <a:t>universalis</a:t>
            </a:r>
            <a:r>
              <a:rPr lang="en-CA" sz="3200" dirty="0" smtClean="0">
                <a:solidFill>
                  <a:schemeClr val="bg1"/>
                </a:solidFill>
                <a:effectLst>
                  <a:outerShdw blurRad="38100" dist="38100" dir="2700000" algn="tl">
                    <a:srgbClr val="000000">
                      <a:alpha val="43137"/>
                    </a:srgbClr>
                  </a:outerShdw>
                </a:effectLst>
              </a:rPr>
              <a:t> (Leibniz)</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79512" y="699542"/>
            <a:ext cx="8640960" cy="2031325"/>
          </a:xfrm>
          <a:prstGeom prst="rect">
            <a:avLst/>
          </a:prstGeom>
          <a:noFill/>
        </p:spPr>
        <p:txBody>
          <a:bodyPr wrap="square" rtlCol="0">
            <a:spAutoFit/>
          </a:bodyPr>
          <a:lstStyle/>
          <a:p>
            <a:pPr marL="285750" indent="-285750">
              <a:buFont typeface="Arial" panose="020B0604020202020204" pitchFamily="34" charset="0"/>
              <a:buChar char="•"/>
            </a:pPr>
            <a:r>
              <a:rPr lang="de-DE" b="1" dirty="0"/>
              <a:t>Ziel: </a:t>
            </a:r>
            <a:r>
              <a:rPr lang="de-DE" dirty="0"/>
              <a:t>gemeinsame Grundbegriffe und Methoden der Einzelwissenschaften bestimmen</a:t>
            </a:r>
            <a:r>
              <a:rPr lang="de-DE" dirty="0" smtClean="0"/>
              <a:t>.</a:t>
            </a:r>
          </a:p>
          <a:p>
            <a:pPr marL="285750" indent="-285750">
              <a:buFont typeface="Arial" panose="020B0604020202020204" pitchFamily="34" charset="0"/>
              <a:buChar char="•"/>
            </a:pPr>
            <a:r>
              <a:rPr lang="de-DE" b="1" dirty="0" smtClean="0"/>
              <a:t>Leitidee</a:t>
            </a:r>
            <a:r>
              <a:rPr lang="de-DE" b="1" dirty="0"/>
              <a:t>: </a:t>
            </a:r>
            <a:r>
              <a:rPr lang="de-DE" dirty="0"/>
              <a:t>methodische Übertragungen zwischen Disziplinen ermöglichen</a:t>
            </a:r>
            <a:r>
              <a:rPr lang="de-DE" dirty="0" smtClean="0"/>
              <a:t>.</a:t>
            </a:r>
          </a:p>
          <a:p>
            <a:pPr marL="285750" indent="-285750">
              <a:buFont typeface="Arial" panose="020B0604020202020204" pitchFamily="34" charset="0"/>
              <a:buChar char="•"/>
            </a:pPr>
            <a:endParaRPr lang="de-DE" dirty="0" smtClean="0"/>
          </a:p>
          <a:p>
            <a:pPr marL="285750" indent="-285750">
              <a:buFont typeface="Arial" panose="020B0604020202020204" pitchFamily="34" charset="0"/>
              <a:buChar char="•"/>
            </a:pPr>
            <a:r>
              <a:rPr lang="de-DE" b="1" dirty="0" smtClean="0"/>
              <a:t>Programme:</a:t>
            </a:r>
            <a:r>
              <a:rPr lang="de-DE" i="1" dirty="0" smtClean="0"/>
              <a:t> Enzyklopädie</a:t>
            </a:r>
            <a:r>
              <a:rPr lang="de-DE" dirty="0"/>
              <a:t>, </a:t>
            </a:r>
            <a:r>
              <a:rPr lang="de-DE" i="1" dirty="0"/>
              <a:t>Ars </a:t>
            </a:r>
            <a:r>
              <a:rPr lang="de-DE" i="1" dirty="0" err="1"/>
              <a:t>inveniendi</a:t>
            </a:r>
            <a:r>
              <a:rPr lang="de-DE" dirty="0"/>
              <a:t>, </a:t>
            </a:r>
            <a:r>
              <a:rPr lang="de-DE" i="1" dirty="0"/>
              <a:t>Ars </a:t>
            </a:r>
            <a:r>
              <a:rPr lang="de-DE" i="1" dirty="0" err="1" smtClean="0"/>
              <a:t>iudicandi</a:t>
            </a:r>
            <a:r>
              <a:rPr lang="de-DE" dirty="0" smtClean="0"/>
              <a:t>, </a:t>
            </a:r>
            <a:r>
              <a:rPr lang="de-DE" i="1" dirty="0" err="1" smtClean="0"/>
              <a:t>Characteristica</a:t>
            </a:r>
            <a:r>
              <a:rPr lang="de-DE" i="1" dirty="0" smtClean="0"/>
              <a:t> </a:t>
            </a:r>
            <a:r>
              <a:rPr lang="de-DE" i="1" dirty="0" err="1" smtClean="0"/>
              <a:t>universalis</a:t>
            </a:r>
            <a:endParaRPr lang="de-DE" i="1" dirty="0" smtClean="0"/>
          </a:p>
          <a:p>
            <a:pPr marL="285750" indent="-285750">
              <a:buFont typeface="Arial" panose="020B0604020202020204" pitchFamily="34" charset="0"/>
              <a:buChar char="•"/>
            </a:pPr>
            <a:endParaRPr lang="de-DE" dirty="0" smtClean="0"/>
          </a:p>
          <a:p>
            <a:pPr marL="285750" indent="-285750">
              <a:buFont typeface="Arial" panose="020B0604020202020204" pitchFamily="34" charset="0"/>
              <a:buChar char="•"/>
            </a:pPr>
            <a:r>
              <a:rPr lang="de-DE" u="sng" dirty="0" smtClean="0"/>
              <a:t>Bezugsfelder bei </a:t>
            </a:r>
            <a:r>
              <a:rPr lang="de-DE" u="sng" dirty="0" err="1" smtClean="0"/>
              <a:t>Gödel</a:t>
            </a:r>
            <a:r>
              <a:rPr lang="de-DE" dirty="0" smtClean="0"/>
              <a:t>: </a:t>
            </a:r>
            <a:r>
              <a:rPr lang="de-DE" dirty="0"/>
              <a:t>Mathematik, Physik, </a:t>
            </a:r>
            <a:r>
              <a:rPr lang="de-DE" dirty="0" smtClean="0"/>
              <a:t>Psychologie, Jurisprudenz, </a:t>
            </a:r>
            <a:r>
              <a:rPr lang="de-DE" dirty="0"/>
              <a:t>Theologie, Philosophie</a:t>
            </a:r>
            <a:r>
              <a:rPr lang="de-DE" dirty="0" smtClean="0"/>
              <a:t>.</a:t>
            </a:r>
            <a:endParaRPr lang="de-DE" sz="1600" dirty="0"/>
          </a:p>
        </p:txBody>
      </p:sp>
      <p:sp>
        <p:nvSpPr>
          <p:cNvPr id="7" name="Textfeld 6"/>
          <p:cNvSpPr txBox="1"/>
          <p:nvPr/>
        </p:nvSpPr>
        <p:spPr>
          <a:xfrm>
            <a:off x="179512" y="3075806"/>
            <a:ext cx="4896544" cy="1138773"/>
          </a:xfrm>
          <a:prstGeom prst="rect">
            <a:avLst/>
          </a:prstGeom>
          <a:noFill/>
        </p:spPr>
        <p:txBody>
          <a:bodyPr wrap="square" rtlCol="0">
            <a:spAutoFit/>
          </a:bodyPr>
          <a:lstStyle/>
          <a:p>
            <a:r>
              <a:rPr lang="de-DE" sz="2000" u="sng" dirty="0" smtClean="0"/>
              <a:t>Beispiele:</a:t>
            </a:r>
          </a:p>
          <a:p>
            <a:endParaRPr lang="de-DE" sz="1600" u="sng" dirty="0" smtClean="0"/>
          </a:p>
          <a:p>
            <a:pPr marL="285750" indent="-285750">
              <a:buFont typeface="Arial" panose="020B0604020202020204" pitchFamily="34" charset="0"/>
              <a:buChar char="•"/>
            </a:pPr>
            <a:r>
              <a:rPr lang="de-DE" sz="1600" b="1" dirty="0" smtClean="0"/>
              <a:t>Psychologie </a:t>
            </a:r>
            <a:r>
              <a:rPr lang="de-DE" sz="1600" dirty="0">
                <a:sym typeface="Wingdings" panose="05000000000000000000" pitchFamily="2" charset="2"/>
              </a:rPr>
              <a:t>⇔</a:t>
            </a:r>
            <a:r>
              <a:rPr lang="de-DE" sz="1600" b="1" dirty="0" smtClean="0">
                <a:sym typeface="Wingdings" panose="05000000000000000000" pitchFamily="2" charset="2"/>
              </a:rPr>
              <a:t> Physik </a:t>
            </a:r>
            <a:r>
              <a:rPr lang="de-DE" sz="1200" dirty="0" smtClean="0">
                <a:sym typeface="Wingdings" panose="05000000000000000000" pitchFamily="2" charset="2"/>
              </a:rPr>
              <a:t>(vgl. Max III, S. 165)</a:t>
            </a:r>
            <a:endParaRPr lang="de-DE" sz="1200" dirty="0" smtClean="0"/>
          </a:p>
          <a:p>
            <a:pPr marL="742950" lvl="1" indent="-285750">
              <a:buFont typeface="Courier New" panose="02070309020205020404" pitchFamily="49" charset="0"/>
              <a:buChar char="o"/>
            </a:pPr>
            <a:r>
              <a:rPr lang="de-DE" sz="1400" dirty="0" smtClean="0"/>
              <a:t>Psychologische Gesetze </a:t>
            </a:r>
            <a:r>
              <a:rPr lang="de-DE" sz="1400" dirty="0" smtClean="0">
                <a:sym typeface="Wingdings" panose="05000000000000000000" pitchFamily="2" charset="2"/>
              </a:rPr>
              <a:t> Kinematik/Mechanik</a:t>
            </a:r>
          </a:p>
        </p:txBody>
      </p:sp>
      <p:sp>
        <p:nvSpPr>
          <p:cNvPr id="8" name="Textfeld 7"/>
          <p:cNvSpPr txBox="1"/>
          <p:nvPr/>
        </p:nvSpPr>
        <p:spPr>
          <a:xfrm>
            <a:off x="4860032" y="3579862"/>
            <a:ext cx="3960440" cy="1200329"/>
          </a:xfrm>
          <a:prstGeom prst="rect">
            <a:avLst/>
          </a:prstGeom>
          <a:noFill/>
        </p:spPr>
        <p:txBody>
          <a:bodyPr wrap="square" rtlCol="0">
            <a:spAutoFit/>
          </a:bodyPr>
          <a:lstStyle/>
          <a:p>
            <a:pPr marL="285750" indent="-285750">
              <a:buFont typeface="Arial" panose="020B0604020202020204" pitchFamily="34" charset="0"/>
              <a:buChar char="•"/>
            </a:pPr>
            <a:r>
              <a:rPr lang="de-DE" sz="1600" b="1" dirty="0" smtClean="0"/>
              <a:t>Logik </a:t>
            </a:r>
            <a:r>
              <a:rPr lang="de-DE" sz="1600" b="1" dirty="0">
                <a:sym typeface="Wingdings" panose="05000000000000000000" pitchFamily="2" charset="2"/>
              </a:rPr>
              <a:t>⇔ </a:t>
            </a:r>
            <a:r>
              <a:rPr lang="de-DE" sz="1600" b="1" dirty="0" smtClean="0">
                <a:sym typeface="Wingdings" panose="05000000000000000000" pitchFamily="2" charset="2"/>
              </a:rPr>
              <a:t>T</a:t>
            </a:r>
            <a:r>
              <a:rPr lang="de-DE" sz="1600" b="1" dirty="0" smtClean="0"/>
              <a:t>opologie </a:t>
            </a:r>
            <a:r>
              <a:rPr lang="de-DE" sz="1200" dirty="0" smtClean="0"/>
              <a:t>(vgl. Max V, S. 99 f.)</a:t>
            </a:r>
          </a:p>
          <a:p>
            <a:pPr marL="742950" lvl="1" indent="-285750">
              <a:buFont typeface="Courier New" panose="02070309020205020404" pitchFamily="49" charset="0"/>
              <a:buChar char="o"/>
            </a:pPr>
            <a:r>
              <a:rPr lang="de-DE" sz="1400" dirty="0"/>
              <a:t>Aussagen bilden </a:t>
            </a:r>
            <a:r>
              <a:rPr lang="de-DE" sz="1400" dirty="0" smtClean="0"/>
              <a:t>topologischen </a:t>
            </a:r>
            <a:r>
              <a:rPr lang="de-DE" sz="1400" dirty="0"/>
              <a:t>Raum</a:t>
            </a:r>
            <a:r>
              <a:rPr lang="de-DE" sz="1400" dirty="0" smtClean="0"/>
              <a:t>.</a:t>
            </a:r>
          </a:p>
          <a:p>
            <a:pPr marL="742950" lvl="1" indent="-285750">
              <a:buFont typeface="Courier New" panose="02070309020205020404" pitchFamily="49" charset="0"/>
              <a:buChar char="o"/>
            </a:pPr>
            <a:r>
              <a:rPr lang="de-DE" sz="1400" dirty="0" smtClean="0"/>
              <a:t>Nähe </a:t>
            </a:r>
            <a:r>
              <a:rPr lang="de-DE" sz="1400" dirty="0" smtClean="0">
                <a:sym typeface="Wingdings" panose="05000000000000000000" pitchFamily="2" charset="2"/>
              </a:rPr>
              <a:t> Inhaltliche Verwandtschaft</a:t>
            </a:r>
          </a:p>
          <a:p>
            <a:pPr marL="742950" lvl="1" indent="-285750">
              <a:buFont typeface="Courier New" panose="02070309020205020404" pitchFamily="49" charset="0"/>
              <a:buChar char="o"/>
            </a:pPr>
            <a:r>
              <a:rPr lang="de-DE" sz="1400" dirty="0" smtClean="0">
                <a:sym typeface="Wingdings" panose="05000000000000000000" pitchFamily="2" charset="2"/>
              </a:rPr>
              <a:t>Wahr/falsch  Aufteilung eines Parameterraums</a:t>
            </a:r>
            <a:endParaRPr lang="de-DE" sz="1400" dirty="0"/>
          </a:p>
        </p:txBody>
      </p:sp>
    </p:spTree>
    <p:extLst>
      <p:ext uri="{BB962C8B-B14F-4D97-AF65-F5344CB8AC3E}">
        <p14:creationId xmlns:p14="http://schemas.microsoft.com/office/powerpoint/2010/main" val="16696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Scientia </a:t>
            </a:r>
            <a:r>
              <a:rPr lang="en-CA" sz="3200" dirty="0" err="1" smtClean="0">
                <a:solidFill>
                  <a:schemeClr val="bg1"/>
                </a:solidFill>
                <a:effectLst>
                  <a:outerShdw blurRad="38100" dist="38100" dir="2700000" algn="tl">
                    <a:srgbClr val="000000">
                      <a:alpha val="43137"/>
                    </a:srgbClr>
                  </a:outerShdw>
                </a:effectLst>
              </a:rPr>
              <a:t>universalis</a:t>
            </a:r>
            <a:r>
              <a:rPr lang="en-CA" sz="3200" dirty="0" smtClean="0">
                <a:solidFill>
                  <a:schemeClr val="bg1"/>
                </a:solidFill>
                <a:effectLst>
                  <a:outerShdw blurRad="38100" dist="38100" dir="2700000" algn="tl">
                    <a:srgbClr val="000000">
                      <a:alpha val="43137"/>
                    </a:srgbClr>
                  </a:outerShdw>
                </a:effectLst>
              </a:rPr>
              <a:t> (Leibniz)</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251520" y="367953"/>
            <a:ext cx="4896544" cy="707886"/>
          </a:xfrm>
          <a:prstGeom prst="rect">
            <a:avLst/>
          </a:prstGeom>
          <a:noFill/>
        </p:spPr>
        <p:txBody>
          <a:bodyPr wrap="square" rtlCol="0">
            <a:spAutoFit/>
          </a:bodyPr>
          <a:lstStyle/>
          <a:p>
            <a:pPr marL="285750" indent="-285750">
              <a:buFont typeface="Arial" panose="020B0604020202020204" pitchFamily="34" charset="0"/>
              <a:buChar char="•"/>
            </a:pPr>
            <a:endParaRPr lang="de-DE" sz="1600" dirty="0"/>
          </a:p>
          <a:p>
            <a:r>
              <a:rPr lang="de-DE" sz="2400" u="sng" dirty="0" smtClean="0"/>
              <a:t>Beispiele:</a:t>
            </a:r>
          </a:p>
        </p:txBody>
      </p:sp>
      <p:sp>
        <p:nvSpPr>
          <p:cNvPr id="4" name="Textfeld 3"/>
          <p:cNvSpPr txBox="1"/>
          <p:nvPr/>
        </p:nvSpPr>
        <p:spPr>
          <a:xfrm>
            <a:off x="251520" y="1059582"/>
            <a:ext cx="6840760" cy="1477328"/>
          </a:xfrm>
          <a:prstGeom prst="rect">
            <a:avLst/>
          </a:prstGeom>
          <a:noFill/>
        </p:spPr>
        <p:txBody>
          <a:bodyPr wrap="square" rtlCol="0">
            <a:spAutoFit/>
          </a:bodyPr>
          <a:lstStyle/>
          <a:p>
            <a:pPr marL="285750" indent="-285750">
              <a:buFont typeface="Arial" panose="020B0604020202020204" pitchFamily="34" charset="0"/>
              <a:buChar char="•"/>
            </a:pPr>
            <a:r>
              <a:rPr lang="de-DE" b="1" dirty="0"/>
              <a:t>Theologie </a:t>
            </a:r>
            <a:r>
              <a:rPr lang="de-DE" dirty="0">
                <a:sym typeface="Wingdings" panose="05000000000000000000" pitchFamily="2" charset="2"/>
              </a:rPr>
              <a:t>⇔</a:t>
            </a:r>
            <a:r>
              <a:rPr lang="de-DE" b="1" dirty="0">
                <a:sym typeface="Wingdings" panose="05000000000000000000" pitchFamily="2" charset="2"/>
              </a:rPr>
              <a:t> </a:t>
            </a:r>
            <a:r>
              <a:rPr lang="de-DE" b="1" dirty="0" smtClean="0">
                <a:sym typeface="Wingdings" panose="05000000000000000000" pitchFamily="2" charset="2"/>
              </a:rPr>
              <a:t>Mathematik </a:t>
            </a:r>
            <a:endParaRPr lang="de-DE" b="1" dirty="0">
              <a:sym typeface="Wingdings" panose="05000000000000000000" pitchFamily="2" charset="2"/>
            </a:endParaRPr>
          </a:p>
          <a:p>
            <a:pPr marL="742950" lvl="1" indent="-285750">
              <a:buFont typeface="Courier New" panose="02070309020205020404" pitchFamily="49" charset="0"/>
              <a:buChar char="o"/>
            </a:pPr>
            <a:r>
              <a:rPr lang="de-DE" dirty="0">
                <a:sym typeface="Wingdings" panose="05000000000000000000" pitchFamily="2" charset="2"/>
              </a:rPr>
              <a:t>Gott = </a:t>
            </a:r>
            <a:r>
              <a:rPr lang="de-DE" dirty="0" err="1">
                <a:sym typeface="Wingdings" panose="05000000000000000000" pitchFamily="2" charset="2"/>
              </a:rPr>
              <a:t>Allmenge</a:t>
            </a:r>
            <a:r>
              <a:rPr lang="de-DE" dirty="0">
                <a:sym typeface="Wingdings" panose="05000000000000000000" pitchFamily="2" charset="2"/>
              </a:rPr>
              <a:t>; </a:t>
            </a:r>
          </a:p>
          <a:p>
            <a:pPr marL="742950" lvl="1" indent="-285750">
              <a:buFont typeface="Courier New" panose="02070309020205020404" pitchFamily="49" charset="0"/>
              <a:buChar char="o"/>
            </a:pPr>
            <a:r>
              <a:rPr lang="de-DE" dirty="0">
                <a:sym typeface="Wingdings" panose="05000000000000000000" pitchFamily="2" charset="2"/>
              </a:rPr>
              <a:t>Teufel = unwiderlegbares falsches System (oder leere Menge); </a:t>
            </a:r>
          </a:p>
          <a:p>
            <a:pPr marL="742950" lvl="1" indent="-285750">
              <a:buFont typeface="Courier New" panose="02070309020205020404" pitchFamily="49" charset="0"/>
              <a:buChar char="o"/>
            </a:pPr>
            <a:r>
              <a:rPr lang="de-DE" dirty="0">
                <a:sym typeface="Wingdings" panose="05000000000000000000" pitchFamily="2" charset="2"/>
              </a:rPr>
              <a:t>Mensch = ω</a:t>
            </a:r>
            <a:r>
              <a:rPr lang="de-DE" baseline="-25000" dirty="0">
                <a:sym typeface="Wingdings" panose="05000000000000000000" pitchFamily="2" charset="2"/>
              </a:rPr>
              <a:t>1</a:t>
            </a:r>
            <a:r>
              <a:rPr lang="de-DE" dirty="0">
                <a:sym typeface="Wingdings" panose="05000000000000000000" pitchFamily="2" charset="2"/>
              </a:rPr>
              <a:t> ​ ; Tier = ω; </a:t>
            </a:r>
            <a:endParaRPr lang="de-DE" dirty="0" smtClean="0">
              <a:sym typeface="Wingdings" panose="05000000000000000000" pitchFamily="2" charset="2"/>
            </a:endParaRPr>
          </a:p>
          <a:p>
            <a:pPr marL="742950" lvl="1" indent="-285750">
              <a:buFont typeface="Courier New" panose="02070309020205020404" pitchFamily="49" charset="0"/>
              <a:buChar char="o"/>
            </a:pPr>
            <a:r>
              <a:rPr lang="de-DE" dirty="0" smtClean="0">
                <a:sym typeface="Wingdings" panose="05000000000000000000" pitchFamily="2" charset="2"/>
              </a:rPr>
              <a:t>Zeit </a:t>
            </a:r>
            <a:r>
              <a:rPr lang="de-DE" dirty="0">
                <a:sym typeface="Wingdings" panose="05000000000000000000" pitchFamily="2" charset="2"/>
              </a:rPr>
              <a:t>= reelle Zahl ≥ </a:t>
            </a:r>
            <a:r>
              <a:rPr lang="de-DE" dirty="0" smtClean="0">
                <a:sym typeface="Wingdings" panose="05000000000000000000" pitchFamily="2" charset="2"/>
              </a:rPr>
              <a:t>0</a:t>
            </a:r>
            <a:endParaRPr lang="de-DE" sz="2000" dirty="0">
              <a:sym typeface="Wingdings" panose="05000000000000000000" pitchFamily="2" charset="2"/>
            </a:endParaRPr>
          </a:p>
        </p:txBody>
      </p:sp>
      <p:pic>
        <p:nvPicPr>
          <p:cNvPr id="51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1900" y="2211710"/>
            <a:ext cx="4968552" cy="1748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feld 2"/>
          <p:cNvSpPr txBox="1"/>
          <p:nvPr/>
        </p:nvSpPr>
        <p:spPr>
          <a:xfrm>
            <a:off x="3642872" y="4025862"/>
            <a:ext cx="3312368" cy="307777"/>
          </a:xfrm>
          <a:prstGeom prst="rect">
            <a:avLst/>
          </a:prstGeom>
          <a:noFill/>
        </p:spPr>
        <p:txBody>
          <a:bodyPr wrap="square" rtlCol="0">
            <a:spAutoFit/>
          </a:bodyPr>
          <a:lstStyle/>
          <a:p>
            <a:r>
              <a:rPr lang="de-DE" sz="1400" dirty="0" smtClean="0"/>
              <a:t>(</a:t>
            </a:r>
            <a:r>
              <a:rPr lang="de-DE" sz="1400" dirty="0"/>
              <a:t>Max III, S. 89 f</a:t>
            </a:r>
            <a:r>
              <a:rPr lang="de-DE" sz="1400" dirty="0" smtClean="0"/>
              <a:t>.)</a:t>
            </a:r>
            <a:endParaRPr lang="de-DE" sz="1400" dirty="0"/>
          </a:p>
        </p:txBody>
      </p:sp>
    </p:spTree>
    <p:extLst>
      <p:ext uri="{BB962C8B-B14F-4D97-AF65-F5344CB8AC3E}">
        <p14:creationId xmlns:p14="http://schemas.microsoft.com/office/powerpoint/2010/main" val="3275463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Philosophische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Selbstdeutung</a:t>
            </a:r>
            <a:endParaRPr lang="en-CA" sz="3200" dirty="0">
              <a:solidFill>
                <a:schemeClr val="bg1"/>
              </a:solidFill>
              <a:effectLst>
                <a:outerShdw blurRad="38100" dist="38100" dir="2700000" algn="tl">
                  <a:srgbClr val="000000">
                    <a:alpha val="43137"/>
                  </a:srgbClr>
                </a:outerShdw>
              </a:effectLst>
            </a:endParaRPr>
          </a:p>
        </p:txBody>
      </p:sp>
      <p:sp>
        <p:nvSpPr>
          <p:cNvPr id="3" name="Rechteck 2"/>
          <p:cNvSpPr/>
          <p:nvPr/>
        </p:nvSpPr>
        <p:spPr>
          <a:xfrm>
            <a:off x="251520" y="784324"/>
            <a:ext cx="5670376" cy="1415772"/>
          </a:xfrm>
          <a:prstGeom prst="rect">
            <a:avLst/>
          </a:prstGeom>
        </p:spPr>
        <p:txBody>
          <a:bodyPr wrap="square">
            <a:spAutoFit/>
          </a:bodyPr>
          <a:lstStyle/>
          <a:p>
            <a:pPr algn="just"/>
            <a:r>
              <a:rPr lang="de-DE" dirty="0"/>
              <a:t>„</a:t>
            </a:r>
            <a:r>
              <a:rPr lang="en-US" dirty="0" smtClean="0">
                <a:latin typeface="+mj-lt"/>
                <a:cs typeface="Times New Roman" panose="02020603050405020304" pitchFamily="18" charset="0"/>
              </a:rPr>
              <a:t>Although Gödel </a:t>
            </a:r>
            <a:r>
              <a:rPr lang="en-US" dirty="0">
                <a:latin typeface="+mj-lt"/>
                <a:cs typeface="Times New Roman" panose="02020603050405020304" pitchFamily="18" charset="0"/>
              </a:rPr>
              <a:t>was thus not at all averse to theological reasoning, he did not attempt to draw any theological conclusions from the incompleteness theorem</a:t>
            </a:r>
            <a:r>
              <a:rPr lang="en-US" dirty="0" smtClean="0">
                <a:latin typeface="+mj-lt"/>
                <a:cs typeface="Times New Roman" panose="02020603050405020304" pitchFamily="18" charset="0"/>
              </a:rPr>
              <a:t>.</a:t>
            </a:r>
            <a:r>
              <a:rPr lang="de-DE" dirty="0" smtClean="0"/>
              <a:t>“</a:t>
            </a:r>
            <a:r>
              <a:rPr lang="en-US" dirty="0" smtClean="0">
                <a:latin typeface="+mj-lt"/>
                <a:cs typeface="Times New Roman" panose="02020603050405020304" pitchFamily="18" charset="0"/>
              </a:rPr>
              <a:t> </a:t>
            </a:r>
          </a:p>
          <a:p>
            <a:pPr algn="just"/>
            <a:endParaRPr lang="en-US" dirty="0" smtClean="0">
              <a:latin typeface="+mj-lt"/>
              <a:cs typeface="Times New Roman" panose="02020603050405020304" pitchFamily="18" charset="0"/>
            </a:endParaRPr>
          </a:p>
          <a:p>
            <a:pPr algn="just"/>
            <a:r>
              <a:rPr lang="en-US" sz="1400" dirty="0" smtClean="0">
                <a:latin typeface="+mj-lt"/>
                <a:cs typeface="Times New Roman" panose="02020603050405020304" pitchFamily="18" charset="0"/>
              </a:rPr>
              <a:t>(</a:t>
            </a:r>
            <a:r>
              <a:rPr lang="en-US" sz="1400" dirty="0" err="1" smtClean="0">
                <a:latin typeface="+mj-lt"/>
                <a:cs typeface="Times New Roman" panose="02020603050405020304" pitchFamily="18" charset="0"/>
              </a:rPr>
              <a:t>Franzén</a:t>
            </a:r>
            <a:r>
              <a:rPr lang="en-US" sz="1400" dirty="0" smtClean="0">
                <a:latin typeface="+mj-lt"/>
                <a:cs typeface="Times New Roman" panose="02020603050405020304" pitchFamily="18" charset="0"/>
              </a:rPr>
              <a:t> (2005), S. 91)</a:t>
            </a:r>
          </a:p>
        </p:txBody>
      </p:sp>
      <p:pic>
        <p:nvPicPr>
          <p:cNvPr id="7" name="Picture 2" descr="Goedel's Theorem: An Incomplete Guide to Its Use and Abuse : Franz?, Torkel:  Amazon.de: Büch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15873" y="771550"/>
            <a:ext cx="2676607" cy="4031034"/>
          </a:xfrm>
          <a:prstGeom prst="rect">
            <a:avLst/>
          </a:prstGeom>
          <a:noFill/>
          <a:extLst>
            <a:ext uri="{909E8E84-426E-40DD-AFC4-6F175D3DCCD1}">
              <a14:hiddenFill xmlns:a14="http://schemas.microsoft.com/office/drawing/2010/main">
                <a:solidFill>
                  <a:srgbClr val="FFFFFF"/>
                </a:solidFill>
              </a14:hiddenFill>
            </a:ext>
          </a:extLst>
        </p:spPr>
      </p:pic>
      <p:sp>
        <p:nvSpPr>
          <p:cNvPr id="8" name="Textfeld 7"/>
          <p:cNvSpPr txBox="1"/>
          <p:nvPr/>
        </p:nvSpPr>
        <p:spPr>
          <a:xfrm>
            <a:off x="323528" y="2707055"/>
            <a:ext cx="5400600" cy="584775"/>
          </a:xfrm>
          <a:prstGeom prst="rect">
            <a:avLst/>
          </a:prstGeom>
          <a:noFill/>
        </p:spPr>
        <p:txBody>
          <a:bodyPr wrap="square" rtlCol="0">
            <a:spAutoFit/>
          </a:bodyPr>
          <a:lstStyle/>
          <a:p>
            <a:pPr algn="ctr"/>
            <a:r>
              <a:rPr lang="de-DE" sz="3200" dirty="0" smtClean="0"/>
              <a:t>Falsch!</a:t>
            </a:r>
            <a:endParaRPr lang="de-DE" sz="3200" dirty="0"/>
          </a:p>
        </p:txBody>
      </p:sp>
    </p:spTree>
    <p:extLst>
      <p:ext uri="{BB962C8B-B14F-4D97-AF65-F5344CB8AC3E}">
        <p14:creationId xmlns:p14="http://schemas.microsoft.com/office/powerpoint/2010/main" val="36310123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Philosophische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Selbstdeutung</a:t>
            </a:r>
            <a:endParaRPr lang="en-CA" sz="3200" dirty="0">
              <a:solidFill>
                <a:schemeClr val="bg1"/>
              </a:solidFill>
              <a:effectLst>
                <a:outerShdw blurRad="38100" dist="38100" dir="2700000" algn="tl">
                  <a:srgbClr val="000000">
                    <a:alpha val="43137"/>
                  </a:srgbClr>
                </a:outerShdw>
              </a:effectLst>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1241698"/>
            <a:ext cx="8496944" cy="2307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hteck 1"/>
          <p:cNvSpPr/>
          <p:nvPr/>
        </p:nvSpPr>
        <p:spPr>
          <a:xfrm>
            <a:off x="292402" y="699542"/>
            <a:ext cx="7430239" cy="400110"/>
          </a:xfrm>
          <a:prstGeom prst="rect">
            <a:avLst/>
          </a:prstGeom>
        </p:spPr>
        <p:txBody>
          <a:bodyPr wrap="none">
            <a:spAutoFit/>
          </a:bodyPr>
          <a:lstStyle/>
          <a:p>
            <a:r>
              <a:rPr lang="de-DE" sz="2000" u="sng" dirty="0" smtClean="0">
                <a:latin typeface="Times New Roman" panose="02020603050405020304" pitchFamily="18" charset="0"/>
                <a:cs typeface="Times New Roman" panose="02020603050405020304" pitchFamily="18" charset="0"/>
              </a:rPr>
              <a:t>Auszug aus:</a:t>
            </a:r>
            <a:r>
              <a:rPr lang="de-DE" sz="2000" dirty="0" smtClean="0">
                <a:latin typeface="Times New Roman" panose="02020603050405020304" pitchFamily="18" charset="0"/>
                <a:cs typeface="Times New Roman" panose="02020603050405020304" pitchFamily="18" charset="0"/>
              </a:rPr>
              <a:t> </a:t>
            </a:r>
            <a:r>
              <a:rPr lang="de-DE" sz="2000" i="1" dirty="0" smtClean="0">
                <a:latin typeface="Times New Roman" panose="02020603050405020304" pitchFamily="18" charset="0"/>
                <a:cs typeface="Times New Roman" panose="02020603050405020304" pitchFamily="18" charset="0"/>
              </a:rPr>
              <a:t>Brief </a:t>
            </a:r>
            <a:r>
              <a:rPr lang="de-DE" sz="2000" i="1" dirty="0">
                <a:latin typeface="Times New Roman" panose="02020603050405020304" pitchFamily="18" charset="0"/>
                <a:cs typeface="Times New Roman" panose="02020603050405020304" pitchFamily="18" charset="0"/>
              </a:rPr>
              <a:t>an Marianne </a:t>
            </a:r>
            <a:r>
              <a:rPr lang="de-DE" sz="2000" i="1" dirty="0" smtClean="0">
                <a:latin typeface="Times New Roman" panose="02020603050405020304" pitchFamily="18" charset="0"/>
                <a:cs typeface="Times New Roman" panose="02020603050405020304" pitchFamily="18" charset="0"/>
              </a:rPr>
              <a:t>Gödel</a:t>
            </a:r>
            <a:r>
              <a:rPr lang="de-DE" sz="2000" dirty="0">
                <a:latin typeface="Times New Roman" panose="02020603050405020304" pitchFamily="18" charset="0"/>
                <a:cs typeface="Times New Roman" panose="02020603050405020304" pitchFamily="18" charset="0"/>
              </a:rPr>
              <a:t>, Princeton, NJ, </a:t>
            </a:r>
            <a:r>
              <a:rPr lang="de-DE" sz="2000" dirty="0" smtClean="0">
                <a:latin typeface="Times New Roman" panose="02020603050405020304" pitchFamily="18" charset="0"/>
                <a:cs typeface="Times New Roman" panose="02020603050405020304" pitchFamily="18" charset="0"/>
              </a:rPr>
              <a:t>vom 20.10.1963</a:t>
            </a:r>
            <a:endParaRPr lang="de-DE" sz="2000" dirty="0">
              <a:latin typeface="Times New Roman" panose="02020603050405020304" pitchFamily="18" charset="0"/>
              <a:cs typeface="Times New Roman" panose="02020603050405020304" pitchFamily="18" charset="0"/>
            </a:endParaRPr>
          </a:p>
        </p:txBody>
      </p:sp>
      <p:sp>
        <p:nvSpPr>
          <p:cNvPr id="3" name="Textfeld 2"/>
          <p:cNvSpPr txBox="1"/>
          <p:nvPr/>
        </p:nvSpPr>
        <p:spPr>
          <a:xfrm>
            <a:off x="337245" y="3651870"/>
            <a:ext cx="8568952" cy="677108"/>
          </a:xfrm>
          <a:prstGeom prst="rect">
            <a:avLst/>
          </a:prstGeom>
          <a:noFill/>
        </p:spPr>
        <p:txBody>
          <a:bodyPr wrap="square" rtlCol="0">
            <a:spAutoFit/>
          </a:bodyPr>
          <a:lstStyle/>
          <a:p>
            <a:r>
              <a:rPr lang="de-DE" sz="1900" dirty="0" smtClean="0">
                <a:latin typeface="Times New Roman" panose="02020603050405020304" pitchFamily="18" charset="0"/>
                <a:cs typeface="Times New Roman" panose="02020603050405020304" pitchFamily="18" charset="0"/>
              </a:rPr>
              <a:t>„Es war ja zu erwarten, dass mein Beweis früher oder später für die Religion nutzbar gemacht werden wird, denn das ist ja zweifellos in einem gewissen Sinn berechtigt.“</a:t>
            </a:r>
            <a:endParaRPr lang="de-DE"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50797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Philosophische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Selbstdeutung</a:t>
            </a:r>
            <a:endParaRPr lang="en-CA" sz="3200" dirty="0">
              <a:solidFill>
                <a:schemeClr val="bg1"/>
              </a:solidFill>
              <a:effectLst>
                <a:outerShdw blurRad="38100" dist="38100" dir="2700000" algn="tl">
                  <a:srgbClr val="000000">
                    <a:alpha val="43137"/>
                  </a:srgbClr>
                </a:outerShdw>
              </a:effectLst>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699542"/>
            <a:ext cx="8377059" cy="3142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 name="Gerade Verbindung 3"/>
          <p:cNvCxnSpPr/>
          <p:nvPr/>
        </p:nvCxnSpPr>
        <p:spPr>
          <a:xfrm>
            <a:off x="3299987" y="1101492"/>
            <a:ext cx="534764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Gerade Verbindung 25"/>
          <p:cNvCxnSpPr/>
          <p:nvPr/>
        </p:nvCxnSpPr>
        <p:spPr>
          <a:xfrm>
            <a:off x="488752" y="1485032"/>
            <a:ext cx="348051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feld 8"/>
          <p:cNvSpPr txBox="1"/>
          <p:nvPr/>
        </p:nvSpPr>
        <p:spPr>
          <a:xfrm>
            <a:off x="6357686" y="3500312"/>
            <a:ext cx="2448272" cy="338554"/>
          </a:xfrm>
          <a:prstGeom prst="rect">
            <a:avLst/>
          </a:prstGeom>
          <a:noFill/>
        </p:spPr>
        <p:txBody>
          <a:bodyPr wrap="square" rtlCol="0">
            <a:spAutoFit/>
          </a:bodyPr>
          <a:lstStyle/>
          <a:p>
            <a:r>
              <a:rPr lang="de-DE" sz="1600" dirty="0" smtClean="0">
                <a:latin typeface="Times New Roman" panose="02020603050405020304" pitchFamily="18" charset="0"/>
                <a:cs typeface="Times New Roman" panose="02020603050405020304" pitchFamily="18" charset="0"/>
              </a:rPr>
              <a:t>(Max </a:t>
            </a:r>
            <a:r>
              <a:rPr lang="de-DE" sz="1600" dirty="0">
                <a:latin typeface="Times New Roman" panose="02020603050405020304" pitchFamily="18" charset="0"/>
                <a:cs typeface="Times New Roman" panose="02020603050405020304" pitchFamily="18" charset="0"/>
              </a:rPr>
              <a:t>V 88 / Ms. </a:t>
            </a:r>
            <a:r>
              <a:rPr lang="de-DE" sz="1600" dirty="0" smtClean="0">
                <a:latin typeface="Times New Roman" panose="02020603050405020304" pitchFamily="18" charset="0"/>
                <a:cs typeface="Times New Roman" panose="02020603050405020304" pitchFamily="18" charset="0"/>
              </a:rPr>
              <a:t>356-357)</a:t>
            </a:r>
            <a:endParaRPr lang="de-DE" sz="1600" dirty="0">
              <a:latin typeface="Times New Roman" panose="02020603050405020304" pitchFamily="18" charset="0"/>
              <a:cs typeface="Times New Roman" panose="02020603050405020304" pitchFamily="18" charset="0"/>
            </a:endParaRPr>
          </a:p>
        </p:txBody>
      </p:sp>
      <p:sp>
        <p:nvSpPr>
          <p:cNvPr id="8" name="Rechteck 7"/>
          <p:cNvSpPr/>
          <p:nvPr/>
        </p:nvSpPr>
        <p:spPr>
          <a:xfrm>
            <a:off x="395536" y="4011910"/>
            <a:ext cx="8640960" cy="923330"/>
          </a:xfrm>
          <a:prstGeom prst="rect">
            <a:avLst/>
          </a:prstGeom>
        </p:spPr>
        <p:txBody>
          <a:bodyPr wrap="square">
            <a:spAutoFit/>
          </a:bodyPr>
          <a:lstStyle/>
          <a:p>
            <a:r>
              <a:rPr lang="de-DE" dirty="0"/>
              <a:t>„Der Geist ist das Organ, das uns gegeben wurde, um die Welt wahrzunehmen. …</a:t>
            </a:r>
            <a:r>
              <a:rPr lang="de-DE" b="1" dirty="0"/>
              <a:t> damit also ein Wesen lebt, ist es notwendig, … dass es die Dinge, welche seinen ‚Sinn‘ [d.h. oberste Ziele] ausmachen, wahrnimmt</a:t>
            </a:r>
            <a:r>
              <a:rPr lang="de-DE" dirty="0"/>
              <a:t>.“ </a:t>
            </a:r>
            <a:r>
              <a:rPr lang="de-DE" sz="1200" dirty="0"/>
              <a:t>(Max V 88)</a:t>
            </a:r>
          </a:p>
        </p:txBody>
      </p:sp>
    </p:spTree>
    <p:extLst>
      <p:ext uri="{BB962C8B-B14F-4D97-AF65-F5344CB8AC3E}">
        <p14:creationId xmlns:p14="http://schemas.microsoft.com/office/powerpoint/2010/main" val="2770729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2" name="Rechteck 11"/>
          <p:cNvSpPr/>
          <p:nvPr/>
        </p:nvSpPr>
        <p:spPr>
          <a:xfrm>
            <a:off x="251520" y="689664"/>
            <a:ext cx="8640960" cy="2585323"/>
          </a:xfrm>
          <a:prstGeom prst="rect">
            <a:avLst/>
          </a:prstGeom>
        </p:spPr>
        <p:txBody>
          <a:bodyPr wrap="square">
            <a:spAutoFit/>
          </a:bodyPr>
          <a:lstStyle/>
          <a:p>
            <a:r>
              <a:rPr lang="de-DE" sz="2000" dirty="0"/>
              <a:t>Die </a:t>
            </a:r>
            <a:r>
              <a:rPr lang="de-DE" sz="2000" dirty="0" smtClean="0"/>
              <a:t>folgende Passage </a:t>
            </a:r>
            <a:r>
              <a:rPr lang="de-DE" sz="2000" dirty="0"/>
              <a:t>verbindet </a:t>
            </a:r>
            <a:r>
              <a:rPr lang="de-DE" sz="2000" b="1" dirty="0"/>
              <a:t>Selbstwahrnehmung des Geistes</a:t>
            </a:r>
            <a:r>
              <a:rPr lang="de-DE" sz="2000" dirty="0"/>
              <a:t> mit </a:t>
            </a:r>
            <a:r>
              <a:rPr lang="de-DE" sz="2000" b="1" dirty="0"/>
              <a:t>Widerspruchsfreiheitsbeweisen höchster </a:t>
            </a:r>
            <a:r>
              <a:rPr lang="de-DE" sz="2000" b="1" dirty="0" smtClean="0"/>
              <a:t>Systeme</a:t>
            </a:r>
            <a:r>
              <a:rPr lang="de-DE" sz="2000" dirty="0"/>
              <a:t>:</a:t>
            </a:r>
            <a:endParaRPr lang="de-DE" sz="2000" dirty="0" smtClean="0"/>
          </a:p>
          <a:p>
            <a:pPr algn="just"/>
            <a:endParaRPr lang="de-DE" sz="1400" dirty="0"/>
          </a:p>
          <a:p>
            <a:pPr algn="just"/>
            <a:r>
              <a:rPr lang="de-DE" dirty="0" smtClean="0"/>
              <a:t>„</a:t>
            </a:r>
            <a:r>
              <a:rPr lang="de-DE" dirty="0"/>
              <a:t>Der Geist nimmt sich selbst wahr</a:t>
            </a:r>
            <a:r>
              <a:rPr lang="de-DE" dirty="0" smtClean="0"/>
              <a:t>. </a:t>
            </a:r>
            <a:r>
              <a:rPr lang="de-DE" dirty="0"/>
              <a:t>Der Geist kann alles wahrnehmen {der Geist nimmt Sachverhalte wahr}, wenn auch in verschiedener </a:t>
            </a:r>
            <a:r>
              <a:rPr lang="de-DE" dirty="0" smtClean="0"/>
              <a:t>Weise. … </a:t>
            </a:r>
            <a:r>
              <a:rPr lang="de-DE" dirty="0">
                <a:solidFill>
                  <a:srgbClr val="FF0000"/>
                </a:solidFill>
              </a:rPr>
              <a:t>Jeder Geist ist ein in sich abgeschlossener </a:t>
            </a:r>
            <a:r>
              <a:rPr lang="de-DE" dirty="0" smtClean="0">
                <a:solidFill>
                  <a:srgbClr val="FF0000"/>
                </a:solidFill>
              </a:rPr>
              <a:t>Kosmos</a:t>
            </a:r>
            <a:r>
              <a:rPr lang="de-DE" dirty="0"/>
              <a:t>, der in einem Sinn auch alle höheren Geister erreichen und übertreffen </a:t>
            </a:r>
            <a:r>
              <a:rPr lang="de-DE" dirty="0" smtClean="0"/>
              <a:t>kann [vgl</a:t>
            </a:r>
            <a:r>
              <a:rPr lang="de-DE" dirty="0"/>
              <a:t>.: den Beweis der Widerspruchsfreiheit der höchsten Systeme in der Zahlentheorie zu führen. Damit das aber gilt, darf auch wirklich nichts fehlen: Selbstanwendung und Existenzzeichen</a:t>
            </a:r>
            <a:r>
              <a:rPr lang="de-DE" dirty="0" smtClean="0"/>
              <a:t>.]“ </a:t>
            </a:r>
            <a:r>
              <a:rPr lang="de-DE" sz="1400" dirty="0" smtClean="0"/>
              <a:t>(Max V, S. 89)</a:t>
            </a:r>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Selbstwahrnehmung</a:t>
            </a:r>
            <a:r>
              <a:rPr lang="en-CA" sz="3200" dirty="0" smtClean="0">
                <a:solidFill>
                  <a:schemeClr val="bg1"/>
                </a:solidFill>
                <a:effectLst>
                  <a:outerShdw blurRad="38100" dist="38100" dir="2700000" algn="tl">
                    <a:srgbClr val="000000">
                      <a:alpha val="43137"/>
                    </a:srgbClr>
                  </a:outerShdw>
                </a:effectLst>
              </a:rPr>
              <a:t> des </a:t>
            </a:r>
            <a:r>
              <a:rPr lang="en-CA" sz="3200" dirty="0" err="1" smtClean="0">
                <a:solidFill>
                  <a:schemeClr val="bg1"/>
                </a:solidFill>
                <a:effectLst>
                  <a:outerShdw blurRad="38100" dist="38100" dir="2700000" algn="tl">
                    <a:srgbClr val="000000">
                      <a:alpha val="43137"/>
                    </a:srgbClr>
                  </a:outerShdw>
                </a:effectLst>
              </a:rPr>
              <a:t>Geistes</a:t>
            </a:r>
            <a:endParaRPr lang="en-CA" sz="3200"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0371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Theologische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Hintergründe</a:t>
            </a:r>
            <a:endParaRPr lang="en-CA" sz="3200" dirty="0">
              <a:solidFill>
                <a:schemeClr val="bg1"/>
              </a:solidFill>
              <a:effectLst>
                <a:outerShdw blurRad="38100" dist="38100" dir="2700000" algn="tl">
                  <a:srgbClr val="000000">
                    <a:alpha val="43137"/>
                  </a:srgbClr>
                </a:outerShdw>
              </a:effectLst>
            </a:endParaRPr>
          </a:p>
        </p:txBody>
      </p:sp>
      <p:sp>
        <p:nvSpPr>
          <p:cNvPr id="2" name="Rechteck 1"/>
          <p:cNvSpPr/>
          <p:nvPr/>
        </p:nvSpPr>
        <p:spPr>
          <a:xfrm>
            <a:off x="179512" y="699542"/>
            <a:ext cx="8712968" cy="338554"/>
          </a:xfrm>
          <a:prstGeom prst="rect">
            <a:avLst/>
          </a:prstGeom>
        </p:spPr>
        <p:txBody>
          <a:bodyPr wrap="square">
            <a:spAutoFit/>
          </a:bodyPr>
          <a:lstStyle/>
          <a:p>
            <a:r>
              <a:rPr lang="de-DE" sz="1600" b="1" u="sng" dirty="0" err="1" smtClean="0"/>
              <a:t>Gödels</a:t>
            </a:r>
            <a:r>
              <a:rPr lang="de-DE" sz="1600" b="1" u="sng" dirty="0" smtClean="0"/>
              <a:t> Diagnose </a:t>
            </a:r>
            <a:r>
              <a:rPr lang="de-DE" sz="1600" b="1" u="sng" dirty="0"/>
              <a:t>des menschlichen Verstandes:</a:t>
            </a:r>
            <a:r>
              <a:rPr lang="de-DE" sz="1600" b="1" dirty="0"/>
              <a:t> </a:t>
            </a:r>
            <a:r>
              <a:rPr lang="de-DE" sz="1600" dirty="0"/>
              <a:t>Der Verstand ist </a:t>
            </a:r>
            <a:r>
              <a:rPr lang="de-DE" sz="1600" dirty="0" smtClean="0"/>
              <a:t>begrenzt &amp; beschädigt.</a:t>
            </a:r>
            <a:endParaRPr lang="de-DE" sz="1600" dirty="0"/>
          </a:p>
        </p:txBody>
      </p:sp>
      <p:sp>
        <p:nvSpPr>
          <p:cNvPr id="9" name="Textfeld 8"/>
          <p:cNvSpPr txBox="1"/>
          <p:nvPr/>
        </p:nvSpPr>
        <p:spPr>
          <a:xfrm>
            <a:off x="179512" y="1059582"/>
            <a:ext cx="8424936" cy="830997"/>
          </a:xfrm>
          <a:prstGeom prst="rect">
            <a:avLst/>
          </a:prstGeom>
          <a:noFill/>
        </p:spPr>
        <p:txBody>
          <a:bodyPr wrap="square" rtlCol="0">
            <a:spAutoFit/>
          </a:bodyPr>
          <a:lstStyle/>
          <a:p>
            <a:pPr algn="just"/>
            <a:r>
              <a:rPr lang="de-DE" sz="1600" dirty="0" smtClean="0"/>
              <a:t>„Die </a:t>
            </a:r>
            <a:r>
              <a:rPr lang="de-DE" sz="1600" dirty="0"/>
              <a:t>Ideen und die Mathematik scheinen uns eine geringere Realität zu haben als das Physische und Psychische (obwohl sie in Wahrheit eine höhere Realität haben), weil sie uns wesensfremd sind (analog erscheint uns eine ferne Sonne kleiner als eine nahe Kerze</a:t>
            </a:r>
            <a:r>
              <a:rPr lang="de-DE" sz="1600" dirty="0" smtClean="0"/>
              <a:t>).“ </a:t>
            </a:r>
            <a:r>
              <a:rPr lang="de-DE" sz="1400" dirty="0" smtClean="0"/>
              <a:t>(Max V, S. 45)</a:t>
            </a:r>
            <a:endParaRPr lang="de-DE" sz="1400" dirty="0"/>
          </a:p>
        </p:txBody>
      </p:sp>
      <p:sp>
        <p:nvSpPr>
          <p:cNvPr id="10" name="Rechteck 9"/>
          <p:cNvSpPr/>
          <p:nvPr/>
        </p:nvSpPr>
        <p:spPr>
          <a:xfrm>
            <a:off x="179512" y="2067694"/>
            <a:ext cx="8784976" cy="338554"/>
          </a:xfrm>
          <a:prstGeom prst="rect">
            <a:avLst/>
          </a:prstGeom>
        </p:spPr>
        <p:txBody>
          <a:bodyPr wrap="square">
            <a:spAutoFit/>
          </a:bodyPr>
          <a:lstStyle/>
          <a:p>
            <a:r>
              <a:rPr lang="de-DE" sz="1600" u="sng" dirty="0" smtClean="0">
                <a:solidFill>
                  <a:schemeClr val="bg1">
                    <a:lumMod val="50000"/>
                  </a:schemeClr>
                </a:solidFill>
              </a:rPr>
              <a:t>„Teufel“ als Täuschungsinstanz</a:t>
            </a:r>
            <a:endParaRPr lang="de-DE" sz="1600" u="sng" dirty="0">
              <a:solidFill>
                <a:schemeClr val="bg1">
                  <a:lumMod val="50000"/>
                </a:schemeClr>
              </a:solidFill>
            </a:endParaRPr>
          </a:p>
        </p:txBody>
      </p:sp>
      <p:sp>
        <p:nvSpPr>
          <p:cNvPr id="11" name="Rechteck 10"/>
          <p:cNvSpPr/>
          <p:nvPr/>
        </p:nvSpPr>
        <p:spPr>
          <a:xfrm>
            <a:off x="179512" y="2355726"/>
            <a:ext cx="8568952" cy="2031325"/>
          </a:xfrm>
          <a:prstGeom prst="rect">
            <a:avLst/>
          </a:prstGeom>
        </p:spPr>
        <p:txBody>
          <a:bodyPr wrap="square">
            <a:spAutoFit/>
          </a:bodyPr>
          <a:lstStyle/>
          <a:p>
            <a:pPr marL="285750" indent="-285750" algn="just">
              <a:buFont typeface="Arial" panose="020B0604020202020204" pitchFamily="34" charset="0"/>
              <a:buChar char="•"/>
            </a:pPr>
            <a:r>
              <a:rPr lang="de-DE" sz="1400" b="1" dirty="0" smtClean="0">
                <a:solidFill>
                  <a:schemeClr val="bg1">
                    <a:lumMod val="50000"/>
                  </a:schemeClr>
                </a:solidFill>
              </a:rPr>
              <a:t>Logisch</a:t>
            </a:r>
            <a:r>
              <a:rPr lang="de-DE" sz="1400" b="1" dirty="0">
                <a:solidFill>
                  <a:schemeClr val="bg1">
                    <a:lumMod val="50000"/>
                  </a:schemeClr>
                </a:solidFill>
              </a:rPr>
              <a:t>: </a:t>
            </a:r>
            <a:r>
              <a:rPr lang="de-DE" sz="1400" dirty="0">
                <a:solidFill>
                  <a:schemeClr val="bg1">
                    <a:lumMod val="50000"/>
                  </a:schemeClr>
                </a:solidFill>
              </a:rPr>
              <a:t>„Teufel = ein unwiderlegbar falsches System (oder leere Menge</a:t>
            </a:r>
            <a:r>
              <a:rPr lang="de-DE" sz="1400" dirty="0" smtClean="0">
                <a:solidFill>
                  <a:schemeClr val="bg1">
                    <a:lumMod val="50000"/>
                  </a:schemeClr>
                </a:solidFill>
              </a:rPr>
              <a:t>)“ (Max III, S. 89 f.)</a:t>
            </a:r>
          </a:p>
          <a:p>
            <a:pPr algn="just"/>
            <a:endParaRPr lang="de-DE" sz="1400" dirty="0">
              <a:solidFill>
                <a:schemeClr val="bg1">
                  <a:lumMod val="50000"/>
                </a:schemeClr>
              </a:solidFill>
            </a:endParaRPr>
          </a:p>
          <a:p>
            <a:pPr marL="285750" indent="-285750" algn="just">
              <a:buFont typeface="Arial" panose="020B0604020202020204" pitchFamily="34" charset="0"/>
              <a:buChar char="•"/>
            </a:pPr>
            <a:r>
              <a:rPr lang="de-DE" sz="1400" b="1" dirty="0" smtClean="0">
                <a:solidFill>
                  <a:schemeClr val="bg1">
                    <a:lumMod val="50000"/>
                  </a:schemeClr>
                </a:solidFill>
              </a:rPr>
              <a:t>Epistemisch: </a:t>
            </a:r>
            <a:r>
              <a:rPr lang="de-DE" sz="1400" dirty="0" smtClean="0">
                <a:solidFill>
                  <a:schemeClr val="bg1">
                    <a:lumMod val="50000"/>
                  </a:schemeClr>
                </a:solidFill>
              </a:rPr>
              <a:t>„Eine </a:t>
            </a:r>
            <a:r>
              <a:rPr lang="de-DE" sz="1400" dirty="0">
                <a:solidFill>
                  <a:schemeClr val="bg1">
                    <a:lumMod val="50000"/>
                  </a:schemeClr>
                </a:solidFill>
              </a:rPr>
              <a:t>Idee des Teufels, die Welt unverständlich zu machen, ist, die prästabilierte Harmonie zwischen Welt und Verstand zu </a:t>
            </a:r>
            <a:r>
              <a:rPr lang="de-DE" sz="1400" dirty="0" smtClean="0">
                <a:solidFill>
                  <a:schemeClr val="bg1">
                    <a:lumMod val="50000"/>
                  </a:schemeClr>
                </a:solidFill>
              </a:rPr>
              <a:t>zerstören (nichteuklidische Geometrie, nicht-aristotelische Logik, etc.), so </a:t>
            </a:r>
            <a:r>
              <a:rPr lang="de-DE" sz="1400" dirty="0">
                <a:solidFill>
                  <a:schemeClr val="bg1">
                    <a:lumMod val="50000"/>
                  </a:schemeClr>
                </a:solidFill>
              </a:rPr>
              <a:t>dass der Verstand nicht mehr zur Welt passt</a:t>
            </a:r>
            <a:r>
              <a:rPr lang="de-DE" sz="1400" dirty="0" smtClean="0">
                <a:solidFill>
                  <a:schemeClr val="bg1">
                    <a:lumMod val="50000"/>
                  </a:schemeClr>
                </a:solidFill>
              </a:rPr>
              <a:t>.“ (Max III, S. 87)</a:t>
            </a:r>
          </a:p>
          <a:p>
            <a:pPr marL="285750" indent="-285750" algn="just">
              <a:buFont typeface="Arial" panose="020B0604020202020204" pitchFamily="34" charset="0"/>
              <a:buChar char="•"/>
            </a:pPr>
            <a:endParaRPr lang="de-DE" sz="1400" dirty="0">
              <a:solidFill>
                <a:schemeClr val="bg1">
                  <a:lumMod val="50000"/>
                </a:schemeClr>
              </a:solidFill>
            </a:endParaRPr>
          </a:p>
          <a:p>
            <a:pPr marL="285750" indent="-285750" algn="just">
              <a:buFont typeface="Arial" panose="020B0604020202020204" pitchFamily="34" charset="0"/>
              <a:buChar char="•"/>
            </a:pPr>
            <a:r>
              <a:rPr lang="de-DE" sz="1400" b="1" dirty="0" smtClean="0">
                <a:solidFill>
                  <a:schemeClr val="bg1">
                    <a:lumMod val="50000"/>
                  </a:schemeClr>
                </a:solidFill>
              </a:rPr>
              <a:t>Sprachlich: </a:t>
            </a:r>
            <a:r>
              <a:rPr lang="de-DE" sz="1400" dirty="0" smtClean="0">
                <a:solidFill>
                  <a:schemeClr val="bg1">
                    <a:lumMod val="50000"/>
                  </a:schemeClr>
                </a:solidFill>
              </a:rPr>
              <a:t>„</a:t>
            </a:r>
            <a:r>
              <a:rPr lang="de-DE" sz="1400" dirty="0">
                <a:solidFill>
                  <a:schemeClr val="bg1">
                    <a:lumMod val="50000"/>
                  </a:schemeClr>
                </a:solidFill>
              </a:rPr>
              <a:t>Die Sprachen sind vom Teufel so erschaffen (oder verdorben) worden, dass die verschiedenen </a:t>
            </a:r>
            <a:r>
              <a:rPr lang="de-DE" sz="1400" dirty="0" smtClean="0">
                <a:solidFill>
                  <a:schemeClr val="bg1">
                    <a:lumMod val="50000"/>
                  </a:schemeClr>
                </a:solidFill>
              </a:rPr>
              <a:t>Regeln (konsequent durchgeführt) einander widersprechen, sodass ein schwankendes (daher unangenehmes) Sprachgefühlt entsteht</a:t>
            </a:r>
            <a:r>
              <a:rPr lang="de-DE" sz="1400" dirty="0">
                <a:solidFill>
                  <a:schemeClr val="bg1">
                    <a:lumMod val="50000"/>
                  </a:schemeClr>
                </a:solidFill>
              </a:rPr>
              <a:t> </a:t>
            </a:r>
            <a:r>
              <a:rPr lang="de-DE" sz="1400" dirty="0" smtClean="0">
                <a:solidFill>
                  <a:schemeClr val="bg1">
                    <a:lumMod val="50000"/>
                  </a:schemeClr>
                </a:solidFill>
              </a:rPr>
              <a:t>(insbesondere die Mischsprachen, z. B. die englischen Betonungsregeln).“ (Max III, S. 56)</a:t>
            </a:r>
            <a:endParaRPr lang="de-DE" sz="1400" dirty="0">
              <a:solidFill>
                <a:schemeClr val="bg1">
                  <a:lumMod val="50000"/>
                </a:schemeClr>
              </a:solidFill>
            </a:endParaRPr>
          </a:p>
        </p:txBody>
      </p:sp>
    </p:spTree>
    <p:extLst>
      <p:ext uri="{BB962C8B-B14F-4D97-AF65-F5344CB8AC3E}">
        <p14:creationId xmlns:p14="http://schemas.microsoft.com/office/powerpoint/2010/main" val="2772735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Wahrnehmung</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Ideen</a:t>
            </a:r>
            <a:endParaRPr lang="en-CA" sz="3200" dirty="0">
              <a:solidFill>
                <a:schemeClr val="bg1"/>
              </a:solidFill>
              <a:effectLst>
                <a:outerShdw blurRad="38100" dist="38100" dir="2700000" algn="tl">
                  <a:srgbClr val="000000">
                    <a:alpha val="43137"/>
                  </a:srgbClr>
                </a:outerShdw>
              </a:effectLst>
            </a:endParaRPr>
          </a:p>
        </p:txBody>
      </p:sp>
      <p:sp>
        <p:nvSpPr>
          <p:cNvPr id="12" name="Rechteck 11"/>
          <p:cNvSpPr/>
          <p:nvPr/>
        </p:nvSpPr>
        <p:spPr>
          <a:xfrm>
            <a:off x="251520" y="710316"/>
            <a:ext cx="8640960" cy="3139321"/>
          </a:xfrm>
          <a:prstGeom prst="rect">
            <a:avLst/>
          </a:prstGeom>
        </p:spPr>
        <p:txBody>
          <a:bodyPr wrap="square">
            <a:spAutoFit/>
          </a:bodyPr>
          <a:lstStyle/>
          <a:p>
            <a:pPr algn="just"/>
            <a:r>
              <a:rPr lang="de-DE" dirty="0"/>
              <a:t>„Ideen sind wirklich in mir, aber es sind nur Bilder körperlicher Dinge in mir.“  </a:t>
            </a:r>
            <a:r>
              <a:rPr lang="de-DE" sz="1400" dirty="0"/>
              <a:t>(Max III, S. 124) </a:t>
            </a:r>
          </a:p>
          <a:p>
            <a:pPr marL="285750" indent="-285750" algn="just">
              <a:buFont typeface="Wingdings"/>
              <a:buChar char="à"/>
            </a:pPr>
            <a:r>
              <a:rPr lang="de-DE" sz="1600" dirty="0">
                <a:sym typeface="Wingdings" panose="05000000000000000000" pitchFamily="2" charset="2"/>
              </a:rPr>
              <a:t>Angeborene Ideen (Leibniz</a:t>
            </a:r>
            <a:r>
              <a:rPr lang="de-DE" sz="1600" dirty="0" smtClean="0">
                <a:sym typeface="Wingdings" panose="05000000000000000000" pitchFamily="2" charset="2"/>
              </a:rPr>
              <a:t>)</a:t>
            </a:r>
          </a:p>
          <a:p>
            <a:pPr algn="just"/>
            <a:endParaRPr lang="de-DE" sz="1400" dirty="0" smtClean="0"/>
          </a:p>
          <a:p>
            <a:pPr algn="just"/>
            <a:r>
              <a:rPr lang="de-DE" dirty="0" smtClean="0"/>
              <a:t>„</a:t>
            </a:r>
            <a:r>
              <a:rPr lang="de-DE" dirty="0"/>
              <a:t>Etwas durch die Seele (= </a:t>
            </a:r>
            <a:r>
              <a:rPr lang="de-DE" dirty="0" err="1"/>
              <a:t>Intellect</a:t>
            </a:r>
            <a:r>
              <a:rPr lang="de-DE" dirty="0"/>
              <a:t>) erkennen heißt, die Begriffe sehen, welche das Objekt der </a:t>
            </a:r>
            <a:r>
              <a:rPr lang="de-DE" dirty="0" err="1"/>
              <a:t>intellectuellen</a:t>
            </a:r>
            <a:r>
              <a:rPr lang="de-DE" dirty="0"/>
              <a:t> Betrachtung sind, ebenso wie die körperlichen Dinge für die Augen.“ </a:t>
            </a:r>
            <a:r>
              <a:rPr lang="de-DE" sz="1400" dirty="0"/>
              <a:t> (Max III, S. </a:t>
            </a:r>
            <a:r>
              <a:rPr lang="de-DE" sz="1400" dirty="0" smtClean="0"/>
              <a:t>70)</a:t>
            </a:r>
          </a:p>
          <a:p>
            <a:pPr algn="just"/>
            <a:endParaRPr lang="de-DE" sz="1400" dirty="0" smtClean="0"/>
          </a:p>
          <a:p>
            <a:pPr algn="just"/>
            <a:r>
              <a:rPr lang="de-DE" dirty="0"/>
              <a:t>„Es gibt 2 Wege, Ideen zu verstehen: 1. indem man solange mit den einzelnen Dingen (Beispielen) arbeitet, bis einem die Ideen ‚aufgehen‘; 2. indem jemand einem die abstrakte Definition der Idee sagt … Der erste Weg gibt ein viel besseres Verständnis</a:t>
            </a:r>
            <a:r>
              <a:rPr lang="de-DE" dirty="0" smtClean="0"/>
              <a:t>.“ </a:t>
            </a:r>
            <a:r>
              <a:rPr lang="de-DE" sz="1400" dirty="0" smtClean="0"/>
              <a:t>(Max III, S. 128)</a:t>
            </a:r>
            <a:endParaRPr lang="de-DE" dirty="0" smtClean="0"/>
          </a:p>
          <a:p>
            <a:pPr algn="just"/>
            <a:endParaRPr lang="de-DE" sz="1400" dirty="0"/>
          </a:p>
          <a:p>
            <a:pPr algn="ctr"/>
            <a:r>
              <a:rPr lang="de-DE" b="1" dirty="0" smtClean="0">
                <a:sym typeface="Wingdings" panose="05000000000000000000" pitchFamily="2" charset="2"/>
              </a:rPr>
              <a:t>Gödel fragt</a:t>
            </a:r>
            <a:r>
              <a:rPr lang="de-DE" b="1" dirty="0" smtClean="0"/>
              <a:t>: </a:t>
            </a:r>
            <a:r>
              <a:rPr lang="de-DE" b="1" dirty="0"/>
              <a:t>„Welche Begriffe sehe ich klar</a:t>
            </a:r>
            <a:r>
              <a:rPr lang="de-DE" b="1" dirty="0" smtClean="0"/>
              <a:t>?“</a:t>
            </a:r>
            <a:endParaRPr lang="de-DE" b="1" dirty="0"/>
          </a:p>
        </p:txBody>
      </p:sp>
    </p:spTree>
    <p:extLst>
      <p:ext uri="{BB962C8B-B14F-4D97-AF65-F5344CB8AC3E}">
        <p14:creationId xmlns:p14="http://schemas.microsoft.com/office/powerpoint/2010/main" val="2506558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Syntaktische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Mathematik</a:t>
            </a:r>
            <a:endParaRPr lang="en-CA" sz="3200" dirty="0">
              <a:solidFill>
                <a:schemeClr val="bg1"/>
              </a:solidFill>
              <a:effectLst>
                <a:outerShdw blurRad="38100" dist="38100" dir="2700000" algn="tl">
                  <a:srgbClr val="000000">
                    <a:alpha val="43137"/>
                  </a:srgbClr>
                </a:outerShdw>
              </a:effectLst>
            </a:endParaRPr>
          </a:p>
        </p:txBody>
      </p:sp>
      <p:sp>
        <p:nvSpPr>
          <p:cNvPr id="2" name="Rechteck 1"/>
          <p:cNvSpPr/>
          <p:nvPr/>
        </p:nvSpPr>
        <p:spPr>
          <a:xfrm>
            <a:off x="125760" y="627534"/>
            <a:ext cx="8838728" cy="4185761"/>
          </a:xfrm>
          <a:prstGeom prst="rect">
            <a:avLst/>
          </a:prstGeom>
        </p:spPr>
        <p:txBody>
          <a:bodyPr wrap="square">
            <a:spAutoFit/>
          </a:bodyPr>
          <a:lstStyle/>
          <a:p>
            <a:pPr marL="285750" indent="-285750">
              <a:buFont typeface="Arial" panose="020B0604020202020204" pitchFamily="34" charset="0"/>
              <a:buChar char="•"/>
            </a:pPr>
            <a:r>
              <a:rPr lang="de-DE" dirty="0" smtClean="0"/>
              <a:t>„In </a:t>
            </a:r>
            <a:r>
              <a:rPr lang="de-DE" dirty="0"/>
              <a:t>der Welt der Ideen [Mathematik] bedeuten Materialismus und Positivismus, dass es nur Gesetze für Kombinationen von Zeichen gibt, darunter natürlich auch ›nützliche‹ Systeme</a:t>
            </a:r>
            <a:r>
              <a:rPr lang="de-DE" dirty="0" smtClean="0"/>
              <a:t>.“ </a:t>
            </a:r>
            <a:r>
              <a:rPr lang="de-DE" sz="1400" dirty="0" smtClean="0"/>
              <a:t>(Max V, S. 81)</a:t>
            </a:r>
          </a:p>
          <a:p>
            <a:pPr marL="285750" indent="-285750">
              <a:buFont typeface="Arial" panose="020B0604020202020204" pitchFamily="34" charset="0"/>
              <a:buChar char="•"/>
            </a:pPr>
            <a:endParaRPr lang="de-DE" dirty="0"/>
          </a:p>
          <a:p>
            <a:pPr marL="285750" indent="-285750">
              <a:buFont typeface="Arial" panose="020B0604020202020204" pitchFamily="34" charset="0"/>
              <a:buChar char="•"/>
            </a:pPr>
            <a:r>
              <a:rPr lang="de-DE" dirty="0" smtClean="0"/>
              <a:t>„</a:t>
            </a:r>
            <a:r>
              <a:rPr lang="de-DE" dirty="0"/>
              <a:t>Der Unterschied zwischen Verstehen und mechanischem Kennen besteht darin, dass man in einem Fall die Sache selbst sieht … im anderen Fall man nur die Symbole sieht </a:t>
            </a:r>
            <a:r>
              <a:rPr lang="de-DE" dirty="0" smtClean="0"/>
              <a:t>…“ </a:t>
            </a:r>
            <a:r>
              <a:rPr lang="de-DE" sz="1400" dirty="0" smtClean="0"/>
              <a:t>(Max V, S. 57)</a:t>
            </a:r>
          </a:p>
          <a:p>
            <a:pPr marL="285750" indent="-285750">
              <a:buFont typeface="Arial" panose="020B0604020202020204" pitchFamily="34" charset="0"/>
              <a:buChar char="•"/>
            </a:pPr>
            <a:endParaRPr lang="de-DE" dirty="0"/>
          </a:p>
          <a:p>
            <a:pPr marL="285750" indent="-285750">
              <a:buFont typeface="Arial" panose="020B0604020202020204" pitchFamily="34" charset="0"/>
              <a:buChar char="•"/>
            </a:pPr>
            <a:r>
              <a:rPr lang="de-DE" dirty="0"/>
              <a:t>„Das (richtige) Symbol ist gewissermaßen der Leib des Begriffes, das heißt, der Begriff ‚von außen gesehen‘ </a:t>
            </a:r>
            <a:r>
              <a:rPr lang="de-DE" dirty="0" smtClean="0"/>
              <a:t>…“ </a:t>
            </a:r>
            <a:r>
              <a:rPr lang="de-DE" sz="1400" dirty="0" smtClean="0"/>
              <a:t>(Max IV, S. 60)</a:t>
            </a:r>
            <a:endParaRPr lang="de-DE" sz="1400" dirty="0"/>
          </a:p>
          <a:p>
            <a:pPr marL="285750" indent="-285750">
              <a:buFont typeface="Arial" panose="020B0604020202020204" pitchFamily="34" charset="0"/>
              <a:buChar char="•"/>
            </a:pPr>
            <a:endParaRPr lang="de-DE" dirty="0"/>
          </a:p>
          <a:p>
            <a:pPr marL="285750" indent="-285750">
              <a:buFont typeface="Arial" panose="020B0604020202020204" pitchFamily="34" charset="0"/>
              <a:buChar char="•"/>
            </a:pPr>
            <a:r>
              <a:rPr lang="de-DE" dirty="0"/>
              <a:t>„Wir glauben, dass irgendeine Idee </a:t>
            </a:r>
            <a:r>
              <a:rPr lang="de-DE" dirty="0" err="1"/>
              <a:t>intensionales</a:t>
            </a:r>
            <a:r>
              <a:rPr lang="de-DE" dirty="0"/>
              <a:t> Objekt ist, während in Wirklichkeit es bloß ein Symbol ist. Zum Beispiel die Zahl 100 kann nie </a:t>
            </a:r>
            <a:r>
              <a:rPr lang="de-DE" dirty="0" err="1"/>
              <a:t>intensionales</a:t>
            </a:r>
            <a:r>
              <a:rPr lang="de-DE" dirty="0"/>
              <a:t> Objekt sein, sondern nur ein Symbol dafür oder auch eine gleich bedeutende ‚Ideenkombination‘ derart, dass die einzelnen Ideen wahrnehmbar sind</a:t>
            </a:r>
            <a:r>
              <a:rPr lang="de-DE" dirty="0" smtClean="0"/>
              <a:t>.“ </a:t>
            </a:r>
            <a:r>
              <a:rPr lang="de-DE" sz="1400" dirty="0" smtClean="0"/>
              <a:t>(Max III, S. 116)</a:t>
            </a:r>
          </a:p>
        </p:txBody>
      </p:sp>
      <p:sp>
        <p:nvSpPr>
          <p:cNvPr id="3" name="Textfeld 2"/>
          <p:cNvSpPr txBox="1"/>
          <p:nvPr/>
        </p:nvSpPr>
        <p:spPr>
          <a:xfrm>
            <a:off x="4572000" y="4813295"/>
            <a:ext cx="6156176" cy="584775"/>
          </a:xfrm>
          <a:prstGeom prst="rect">
            <a:avLst/>
          </a:prstGeom>
          <a:noFill/>
        </p:spPr>
        <p:txBody>
          <a:bodyPr wrap="square" rtlCol="0">
            <a:spAutoFit/>
          </a:bodyPr>
          <a:lstStyle/>
          <a:p>
            <a:r>
              <a:rPr lang="de-DE" sz="1400" dirty="0">
                <a:sym typeface="Wingdings" panose="05000000000000000000" pitchFamily="2" charset="2"/>
              </a:rPr>
              <a:t> Siehe auch „</a:t>
            </a:r>
            <a:r>
              <a:rPr lang="en-US" sz="1400" dirty="0">
                <a:sym typeface="Wingdings" panose="05000000000000000000" pitchFamily="2" charset="2"/>
              </a:rPr>
              <a:t>Is Mathematics Syntax of Language?” (1953)</a:t>
            </a:r>
            <a:endParaRPr lang="de-DE" sz="1400" dirty="0"/>
          </a:p>
          <a:p>
            <a:endParaRPr lang="de-DE" dirty="0"/>
          </a:p>
        </p:txBody>
      </p:sp>
    </p:spTree>
    <p:extLst>
      <p:ext uri="{BB962C8B-B14F-4D97-AF65-F5344CB8AC3E}">
        <p14:creationId xmlns:p14="http://schemas.microsoft.com/office/powerpoint/2010/main" val="1665094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Ein</a:t>
            </a:r>
            <a:r>
              <a:rPr lang="en-CA" sz="3200" dirty="0" smtClean="0">
                <a:solidFill>
                  <a:schemeClr val="bg1"/>
                </a:solidFill>
                <a:effectLst>
                  <a:outerShdw blurRad="38100" dist="38100" dir="2700000" algn="tl">
                    <a:srgbClr val="000000">
                      <a:alpha val="43137"/>
                    </a:srgbClr>
                  </a:outerShdw>
                </a:effectLst>
              </a:rPr>
              <a:t> Argument </a:t>
            </a:r>
            <a:r>
              <a:rPr lang="en-CA" sz="3200" dirty="0" err="1" smtClean="0">
                <a:solidFill>
                  <a:schemeClr val="bg1"/>
                </a:solidFill>
                <a:effectLst>
                  <a:outerShdw blurRad="38100" dist="38100" dir="2700000" algn="tl">
                    <a:srgbClr val="000000">
                      <a:alpha val="43137"/>
                    </a:srgbClr>
                  </a:outerShdw>
                </a:effectLst>
              </a:rPr>
              <a:t>für</a:t>
            </a:r>
            <a:r>
              <a:rPr lang="en-CA" sz="3200" dirty="0" smtClean="0">
                <a:solidFill>
                  <a:schemeClr val="bg1"/>
                </a:solidFill>
                <a:effectLst>
                  <a:outerShdw blurRad="38100" dist="38100" dir="2700000" algn="tl">
                    <a:srgbClr val="000000">
                      <a:alpha val="43137"/>
                    </a:srgbClr>
                  </a:outerShdw>
                </a:effectLst>
              </a:rPr>
              <a:t> den </a:t>
            </a:r>
            <a:r>
              <a:rPr lang="en-CA" sz="3200" dirty="0" err="1" smtClean="0">
                <a:solidFill>
                  <a:schemeClr val="bg1"/>
                </a:solidFill>
                <a:effectLst>
                  <a:outerShdw blurRad="38100" dist="38100" dir="2700000" algn="tl">
                    <a:srgbClr val="000000">
                      <a:alpha val="43137"/>
                    </a:srgbClr>
                  </a:outerShdw>
                </a:effectLst>
              </a:rPr>
              <a:t>Platonismus</a:t>
            </a:r>
            <a:endParaRPr lang="en-CA" sz="3200" dirty="0">
              <a:solidFill>
                <a:schemeClr val="bg1"/>
              </a:solidFill>
              <a:effectLst>
                <a:outerShdw blurRad="38100" dist="38100" dir="2700000" algn="tl">
                  <a:srgbClr val="000000">
                    <a:alpha val="43137"/>
                  </a:srgbClr>
                </a:outerShdw>
              </a:effectLst>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1275606"/>
            <a:ext cx="7416824" cy="1387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feld 1"/>
          <p:cNvSpPr txBox="1"/>
          <p:nvPr/>
        </p:nvSpPr>
        <p:spPr>
          <a:xfrm>
            <a:off x="251520" y="771550"/>
            <a:ext cx="5112568" cy="400110"/>
          </a:xfrm>
          <a:prstGeom prst="rect">
            <a:avLst/>
          </a:prstGeom>
          <a:noFill/>
        </p:spPr>
        <p:txBody>
          <a:bodyPr wrap="square" rtlCol="0">
            <a:spAutoFit/>
          </a:bodyPr>
          <a:lstStyle/>
          <a:p>
            <a:r>
              <a:rPr lang="de-DE" sz="2000" b="1" dirty="0" smtClean="0"/>
              <a:t>Nicht in der Gibbs </a:t>
            </a:r>
            <a:r>
              <a:rPr lang="de-DE" sz="2000" b="1" dirty="0" err="1" smtClean="0"/>
              <a:t>Lecture</a:t>
            </a:r>
            <a:r>
              <a:rPr lang="de-DE" sz="2000" b="1" dirty="0" smtClean="0"/>
              <a:t>:</a:t>
            </a:r>
            <a:endParaRPr lang="de-DE" sz="2000" b="1" dirty="0"/>
          </a:p>
        </p:txBody>
      </p:sp>
      <p:sp>
        <p:nvSpPr>
          <p:cNvPr id="3" name="Textfeld 2"/>
          <p:cNvSpPr txBox="1"/>
          <p:nvPr/>
        </p:nvSpPr>
        <p:spPr>
          <a:xfrm>
            <a:off x="6876256" y="2427734"/>
            <a:ext cx="1728192" cy="307777"/>
          </a:xfrm>
          <a:prstGeom prst="rect">
            <a:avLst/>
          </a:prstGeom>
          <a:noFill/>
        </p:spPr>
        <p:txBody>
          <a:bodyPr wrap="square" rtlCol="0">
            <a:spAutoFit/>
          </a:bodyPr>
          <a:lstStyle/>
          <a:p>
            <a:r>
              <a:rPr lang="de-DE" sz="1400" dirty="0" smtClean="0"/>
              <a:t>(Max III, S. 161)</a:t>
            </a:r>
            <a:endParaRPr lang="de-DE" sz="1400" dirty="0"/>
          </a:p>
        </p:txBody>
      </p:sp>
    </p:spTree>
    <p:extLst>
      <p:ext uri="{BB962C8B-B14F-4D97-AF65-F5344CB8AC3E}">
        <p14:creationId xmlns:p14="http://schemas.microsoft.com/office/powerpoint/2010/main" val="411686195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Inhalt</a:t>
            </a:r>
            <a:r>
              <a:rPr lang="en-CA" sz="3200" dirty="0" smtClean="0">
                <a:solidFill>
                  <a:schemeClr val="bg1"/>
                </a:solidFill>
                <a:effectLst>
                  <a:outerShdw blurRad="38100" dist="38100" dir="2700000" algn="tl">
                    <a:srgbClr val="000000">
                      <a:alpha val="43137"/>
                    </a:srgbClr>
                  </a:outerShdw>
                </a:effectLst>
              </a:rPr>
              <a:t> der </a:t>
            </a:r>
            <a:r>
              <a:rPr lang="en-CA" sz="3200" dirty="0" err="1" smtClean="0">
                <a:solidFill>
                  <a:schemeClr val="bg1"/>
                </a:solidFill>
                <a:effectLst>
                  <a:outerShdw blurRad="38100" dist="38100" dir="2700000" algn="tl">
                    <a:srgbClr val="000000">
                      <a:alpha val="43137"/>
                    </a:srgbClr>
                  </a:outerShdw>
                </a:effectLst>
              </a:rPr>
              <a:t>späteren</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Hefte</a:t>
            </a:r>
            <a:endParaRPr lang="en-CA" sz="3200" dirty="0">
              <a:solidFill>
                <a:schemeClr val="bg1"/>
              </a:solidFill>
              <a:effectLst>
                <a:outerShdw blurRad="38100" dist="38100" dir="2700000" algn="tl">
                  <a:srgbClr val="000000">
                    <a:alpha val="43137"/>
                  </a:srgbClr>
                </a:outerShdw>
              </a:effectLst>
            </a:endParaRPr>
          </a:p>
        </p:txBody>
      </p:sp>
      <p:sp>
        <p:nvSpPr>
          <p:cNvPr id="3" name="Textfeld 2"/>
          <p:cNvSpPr txBox="1"/>
          <p:nvPr/>
        </p:nvSpPr>
        <p:spPr>
          <a:xfrm>
            <a:off x="251520" y="699542"/>
            <a:ext cx="8496944" cy="2862322"/>
          </a:xfrm>
          <a:prstGeom prst="rect">
            <a:avLst/>
          </a:prstGeom>
          <a:noFill/>
        </p:spPr>
        <p:txBody>
          <a:bodyPr wrap="square" rtlCol="0">
            <a:spAutoFit/>
          </a:bodyPr>
          <a:lstStyle/>
          <a:p>
            <a:pPr marL="285750" lvl="0" indent="-285750">
              <a:buFont typeface="Arial" panose="020B0604020202020204" pitchFamily="34" charset="0"/>
              <a:buChar char="•"/>
            </a:pPr>
            <a:r>
              <a:rPr lang="de-DE" dirty="0"/>
              <a:t>Mathematische Forschung und Heuristik</a:t>
            </a:r>
          </a:p>
          <a:p>
            <a:pPr marL="285750" lvl="0" indent="-285750">
              <a:buFont typeface="Arial" panose="020B0604020202020204" pitchFamily="34" charset="0"/>
              <a:buChar char="•"/>
            </a:pPr>
            <a:r>
              <a:rPr lang="de-DE" b="1" dirty="0"/>
              <a:t>Grundlagen der Mathematik und Logik</a:t>
            </a:r>
          </a:p>
          <a:p>
            <a:pPr marL="285750" lvl="0" indent="-285750">
              <a:buFont typeface="Arial" panose="020B0604020202020204" pitchFamily="34" charset="0"/>
              <a:buChar char="•"/>
            </a:pPr>
            <a:r>
              <a:rPr lang="de-DE" b="1" dirty="0"/>
              <a:t>Sprache, Zeichen, Definition, Semantik</a:t>
            </a:r>
          </a:p>
          <a:p>
            <a:pPr marL="285750" lvl="0" indent="-285750">
              <a:buFont typeface="Arial" panose="020B0604020202020204" pitchFamily="34" charset="0"/>
              <a:buChar char="•"/>
            </a:pPr>
            <a:r>
              <a:rPr lang="de-DE" i="1" dirty="0" err="1"/>
              <a:t>Scientia</a:t>
            </a:r>
            <a:r>
              <a:rPr lang="de-DE" i="1" dirty="0"/>
              <a:t> </a:t>
            </a:r>
            <a:r>
              <a:rPr lang="de-DE" i="1" dirty="0" err="1"/>
              <a:t>generalis</a:t>
            </a:r>
            <a:r>
              <a:rPr lang="de-DE" dirty="0"/>
              <a:t> und Einheit der Wissenschaften</a:t>
            </a:r>
          </a:p>
          <a:p>
            <a:pPr marL="285750" lvl="0" indent="-285750">
              <a:buFont typeface="Arial" panose="020B0604020202020204" pitchFamily="34" charset="0"/>
              <a:buChar char="•"/>
            </a:pPr>
            <a:r>
              <a:rPr lang="de-DE" b="1" dirty="0"/>
              <a:t>Erkenntnis, Evidenz, </a:t>
            </a:r>
            <a:r>
              <a:rPr lang="de-DE" b="1" dirty="0" smtClean="0"/>
              <a:t>Verständnis</a:t>
            </a:r>
          </a:p>
          <a:p>
            <a:pPr marL="285750" lvl="0" indent="-285750">
              <a:buFont typeface="Arial" panose="020B0604020202020204" pitchFamily="34" charset="0"/>
              <a:buChar char="•"/>
            </a:pPr>
            <a:r>
              <a:rPr lang="de-DE" dirty="0" smtClean="0"/>
              <a:t>Geist</a:t>
            </a:r>
            <a:r>
              <a:rPr lang="de-DE" dirty="0"/>
              <a:t>, Verstand, Begriffe, Sachverhalte, Intension und Extension</a:t>
            </a:r>
          </a:p>
          <a:p>
            <a:pPr marL="285750" lvl="0" indent="-285750">
              <a:buFont typeface="Arial" panose="020B0604020202020204" pitchFamily="34" charset="0"/>
              <a:buChar char="•"/>
            </a:pPr>
            <a:r>
              <a:rPr lang="de-DE" dirty="0"/>
              <a:t>Mensch, Tier, Maschine, Verfahren, Lernen, Kreativität</a:t>
            </a:r>
          </a:p>
          <a:p>
            <a:pPr marL="285750" lvl="0" indent="-285750">
              <a:buFont typeface="Arial" panose="020B0604020202020204" pitchFamily="34" charset="0"/>
              <a:buChar char="•"/>
            </a:pPr>
            <a:r>
              <a:rPr lang="de-DE" dirty="0"/>
              <a:t>Theologie, Metaphysik, Gott, Teufel, Sünde, formale Theologie</a:t>
            </a:r>
          </a:p>
          <a:p>
            <a:pPr marL="285750" indent="-285750">
              <a:buFont typeface="Arial" panose="020B0604020202020204" pitchFamily="34" charset="0"/>
              <a:buChar char="•"/>
            </a:pPr>
            <a:r>
              <a:rPr lang="de-DE" dirty="0"/>
              <a:t>Werttheorie, </a:t>
            </a:r>
            <a:r>
              <a:rPr lang="de-DE" dirty="0" smtClean="0"/>
              <a:t>Wille, </a:t>
            </a:r>
          </a:p>
          <a:p>
            <a:pPr marL="285750" indent="-285750">
              <a:buFont typeface="Arial" panose="020B0604020202020204" pitchFamily="34" charset="0"/>
              <a:buChar char="•"/>
            </a:pPr>
            <a:r>
              <a:rPr lang="de-DE" dirty="0" smtClean="0"/>
              <a:t>Kunst </a:t>
            </a:r>
            <a:endParaRPr lang="de-DE" dirty="0"/>
          </a:p>
        </p:txBody>
      </p:sp>
      <p:sp>
        <p:nvSpPr>
          <p:cNvPr id="4" name="Textfeld 3"/>
          <p:cNvSpPr txBox="1"/>
          <p:nvPr/>
        </p:nvSpPr>
        <p:spPr>
          <a:xfrm>
            <a:off x="1763688" y="3579862"/>
            <a:ext cx="5688632" cy="584775"/>
          </a:xfrm>
          <a:prstGeom prst="rect">
            <a:avLst/>
          </a:prstGeom>
          <a:noFill/>
        </p:spPr>
        <p:txBody>
          <a:bodyPr wrap="square" rtlCol="0">
            <a:spAutoFit/>
          </a:bodyPr>
          <a:lstStyle/>
          <a:p>
            <a:pPr algn="ctr"/>
            <a:r>
              <a:rPr lang="de-DE" sz="3200" dirty="0" smtClean="0">
                <a:solidFill>
                  <a:srgbClr val="FF0000"/>
                </a:solidFill>
              </a:rPr>
              <a:t>Einiges zum Weiterdenken!</a:t>
            </a:r>
            <a:endParaRPr lang="de-DE" sz="3200" dirty="0">
              <a:solidFill>
                <a:srgbClr val="FF0000"/>
              </a:solidFill>
            </a:endParaRPr>
          </a:p>
        </p:txBody>
      </p:sp>
    </p:spTree>
    <p:extLst>
      <p:ext uri="{BB962C8B-B14F-4D97-AF65-F5344CB8AC3E}">
        <p14:creationId xmlns:p14="http://schemas.microsoft.com/office/powerpoint/2010/main" val="201848902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p:cNvSpPr txBox="1"/>
          <p:nvPr/>
        </p:nvSpPr>
        <p:spPr>
          <a:xfrm>
            <a:off x="0" y="1923678"/>
            <a:ext cx="9231168" cy="923330"/>
          </a:xfrm>
          <a:prstGeom prst="rect">
            <a:avLst/>
          </a:prstGeom>
          <a:noFill/>
        </p:spPr>
        <p:txBody>
          <a:bodyPr wrap="square" rtlCol="0">
            <a:spAutoFit/>
          </a:bodyPr>
          <a:lstStyle/>
          <a:p>
            <a:pPr algn="ctr"/>
            <a:r>
              <a:rPr lang="de-DE" sz="5400" dirty="0" smtClean="0">
                <a:latin typeface="Times New Roman" panose="02020603050405020304" pitchFamily="18" charset="0"/>
                <a:cs typeface="Times New Roman" panose="02020603050405020304" pitchFamily="18" charset="0"/>
              </a:rPr>
              <a:t>Fragen, Anmerkungen?</a:t>
            </a:r>
            <a:endParaRPr lang="de-DE" sz="5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993737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220456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Hintergründe</a:t>
            </a:r>
            <a:endParaRPr lang="en-CA" sz="3200" dirty="0">
              <a:solidFill>
                <a:schemeClr val="bg1"/>
              </a:solidFill>
              <a:effectLst>
                <a:outerShdw blurRad="38100" dist="38100" dir="2700000" algn="tl">
                  <a:srgbClr val="000000">
                    <a:alpha val="43137"/>
                  </a:srgbClr>
                </a:outerShdw>
              </a:effectLst>
            </a:endParaRPr>
          </a:p>
        </p:txBody>
      </p:sp>
      <p:sp>
        <p:nvSpPr>
          <p:cNvPr id="4" name="Rechteck 3"/>
          <p:cNvSpPr/>
          <p:nvPr/>
        </p:nvSpPr>
        <p:spPr>
          <a:xfrm>
            <a:off x="288032" y="771550"/>
            <a:ext cx="5652120" cy="1261884"/>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„God exists, since mathematics is consistent, and the Devil exists, since we cannot prove it.“ </a:t>
            </a:r>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1600" dirty="0" smtClean="0">
                <a:latin typeface="Times New Roman" panose="02020603050405020304" pitchFamily="18" charset="0"/>
                <a:cs typeface="Times New Roman" panose="02020603050405020304" pitchFamily="18" charset="0"/>
              </a:rPr>
              <a:t>(André Weil)</a:t>
            </a:r>
            <a:endParaRPr lang="de-DE" sz="1600" dirty="0">
              <a:latin typeface="Times New Roman" panose="02020603050405020304" pitchFamily="18" charset="0"/>
              <a:cs typeface="Times New Roman" panose="02020603050405020304" pitchFamily="18" charset="0"/>
            </a:endParaRPr>
          </a:p>
        </p:txBody>
      </p:sp>
      <p:pic>
        <p:nvPicPr>
          <p:cNvPr id="8194" name="Picture 2" descr="About André Weil - Attent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56176" y="812479"/>
            <a:ext cx="2520280" cy="36314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365684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Intuition</a:t>
            </a:r>
            <a:endParaRPr lang="en-CA" sz="3200" dirty="0">
              <a:solidFill>
                <a:schemeClr val="bg1"/>
              </a:solidFill>
              <a:effectLst>
                <a:outerShdw blurRad="38100" dist="38100" dir="2700000" algn="tl">
                  <a:srgbClr val="000000">
                    <a:alpha val="43137"/>
                  </a:srgbClr>
                </a:outerShdw>
              </a:effectLst>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988" y="1162050"/>
            <a:ext cx="7564437"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1157879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Intuition</a:t>
            </a:r>
            <a:endParaRPr lang="en-CA" sz="3200" dirty="0">
              <a:solidFill>
                <a:schemeClr val="bg1"/>
              </a:solidFill>
              <a:effectLst>
                <a:outerShdw blurRad="38100" dist="38100" dir="2700000" algn="tl">
                  <a:srgbClr val="000000">
                    <a:alpha val="43137"/>
                  </a:srgbClr>
                </a:outerShdw>
              </a:effectLst>
            </a:endParaRP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568" y="771550"/>
            <a:ext cx="7588864" cy="2736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9682590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Misc.</a:t>
            </a:r>
            <a:endParaRPr lang="en-CA" sz="3200" dirty="0">
              <a:solidFill>
                <a:schemeClr val="bg1"/>
              </a:solidFill>
              <a:effectLst>
                <a:outerShdw blurRad="38100" dist="38100" dir="2700000" algn="tl">
                  <a:srgbClr val="000000">
                    <a:alpha val="43137"/>
                  </a:srgbClr>
                </a:outerShdw>
              </a:effectLst>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778" y="893766"/>
            <a:ext cx="6671494" cy="1389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hteck 1"/>
          <p:cNvSpPr/>
          <p:nvPr/>
        </p:nvSpPr>
        <p:spPr>
          <a:xfrm>
            <a:off x="2555776" y="2423666"/>
            <a:ext cx="6084168" cy="2308324"/>
          </a:xfrm>
          <a:prstGeom prst="rect">
            <a:avLst/>
          </a:prstGeom>
        </p:spPr>
        <p:txBody>
          <a:bodyPr wrap="square">
            <a:spAutoFit/>
          </a:bodyPr>
          <a:lstStyle/>
          <a:p>
            <a:pPr algn="just"/>
            <a:r>
              <a:rPr lang="de-DE" dirty="0"/>
              <a:t>„Die </a:t>
            </a:r>
            <a:r>
              <a:rPr lang="de-DE" dirty="0" err="1"/>
              <a:t>Intuitionisten</a:t>
            </a:r>
            <a:r>
              <a:rPr lang="de-DE" dirty="0"/>
              <a:t> haben den Begriff der Wahrheit nicht.“</a:t>
            </a:r>
          </a:p>
          <a:p>
            <a:pPr algn="just"/>
            <a:endParaRPr lang="de-DE" dirty="0"/>
          </a:p>
          <a:p>
            <a:pPr algn="just"/>
            <a:r>
              <a:rPr lang="de-DE" dirty="0"/>
              <a:t>„</a:t>
            </a:r>
            <a:r>
              <a:rPr lang="de-DE" dirty="0" err="1"/>
              <a:t>impredicative</a:t>
            </a:r>
            <a:r>
              <a:rPr lang="de-DE" dirty="0"/>
              <a:t> Definition als Beweis für Platonismus.“</a:t>
            </a:r>
          </a:p>
          <a:p>
            <a:pPr algn="just"/>
            <a:endParaRPr lang="de-DE" dirty="0"/>
          </a:p>
          <a:p>
            <a:pPr algn="just"/>
            <a:r>
              <a:rPr lang="de-DE" b="1" dirty="0"/>
              <a:t>Mathematik und Logik unterscheiden sich nicht im Grad, sondern in der Richtung der Abstraktion</a:t>
            </a:r>
            <a:r>
              <a:rPr lang="de-DE" dirty="0"/>
              <a:t> (die Mathematik führt zum </a:t>
            </a:r>
            <a:r>
              <a:rPr lang="de-DE" b="1" dirty="0"/>
              <a:t>psychologisch Einfachsten</a:t>
            </a:r>
            <a:r>
              <a:rPr lang="de-DE" dirty="0"/>
              <a:t>, die Logik zum </a:t>
            </a:r>
            <a:r>
              <a:rPr lang="de-DE" b="1" dirty="0"/>
              <a:t>objektiv Einfachsten</a:t>
            </a:r>
            <a:r>
              <a:rPr lang="de-DE" dirty="0"/>
              <a:t>)</a:t>
            </a:r>
          </a:p>
        </p:txBody>
      </p:sp>
    </p:spTree>
    <p:extLst>
      <p:ext uri="{BB962C8B-B14F-4D97-AF65-F5344CB8AC3E}">
        <p14:creationId xmlns:p14="http://schemas.microsoft.com/office/powerpoint/2010/main" val="360562470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0</TotalTime>
  <Words>1180</Words>
  <Application>Microsoft Office PowerPoint</Application>
  <PresentationFormat>Bildschirmpräsentation (16:9)</PresentationFormat>
  <Paragraphs>131</Paragraphs>
  <Slides>27</Slides>
  <Notes>26</Notes>
  <HiddenSlides>0</HiddenSlides>
  <MMClips>0</MMClips>
  <ScaleCrop>false</ScaleCrop>
  <HeadingPairs>
    <vt:vector size="4" baseType="variant">
      <vt:variant>
        <vt:lpstr>Design</vt:lpstr>
      </vt:variant>
      <vt:variant>
        <vt:i4>2</vt:i4>
      </vt:variant>
      <vt:variant>
        <vt:lpstr>Folientitel</vt:lpstr>
      </vt:variant>
      <vt:variant>
        <vt:i4>27</vt:i4>
      </vt:variant>
    </vt:vector>
  </HeadingPairs>
  <TitlesOfParts>
    <vt:vector size="29" baseType="lpstr">
      <vt:lpstr>Executive</vt:lpstr>
      <vt:lpstr>Larissa</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Anton</dc:creator>
  <cp:lastModifiedBy>Anton </cp:lastModifiedBy>
  <cp:revision>65</cp:revision>
  <dcterms:created xsi:type="dcterms:W3CDTF">2026-04-09T17:12:43Z</dcterms:created>
  <dcterms:modified xsi:type="dcterms:W3CDTF">2026-05-14T10:02:49Z</dcterms:modified>
</cp:coreProperties>
</file>