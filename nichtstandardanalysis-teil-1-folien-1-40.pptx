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 id="2147483684" r:id="rId3"/>
  </p:sldMasterIdLst>
  <p:notesMasterIdLst>
    <p:notesMasterId r:id="rId103"/>
  </p:notesMasterIdLst>
  <p:sldIdLst>
    <p:sldId id="256" r:id="rId4"/>
    <p:sldId id="359" r:id="rId5"/>
    <p:sldId id="281" r:id="rId6"/>
    <p:sldId id="280" r:id="rId7"/>
    <p:sldId id="279" r:id="rId8"/>
    <p:sldId id="257" r:id="rId9"/>
    <p:sldId id="284" r:id="rId10"/>
    <p:sldId id="283" r:id="rId11"/>
    <p:sldId id="285" r:id="rId12"/>
    <p:sldId id="360" r:id="rId13"/>
    <p:sldId id="325" r:id="rId14"/>
    <p:sldId id="278" r:id="rId15"/>
    <p:sldId id="277" r:id="rId16"/>
    <p:sldId id="264" r:id="rId17"/>
    <p:sldId id="354" r:id="rId18"/>
    <p:sldId id="282" r:id="rId19"/>
    <p:sldId id="263" r:id="rId20"/>
    <p:sldId id="286" r:id="rId21"/>
    <p:sldId id="361" r:id="rId22"/>
    <p:sldId id="262" r:id="rId23"/>
    <p:sldId id="259" r:id="rId24"/>
    <p:sldId id="260" r:id="rId25"/>
    <p:sldId id="266" r:id="rId26"/>
    <p:sldId id="267" r:id="rId27"/>
    <p:sldId id="261" r:id="rId28"/>
    <p:sldId id="275" r:id="rId29"/>
    <p:sldId id="276" r:id="rId30"/>
    <p:sldId id="290" r:id="rId31"/>
    <p:sldId id="355" r:id="rId32"/>
    <p:sldId id="306" r:id="rId33"/>
    <p:sldId id="307" r:id="rId34"/>
    <p:sldId id="322" r:id="rId35"/>
    <p:sldId id="291" r:id="rId36"/>
    <p:sldId id="301" r:id="rId37"/>
    <p:sldId id="292" r:id="rId38"/>
    <p:sldId id="293" r:id="rId39"/>
    <p:sldId id="302" r:id="rId40"/>
    <p:sldId id="297" r:id="rId41"/>
    <p:sldId id="298" r:id="rId42"/>
    <p:sldId id="299" r:id="rId4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96" y="-3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16" Type="http://schemas.openxmlformats.org/officeDocument/2006/relationships/slide" Target="slides/slide13.xml"/><Relationship Id="rId107" Type="http://schemas.openxmlformats.org/officeDocument/2006/relationships/tableStyles" Target="tableStyles.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 Type="http://schemas.openxmlformats.org/officeDocument/2006/relationships/slide" Target="slides/slide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103"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6"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104"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10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25"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extLst>
      <p:ext uri="{BB962C8B-B14F-4D97-AF65-F5344CB8AC3E}">
        <p14:creationId xmlns:p14="http://schemas.microsoft.com/office/powerpoint/2010/main" val="386661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Zitat: Abraham Robinson, Non-standard Analysis, 2. Auflage, North-Holland 1974. Nachdruck: Princeton University Press 1996, Preface, S. xiii. Verifizierter Text: https://api.pageplace.de/preview/DT0400.9781400884223_A27168958/preview-9781400884223_A27168958.pdf</a:t>
            </a:r>
          </a:p>
          <a:p>
            <a:r>
              <a:t>Lebensdaten: Abraham Robinson (1918–1974), auch belegt in Keisler, Foundations of Infinitesimal Calculus, Preface, S. vii.</a:t>
            </a:r>
          </a:p>
          <a:p>
            <a:r>
              <a:t>Bilder: aus der bereitgestellten Präsentation. Buchumschläge: Non-standard Analysis (1966); Introduction to Model Theory and to the Metamathematics of Algebra (1963). Ursprüngliche Bildbeschreibungen nennen Evening Star Books.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Artikel: Curt Schmieden und Detlef Laugwitz, Eine Erweiterung der Infinitesimalrechnung. Mathematische Zeitschrift 69 (1958), S. 1–39. DOI: https://doi.org/10.1007/BF01187322</a:t>
            </a:r>
          </a:p>
          <a:p>
            <a:r>
              <a:t>Schmiedens Lebensdaten und ursprüngliches Porträt: Universität Rostock, Kalenderblatt März 2017: https://www.mathnat.uni-rostock.de/geschichte/kalenderblatt/archiv-der-kalenderblaetter/kalenderblaetter-2017/kalenderblatt-maerz-2017/</a:t>
            </a:r>
          </a:p>
          <a:p>
            <a:r>
              <a:t>Laugwitz (1932–2000): Deutsche Biographie, https://www.deutsche-biographie.de/gnd119035359.html</a:t>
            </a:r>
          </a:p>
          <a:p>
            <a:r>
              <a:t>Laugwitz-Porträt: aus der Vorlage, ursprüngliche Beschreibung: Wikimedia Commons, Detlef_Laugwitz.jpg. Die Bilder sind proportional auf gleich große Rahmen zugeschnitten.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Zitat: Dieter Landers und Lothar Rogge, Nichtstandard Analysis. Springer, 1994, Vorwort, S. VI. Die Abbildung enthält einen Ausschnitt aus dem Vorwort. DOI: https://doi.org/10.1007/978-3-642-57915-8</a:t>
            </a:r>
          </a:p>
          <a:p>
            <a:r>
              <a:t>Primärtext des Vorworts: https://link.springer.com/content/pdf/bfm:978-3-642-57915-8/1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Zitat: Kurt Gödel, Äußerung im Anschluss an einen Vortrag Abraham Robinsons am Institute for Advanced Study, Princeton, März 1973. Wiedergegeben mit Gödels Erlaubnis in Robinson, Non-standard Analysis, 2. Aufl. (1974), Preface to the Second Edition. Verifizierter Nachdruck: Princeton University Press, 1996, S. xvi. Der Ausschnitt der Vorlage enthält Auslassungen. Quelle: https://api.pageplace.de/preview/DT0400.9781400884223_A27168958/preview-9781400884223_A27168958.pdf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Linkes Zitat: Arend Heyting, Address to Professor A. Robinson. Nieuw Archief voor Wiskunde (3) 21 (1973), S. 134–137, hier S. 136. Zitat und Fundstelle auch dokumentiert bei Katz et al., Is Mathematical History Written by the Victors?, https://pure.unamur.be/ws/portalfiles/portal/11991308/ABC_NoticesAMS.pdf</a:t>
            </a:r>
          </a:p>
          <a:p>
            <a:r>
              <a:t>Rechtes Zitat: H. Jerome Keisler, Foundations of Infinitesimal Calculus, Onlineausgabe 2007, Fassung vom 19. Juni 2022, Vorwort, S. vii. https://people.math.wisc.edu/~hkeisler/foundations.pdf</a:t>
            </a:r>
          </a:p>
          <a:p>
            <a:r>
              <a:t>Lebensdaten: Heyting (1898–1980), Bedürftig / Murawski (2019), S. 110. Keisler (* 1936), MacTutor, https://mathshistory.st-andrews.ac.uk/Biographies/Keisler/</a:t>
            </a:r>
          </a:p>
          <a:p>
            <a:r>
              <a:t>Porträts: unveränderte Bildquellen der Vorlage, Wikimedia Commons (Arend Heyting 1967) und „Poster of Jerome Keisler“.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Zitatquelle: Georg Cantor, Brief an Giulio Vivanti vom 13. Dezember 1893. Nachweis in der beigefügten Dissertation: Karl Kuhlemann, Nichtstandard in der elementaren Analysis (2022), S. 200, § 5.8.1, nach Herbert Meschkowski, Aus den Briefbüchern Georg Cantors. Archive for History of Exact Sciences 2 (1965), S. 503–519, hier S. 505–506. DOI: https://doi.org/10.1007/BF00324881</a:t>
            </a:r>
          </a:p>
          <a:p>
            <a:r>
              <a:t>Siehe auch Bedürftig / Murawski (2019), S. 221. Die kurze Formulierung auf der Folie ist ein Auszug aus Cantors Polemik.</a:t>
            </a:r>
          </a:p>
          <a:p>
            <a:r>
              <a:t>Porträt: aus der Vorlage, ursprüngliche Beschreibung „Georg Cantor – Wikipedia“. Lebensdaten auch in Bell (2019), historische Darstellung zu Cantor.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Erstes Zitat: Alain Connes, Cyclic Cohomology, Noncommutative Geometry and Quantum Group Symmetries. In: S. Doplicher / R. Longo (Hg.), Noncommutative Geometry, Lecture Notes in Mathematics 1831 (2004), S. 1–71, hier S. 14. Online zuerst 12.12.2003. DOI: https://doi.org/10.1007/978-3-540-39702-1_1. Belegt in der beigefügten Dissertation Kuhlemann (2022), S. 206–207.</a:t>
            </a:r>
          </a:p>
          <a:p>
            <a:r>
              <a:t>Zweites Zitat: Catherine Goldstein und Georges Skandalis, An interview with Alain Connes, Part I. EMS Newsletter 63 (März 2007), S. 25–31, hier S. 26. https://www.ems-ph.org/journals/newsletter/pdf/2007-03-63.pdf (PDF-Seite 28). Kontext: Connes blickt auf seine damalige Arbeit an Nichtstandardanalysis vor der Les-Houches-Schule 1970 zurück.</a:t>
            </a:r>
          </a:p>
          <a:p>
            <a:r>
              <a:t>Lebensdatum: Alain Connes (* 1947), offizieller Lebenslauf https://alainconnes.org/cv/</a:t>
            </a:r>
          </a:p>
          <a:p>
            <a:r>
              <a:t>Porträt aus der Vorlage, ursprüngliche Quelle: Heidelberg Laureate Forum.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Erstes Zitat: Alain Connes, Cyclic Cohomology, Noncommutative Geometry and Quantum Group Symmetries. In: S. Doplicher / R. Longo (Hg.), Noncommutative Geometry, Lecture Notes in Mathematics 1831 (2004), S. 1–71, hier S. 14. Online zuerst 12.12.2003. DOI: https://doi.org/10.1007/978-3-540-39702-1_1. Belegt in der beigefügten Dissertation Kuhlemann (2022), S. 206–207.</a:t>
            </a:r>
          </a:p>
          <a:p>
            <a:r>
              <a:t>Zweites Zitat: Catherine Goldstein und Georges Skandalis, An interview with Alain Connes, Part I. EMS Newsletter 63 (März 2007), S. 25–31, hier S. 26. https://www.ems-ph.org/journals/newsletter/pdf/2007-03-63.pdf (PDF-Seite 28). Kontext: Connes blickt auf seine damalige Arbeit an Nichtstandardanalysis vor der Les-Houches-Schule 1970 zurück.</a:t>
            </a:r>
          </a:p>
          <a:p>
            <a:r>
              <a:t>Lebensdatum: Alain Connes (* 1947), offizieller Lebenslauf https://alainconnes.org/cv/</a:t>
            </a:r>
          </a:p>
          <a:p>
            <a:r>
              <a:t>Porträt aus der Vorlage, ursprüngliche Quelle: Heidelberg Laureate Forum.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 der beiden Umfragetabellen: Thomas Bedürftig / Roman Murawski, Philosophy of Mathematics, De Gruyter 2018, § 6.2.1 (Empirical approach), S. 348–349. DOI: https://doi.org/10.1515/9783110468335
Obere Tabelle: bei Bedürftig / Murawski nach Ludwig Bauer (2011), Journal für Mathematik-Didaktik 32, S. 79–102. DOI: https://doi.org/10.1007/s13138-010-0024-9
Untere Tabelle: eigene Erhebung von Bedürftig / Murawski unter 51 Studierenden, S. 349.
Die Zahlen der vorhandenen Tabellen bleiben unverändert. Die zitierte Buchausgabe gibt dieselben Prozentwerte wieder.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 Kuhlemann (2022), S. 1–2. Kuhlemann erläutert Bernoullis Postulate durch die Unterscheidung zwischen exakter Gleichheit und einer verallgemeinerten Gleichheit, welche infinitesimale Unterschiede zulässt. Die Formulierung als infinitesimale Äquivalenzrelation ist eine moderne Präzisierung. Für den reellen Teil wird die vom Nutzer gewünschte Notation RE verwendet.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Paraphrase statt unbelegtem Wortzitat. Zur atomistischen Kontinuumsauffassung und zu Cavalieris Indivisiblen: Kuhlemann (2022), § 5.3.1, S. 136–137; Bedürftig / Murawski (2019), § 3.3.4–3.3.5, S. 208–215. Zur beliebigen weiteren Teilbarkeit infinitesimaler Zahlen und dem Fehlen einer kleinsten positiven Infinitesimalzahl: Kuhlemann (2022), § 5.8.1, S. 200.</a:t>
            </a:r>
          </a:p>
          <a:p>
            <a:r>
              <a:t>Ergänzter Begriff: Punkte. Grundlage: Kuhlemann (2022), § 5.3.1–5.3.2, S. 136–137, sowie Bedürftig / Murawski (2019), § 3.3, insbesondere S. 213–215. Dedekind steht als Vertreter der mengentheoretischen Kontinuumsauffassung bei den ausdehnungslosen Punkten. Die Zuordnung behauptet keine Urheberschaft am Punktbegriff.</a:t>
            </a:r>
          </a:p>
          <a:p>
            <a:endParaRPr/>
          </a:p>
          <a:p>
            <a:r>
              <a:t>Bildnachweise (bereits aus dem Netz heruntergeladene Originalporträts):</a:t>
            </a:r>
          </a:p>
          <a:p>
            <a:endParaRPr/>
          </a:p>
          <a:p>
            <a:r>
              <a:t>Bonaventura Cavalieri (1598–1647)</a:t>
            </a:r>
          </a:p>
          <a:p>
            <a:r>
              <a:t>Bonaventura Cavalieri, Stich von Fusinati. Digitalisat: Wikimedia Commons.</a:t>
            </a:r>
          </a:p>
          <a:p>
            <a:r>
              <a:t>Bilddatei: https://upload.wikimedia.org/wikipedia/commons/c/c8/Bonaventura_Cavalieri._Fusinati_sculp_%28cropped%29.jpg</a:t>
            </a:r>
          </a:p>
          <a:p>
            <a:r>
              <a:t>Bildnachweis: https://commons.wikimedia.org/wiki/File:Bonaventura_Cavalieri._Fusinati_sculp_(cropped).jpg</a:t>
            </a:r>
          </a:p>
          <a:p>
            <a:r>
              <a:t>Lebensdaten: https://mathshistory.st-andrews.ac.uk/Biographies/Cavalieri/</a:t>
            </a:r>
          </a:p>
          <a:p>
            <a:endParaRPr/>
          </a:p>
          <a:p>
            <a:r>
              <a:t>Gottfried Wilhelm Leibniz (1646–1716)</a:t>
            </a:r>
          </a:p>
          <a:p>
            <a:r>
              <a:t>Christoph Bernhard Francke, Bildnis des Philosophen Leibniz (um 1695). Digitalisat: Wikimedia Commons.</a:t>
            </a:r>
          </a:p>
          <a:p>
            <a:r>
              <a:t>Bilddatei: https://upload.wikimedia.org/wikipedia/commons/f/f5/Christoph_Bernhard_Francke_-_Bildnis_des_Philosophen_Leibniz_%28ca._1695%29_%28cropped%29.jpg</a:t>
            </a:r>
          </a:p>
          <a:p>
            <a:r>
              <a:t>Bildnachweis: https://commons.wikimedia.org/wiki/File:Christoph_Bernhard_Francke_-_Bildnis_des_Philosophen_Leibniz_(ca._1695)_(cropped).jpg</a:t>
            </a:r>
          </a:p>
          <a:p>
            <a:r>
              <a:t>Lebensdaten: https://mathshistory.st-andrews.ac.uk/Biographies/Leibniz/</a:t>
            </a:r>
          </a:p>
          <a:p>
            <a:endParaRPr/>
          </a:p>
          <a:p>
            <a:r>
              <a:t>Richard Dedekind (1831–1916)</a:t>
            </a:r>
          </a:p>
          <a:p>
            <a:r>
              <a:t>Richard Dedekind, historisches fotografisches Porträt, Store norske leksikon.</a:t>
            </a:r>
          </a:p>
          <a:p>
            <a:r>
              <a:t>Bilddatei: https://media.snl.no/media/239615/standard_compressed_richard-dedekind.jpg</a:t>
            </a:r>
          </a:p>
          <a:p>
            <a:r>
              <a:t>Bildnachweis: https://snl.no/Richard_Dedekind</a:t>
            </a:r>
          </a:p>
          <a:p>
            <a:r>
              <a:t>Lebensdaten: https://mathshistory.st-andrews.ac.uk/Biographies/Dedekind/</a:t>
            </a:r>
          </a:p>
          <a:p>
            <a:endParaRPr/>
          </a:p>
          <a:p>
            <a:r>
              <a:rPr lang="de-DE">
                <a:latin typeface="Times New Roman"/>
              </a:rPr>
              <a:t>Eigene schematische Begriffsgrafiken nach der auf der Folie belegten Abgrenzung.</a:t>
            </a:r>
          </a:p>
          <a:p>
            <a:r>
              <a:rPr lang="de-DE">
                <a:latin typeface="Times New Roman"/>
              </a:rPr>
              <a:t>Indivisiblen bei Cavalieri: Parallele Linienquerschnitte dienen als Indivisiblen einer ebenen Figur. Die Grafik zeigt eine endliche Auswahl solcher Querschnitte in einem Dreieck und hebt eine Linie hervor. Die gezeichnete Strichstärke dient nur der Sichtbarkeit; sie bezeichnet keine Flächendicke. Eigene schematische Darstellung. Vgl. die Buchnachweise auf der Folie; ergänzend J. J. O’Connor / E. F. Robertson, Bonaventura Francesco Cavalieri, MacTutor History of Mathematics, Abschnitt zur Methode der Indivisiblen, https://mathshistory.st-andrews.ac.uk/Biographies/Cavalieri/ (abgerufen am 23.10.2026).</a:t>
            </a:r>
          </a:p>
          <a:p>
            <a:r>
              <a:rPr lang="de-DE">
                <a:latin typeface="Times New Roman"/>
              </a:rPr>
              <a:t>Infinitesimale: Ein positives infinitesimales Linienteil mit Länge ε kann in zwei positive infinitesimale Hälften der Länge ε/2 geteilt werden.</a:t>
            </a:r>
          </a:p>
          <a:p>
            <a:r>
              <a:rPr lang="de-DE">
                <a:latin typeface="Times New Roman"/>
              </a:rPr>
              <a:t>Punkte: x bezeichnet eine Lage ohne Ausdehnung. Der sichtbare Kreis ist eine Markierung und stellt keine Länge des mathematischen Punktes dar.</a:t>
            </a:r>
          </a:p>
          <a:p>
            <a:r>
              <a:rPr lang="de-DE">
                <a:latin typeface="Times New Roman"/>
              </a:rPr>
              <a:t>Die Linienteile und der Punkt sind zur Veranschaulichung schematisch vergrößert.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Historische Deutung nach John L. Bell, The Continuous, the Discrete and the Infinitesimal in Philosophy and Mathematics. Springer 2019, § 5.4 (Peirce), S. 163–165, besonders S. 165. DOI des Buchs: https://doi.org/10.1007/978-3-030-18707-1</a:t>
            </a:r>
          </a:p>
          <a:p>
            <a:r>
              <a:t>Der englische „glue“-Ausdruck stammt hier aus Bells Beschreibung von Peirces Auffassung; er ist kein mathematischer Satz über hyperreelle Monaden. Für Peirces Überlegungen zu unmittelbarem Zeitbewusstsein zitiert Bell u. a. Peirce (1976), S. 95.</a:t>
            </a:r>
          </a:p>
          <a:p>
            <a:r>
              <a:t>Die vorhandene Monaden-Grafik ist eine schematische Veranschaulichung aus der Vorlage. In einem hyperreellen Modell bleiben die einzelnen Zahlen unterscheidbar; Zugehörigkeit zu derselben Monade bedeutet infinitesimale Nähe, keine logische Identität.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Leibniz: Brief an Pierre Varignon vom 2. Februar 1702 (Analogie zu imaginären Wurzeln), Akademie-Ausgabe A III, 9, Nr. 4, und Brief an Varignon vom 20. Juni 1702 (wohlbegründete Fiktionen), A III, 9, Nr. 29. Nachweise und Deutung in Kuhlemann (2022), § 5.8.2, S. 204, Literaturverzeichnis S. 289. Leibniz-Edition: https://leibnizedition.de</a:t>
            </a:r>
          </a:p>
          <a:p>
            <a:r>
              <a:t>Berkeley: The Analyst; or, a Discourse Addressed to an Infidel Mathematician (1734), § XXXV, S. 59: „Ghosts of departed Quantities“. Zur Kritik am Wechsel der Bedeutung eines Inkrements: Kuhlemann (2022), S. 199–200, nach Berkeley (1734), S. 24 und 59. „Quantites“ aus der Vorlage wurde zu „Quantities“ berichtigt.</a:t>
            </a:r>
          </a:p>
          <a:p>
            <a:r>
              <a:t>Bildnachweise der ergänzten Porträts:</a:t>
            </a:r>
          </a:p>
          <a:p>
            <a:endParaRPr/>
          </a:p>
          <a:p>
            <a:r>
              <a:t>Gottfried Wilhelm Leibniz (1646–1716)</a:t>
            </a:r>
          </a:p>
          <a:p>
            <a:r>
              <a:t>Christoph Bernhard Francke, Bildnis des Philosophen Leibniz (um 1695). Digitalisat: Wikimedia Commons.</a:t>
            </a:r>
          </a:p>
          <a:p>
            <a:r>
              <a:t>Bilddatei: https://upload.wikimedia.org/wikipedia/commons/f/f5/Christoph_Bernhard_Francke_-_Bildnis_des_Philosophen_Leibniz_%28ca._1695%29_%28cropped%29.jpg</a:t>
            </a:r>
          </a:p>
          <a:p>
            <a:r>
              <a:t>Bildnachweis: https://commons.wikimedia.org/wiki/File:Christoph_Bernhard_Francke_-_Bildnis_des_Philosophen_Leibniz_(ca._1695)_(cropped).jpg</a:t>
            </a:r>
          </a:p>
          <a:p>
            <a:r>
              <a:t>Lebensdaten: https://mathshistory.st-andrews.ac.uk/Biographies/Leibniz/</a:t>
            </a:r>
          </a:p>
          <a:p>
            <a:endParaRPr/>
          </a:p>
          <a:p>
            <a:r>
              <a:t>George Berkeley (1685–1753)</a:t>
            </a:r>
          </a:p>
          <a:p>
            <a:r>
              <a:t>John Smibert, Bishop George Berkeley (um 1727), National Portrait Gallery, Smithsonian Institution, NPG.89.25. Digitalisat: Google Art Project / Wikimedia Commons. Gemeinfreies Gemälde und gemeinfreie Reproduktion (PD-Art).</a:t>
            </a:r>
          </a:p>
          <a:p>
            <a:r>
              <a:t>Bilddatei: https://upload.wikimedia.org/wikipedia/commons/5/5d/John_Smibert_-_Bishop_George_Berkeley_-_Google_Art_Project.jpg</a:t>
            </a:r>
          </a:p>
          <a:p>
            <a:r>
              <a:t>Bildnachweis: https://commons.wikimedia.org/wiki/File:John_Smibert_-_Bishop_George_Berkeley_-_Google_Art_Project.jpg</a:t>
            </a:r>
          </a:p>
          <a:p>
            <a:r>
              <a:t>Lebensdaten: https://plato.stanford.edu/entries/berkeley/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Leibniz unterscheidet infinita interminata (unbegrenzte Unendlichkeiten) von infinita terminata (begrenzten Unendlichkeiten). Die erste Skizze stellt eine unbegrenzte Linie dar. Die zweite zeigt schematisch eine Strecke zwischen 0 und einem unendlich fernen, fiktiven Endpunkt H. Der Zeichenbruch verdeutlicht, dass keine endliche Länge maßstäblich dargestellt wird. „Begrenzt“ bezieht sich auf die Endpunkte. H ist keine größte Zahl und nicht das Symbol +∞.</a:t>
            </a:r>
          </a:p>
          <a:p>
            <a:endParaRPr/>
          </a:p>
          <a:p>
            <a:r>
              <a:t>Kuhlemann beschreibt auf S. 134 die Ablehnung unendlicher Gesamtheiten aufgrund des Teil-Ganzes-Axioms: Das Ganze ist größer als ein echter Teil. Infinita terminata dienen Leibniz demgegenüber als nützliche Fiktionen im Kalkül. Die historische Interpretation infinitesimaler und unendlicher Größen ist umstritten; Kuhlemann diskutiert die synkategorematische und formalistische Lesart auf S. 138–139. Die Folie folgt seiner Darstellung auf S. 134.</a:t>
            </a:r>
          </a:p>
          <a:p>
            <a:endParaRPr/>
          </a:p>
          <a:p>
            <a:r>
              <a:t>Die Formel ist ausdrücklich eine moderne Veranschaulichung in einem hyperreellen Körper, keine Leibnizsche Originalnotation. Voraussetzung: \(H\) ist positiv und größer als jede positive Standardnaturzahl. Für jedes \(n\in\mathbb N_{&gt;0}\) folgt aus \(H&gt;n&gt;0\) beim Übergang zu Kehrwerten \(0&lt;1/H&lt;1/n\). Daher ist \(\varepsilon=1/H\) ein positives Infinitesimal.</a:t>
            </a:r>
          </a:p>
          <a:p>
            <a:endParaRPr/>
          </a:p>
          <a:p>
            <a:r>
              <a:t>Quelle: Karl Kuhlemann (2022), Nichtstandard in der elementaren Analysis. Mathematische, logische, philosophische und didaktische Studien zur Bedeutung der Nichtstandardanalysis in der Lehre, Dissertation, Leibniz Universität Hannover, § 5.2, S. 134. DOI: https://doi.org/10.15488/12105. Von der Nutzerin/dem Nutzer bereitgestellte PDF.</a:t>
            </a:r>
          </a:p>
          <a:p>
            <a:r>
              <a:t>Primärquellenhinweis nach Kuhlemann: Gottfried Wilhelm Leibniz (2016), De quadratura arithmetica circuli ellipseos et hyperbolae, herausgegeben von Eberhard Knobloch, Springer Spektrum, S. 61. DOI: https://doi.org/10.1007/978-3-662-52803-7.</a:t>
            </a:r>
          </a:p>
          <a:p>
            <a:r>
              <a:t>Ergänzender Abgleich: „Leibniz on bodies and infinities: rerum natura and mathematical fictions“, The Review of Symbolic Logic, § 4.3, mit Übersetzung des Scholiums zu Propositio XI: https://www.cambridge.org/core/journals/review-of-symbolic-logic/article/leibniz-on-bodies-and-infinities-rerum-natura-and-mathematical-fictions/3C98FD17214F14F34AC336CDFE0A48A0 .</a:t>
            </a:r>
          </a:p>
          <a:p>
            <a:endParaRPr/>
          </a:p>
          <a:p>
            <a:r>
              <a:t>LaTeX-Quelltext: \left(\forall n\in\mathbb N_{&gt;0}:H&gt;n\right)\ \overset{\mathrm{Kehrwert}}{\Longrightarrow}\ \left(\forall n\in\mathbb N_{&gt;0}:0&lt;\varepsilon=\frac1H&lt;\frac1n\right)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Zitat: Terence Tao, Ultrafilters, nonstandard analysis, and epsilon management. Blog What’s new, 25. Juni 2007, Abschnitt Conclusion. Primärquelle: https://terrytao.wordpress.com/2007/06/25/ultrafilters-nonstandard-analysis-and-epsilon-management/</a:t>
            </a:r>
          </a:p>
          <a:p>
            <a:r>
              <a:t>Lebensjahr: Terence Tao (* 1975), Clay Mathematics Institute Annual Report 2003, Interview with Research Fellow Terence Tao, S. 10. https://www.claymath.org/library/annual_report/ar2003/03report_insides-opt.pdf</a:t>
            </a:r>
          </a:p>
          <a:p>
            <a:r>
              <a:t>Porträt aus der Vorlage, ursprüngliche Bildbeschreibung: Personal Profile – SLMath.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Leitfragen zum Verhältnis von Teil und Ganzem im Anschluss an Bedürftig / Murawski, Philosophie der Mathematik (2019), § 3.3.2, S. 197–198, und § 3.3.5, S. 213–215. Die Fragen verallgemeinern die Gegenüberstellung von atomistischen und nichtatomistischen Kontinuumsauffassungen. Die Grafik stellt Teilung und Zusammensetzung als verschiedene Betrachtungsrichtungen dar; sie setzt keine Antwort auf die Frage nach der ontologischen Priorität voraus.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Grundlage: Bedürftig / Murawski, Philosophie der Mathematik (2019), § 3.3.3, S. 206–207, und § 3.3.6, S. 216–217. Die linke Seite zeigt schematisch den klassischen geometrischen Ausgangspunkt, besonders die aristotelische Deutung von Punkten als Grenzen. Die Koordinatisierung seit Descartes vermittelt zwischen Geometrie und Zahlen. Die Konstruktionen von Dedekind und Cantor im 19. Jahrhundert begründen den reellen Zahlenbereich arithmetisch. Ordnung und Vollständigkeit präzisieren die Kontinuität im Standardmodell. Die rechte Zeichnung zeigt ausgewählte Markierungen auf der reellen Geraden, keine diskrete Menge aller reellen Zahlen. Der hervorgehobene irrationale Punkt liegt maßstäblich bei sqrt(2), wenn die Markierungen 0 und 1 den Einheitsabstand bestimmen.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 Kuhlemann (2022), Kurzzusammenfassung S. iii, S. 26 sowie § 5.2.3, S. 136. Die Aussagen zur unterschiedlichen Akzeptanz und zu Denkgewohnheiten sind Kuhlemanns philosophisch-didaktische Einschätzung. Der angegebene Dedekindsche Schnitt ist eine mögliche mengentheoretische Konstruktion der positiven Quadratwurzel aus zwei. Die Akzeptanz unendlicher Mengen und die Verwendung eines nichtarchimedischen Erweiterungskörpers sind miteinander verträglich, betreffen aber verschiedene mathematische Gegenstände.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Nummern (1) bis (6) folgen Bedürftig / Murawski (2019), § 3.3.5, S. 213–215, und § 3.3.9, S. 230–233. Die Einteilung in atomistische und nichtatomistische Auffassungen folgt Kuhlemann (2022), § 5.3.1, S. 136–137. Die Autoren behandeln den überabzählbaren bzw. trans-transfiniten Atomismus als besondere Form des Atomismus. Beim alten Atomismus geht es um Linienteile, beim modernen um Mengenelemente.</a:t>
            </a:r>
          </a:p>
          <a:p>
            <a:endParaRPr/>
          </a:p>
          <a:p>
            <a:r>
              <a:t>Zu (2b): Bedürftig / Murawski weisen ausdrücklich darauf hin, dass die historische Zuordnung unsicher ist; Pascal könnte hierher gehören (S. 213). Die Nichtstandardauffassung (6) geht nach S. 214 und 230 vom Visualismus (3) aus und setzt den Infinitesimalismus (4) fort. Dies ist eine philosophische Deutung; die Modelle selbst werden mengentheoretisch konstruiert.</a:t>
            </a:r>
          </a:p>
          <a:p>
            <a:endParaRPr/>
          </a:p>
          <a:p>
            <a:r>
              <a:t>Peirce ergänzt die Übersicht im Bezug auf Folie 14. Grundlage: Bell, The Continuous, the Discrete and the Infinitesimal in Philosophy and Mathematics (2019), Einleitung S. x und § 5.4, S. 163–165. Bells weiter Gebrauch von synechism als Gegenbegriff zu atomism ist von Peirces eigener Philosophie zu unterscheiden.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Thomas Bedürftig / Roman Murawski, Philosophie der Mathematik, de Gruyter 2019, § 3.3.5, S. 213–215 (PDF-Seiten 233–235). Die historischen Bezeichnungen und Zuordnungen folgen der philosophischen Typisierung dieser Autoren.</a:t>
            </a:r>
          </a:p>
          <a:p>
            <a:r>
              <a:t>Die Grafik stellt eine endliche Zusammensetzung aus atomaren Linienstücken dar. Die Fugen unterscheiden die Teile, sie behaupten keine zusätzlichen Lücken in der Linie.</a:t>
            </a:r>
          </a:p>
          <a:p>
            <a:endParaRPr/>
          </a:p>
          <a:p>
            <a:r>
              <a:t>Bildnachweise (aus dem Netz heruntergeladene Porträts):</a:t>
            </a:r>
          </a:p>
          <a:p>
            <a:r>
              <a:t>Demokrit (um 460–370 v. Chr.): Foto: Sailko, Wikimedia Commons. Als Demokrit bezeichnete Büste aus der Villa dei Papiri, kein zeitgenössisch gesichertes Porträt.</a:t>
            </a:r>
          </a:p>
          <a:p>
            <a:r>
              <a:t>Bilddatei: https://upload.wikimedia.org/wikipedia/commons/0/02/Filosofo_detto_democrito%2C_da_villa_dei_papiri%2C_peristilio_quadrato.JPG</a:t>
            </a:r>
          </a:p>
          <a:p>
            <a:r>
              <a:t>Bildnachweis: https://commons.wikimedia.org/wiki/File:Filosofo_detto_democrito,_da_villa_dei_papiri,_peristilio_quadrato.JPG</a:t>
            </a:r>
          </a:p>
          <a:p>
            <a:r>
              <a:t>Lebensdaten: https://mathshistory.st-andrews.ac.uk/Biographies/Democritus/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Thomas Bedürftig / Roman Murawski, Philosophie der Mathematik, de Gruyter 2019, § 3.3.5, S. 213–215 (PDF-Seiten 233–235). Die historischen Bezeichnungen und Zuordnungen folgen der philosophischen Typisierung dieser Autoren.</a:t>
            </a:r>
          </a:p>
          <a:p>
            <a:r>
              <a:t>Die Zuordnung zu Archimedes und Cavalieri gibt die Übersicht der Autoren wieder. Die schematischen Auslassungspunkte verweisen auf unendlich viele Teile. Der vergrößerte blaue Baustein bleibt unteilbar. Er steht für eine Indivisible, die in Auffassung (2a) zugleich Punkt ist. Die Zeichnung behauptet weder eine endliche Anzahl solcher Teile noch eine endliche sichtbare Größe einer Indivisiblen.</a:t>
            </a:r>
          </a:p>
          <a:p>
            <a:endParaRPr/>
          </a:p>
          <a:p>
            <a:r>
              <a:t>Bildnachweise (aus dem Netz heruntergeladene Porträts):</a:t>
            </a:r>
          </a:p>
          <a:p>
            <a:r>
              <a:t>Archimedes (um 287–212 v. Chr.): Archimedes, historische Bildnisdarstellung. Digitalisat: MacTutor History of Mathematics, University of St Andrews.</a:t>
            </a:r>
          </a:p>
          <a:p>
            <a:r>
              <a:t>Bilddatei: https://mathshistory.st-andrews.ac.uk/Biographies/Archimedes/Archimedes.jpeg</a:t>
            </a:r>
          </a:p>
          <a:p>
            <a:r>
              <a:t>Bildnachweis: https://mathshistory.st-andrews.ac.uk/Biographies/Archimedes/pictdisplay/</a:t>
            </a:r>
          </a:p>
          <a:p>
            <a:r>
              <a:t>Lebensdaten: https://mathshistory.st-andrews.ac.uk/Biographies/Archimedes/</a:t>
            </a:r>
          </a:p>
          <a:p>
            <a:endParaRPr/>
          </a:p>
          <a:p>
            <a:r>
              <a:t>Bonaventura Cavalieri (1598–1647): Bonaventura Cavalieri, Stich von Fusinati. Digitalisat: Wikimedia Commons.</a:t>
            </a:r>
          </a:p>
          <a:p>
            <a:r>
              <a:t>Bilddatei: https://upload.wikimedia.org/wikipedia/commons/c/c8/Bonaventura_Cavalieri._Fusinati_sculp_%28cropped%29.jpg</a:t>
            </a:r>
          </a:p>
          <a:p>
            <a:r>
              <a:t>Bildnachweis: https://commons.wikimedia.org/wiki/File:Bonaventura_Cavalieri._Fusinati_sculp_(cropped).jpg</a:t>
            </a:r>
          </a:p>
          <a:p>
            <a:r>
              <a:t>Lebensdaten: https://mathshistory.st-andrews.ac.uk/Biographies/Cavalieri/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Thomas Bedürftig / Roman Murawski, Philosophie der Mathematik, de Gruyter 2019, § 3.3.5, S. 213–215 (PDF-Seiten 233–235). Die historischen Bezeichnungen und Zuordnungen folgen der philosophischen Typisierung dieser Autoren.</a:t>
            </a:r>
          </a:p>
          <a:p>
            <a:r>
              <a:t>Auffassung (2b) führen Bedürftig/Murawski als naheliegende Variante ohne sicheren historischen Zeugen ein. Sie erwägen lediglich eine Zuordnung Pascals. Das Porträt wird deshalb sichtbar als mögliche Zuordnung gekennzeichnet.</a:t>
            </a:r>
          </a:p>
          <a:p>
            <a:r>
              <a:t>Die Grafik trennt Punkt (schwarze Markierung) und atomaren Linienteil (blauer Baustein) als Gegenstände verschiedener Art. Auslassungspunkte bezeichnen die unendliche Zusammensetzung, keine endliche Anzahl der dargestellten Teile.</a:t>
            </a:r>
          </a:p>
          <a:p>
            <a:endParaRPr/>
          </a:p>
          <a:p>
            <a:r>
              <a:t>Bildnachweise (aus dem Netz heruntergeladene Porträts):</a:t>
            </a:r>
          </a:p>
          <a:p>
            <a:r>
              <a:t>Blaise Pascal (1623–1662): Blaise Pascal, Bildnis nach François II Quesnel. Musée du Louvre, Collections, Inventarnachweis cl010389756. Foto-/Reproduktionsrechte laut Museumsdatensatz.</a:t>
            </a:r>
          </a:p>
          <a:p>
            <a:r>
              <a:t>Bilddatei: https://collections.louvre.fr/media/cache/intermediate/0000000021/0000389756/0000682850_OG.JPG</a:t>
            </a:r>
          </a:p>
          <a:p>
            <a:r>
              <a:t>Bildnachweis: https://collections.louvre.fr/en/ark:/53355/cl010389756</a:t>
            </a:r>
          </a:p>
          <a:p>
            <a:r>
              <a:t>Lebensdaten: https://mathshistory.st-andrews.ac.uk/Biographies/Pascal/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Thomas Bedürftig / Roman Murawski, Philosophie der Mathematik, de Gruyter 2019, § 3.3.5, S. 213–215 (PDF-Seiten 233–235). Die historischen Bezeichnungen und Zuordnungen folgen der philosophischen Typisierung dieser Autoren.</a:t>
            </a:r>
          </a:p>
          <a:p>
            <a:r>
              <a:t>Auffassung (2b) führen Bedürftig/Murawski als naheliegende Variante ohne sicheren historischen Zeugen ein. Sie erwägen lediglich eine Zuordnung Pascals. Das Porträt wird deshalb sichtbar als mögliche Zuordnung gekennzeichnet.</a:t>
            </a:r>
          </a:p>
          <a:p>
            <a:r>
              <a:t>Die Grafik trennt Punkt (schwarze Markierung) und atomaren Linienteil (blauer Baustein) als Gegenstände verschiedener Art. Auslassungspunkte bezeichnen die unendliche Zusammensetzung, keine endliche Anzahl der dargestellten Teile.</a:t>
            </a:r>
          </a:p>
          <a:p>
            <a:endParaRPr/>
          </a:p>
          <a:p>
            <a:r>
              <a:t>Bildnachweise (aus dem Netz heruntergeladene Porträts):</a:t>
            </a:r>
          </a:p>
          <a:p>
            <a:r>
              <a:t>Blaise Pascal (1623–1662): Blaise Pascal, Bildnis nach François II Quesnel. Musée du Louvre, Collections, Inventarnachweis cl010389756. Foto-/Reproduktionsrechte laut Museumsdatensatz.</a:t>
            </a:r>
          </a:p>
          <a:p>
            <a:r>
              <a:t>Bilddatei: https://collections.louvre.fr/media/cache/intermediate/0000000021/0000389756/0000682850_OG.JPG</a:t>
            </a:r>
          </a:p>
          <a:p>
            <a:r>
              <a:t>Bildnachweis: https://collections.louvre.fr/en/ark:/53355/cl010389756</a:t>
            </a:r>
          </a:p>
          <a:p>
            <a:r>
              <a:t>Lebensdaten: https://mathshistory.st-andrews.ac.uk/Biographies/Pascal/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Thomas Bedürftig / Roman Murawski, Philosophie der Mathematik, de Gruyter 2019, § 3.3.5, S. 213–215 (PDF-Seiten 233–235). Die historischen Bezeichnungen und Zuordnungen folgen der philosophischen Typisierung dieser Autoren.</a:t>
            </a:r>
          </a:p>
          <a:p>
            <a:r>
              <a:t>Die Autoren ordnen diese Auffassung den Pythagoreern und Aristoteles zu. Das Porträt zeigt Aristoteles. Die drei durchgehenden Linien illustrieren aufeinanderfolgende Teilungen desselben Kontinuums, keine Zerlegung in endgültige Atome. Die schwarzen Marken bezeichnen Grenzen der Teile, keine Bausteine, aus denen die Linie zusammengesetzt wäre. Die Teilung ist beliebig fortsetzbar.</a:t>
            </a:r>
          </a:p>
          <a:p>
            <a:endParaRPr/>
          </a:p>
          <a:p>
            <a:r>
              <a:t>Bildnachweise (aus dem Netz heruntergeladene Porträts):</a:t>
            </a:r>
          </a:p>
          <a:p>
            <a:r>
              <a:t>Aristoteles (384–322 v. Chr.): Aristoteles, Büste im Palazzo Altemps, römische Kopie nach einem griechischen Original. Digitalisat: Wikimedia Commons.</a:t>
            </a:r>
          </a:p>
          <a:p>
            <a:r>
              <a:t>Bilddatei: https://upload.wikimedia.org/wikipedia/commons/2/24/Aristotle_Altemps_Inv8575_%28png%29.png</a:t>
            </a:r>
          </a:p>
          <a:p>
            <a:r>
              <a:t>Bildnachweis: https://commons.wikimedia.org/wiki/File:Aristotle_Altemps_Inv8575_(png).png</a:t>
            </a:r>
          </a:p>
          <a:p>
            <a:r>
              <a:t>Lebensdaten: https://mathshistory.st-andrews.ac.uk/Biographies/Aristotle/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Thomas Bedürftig / Roman Murawski, Philosophie der Mathematik, de Gruyter 2019, § 3.3.5, S. 213–215 (PDF-Seiten 233–235). Die historischen Bezeichnungen und Zuordnungen folgen der philosophischen Typisierung dieser Autoren.</a:t>
            </a:r>
          </a:p>
          <a:p>
            <a:r>
              <a:t>Auffassung (4) ist Leibniz’ Infinitesimalismus. Die Skizze vergrößert einen positiven infinitesimalen Linienteil dx und teilt ihn nochmals in zwei positive Teile dx/2. Das Symbol bezeichnet eine positive geometrische Größe im Sinne dieser Illustration. Die Skizze illustriert unbegrenzte weitere Teilbarkeit und setzt keine kleinste Infinitesimalzahl voraus. Die moderne algebraische Deutung wird erst in der Nichtstandardauffassung verwendet.</a:t>
            </a:r>
          </a:p>
          <a:p>
            <a:r>
              <a:t>LaTeX: dx; \frac{dx}{2}.</a:t>
            </a:r>
          </a:p>
          <a:p>
            <a:endParaRPr/>
          </a:p>
          <a:p>
            <a:r>
              <a:t>Bildnachweise (aus dem Netz heruntergeladene Porträts):</a:t>
            </a:r>
          </a:p>
          <a:p>
            <a:r>
              <a:t>Gottfried Wilhelm Leibniz (1646–1716): Christoph Bernhard Francke, Bildnis des Philosophen Leibniz (um 1695). Digitalisat: Wikimedia Commons.</a:t>
            </a:r>
          </a:p>
          <a:p>
            <a:r>
              <a:t>Bilddatei: https://upload.wikimedia.org/wikipedia/commons/f/f5/Christoph_Bernhard_Francke_-_Bildnis_des_Philosophen_Leibniz_%28ca._1695%29_%28cropped%29.jpg</a:t>
            </a:r>
          </a:p>
          <a:p>
            <a:r>
              <a:t>Bildnachweis: https://commons.wikimedia.org/wiki/File:Christoph_Bernhard_Francke_-_Bildnis_des_Philosophen_Leibniz_(ca._1695)_(cropped).jpg</a:t>
            </a:r>
          </a:p>
          <a:p>
            <a:r>
              <a:t>Lebensdaten: https://mathshistory.st-andrews.ac.uk/Biographies/Leibniz/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Thomas Bedürftig / Roman Murawski, Philosophie der Mathematik, de Gruyter 2019, § 3.3.5, S. 213–215 (PDF-Seiten 233–235). Die historischen Bezeichnungen und Zuordnungen folgen der philosophischen Typisierung dieser Autoren.</a:t>
            </a:r>
          </a:p>
          <a:p>
            <a:r>
              <a:t>Auffassung (5) ist der mengentheoretische Atomismus bei Cantor/Dedekind. Punkte sind primäre Mengenelemente. Die Linie entsteht als strukturierte Punktmenge. Die Nummern auf der Geraden markieren lediglich ausgewählte reelle Zahlen, nicht sämtliche Punkte. Die vollständige reelle Gerade ist überabzählbar und trägt die übliche Ordnung und Topologie.</a:t>
            </a:r>
          </a:p>
          <a:p>
            <a:r>
              <a:t>Zum Cantor-Dedekind-Postulat: Kuhlemann (2022), § 5.3.3, S. 137–138. Die Identifikation der anschaulichen geometrischen Geraden mit dem reellen Zahlenmodell ist vom mathematischen Vollständigkeitssatz zu unterscheiden.</a:t>
            </a:r>
          </a:p>
          <a:p>
            <a:r>
              <a:t>LaTeX: 0,1,\sqrt2,2,\pi,\mathbb R.</a:t>
            </a:r>
          </a:p>
          <a:p>
            <a:endParaRPr/>
          </a:p>
          <a:p>
            <a:r>
              <a:t>Bildnachweise (aus dem Netz heruntergeladene Porträts):</a:t>
            </a:r>
          </a:p>
          <a:p>
            <a:r>
              <a:t>Georg Cantor (1845–1918): Georg Cantor, historisches fotografisches Porträt. Digitalisat: Wikimedia Commons.</a:t>
            </a:r>
          </a:p>
          <a:p>
            <a:r>
              <a:t>Bilddatei: https://upload.wikimedia.org/wikipedia/commons/a/a1/Georg_Cantor.png</a:t>
            </a:r>
          </a:p>
          <a:p>
            <a:r>
              <a:t>Bildnachweis: https://commons.wikimedia.org/wiki/File:Georg_Cantor.png</a:t>
            </a:r>
          </a:p>
          <a:p>
            <a:r>
              <a:t>Lebensdaten: https://mathshistory.st-andrews.ac.uk/Biographies/Cantor/</a:t>
            </a:r>
          </a:p>
          <a:p>
            <a:endParaRPr/>
          </a:p>
          <a:p>
            <a:r>
              <a:t>Richard Dedekind (1831–1916): Richard Dedekind, historisches fotografisches Porträt, Store norske leksikon.</a:t>
            </a:r>
          </a:p>
          <a:p>
            <a:r>
              <a:t>Bilddatei: https://media.snl.no/media/239615/standard_compressed_richard-dedekind.jpg</a:t>
            </a:r>
          </a:p>
          <a:p>
            <a:r>
              <a:t>Bildnachweis: https://snl.no/Richard_Dedekind</a:t>
            </a:r>
          </a:p>
          <a:p>
            <a:r>
              <a:t>Lebensdaten: https://mathshistory.st-andrews.ac.uk/Biographies/Dedekind/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de-DE" smtClean="0"/>
              <a:t>Titelmasterformat durch Klicken bearbeiten</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en-US" dirty="0"/>
          </a:p>
        </p:txBody>
      </p:sp>
      <p:sp>
        <p:nvSpPr>
          <p:cNvPr id="7" name="Date Placeholder 6"/>
          <p:cNvSpPr>
            <a:spLocks noGrp="1"/>
          </p:cNvSpPr>
          <p:nvPr>
            <p:ph type="dt" sz="half" idx="10"/>
          </p:nvPr>
        </p:nvSpPr>
        <p:spPr/>
        <p:txBody>
          <a:bodyPr/>
          <a:lstStyle/>
          <a:p>
            <a:fld id="{7D0065BE-0657-4A47-90AD-C21C55E16B19}" type="datetime4">
              <a:rPr lang="en-US" smtClean="0"/>
              <a:pPr/>
              <a:t>October 30, 2026</a:t>
            </a:fld>
            <a:endParaRPr lang="en-US"/>
          </a:p>
        </p:txBody>
      </p:sp>
      <p:sp>
        <p:nvSpPr>
          <p:cNvPr id="8" name="Slide Number Placeholder 7"/>
          <p:cNvSpPr>
            <a:spLocks noGrp="1"/>
          </p:cNvSpPr>
          <p:nvPr>
            <p:ph type="sldNum" sz="quarter" idx="11"/>
          </p:nvPr>
        </p:nvSpPr>
        <p:spPr/>
        <p:txBody>
          <a:bodyPr/>
          <a:lstStyle/>
          <a:p>
            <a:fld id="{2754ED01-E2A0-4C1E-8E21-014B99041579}" type="slidenum">
              <a:rPr lang="en-US" smtClean="0"/>
              <a:pPr/>
              <a:t>‹Nr.›</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10"/>
          </p:nvPr>
        </p:nvSpPr>
        <p:spPr/>
        <p:txBody>
          <a:bodyPr/>
          <a:lstStyle/>
          <a:p>
            <a:fld id="{D47BB8AF-C16A-4836-A92D-61834B5F0BA5}" type="datetime4">
              <a:rPr lang="en-US" smtClean="0"/>
              <a:pPr/>
              <a:t>October 30,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de-DE" smtClean="0"/>
              <a:t>Titelmasterformat durch Klicken bearbeiten</a:t>
            </a:r>
            <a:endParaRPr lang="en-US" dirty="0"/>
          </a:p>
        </p:txBody>
      </p:sp>
      <p:sp>
        <p:nvSpPr>
          <p:cNvPr id="3" name="Text Placeholder 2"/>
          <p:cNvSpPr>
            <a:spLocks noGrp="1"/>
          </p:cNvSpPr>
          <p:nvPr>
            <p:ph type="body" idx="1"/>
          </p:nvPr>
        </p:nvSpPr>
        <p:spPr>
          <a:xfrm>
            <a:off x="722313" y="3051574"/>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e Placeholder 3"/>
          <p:cNvSpPr>
            <a:spLocks noGrp="1"/>
          </p:cNvSpPr>
          <p:nvPr>
            <p:ph type="dt" sz="half" idx="10"/>
          </p:nvPr>
        </p:nvSpPr>
        <p:spPr/>
        <p:txBody>
          <a:bodyPr/>
          <a:lstStyle/>
          <a:p>
            <a:fld id="{647D2193-4505-4A75-99BB-880C6989A757}" type="datetime4">
              <a:rPr lang="en-US" smtClean="0"/>
              <a:pPr/>
              <a:t>October 30,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
        <p:nvSpPr>
          <p:cNvPr id="7" name="Oval 6"/>
          <p:cNvSpPr/>
          <p:nvPr/>
        </p:nvSpPr>
        <p:spPr>
          <a:xfrm>
            <a:off x="4495800" y="2943226"/>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6"/>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6"/>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5" name="Date Placeholder 4"/>
          <p:cNvSpPr>
            <a:spLocks noGrp="1"/>
          </p:cNvSpPr>
          <p:nvPr>
            <p:ph type="dt" sz="half" idx="10"/>
          </p:nvPr>
        </p:nvSpPr>
        <p:spPr/>
        <p:txBody>
          <a:bodyPr/>
          <a:lstStyle/>
          <a:p>
            <a:fld id="{113A18F4-33C3-445B-924C-31108C51719C}" type="datetime4">
              <a:rPr lang="en-US" smtClean="0"/>
              <a:pPr/>
              <a:t>October 30,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
        <p:nvSpPr>
          <p:cNvPr id="9" name="Content Placeholder 8"/>
          <p:cNvSpPr>
            <a:spLocks noGrp="1"/>
          </p:cNvSpPr>
          <p:nvPr>
            <p:ph sz="quarter" idx="13"/>
          </p:nvPr>
        </p:nvSpPr>
        <p:spPr>
          <a:xfrm>
            <a:off x="365760" y="1200150"/>
            <a:ext cx="4041648" cy="339471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smtClean="0"/>
              <a:t>Titelmasterformat durch Klicken bearbeiten</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5" name="Text Placeholder 4"/>
          <p:cNvSpPr>
            <a:spLocks noGrp="1"/>
          </p:cNvSpPr>
          <p:nvPr>
            <p:ph type="body" sz="quarter" idx="3"/>
          </p:nvPr>
        </p:nvSpPr>
        <p:spPr>
          <a:xfrm>
            <a:off x="4648203"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7" name="Date Placeholder 6"/>
          <p:cNvSpPr>
            <a:spLocks noGrp="1"/>
          </p:cNvSpPr>
          <p:nvPr>
            <p:ph type="dt" sz="half" idx="10"/>
          </p:nvPr>
        </p:nvSpPr>
        <p:spPr/>
        <p:txBody>
          <a:bodyPr/>
          <a:lstStyle/>
          <a:p>
            <a:fld id="{3AF7543A-E259-478F-9E0D-57BA40E442B7}" type="datetime4">
              <a:rPr lang="en-US" smtClean="0"/>
              <a:pPr/>
              <a:t>October 30,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4ED01-E2A0-4C1E-8E21-014B99041579}" type="slidenum">
              <a:rPr lang="en-US" smtClean="0"/>
              <a:pPr/>
              <a:t>‹Nr.›</a:t>
            </a:fld>
            <a:endParaRPr lang="en-US"/>
          </a:p>
        </p:txBody>
      </p:sp>
      <p:sp>
        <p:nvSpPr>
          <p:cNvPr id="11" name="Content Placeholder 10"/>
          <p:cNvSpPr>
            <a:spLocks noGrp="1"/>
          </p:cNvSpPr>
          <p:nvPr>
            <p:ph sz="quarter" idx="13"/>
          </p:nvPr>
        </p:nvSpPr>
        <p:spPr>
          <a:xfrm>
            <a:off x="457200" y="1659636"/>
            <a:ext cx="4041648" cy="2935224"/>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Date Placeholder 2"/>
          <p:cNvSpPr>
            <a:spLocks noGrp="1"/>
          </p:cNvSpPr>
          <p:nvPr>
            <p:ph type="dt" sz="half" idx="10"/>
          </p:nvPr>
        </p:nvSpPr>
        <p:spPr/>
        <p:txBody>
          <a:bodyPr/>
          <a:lstStyle/>
          <a:p>
            <a:fld id="{1EFB012D-77A1-44B0-BB26-329BA1EE55C9}" type="datetime4">
              <a:rPr lang="en-US" smtClean="0"/>
              <a:pPr/>
              <a:t>October 30,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B7499E-3031-413E-B01E-B94970708CAA}" type="datetime4">
              <a:rPr lang="en-US" smtClean="0"/>
              <a:pPr/>
              <a:t>October 30, 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907090" y="200026"/>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de-DE" smtClean="0"/>
              <a:t>Titelmasterformat durch Klicken bearbeiten</a:t>
            </a:r>
            <a:endParaRPr lang="en-US" dirty="0"/>
          </a:p>
        </p:txBody>
      </p:sp>
      <p:sp>
        <p:nvSpPr>
          <p:cNvPr id="3" name="Content Placeholder 2"/>
          <p:cNvSpPr>
            <a:spLocks noGrp="1"/>
          </p:cNvSpPr>
          <p:nvPr>
            <p:ph idx="1"/>
          </p:nvPr>
        </p:nvSpPr>
        <p:spPr>
          <a:xfrm>
            <a:off x="719140" y="204789"/>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Text Placeholder 3"/>
          <p:cNvSpPr>
            <a:spLocks noGrp="1"/>
          </p:cNvSpPr>
          <p:nvPr>
            <p:ph type="body" sz="half" idx="2"/>
          </p:nvPr>
        </p:nvSpPr>
        <p:spPr>
          <a:xfrm>
            <a:off x="5907090"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DC7EAB0C-2220-4D0E-A0DD-DB7FA0F742F4}" type="datetime4">
              <a:rPr lang="en-US" smtClean="0"/>
              <a:pPr/>
              <a:t>October 30, 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1"/>
            <a:ext cx="5711824" cy="671513"/>
          </a:xfrm>
        </p:spPr>
        <p:txBody>
          <a:bodyPr anchor="b"/>
          <a:lstStyle>
            <a:lvl1pPr algn="ctr">
              <a:lnSpc>
                <a:spcPct val="100000"/>
              </a:lnSpc>
              <a:defRPr sz="2800" b="0"/>
            </a:lvl1pPr>
          </a:lstStyle>
          <a:p>
            <a:r>
              <a:rPr lang="de-DE" smtClean="0"/>
              <a:t>Titelmasterformat durch Klicken bearbeiten</a:t>
            </a:r>
            <a:endParaRPr lang="en-US" dirty="0"/>
          </a:p>
        </p:txBody>
      </p:sp>
      <p:sp>
        <p:nvSpPr>
          <p:cNvPr id="3" name="Picture Placeholder 2"/>
          <p:cNvSpPr>
            <a:spLocks noGrp="1"/>
          </p:cNvSpPr>
          <p:nvPr>
            <p:ph type="pic" idx="1"/>
          </p:nvPr>
        </p:nvSpPr>
        <p:spPr>
          <a:xfrm>
            <a:off x="1508126" y="857251"/>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E3416D63-31BF-4B94-B6C5-E20B2C63F515}" type="datetime4">
              <a:rPr lang="en-US" smtClean="0"/>
              <a:pPr/>
              <a:t>October 30,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A16C3AA4-67BE-44F7-809A-3582401494AF}" type="datetime4">
              <a:rPr lang="en-US" smtClean="0"/>
              <a:pPr/>
              <a:t>October 30,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de-DE" smtClean="0"/>
              <a:t>Titelmasterformat durch Klicken bearbeiten</a:t>
            </a:r>
            <a:endParaRPr lang="en-US" dirty="0"/>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25172EEB-1769-4776-AD69-E7C1260563EB}" type="datetime4">
              <a:rPr lang="en-US" smtClean="0"/>
              <a:pPr/>
              <a:t>October 30,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20"/>
            <a:ext cx="7772400" cy="1102519"/>
          </a:xfrm>
        </p:spPr>
        <p:txBody>
          <a:bodyPr/>
          <a:lstStyle/>
          <a:p>
            <a:r>
              <a:rPr lang="de-DE" smtClean="0"/>
              <a:t>Titelmasterformat durch Klicken bearbeiten</a:t>
            </a:r>
            <a:endParaRPr lang="de-DE"/>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7D0065BE-0657-4A47-90AD-C21C55E16B19}" type="datetime4">
              <a:rPr lang="en-US" smtClean="0"/>
              <a:pPr/>
              <a:t>October 30,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293196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47BB8AF-C16A-4836-A92D-61834B5F0BA5}" type="datetime4">
              <a:rPr lang="en-US" smtClean="0"/>
              <a:pPr/>
              <a:t>October 30,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7898621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umsplatzhalter 3"/>
          <p:cNvSpPr>
            <a:spLocks noGrp="1"/>
          </p:cNvSpPr>
          <p:nvPr>
            <p:ph type="dt" sz="half" idx="10"/>
          </p:nvPr>
        </p:nvSpPr>
        <p:spPr/>
        <p:txBody>
          <a:bodyPr/>
          <a:lstStyle/>
          <a:p>
            <a:fld id="{647D2193-4505-4A75-99BB-880C6989A757}" type="datetime4">
              <a:rPr lang="en-US" smtClean="0"/>
              <a:pPr/>
              <a:t>October 30,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430417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113A18F4-33C3-445B-924C-31108C51719C}" type="datetime4">
              <a:rPr lang="en-US" smtClean="0"/>
              <a:pPr/>
              <a:t>October 30,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6857646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3AF7543A-E259-478F-9E0D-57BA40E442B7}" type="datetime4">
              <a:rPr lang="en-US" smtClean="0"/>
              <a:pPr/>
              <a:t>October 30, 2026</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1014518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1EFB012D-77A1-44B0-BB26-329BA1EE55C9}" type="datetime4">
              <a:rPr lang="en-US" smtClean="0"/>
              <a:pPr/>
              <a:t>October 30, 2026</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0834376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4B7499E-3031-413E-B01E-B94970708CAA}" type="datetime4">
              <a:rPr lang="en-US" smtClean="0"/>
              <a:pPr/>
              <a:t>October 30, 2026</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0681312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3" y="204787"/>
            <a:ext cx="3008313" cy="871538"/>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C7EAB0C-2220-4D0E-A0DD-DB7FA0F742F4}" type="datetime4">
              <a:rPr lang="en-US" smtClean="0"/>
              <a:pPr/>
              <a:t>October 30, 2026</a:t>
            </a:fld>
            <a:endParaRPr lang="en-US"/>
          </a:p>
        </p:txBody>
      </p:sp>
      <p:sp>
        <p:nvSpPr>
          <p:cNvPr id="6" name="Fußzeilenplatzhalter 5"/>
          <p:cNvSpPr>
            <a:spLocks noGrp="1"/>
          </p:cNvSpPr>
          <p:nvPr>
            <p:ph type="ftr" sz="quarter" idx="11"/>
          </p:nvPr>
        </p:nvSpPr>
        <p:spPr/>
        <p:txBody>
          <a:bodyPr/>
          <a:lstStyle/>
          <a:p>
            <a:endParaRPr lang="en-US" dirty="0"/>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29578900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1"/>
            <a:ext cx="5486400" cy="425054"/>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E3416D63-31BF-4B94-B6C5-E20B2C63F515}" type="datetime4">
              <a:rPr lang="en-US" smtClean="0"/>
              <a:pPr/>
              <a:t>October 30,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426255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A16C3AA4-67BE-44F7-809A-3582401494AF}" type="datetime4">
              <a:rPr lang="en-US" smtClean="0"/>
              <a:pPr/>
              <a:t>October 30,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0234614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05980"/>
            <a:ext cx="2057400" cy="4388644"/>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457200" y="205980"/>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25172EEB-1769-4776-AD69-E7C1260563EB}" type="datetime4">
              <a:rPr lang="en-US" smtClean="0"/>
              <a:pPr/>
              <a:t>October 30,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7511028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20"/>
            <a:ext cx="7772400" cy="1102519"/>
          </a:xfrm>
        </p:spPr>
        <p:txBody>
          <a:bodyPr/>
          <a:lstStyle/>
          <a:p>
            <a:r>
              <a:rPr lang="de-DE" smtClean="0"/>
              <a:t>Titelmasterformat durch Klicken bearbeiten</a:t>
            </a:r>
            <a:endParaRPr lang="de-DE"/>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7D0065BE-0657-4A47-90AD-C21C55E16B19}" type="datetime4">
              <a:rPr lang="en-US" smtClean="0"/>
              <a:pPr/>
              <a:t>October 30,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293196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47BB8AF-C16A-4836-A92D-61834B5F0BA5}" type="datetime4">
              <a:rPr lang="en-US" smtClean="0"/>
              <a:pPr/>
              <a:t>October 30,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7898621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umsplatzhalter 3"/>
          <p:cNvSpPr>
            <a:spLocks noGrp="1"/>
          </p:cNvSpPr>
          <p:nvPr>
            <p:ph type="dt" sz="half" idx="10"/>
          </p:nvPr>
        </p:nvSpPr>
        <p:spPr/>
        <p:txBody>
          <a:bodyPr/>
          <a:lstStyle/>
          <a:p>
            <a:fld id="{647D2193-4505-4A75-99BB-880C6989A757}" type="datetime4">
              <a:rPr lang="en-US" smtClean="0"/>
              <a:pPr/>
              <a:t>October 30,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4304179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113A18F4-33C3-445B-924C-31108C51719C}" type="datetime4">
              <a:rPr lang="en-US" smtClean="0"/>
              <a:pPr/>
              <a:t>October 30,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6857646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3AF7543A-E259-478F-9E0D-57BA40E442B7}" type="datetime4">
              <a:rPr lang="en-US" smtClean="0"/>
              <a:pPr/>
              <a:t>October 30, 2026</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1014518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1EFB012D-77A1-44B0-BB26-329BA1EE55C9}" type="datetime4">
              <a:rPr lang="en-US" smtClean="0"/>
              <a:pPr/>
              <a:t>October 30, 2026</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0834376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4B7499E-3031-413E-B01E-B94970708CAA}" type="datetime4">
              <a:rPr lang="en-US" smtClean="0"/>
              <a:pPr/>
              <a:t>October 30, 2026</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0681312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3" y="204787"/>
            <a:ext cx="3008313" cy="871538"/>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C7EAB0C-2220-4D0E-A0DD-DB7FA0F742F4}" type="datetime4">
              <a:rPr lang="en-US" smtClean="0"/>
              <a:pPr/>
              <a:t>October 30, 2026</a:t>
            </a:fld>
            <a:endParaRPr lang="en-US"/>
          </a:p>
        </p:txBody>
      </p:sp>
      <p:sp>
        <p:nvSpPr>
          <p:cNvPr id="6" name="Fußzeilenplatzhalter 5"/>
          <p:cNvSpPr>
            <a:spLocks noGrp="1"/>
          </p:cNvSpPr>
          <p:nvPr>
            <p:ph type="ftr" sz="quarter" idx="11"/>
          </p:nvPr>
        </p:nvSpPr>
        <p:spPr/>
        <p:txBody>
          <a:bodyPr/>
          <a:lstStyle/>
          <a:p>
            <a:endParaRPr lang="en-US" dirty="0"/>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29578900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1"/>
            <a:ext cx="5486400" cy="425054"/>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E3416D63-31BF-4B94-B6C5-E20B2C63F515}" type="datetime4">
              <a:rPr lang="en-US" smtClean="0"/>
              <a:pPr/>
              <a:t>October 30,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4262557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A16C3AA4-67BE-44F7-809A-3582401494AF}" type="datetime4">
              <a:rPr lang="en-US" smtClean="0"/>
              <a:pPr/>
              <a:t>October 30,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0234614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05980"/>
            <a:ext cx="2057400" cy="4388644"/>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457200" y="205980"/>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25172EEB-1769-4776-AD69-E7C1260563EB}" type="datetime4">
              <a:rPr lang="en-US" smtClean="0"/>
              <a:pPr/>
              <a:t>October 30,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751102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de-DE" smtClean="0"/>
              <a:t>Titelmasterformat durch Klicken bearbeiten</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2"/>
          </p:nvPr>
        </p:nvSpPr>
        <p:spPr>
          <a:xfrm>
            <a:off x="6363350" y="4767264"/>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B1B13E-D5AF-485E-81A1-82A140076526}" type="datetime4">
              <a:rPr lang="en-US" smtClean="0"/>
              <a:pPr/>
              <a:t>October 30, 2026</a:t>
            </a:fld>
            <a:endParaRPr lang="en-US" dirty="0"/>
          </a:p>
        </p:txBody>
      </p:sp>
      <p:sp>
        <p:nvSpPr>
          <p:cNvPr id="5" name="Footer Placeholder 4"/>
          <p:cNvSpPr>
            <a:spLocks noGrp="1"/>
          </p:cNvSpPr>
          <p:nvPr>
            <p:ph type="ftr" sz="quarter" idx="3"/>
          </p:nvPr>
        </p:nvSpPr>
        <p:spPr>
          <a:xfrm>
            <a:off x="659168" y="4767264"/>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p>
        </p:txBody>
      </p:sp>
      <p:sp>
        <p:nvSpPr>
          <p:cNvPr id="6" name="Slide Number Placeholder 5"/>
          <p:cNvSpPr>
            <a:spLocks noGrp="1"/>
          </p:cNvSpPr>
          <p:nvPr>
            <p:ph type="sldNum" sz="quarter" idx="4"/>
          </p:nvPr>
        </p:nvSpPr>
        <p:spPr>
          <a:xfrm>
            <a:off x="8543281" y="4767264"/>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2754ED01-E2A0-4C1E-8E21-014B99041579}" type="slidenum">
              <a:rPr lang="en-US" smtClean="0"/>
              <a:pPr/>
              <a:t>‹Nr.›</a:t>
            </a:fld>
            <a:endParaRPr lang="en-US" dirty="0"/>
          </a:p>
        </p:txBody>
      </p:sp>
      <p:sp>
        <p:nvSpPr>
          <p:cNvPr id="7" name="Oval 6"/>
          <p:cNvSpPr/>
          <p:nvPr/>
        </p:nvSpPr>
        <p:spPr>
          <a:xfrm>
            <a:off x="8457760" y="4874539"/>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39"/>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2B1B13E-D5AF-485E-81A1-82A140076526}" type="datetime4">
              <a:rPr lang="en-US" smtClean="0"/>
              <a:pPr/>
              <a:t>October 30, 2026</a:t>
            </a:fld>
            <a:endParaRPr lang="en-US" dirty="0"/>
          </a:p>
        </p:txBody>
      </p:sp>
      <p:sp>
        <p:nvSpPr>
          <p:cNvPr id="5" name="Fußzeilenplatzhalt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Foliennummernplatzhalt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26015274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2B1B13E-D5AF-485E-81A1-82A140076526}" type="datetime4">
              <a:rPr lang="en-US" smtClean="0"/>
              <a:pPr/>
              <a:t>October 30, 2026</a:t>
            </a:fld>
            <a:endParaRPr lang="en-US" dirty="0"/>
          </a:p>
        </p:txBody>
      </p:sp>
      <p:sp>
        <p:nvSpPr>
          <p:cNvPr id="5" name="Fußzeilenplatzhalt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Foliennummernplatzhalt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260152748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9.jpe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3.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jpeg"/><Relationship Id="rId7" Type="http://schemas.openxmlformats.org/officeDocument/2006/relationships/image" Target="../media/image40.jpeg"/><Relationship Id="rId2" Type="http://schemas.openxmlformats.org/officeDocument/2006/relationships/notesSlide" Target="../notesSlides/notesSlide16.xml"/><Relationship Id="rId1" Type="http://schemas.openxmlformats.org/officeDocument/2006/relationships/slideLayout" Target="../slideLayouts/slideLayout2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jpe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8.xml"/><Relationship Id="rId1" Type="http://schemas.openxmlformats.org/officeDocument/2006/relationships/slideLayout" Target="../slideLayouts/slideLayout23.xml"/><Relationship Id="rId4" Type="http://schemas.openxmlformats.org/officeDocument/2006/relationships/image" Target="../media/image44.jpe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23.xml"/><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4.png"/></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57.png"/><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60.png"/><Relationship Id="rId4" Type="http://schemas.openxmlformats.org/officeDocument/2006/relationships/image" Target="../media/image59.pn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73.png"/><Relationship Id="rId4" Type="http://schemas.openxmlformats.org/officeDocument/2006/relationships/image" Target="../media/image7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Revision12Asset8" Type="http://schemas.openxmlformats.org/officeDocument/2006/relationships/image" Target="../media/revision12-image4.svg"/><Relationship Id="rId3" Type="http://schemas.openxmlformats.org/officeDocument/2006/relationships/image" Target="../media/image74.png"/><Relationship Id="rIdRevision12Asset2" Type="http://schemas.openxmlformats.org/officeDocument/2006/relationships/image" Target="../media/revision12-image.svg"/><Relationship Id="rId2" Type="http://schemas.openxmlformats.org/officeDocument/2006/relationships/notesSlide" Target="../notesSlides/notesSlide31.xml"/><Relationship Id="rIdRevision12Asset6" Type="http://schemas.openxmlformats.org/officeDocument/2006/relationships/image" Target="../media/revision12-image3.svg"/><Relationship Id="rId1" Type="http://schemas.openxmlformats.org/officeDocument/2006/relationships/slideLayout" Target="../slideLayouts/slideLayout23.xml"/><Relationship Id="rIdRevision12Asset4" Type="http://schemas.openxmlformats.org/officeDocument/2006/relationships/image" Target="../media/revision12-image2.svg"/></Relationships>
</file>

<file path=ppt/slides/_rels/slide32.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32.xml"/><Relationship Id="rId1" Type="http://schemas.openxmlformats.org/officeDocument/2006/relationships/slideLayout" Target="../slideLayouts/slideLayout23.xml"/><Relationship Id="rId6" Type="http://schemas.openxmlformats.org/officeDocument/2006/relationships/image" Target="../media/image78.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35.xml"/><Relationship Id="rId1" Type="http://schemas.openxmlformats.org/officeDocument/2006/relationships/slideLayout" Target="../slideLayouts/slideLayout23.xml"/><Relationship Id="rId5" Type="http://schemas.openxmlformats.org/officeDocument/2006/relationships/image" Target="../media/image85.png"/><Relationship Id="rId4" Type="http://schemas.openxmlformats.org/officeDocument/2006/relationships/image" Target="../media/image36.jpeg"/></Relationships>
</file>

<file path=ppt/slides/_rels/slide36.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36.xml"/><Relationship Id="rId1" Type="http://schemas.openxmlformats.org/officeDocument/2006/relationships/slideLayout" Target="../slideLayouts/slideLayout23.xml"/><Relationship Id="rId4" Type="http://schemas.openxmlformats.org/officeDocument/2006/relationships/image" Target="../media/image85.png"/></Relationships>
</file>

<file path=ppt/slides/_rels/slide3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7.xml"/><Relationship Id="rId1" Type="http://schemas.openxmlformats.org/officeDocument/2006/relationships/slideLayout" Target="../slideLayouts/slideLayout23.xml"/><Relationship Id="rId4" Type="http://schemas.openxmlformats.org/officeDocument/2006/relationships/image" Target="../media/image88.png"/></Relationships>
</file>

<file path=ppt/slides/_rels/slide3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8.xml"/><Relationship Id="rId1" Type="http://schemas.openxmlformats.org/officeDocument/2006/relationships/slideLayout" Target="../slideLayouts/slideLayout23.xml"/><Relationship Id="rId4" Type="http://schemas.openxmlformats.org/officeDocument/2006/relationships/image" Target="../media/image90.png"/></Relationships>
</file>

<file path=ppt/slides/_rels/slide3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9.xml"/><Relationship Id="rId1" Type="http://schemas.openxmlformats.org/officeDocument/2006/relationships/slideLayout" Target="../slideLayouts/slideLayout23.xml"/><Relationship Id="rId5" Type="http://schemas.openxmlformats.org/officeDocument/2006/relationships/image" Target="../media/image92.png"/><Relationship Id="rId4" Type="http://schemas.openxmlformats.org/officeDocument/2006/relationships/image" Target="../media/image91.png"/></Relationships>
</file>

<file path=ppt/slides/_rels/slide40.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3.png"/><Relationship Id="rId7" Type="http://schemas.openxmlformats.org/officeDocument/2006/relationships/image" Target="../media/image96.png"/><Relationship Id="rId2" Type="http://schemas.openxmlformats.org/officeDocument/2006/relationships/notesSlide" Target="../notesSlides/notesSlide40.xml"/><Relationship Id="rId1" Type="http://schemas.openxmlformats.org/officeDocument/2006/relationships/slideLayout" Target="../slideLayouts/slideLayout23.xml"/><Relationship Id="rId6" Type="http://schemas.openxmlformats.org/officeDocument/2006/relationships/image" Target="../media/image95.png"/><Relationship Id="rId5" Type="http://schemas.openxmlformats.org/officeDocument/2006/relationships/image" Target="../media/image94.png"/><Relationship Id="rId10" Type="http://schemas.openxmlformats.org/officeDocument/2006/relationships/image" Target="../media/image99.png"/><Relationship Id="rId4" Type="http://schemas.openxmlformats.org/officeDocument/2006/relationships/image" Target="../media/image40.jpeg"/><Relationship Id="rId9" Type="http://schemas.openxmlformats.org/officeDocument/2006/relationships/image" Target="../media/image9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107504" y="-73091"/>
            <a:ext cx="8928992" cy="1107996"/>
          </a:xfrm>
          <a:prstGeom prst="rect">
            <a:avLst/>
          </a:prstGeom>
        </p:spPr>
        <p:txBody>
          <a:bodyPr wrap="square">
            <a:spAutoFit/>
          </a:bodyPr>
          <a:lstStyle/>
          <a:p>
            <a:pPr algn="ctr"/>
            <a:r>
              <a:rPr lang="de-DE" sz="6600" b="1" dirty="0" smtClean="0"/>
              <a:t>Nichtstandardanalysis</a:t>
            </a:r>
          </a:p>
        </p:txBody>
      </p:sp>
      <p:sp>
        <p:nvSpPr>
          <p:cNvPr id="5" name="Textfeld 4"/>
          <p:cNvSpPr txBox="1"/>
          <p:nvPr/>
        </p:nvSpPr>
        <p:spPr>
          <a:xfrm>
            <a:off x="107504" y="843558"/>
            <a:ext cx="8928992" cy="923330"/>
          </a:xfrm>
          <a:prstGeom prst="rect">
            <a:avLst/>
          </a:prstGeom>
          <a:noFill/>
        </p:spPr>
        <p:txBody>
          <a:bodyPr wrap="square" rtlCol="0">
            <a:spAutoFit/>
          </a:bodyPr>
          <a:lstStyle/>
          <a:p>
            <a:pPr algn="ctr"/>
            <a:r>
              <a:rPr lang="de-DE" sz="5400" dirty="0" smtClean="0">
                <a:solidFill>
                  <a:srgbClr val="FF0000"/>
                </a:solidFill>
              </a:rPr>
              <a:t>Ein Über- und </a:t>
            </a:r>
            <a:r>
              <a:rPr lang="de-DE" sz="5400" dirty="0" smtClean="0">
                <a:solidFill>
                  <a:srgbClr val="FF0000"/>
                </a:solidFill>
              </a:rPr>
              <a:t>Rückblick I</a:t>
            </a:r>
            <a:endParaRPr lang="de-DE" sz="5400" dirty="0">
              <a:solidFill>
                <a:srgbClr val="FF0000"/>
              </a:solidFill>
            </a:endParaRPr>
          </a:p>
        </p:txBody>
      </p:sp>
      <p:pic>
        <p:nvPicPr>
          <p:cNvPr id="6" name="Picture 2" descr="Abraham Robinson 1918&amp;#x2013;1974"/>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0" r="100000">
                        <a14:foregroundMark x1="23306" y1="29336" x2="29810" y2="39299"/>
                      </a14:backgroundRemoval>
                    </a14:imgEffect>
                  </a14:imgLayer>
                </a14:imgProps>
              </a:ext>
              <a:ext uri="{28A0092B-C50C-407E-A947-70E740481C1C}">
                <a14:useLocalDpi xmlns:a14="http://schemas.microsoft.com/office/drawing/2010/main" val="0"/>
              </a:ext>
            </a:extLst>
          </a:blip>
          <a:srcRect b="2200"/>
          <a:stretch/>
        </p:blipFill>
        <p:spPr bwMode="auto">
          <a:xfrm flipH="1">
            <a:off x="-36512" y="1419624"/>
            <a:ext cx="2592288" cy="3723878"/>
          </a:xfrm>
          <a:prstGeom prst="rect">
            <a:avLst/>
          </a:prstGeom>
          <a:noFill/>
          <a:effectLst>
            <a:glow rad="63500">
              <a:schemeClr val="accent6">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27784" y="1707655"/>
            <a:ext cx="6048672" cy="3293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59914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899592" y="1823794"/>
            <a:ext cx="7632848" cy="1107996"/>
          </a:xfrm>
          <a:prstGeom prst="rect">
            <a:avLst/>
          </a:prstGeom>
          <a:noFill/>
        </p:spPr>
        <p:txBody>
          <a:bodyPr wrap="square" rtlCol="0">
            <a:spAutoFit/>
          </a:bodyPr>
          <a:lstStyle/>
          <a:p>
            <a:pPr algn="ctr"/>
            <a:r>
              <a:rPr lang="de-DE" sz="6600" dirty="0" smtClean="0"/>
              <a:t>Einführung</a:t>
            </a:r>
            <a:endParaRPr lang="de-DE" sz="6600" dirty="0"/>
          </a:p>
        </p:txBody>
      </p:sp>
    </p:spTree>
    <p:extLst>
      <p:ext uri="{BB962C8B-B14F-4D97-AF65-F5344CB8AC3E}">
        <p14:creationId xmlns:p14="http://schemas.microsoft.com/office/powerpoint/2010/main" val="38675930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braham Robinson 1918&amp;#x2013;197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350" y="285772"/>
            <a:ext cx="2571750" cy="3777476"/>
          </a:xfrm>
          <a:prstGeom prst="rect">
            <a:avLst/>
          </a:prstGeom>
          <a:noFill/>
          <a:extLst>
            <a:ext uri="{909E8E84-426E-40DD-AFC4-6F175D3DCCD1}">
              <a14:hiddenFill xmlns:a14="http://schemas.microsoft.com/office/drawing/2010/main">
                <a:solidFill>
                  <a:srgbClr val="FFFFFF"/>
                </a:solidFill>
              </a14:hiddenFill>
            </a:ext>
          </a:extLst>
        </p:spPr>
      </p:pic>
      <p:sp>
        <p:nvSpPr>
          <p:cNvPr id="7" name="Textfeld 6"/>
          <p:cNvSpPr txBox="1"/>
          <p:nvPr/>
        </p:nvSpPr>
        <p:spPr>
          <a:xfrm>
            <a:off x="5943600" y="4229100"/>
            <a:ext cx="3143250" cy="640080"/>
          </a:xfrm>
          <a:prstGeom prst="rect">
            <a:avLst/>
          </a:prstGeom>
          <a:noFill/>
        </p:spPr>
        <p:txBody>
          <a:bodyPr wrap="square" lIns="0" tIns="0" rIns="0" bIns="0" anchor="t">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defRPr sz="1800">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Abraham Robinson</a:t>
            </a:r>
          </a:p>
          <a:p>
            <a:pPr algn="ctr">
              <a:defRPr sz="180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(1918–1974)</a:t>
            </a:r>
          </a:p>
        </p:txBody>
      </p:sp>
      <p:grpSp>
        <p:nvGrpSpPr>
          <p:cNvPr id="9" name="Schritt 1: Zitat"/>
          <p:cNvGrpSpPr/>
          <p:nvPr/>
        </p:nvGrpSpPr>
        <p:grpSpPr>
          <a:xfrm>
            <a:off x="342900" y="285750"/>
            <a:ext cx="5381625" cy="1836812"/>
            <a:chOff x="342900" y="285750"/>
            <a:chExt cx="5381625" cy="1836812"/>
          </a:xfrm>
        </p:grpSpPr>
        <p:sp>
          <p:nvSpPr>
            <p:cNvPr id="3" name="Rechteck 2"/>
            <p:cNvSpPr/>
            <p:nvPr/>
          </p:nvSpPr>
          <p:spPr>
            <a:xfrm>
              <a:off x="342900" y="285750"/>
              <a:ext cx="5381625" cy="1371600"/>
            </a:xfrm>
            <a:prstGeom prst="rect">
              <a:avLst/>
            </a:prstGeom>
          </p:spPr>
          <p:txBody>
            <a:bodyPr wrap="square" lIns="0" tIns="0" rIns="0" bIns="0" anchor="t">
              <a:noAutofit/>
            </a:bodyPr>
            <a:lstStyle>
              <a:defPPr algn="just">
                <a:defRPr sz="1600">
                  <a:solidFill>
                    <a:srgbClr val="000000"/>
                  </a:solidFill>
                  <a:latin typeface="Times New Roman"/>
                  <a:ea typeface="Times New Roman"/>
                  <a:cs typeface="Times New Roman"/>
                </a:defRPr>
              </a:defPPr>
              <a:lvl1pPr algn="just">
                <a:defRPr sz="1600">
                  <a:solidFill>
                    <a:srgbClr val="000000"/>
                  </a:solidFill>
                  <a:latin typeface="Times New Roman"/>
                  <a:ea typeface="Times New Roman"/>
                  <a:cs typeface="Times New Roman"/>
                </a:defRPr>
              </a:lvl1pPr>
              <a:lvl2pPr algn="just">
                <a:defRPr sz="1600">
                  <a:solidFill>
                    <a:srgbClr val="000000"/>
                  </a:solidFill>
                  <a:latin typeface="Times New Roman"/>
                  <a:ea typeface="Times New Roman"/>
                  <a:cs typeface="Times New Roman"/>
                </a:defRPr>
              </a:lvl2pPr>
              <a:lvl3pPr algn="just">
                <a:defRPr sz="1600">
                  <a:solidFill>
                    <a:srgbClr val="000000"/>
                  </a:solidFill>
                  <a:latin typeface="Times New Roman"/>
                  <a:ea typeface="Times New Roman"/>
                  <a:cs typeface="Times New Roman"/>
                </a:defRPr>
              </a:lvl3pPr>
              <a:lvl4pPr algn="just">
                <a:defRPr sz="1600">
                  <a:solidFill>
                    <a:srgbClr val="000000"/>
                  </a:solidFill>
                  <a:latin typeface="Times New Roman"/>
                  <a:ea typeface="Times New Roman"/>
                  <a:cs typeface="Times New Roman"/>
                </a:defRPr>
              </a:lvl4pPr>
              <a:lvl5pPr algn="just">
                <a:defRPr sz="1600">
                  <a:solidFill>
                    <a:srgbClr val="000000"/>
                  </a:solidFill>
                  <a:latin typeface="Times New Roman"/>
                  <a:ea typeface="Times New Roman"/>
                  <a:cs typeface="Times New Roman"/>
                </a:defRPr>
              </a:lvl5pPr>
              <a:lvl6pPr algn="just">
                <a:defRPr sz="1600">
                  <a:solidFill>
                    <a:srgbClr val="000000"/>
                  </a:solidFill>
                  <a:latin typeface="Times New Roman"/>
                  <a:ea typeface="Times New Roman"/>
                  <a:cs typeface="Times New Roman"/>
                </a:defRPr>
              </a:lvl6pPr>
              <a:lvl7pPr algn="just">
                <a:defRPr sz="1600">
                  <a:solidFill>
                    <a:srgbClr val="000000"/>
                  </a:solidFill>
                  <a:latin typeface="Times New Roman"/>
                  <a:ea typeface="Times New Roman"/>
                  <a:cs typeface="Times New Roman"/>
                </a:defRPr>
              </a:lvl7pPr>
              <a:lvl8pPr algn="just">
                <a:defRPr sz="1600">
                  <a:solidFill>
                    <a:srgbClr val="000000"/>
                  </a:solidFill>
                  <a:latin typeface="Times New Roman"/>
                  <a:ea typeface="Times New Roman"/>
                  <a:cs typeface="Times New Roman"/>
                </a:defRPr>
              </a:lvl8pPr>
              <a:lvl9pPr algn="just">
                <a:defRPr sz="1600">
                  <a:solidFill>
                    <a:srgbClr val="000000"/>
                  </a:solidFill>
                  <a:latin typeface="Times New Roman"/>
                  <a:ea typeface="Times New Roman"/>
                  <a:cs typeface="Times New Roman"/>
                </a:defRPr>
              </a:lvl9pPr>
            </a:lstStyle>
            <a:p>
              <a:pPr algn="just">
                <a:lnSpc>
                  <a:spcPct val="105000"/>
                </a:lnSpc>
                <a:buNone/>
                <a:defRPr sz="1600">
                  <a:solidFill>
                    <a:srgbClr val="000000"/>
                  </a:solidFill>
                  <a:latin typeface="Times New Roman"/>
                  <a:ea typeface="Times New Roman"/>
                  <a:cs typeface="Times New Roman"/>
                </a:defRPr>
              </a:pPr>
              <a:r>
                <a:rPr sz="1600">
                  <a:solidFill>
                    <a:srgbClr val="000000"/>
                  </a:solidFill>
                  <a:latin typeface="Times New Roman"/>
                  <a:ea typeface="Times New Roman"/>
                  <a:cs typeface="Times New Roman"/>
                </a:rPr>
                <a:t>“In the fall of 1960 it occurred to me that the concepts and methods of contemporary Mathematical Logic are capable of providing a suitable framework for the development of the Differential and Integral Calculus by means of infinitely small and infinitely large numbers.”</a:t>
              </a:r>
              <a:endParaRPr sz="1400">
                <a:latin typeface="Times New Roman"/>
                <a:ea typeface="Times New Roman"/>
                <a:cs typeface="Times New Roman"/>
              </a:endParaRPr>
            </a:p>
          </p:txBody>
        </p:sp>
        <p:sp>
          <p:nvSpPr>
            <p:cNvPr id="8" name="add-source-robinson">
              <a:extLst>
                <a:ext uri="{FF2B5EF4-FFF2-40B4-BE49-F238E27FC236}">
                  <a16:creationId xmlns:a16="http://schemas.microsoft.com/office/drawing/2014/main" xmlns="" id="{9193E614-8DD4-4C7A-AD65-277AFE900631}"/>
                </a:ext>
              </a:extLst>
            </p:cNvPr>
            <p:cNvSpPr>
              <a:spLocks noGrp="1"/>
            </p:cNvSpPr>
            <p:nvPr/>
          </p:nvSpPr>
          <p:spPr>
            <a:xfrm>
              <a:off x="342900" y="1779662"/>
              <a:ext cx="5381625" cy="34290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defRPr sz="1050">
                  <a:solidFill>
                    <a:srgbClr val="000000"/>
                  </a:solidFill>
                  <a:latin typeface="Times New Roman"/>
                  <a:ea typeface="Times New Roman"/>
                  <a:cs typeface="Times New Roman"/>
                </a:defRPr>
              </a:pPr>
              <a:r>
                <a:rPr sz="1050" dirty="0">
                  <a:solidFill>
                    <a:srgbClr val="000000"/>
                  </a:solidFill>
                  <a:latin typeface="Times New Roman"/>
                  <a:ea typeface="Times New Roman"/>
                  <a:cs typeface="Times New Roman"/>
                </a:rPr>
                <a:t>Abraham Robinson, Non-standard Analysis, </a:t>
              </a:r>
              <a:r>
                <a:rPr sz="1050" dirty="0" err="1" smtClean="0">
                  <a:solidFill>
                    <a:srgbClr val="000000"/>
                  </a:solidFill>
                  <a:latin typeface="Times New Roman"/>
                  <a:ea typeface="Times New Roman"/>
                  <a:cs typeface="Times New Roman"/>
                </a:rPr>
                <a:t>Vorwort</a:t>
              </a:r>
              <a:r>
                <a:rPr lang="en-CA" dirty="0"/>
                <a:t> </a:t>
              </a:r>
              <a:r>
                <a:rPr lang="en-CA" dirty="0" smtClean="0"/>
                <a:t>(</a:t>
              </a:r>
              <a:r>
                <a:rPr sz="1050" dirty="0" err="1" smtClean="0">
                  <a:solidFill>
                    <a:srgbClr val="000000"/>
                  </a:solidFill>
                  <a:latin typeface="Times New Roman"/>
                  <a:ea typeface="Times New Roman"/>
                  <a:cs typeface="Times New Roman"/>
                </a:rPr>
                <a:t>Nachdruck</a:t>
              </a:r>
              <a:r>
                <a:rPr sz="1050" dirty="0" smtClean="0">
                  <a:solidFill>
                    <a:srgbClr val="000000"/>
                  </a:solidFill>
                  <a:latin typeface="Times New Roman"/>
                  <a:ea typeface="Times New Roman"/>
                  <a:cs typeface="Times New Roman"/>
                </a:rPr>
                <a:t> </a:t>
              </a:r>
              <a:r>
                <a:rPr sz="1050" dirty="0">
                  <a:solidFill>
                    <a:srgbClr val="000000"/>
                  </a:solidFill>
                  <a:latin typeface="Times New Roman"/>
                  <a:ea typeface="Times New Roman"/>
                  <a:cs typeface="Times New Roman"/>
                </a:rPr>
                <a:t>Princeton 1996, S. xiii).</a:t>
              </a:r>
            </a:p>
          </p:txBody>
        </p:sp>
      </p:grpSp>
      <p:grpSp>
        <p:nvGrpSpPr>
          <p:cNvPr id="10" name="Schritt 2: Bücher"/>
          <p:cNvGrpSpPr/>
          <p:nvPr/>
        </p:nvGrpSpPr>
        <p:grpSpPr>
          <a:xfrm>
            <a:off x="755576" y="2355726"/>
            <a:ext cx="4634053" cy="2545457"/>
            <a:chOff x="943013" y="2543175"/>
            <a:chExt cx="4161707" cy="2286000"/>
          </a:xfrm>
        </p:grpSpPr>
        <p:pic>
          <p:nvPicPr>
            <p:cNvPr id="5" name="Picture 4" descr="Non-Standard Analysis von Robinson, Abraham: Near Fine Hardcover (1966)  First edition. | Evening Star Books, ABAA/ILAB"/>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3013" y="2543175"/>
              <a:ext cx="1593933" cy="2286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Introduction to Model Theory and to the Metamathematics of Algebra von  Robinson, Abraham: Very Good Hardcover (1963) First edition. | Evening Star  Books, ABAA/ILAB"/>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691" t="2796" r="4081" b="2119"/>
            <a:stretch/>
          </p:blipFill>
          <p:spPr bwMode="auto">
            <a:xfrm>
              <a:off x="3510834" y="2543175"/>
              <a:ext cx="1593886" cy="2286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34931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t="6610"/>
          <a:stretch/>
        </p:blipFill>
        <p:spPr bwMode="auto">
          <a:xfrm>
            <a:off x="762000" y="-20538"/>
            <a:ext cx="7620000" cy="1635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visible-citation-4-8">
            <a:extLst>
              <a:ext uri="{FF2B5EF4-FFF2-40B4-BE49-F238E27FC236}">
                <a16:creationId xmlns:a16="http://schemas.microsoft.com/office/drawing/2014/main" xmlns="" id="{343EE12E-2CDA-413D-B0B2-F5B8C79FBD86}"/>
              </a:ext>
            </a:extLst>
          </p:cNvPr>
          <p:cNvSpPr>
            <a:spLocks noGrp="1"/>
          </p:cNvSpPr>
          <p:nvPr/>
        </p:nvSpPr>
        <p:spPr>
          <a:xfrm>
            <a:off x="179512" y="4876006"/>
            <a:ext cx="8458200" cy="152400"/>
          </a:xfrm>
          <a:prstGeom prst="rect">
            <a:avLst/>
          </a:prstGeom>
          <a:noFill/>
          <a:ln w="0">
            <a:noFill/>
            <a:prstDash val="solid"/>
          </a:ln>
        </p:spPr>
        <p:txBody>
          <a:bodyPr wrap="square" lIns="0" tIns="0" rIns="0" bIns="0" anchor="t">
            <a:noAutofit/>
          </a:bodyPr>
          <a:lstStyle>
            <a:defPPr algn="l">
              <a:defRPr sz="900">
                <a:solidFill>
                  <a:srgbClr val="000000"/>
                </a:solidFill>
                <a:latin typeface="Times New Roman"/>
                <a:ea typeface="Times New Roman"/>
                <a:cs typeface="Times New Roman"/>
              </a:defRPr>
            </a:defPPr>
            <a:lvl1pPr algn="l">
              <a:defRPr sz="900">
                <a:solidFill>
                  <a:srgbClr val="000000"/>
                </a:solidFill>
                <a:latin typeface="Times New Roman"/>
                <a:ea typeface="Times New Roman"/>
                <a:cs typeface="Times New Roman"/>
              </a:defRPr>
            </a:lvl1pPr>
            <a:lvl2pPr algn="l">
              <a:defRPr sz="900">
                <a:solidFill>
                  <a:srgbClr val="000000"/>
                </a:solidFill>
                <a:latin typeface="Times New Roman"/>
                <a:ea typeface="Times New Roman"/>
                <a:cs typeface="Times New Roman"/>
              </a:defRPr>
            </a:lvl2pPr>
            <a:lvl3pPr algn="l">
              <a:defRPr sz="900">
                <a:solidFill>
                  <a:srgbClr val="000000"/>
                </a:solidFill>
                <a:latin typeface="Times New Roman"/>
                <a:ea typeface="Times New Roman"/>
                <a:cs typeface="Times New Roman"/>
              </a:defRPr>
            </a:lvl3pPr>
            <a:lvl4pPr algn="l">
              <a:defRPr sz="900">
                <a:solidFill>
                  <a:srgbClr val="000000"/>
                </a:solidFill>
                <a:latin typeface="Times New Roman"/>
                <a:ea typeface="Times New Roman"/>
                <a:cs typeface="Times New Roman"/>
              </a:defRPr>
            </a:lvl4pPr>
            <a:lvl5pPr algn="l">
              <a:defRPr sz="900">
                <a:solidFill>
                  <a:srgbClr val="000000"/>
                </a:solidFill>
                <a:latin typeface="Times New Roman"/>
                <a:ea typeface="Times New Roman"/>
                <a:cs typeface="Times New Roman"/>
              </a:defRPr>
            </a:lvl5pPr>
            <a:lvl6pPr algn="l">
              <a:defRPr sz="900">
                <a:solidFill>
                  <a:srgbClr val="000000"/>
                </a:solidFill>
                <a:latin typeface="Times New Roman"/>
                <a:ea typeface="Times New Roman"/>
                <a:cs typeface="Times New Roman"/>
              </a:defRPr>
            </a:lvl6pPr>
            <a:lvl7pPr algn="l">
              <a:defRPr sz="900">
                <a:solidFill>
                  <a:srgbClr val="000000"/>
                </a:solidFill>
                <a:latin typeface="Times New Roman"/>
                <a:ea typeface="Times New Roman"/>
                <a:cs typeface="Times New Roman"/>
              </a:defRPr>
            </a:lvl7pPr>
            <a:lvl8pPr algn="l">
              <a:defRPr sz="900">
                <a:solidFill>
                  <a:srgbClr val="000000"/>
                </a:solidFill>
                <a:latin typeface="Times New Roman"/>
                <a:ea typeface="Times New Roman"/>
                <a:cs typeface="Times New Roman"/>
              </a:defRPr>
            </a:lvl8pPr>
            <a:lvl9pPr algn="l">
              <a:defRPr sz="900">
                <a:solidFill>
                  <a:srgbClr val="000000"/>
                </a:solidFill>
                <a:latin typeface="Times New Roman"/>
                <a:ea typeface="Times New Roman"/>
                <a:cs typeface="Times New Roman"/>
              </a:defRPr>
            </a:lvl9pPr>
          </a:lstStyle>
          <a:p>
            <a:pPr algn="l">
              <a:lnSpc>
                <a:spcPct val="105000"/>
              </a:lnSpc>
              <a:buNone/>
              <a:defRPr sz="900">
                <a:solidFill>
                  <a:srgbClr val="000000"/>
                </a:solidFill>
                <a:latin typeface="Times New Roman"/>
                <a:ea typeface="Times New Roman"/>
                <a:cs typeface="Times New Roman"/>
              </a:defRPr>
            </a:pPr>
            <a:r>
              <a:rPr sz="900">
                <a:solidFill>
                  <a:srgbClr val="000000"/>
                </a:solidFill>
                <a:latin typeface="Times New Roman"/>
                <a:ea typeface="Times New Roman"/>
                <a:cs typeface="Times New Roman"/>
              </a:rPr>
              <a:t>Schmieden / Laugwitz, „Eine Erweiterung der Infinitesimalrechnung“, Math. Z. 69 (1958), S. 1–39.</a:t>
            </a:r>
          </a:p>
        </p:txBody>
      </p:sp>
      <p:grpSp>
        <p:nvGrpSpPr>
          <p:cNvPr id="9" name="Schritt 1: Curt Schmieden"/>
          <p:cNvGrpSpPr/>
          <p:nvPr/>
        </p:nvGrpSpPr>
        <p:grpSpPr>
          <a:xfrm>
            <a:off x="571500" y="1707654"/>
            <a:ext cx="4000500" cy="2895600"/>
            <a:chOff x="571500" y="1851670"/>
            <a:chExt cx="4000500" cy="2895600"/>
          </a:xfrm>
        </p:grpSpPr>
        <p:pic>
          <p:nvPicPr>
            <p:cNvPr id="4" name="Picture 4" descr="Kalenderblatt März 2017 - Mathematisch-Naturwissenschaftliche Fakultät -  Universität Rostock"/>
            <p:cNvPicPr>
              <a:picLocks noChangeAspect="1" noChangeArrowheads="1"/>
            </p:cNvPicPr>
            <p:nvPr/>
          </p:nvPicPr>
          <p:blipFill>
            <a:blip r:embed="rId4">
              <a:extLst>
                <a:ext uri="{28A0092B-C50C-407E-A947-70E740481C1C}">
                  <a14:useLocalDpi xmlns:a14="http://schemas.microsoft.com/office/drawing/2010/main" val="0"/>
                </a:ext>
              </a:extLst>
            </a:blip>
            <a:srcRect t="4667" b="4667"/>
            <a:stretch>
              <a:fillRect/>
            </a:stretch>
          </p:blipFill>
          <p:spPr bwMode="auto">
            <a:xfrm>
              <a:off x="1714500" y="1851670"/>
              <a:ext cx="1714500" cy="2286000"/>
            </a:xfrm>
            <a:prstGeom prst="rect">
              <a:avLst/>
            </a:prstGeom>
            <a:noFill/>
            <a:extLst>
              <a:ext uri="{909E8E84-426E-40DD-AFC4-6F175D3DCCD1}">
                <a14:hiddenFill xmlns:a14="http://schemas.microsoft.com/office/drawing/2010/main">
                  <a:solidFill>
                    <a:srgbClr val="FFFFFF"/>
                  </a:solidFill>
                </a14:hiddenFill>
              </a:ext>
            </a:extLst>
          </p:spPr>
        </p:pic>
        <p:sp>
          <p:nvSpPr>
            <p:cNvPr id="6" name="add-caption-Curt Schmieden">
              <a:extLst>
                <a:ext uri="{FF2B5EF4-FFF2-40B4-BE49-F238E27FC236}">
                  <a16:creationId xmlns:a16="http://schemas.microsoft.com/office/drawing/2014/main" xmlns="" id="{4BD47C51-4CAF-4227-A511-47F117140006}"/>
                </a:ext>
              </a:extLst>
            </p:cNvPr>
            <p:cNvSpPr>
              <a:spLocks noGrp="1"/>
            </p:cNvSpPr>
            <p:nvPr/>
          </p:nvSpPr>
          <p:spPr>
            <a:xfrm>
              <a:off x="571500" y="4232920"/>
              <a:ext cx="4000500" cy="514350"/>
            </a:xfrm>
            <a:prstGeom prst="rect">
              <a:avLst/>
            </a:prstGeom>
            <a:noFill/>
            <a:ln w="0">
              <a:noFill/>
              <a:prstDash val="solid"/>
            </a:ln>
          </p:spPr>
          <p:txBody>
            <a:bodyPr wrap="square" lIns="0" tIns="0" rIns="0" bIns="0" anchor="t">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defRPr sz="1800">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Curt Schmieden</a:t>
              </a:r>
            </a:p>
            <a:p>
              <a:pPr algn="ctr">
                <a:defRPr sz="180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(1905–1991)</a:t>
              </a:r>
            </a:p>
          </p:txBody>
        </p:sp>
      </p:grpSp>
      <p:grpSp>
        <p:nvGrpSpPr>
          <p:cNvPr id="10" name="Schritt 2: Detlef Laugwitz"/>
          <p:cNvGrpSpPr/>
          <p:nvPr/>
        </p:nvGrpSpPr>
        <p:grpSpPr>
          <a:xfrm>
            <a:off x="4572000" y="1707654"/>
            <a:ext cx="4000500" cy="2895600"/>
            <a:chOff x="4572000" y="1851670"/>
            <a:chExt cx="4000500" cy="2895600"/>
          </a:xfrm>
        </p:grpSpPr>
        <p:pic>
          <p:nvPicPr>
            <p:cNvPr id="3" name="Picture 2" descr="https://upload.wikimedia.org/wikipedia/commons/thumb/d/d0/Detlef_Laugwitz.jpg/250px-Detlef_Laugwitz.jpg"/>
            <p:cNvPicPr>
              <a:picLocks noChangeAspect="1" noChangeArrowheads="1"/>
            </p:cNvPicPr>
            <p:nvPr/>
          </p:nvPicPr>
          <p:blipFill>
            <a:blip r:embed="rId5">
              <a:extLst>
                <a:ext uri="{28A0092B-C50C-407E-A947-70E740481C1C}">
                  <a14:useLocalDpi xmlns:a14="http://schemas.microsoft.com/office/drawing/2010/main" val="0"/>
                </a:ext>
              </a:extLst>
            </a:blip>
            <a:srcRect l="23150" r="23150"/>
            <a:stretch>
              <a:fillRect/>
            </a:stretch>
          </p:blipFill>
          <p:spPr bwMode="auto">
            <a:xfrm>
              <a:off x="5715000" y="1851670"/>
              <a:ext cx="1714500" cy="2286000"/>
            </a:xfrm>
            <a:prstGeom prst="rect">
              <a:avLst/>
            </a:prstGeom>
            <a:noFill/>
            <a:extLst>
              <a:ext uri="{909E8E84-426E-40DD-AFC4-6F175D3DCCD1}">
                <a14:hiddenFill xmlns:a14="http://schemas.microsoft.com/office/drawing/2010/main">
                  <a:solidFill>
                    <a:srgbClr val="FFFFFF"/>
                  </a:solidFill>
                </a14:hiddenFill>
              </a:ext>
            </a:extLst>
          </p:spPr>
        </p:pic>
        <p:sp>
          <p:nvSpPr>
            <p:cNvPr id="7" name="add-caption-Detlef Laugwitz">
              <a:extLst>
                <a:ext uri="{FF2B5EF4-FFF2-40B4-BE49-F238E27FC236}">
                  <a16:creationId xmlns:a16="http://schemas.microsoft.com/office/drawing/2014/main" xmlns="" id="{09B9F4CC-C778-4DC1-9A78-768D6B0A8061}"/>
                </a:ext>
              </a:extLst>
            </p:cNvPr>
            <p:cNvSpPr>
              <a:spLocks noGrp="1"/>
            </p:cNvSpPr>
            <p:nvPr/>
          </p:nvSpPr>
          <p:spPr>
            <a:xfrm>
              <a:off x="4572000" y="4232920"/>
              <a:ext cx="4000500" cy="514350"/>
            </a:xfrm>
            <a:prstGeom prst="rect">
              <a:avLst/>
            </a:prstGeom>
            <a:noFill/>
            <a:ln w="0">
              <a:noFill/>
              <a:prstDash val="solid"/>
            </a:ln>
          </p:spPr>
          <p:txBody>
            <a:bodyPr wrap="square" lIns="0" tIns="0" rIns="0" bIns="0" anchor="t">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defRPr sz="1800">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Detlef Laugwitz</a:t>
              </a:r>
            </a:p>
            <a:p>
              <a:pPr algn="ctr">
                <a:defRPr sz="180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(1932–2000)</a:t>
              </a:r>
            </a:p>
          </p:txBody>
        </p:sp>
      </p:grpSp>
    </p:spTree>
    <p:extLst>
      <p:ext uri="{BB962C8B-B14F-4D97-AF65-F5344CB8AC3E}">
        <p14:creationId xmlns:p14="http://schemas.microsoft.com/office/powerpoint/2010/main" val="2809543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Abschnitt 1 aus Bild 4098">
            <a:extLst>
              <a:ext uri="{FF2B5EF4-FFF2-40B4-BE49-F238E27FC236}">
                <a16:creationId xmlns="" xmlns:a16="http://schemas.microsoft.com/office/drawing/2014/main" id="{BD0D444D-FD21-495E-8D39-2F0497DD31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3181"/>
          <a:stretch>
            <a:fillRect/>
          </a:stretch>
        </p:blipFill>
        <p:spPr bwMode="auto">
          <a:xfrm>
            <a:off x="342900" y="266720"/>
            <a:ext cx="8458200" cy="639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Abschnitt 2 aus Bild 4098">
            <a:extLst>
              <a:ext uri="{FF2B5EF4-FFF2-40B4-BE49-F238E27FC236}">
                <a16:creationId xmlns="" xmlns:a16="http://schemas.microsoft.com/office/drawing/2014/main" id="{869FA965-1817-42FA-87AF-F1ADFE6668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6819" r="69269" b="75686"/>
          <a:stretch>
            <a:fillRect/>
          </a:stretch>
        </p:blipFill>
        <p:spPr bwMode="auto">
          <a:xfrm>
            <a:off x="342900" y="906124"/>
            <a:ext cx="2599315" cy="284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9" name="visible-citation-2-4099">
            <a:extLst>
              <a:ext uri="{FF2B5EF4-FFF2-40B4-BE49-F238E27FC236}">
                <a16:creationId xmlns:a16="http://schemas.microsoft.com/office/drawing/2014/main" xmlns="" id="{4D42143E-169B-4FC5-A755-8612C4DC3427}"/>
              </a:ext>
            </a:extLst>
          </p:cNvPr>
          <p:cNvSpPr>
            <a:spLocks noGrp="1"/>
          </p:cNvSpPr>
          <p:nvPr/>
        </p:nvSpPr>
        <p:spPr>
          <a:xfrm>
            <a:off x="342900" y="4391025"/>
            <a:ext cx="8458200" cy="2857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a:solidFill>
                  <a:srgbClr val="000000"/>
                </a:solidFill>
                <a:latin typeface="Times New Roman"/>
                <a:ea typeface="Times New Roman"/>
                <a:cs typeface="Times New Roman"/>
              </a:rPr>
              <a:t>Dieter Landers / Lothar Rogge, Nichtstandard Analysis (1994), Vorwort, S. VI.</a:t>
            </a:r>
          </a:p>
        </p:txBody>
      </p:sp>
      <p:grpSp>
        <p:nvGrpSpPr>
          <p:cNvPr id="4109" name="Schritt 1: Neue Begriffe"/>
          <p:cNvGrpSpPr/>
          <p:nvPr/>
        </p:nvGrpSpPr>
        <p:grpSpPr>
          <a:xfrm>
            <a:off x="342900" y="906124"/>
            <a:ext cx="8458200" cy="1132857"/>
            <a:chOff x="342900" y="906124"/>
            <a:chExt cx="8458200" cy="1132857"/>
          </a:xfrm>
        </p:grpSpPr>
        <p:pic>
          <p:nvPicPr>
            <p:cNvPr id="4101" name="Abschnitt 3 aus Bild 4098">
              <a:extLst>
                <a:ext uri="{FF2B5EF4-FFF2-40B4-BE49-F238E27FC236}">
                  <a16:creationId xmlns="" xmlns:a16="http://schemas.microsoft.com/office/drawing/2014/main" id="{01D5A247-98F3-4184-894E-3997A0F6C7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0731" t="16819" b="75686"/>
            <a:stretch>
              <a:fillRect/>
            </a:stretch>
          </p:blipFill>
          <p:spPr bwMode="auto">
            <a:xfrm>
              <a:off x="2942215" y="906124"/>
              <a:ext cx="5858885" cy="284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Abschnitt 4 aus Bild 4098">
              <a:extLst>
                <a:ext uri="{FF2B5EF4-FFF2-40B4-BE49-F238E27FC236}">
                  <a16:creationId xmlns="" xmlns:a16="http://schemas.microsoft.com/office/drawing/2014/main" id="{3D5F0EC3-F885-47B7-A961-4904881A3E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4314" b="60878"/>
            <a:stretch>
              <a:fillRect/>
            </a:stretch>
          </p:blipFill>
          <p:spPr bwMode="auto">
            <a:xfrm>
              <a:off x="342900" y="1191075"/>
              <a:ext cx="8458200" cy="562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3" name="Abschnitt 5 aus Bild 4098">
              <a:extLst>
                <a:ext uri="{FF2B5EF4-FFF2-40B4-BE49-F238E27FC236}">
                  <a16:creationId xmlns="" xmlns:a16="http://schemas.microsoft.com/office/drawing/2014/main" id="{F8857EF5-8B2D-4823-8302-72B38AB397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9122" r="56532" b="53382"/>
            <a:stretch>
              <a:fillRect/>
            </a:stretch>
          </p:blipFill>
          <p:spPr bwMode="auto">
            <a:xfrm>
              <a:off x="342900" y="1754029"/>
              <a:ext cx="3676572" cy="284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110" name="Schritt 2: Rechnen mit Infinitesimalen"/>
          <p:cNvGrpSpPr/>
          <p:nvPr/>
        </p:nvGrpSpPr>
        <p:grpSpPr>
          <a:xfrm>
            <a:off x="342900" y="1754029"/>
            <a:ext cx="8458200" cy="2001612"/>
            <a:chOff x="342900" y="1754029"/>
            <a:chExt cx="8458200" cy="2001612"/>
          </a:xfrm>
        </p:grpSpPr>
        <p:pic>
          <p:nvPicPr>
            <p:cNvPr id="4104" name="Abschnitt 6 aus Bild 4098">
              <a:extLst>
                <a:ext uri="{FF2B5EF4-FFF2-40B4-BE49-F238E27FC236}">
                  <a16:creationId xmlns="" xmlns:a16="http://schemas.microsoft.com/office/drawing/2014/main" id="{01C9AEAE-369D-4360-8CDD-83248739D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3468" t="39122" b="53382"/>
            <a:stretch>
              <a:fillRect/>
            </a:stretch>
          </p:blipFill>
          <p:spPr bwMode="auto">
            <a:xfrm>
              <a:off x="4019472" y="1754029"/>
              <a:ext cx="4781628" cy="284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5" name="Abschnitt 7 aus Bild 4098">
              <a:extLst>
                <a:ext uri="{FF2B5EF4-FFF2-40B4-BE49-F238E27FC236}">
                  <a16:creationId xmlns="" xmlns:a16="http://schemas.microsoft.com/office/drawing/2014/main" id="{DF4D1D73-4BFE-4A94-AC43-683991E854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6618" b="15539"/>
            <a:stretch>
              <a:fillRect/>
            </a:stretch>
          </p:blipFill>
          <p:spPr bwMode="auto">
            <a:xfrm>
              <a:off x="342900" y="2038980"/>
              <a:ext cx="8458200" cy="1438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6" name="Abschnitt 8 aus Bild 4098">
              <a:extLst>
                <a:ext uri="{FF2B5EF4-FFF2-40B4-BE49-F238E27FC236}">
                  <a16:creationId xmlns="" xmlns:a16="http://schemas.microsoft.com/office/drawing/2014/main" id="{0DA232B4-609E-4DD5-9F5D-67F65581F2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4461" r="51109" b="8227"/>
            <a:stretch>
              <a:fillRect/>
            </a:stretch>
          </p:blipFill>
          <p:spPr bwMode="auto">
            <a:xfrm>
              <a:off x="342900" y="3477639"/>
              <a:ext cx="4135274" cy="278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111" name="Schritt 3: Mathematische Logik"/>
          <p:cNvGrpSpPr/>
          <p:nvPr/>
        </p:nvGrpSpPr>
        <p:grpSpPr>
          <a:xfrm>
            <a:off x="342900" y="3477639"/>
            <a:ext cx="8458200" cy="590753"/>
            <a:chOff x="342900" y="3477639"/>
            <a:chExt cx="8458200" cy="590753"/>
          </a:xfrm>
        </p:grpSpPr>
        <p:pic>
          <p:nvPicPr>
            <p:cNvPr id="4107" name="Abschnitt 9 aus Bild 4098">
              <a:extLst>
                <a:ext uri="{FF2B5EF4-FFF2-40B4-BE49-F238E27FC236}">
                  <a16:creationId xmlns="" xmlns:a16="http://schemas.microsoft.com/office/drawing/2014/main" id="{32AD8E97-84AB-4C64-9A8F-B87E7B93E3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8891" t="84461" b="8227"/>
            <a:stretch>
              <a:fillRect/>
            </a:stretch>
          </p:blipFill>
          <p:spPr bwMode="auto">
            <a:xfrm>
              <a:off x="4478174" y="3477639"/>
              <a:ext cx="4322926" cy="278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8" name="Abschnitt 10 aus Bild 4098">
              <a:extLst>
                <a:ext uri="{FF2B5EF4-FFF2-40B4-BE49-F238E27FC236}">
                  <a16:creationId xmlns="" xmlns:a16="http://schemas.microsoft.com/office/drawing/2014/main" id="{FECBA659-A21B-495D-A7F4-B313A25B55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1773"/>
            <a:stretch>
              <a:fillRect/>
            </a:stretch>
          </p:blipFill>
          <p:spPr bwMode="auto">
            <a:xfrm>
              <a:off x="342900" y="3755640"/>
              <a:ext cx="8458200" cy="312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833678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01" name="Klick 1: Vereinfachung der Beweise"/>
          <p:cNvGrpSpPr/>
          <p:nvPr/>
        </p:nvGrpSpPr>
        <p:grpSpPr>
          <a:xfrm>
            <a:off x="0" y="0"/>
            <a:ext cx="9144000" cy="5143500"/>
            <a:chOff x="0" y="0"/>
            <a:chExt cx="9144000" cy="5143500"/>
          </a:xfrm>
        </p:grpSpPr>
        <p:pic>
          <p:nvPicPr>
            <p:cNvPr id="4010" name="Gödel-Zitat, Abschnitt 1, Ausschnitt"/>
            <p:cNvPicPr>
              <a:picLocks noChangeAspect="1" noChangeArrowheads="1"/>
            </p:cNvPicPr>
            <p:nvPr/>
          </p:nvPicPr>
          <p:blipFill>
            <a:blip r:embed="rId3">
              <a:extLst>
                <a:ext uri="{28A0092B-C50C-407E-A947-70E740481C1C}">
                  <a14:useLocalDpi xmlns:a14="http://schemas.microsoft.com/office/drawing/2010/main" val="0"/>
                </a:ext>
              </a:extLst>
            </a:blip>
            <a:srcRect b="85871"/>
            <a:stretch>
              <a:fillRect/>
            </a:stretch>
          </p:blipFill>
          <p:spPr bwMode="auto">
            <a:xfrm>
              <a:off x="342900" y="247667"/>
              <a:ext cx="8458200" cy="586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11" name="Gödel-Zitat, Abschnitt 1, Ausschnitt"/>
            <p:cNvPicPr>
              <a:picLocks noChangeAspect="1" noChangeArrowheads="1"/>
            </p:cNvPicPr>
            <p:nvPr/>
          </p:nvPicPr>
          <p:blipFill>
            <a:blip r:embed="rId3">
              <a:extLst>
                <a:ext uri="{28A0092B-C50C-407E-A947-70E740481C1C}">
                  <a14:useLocalDpi xmlns:a14="http://schemas.microsoft.com/office/drawing/2010/main" val="0"/>
                </a:ext>
              </a:extLst>
            </a:blip>
            <a:srcRect t="14129" r="7247" b="79435"/>
            <a:stretch>
              <a:fillRect/>
            </a:stretch>
          </p:blipFill>
          <p:spPr bwMode="auto">
            <a:xfrm>
              <a:off x="342900" y="834597"/>
              <a:ext cx="7845234" cy="267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Gerade Verbindung 3"/>
            <p:cNvCxnSpPr/>
            <p:nvPr/>
          </p:nvCxnSpPr>
          <p:spPr>
            <a:xfrm>
              <a:off x="7751066" y="786718"/>
              <a:ext cx="88135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Gerade Verbindung 5"/>
            <p:cNvCxnSpPr/>
            <p:nvPr/>
          </p:nvCxnSpPr>
          <p:spPr>
            <a:xfrm>
              <a:off x="469525" y="1062387"/>
              <a:ext cx="211064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002" name="Klick 2: Analysis der Zukunft"/>
          <p:cNvGrpSpPr/>
          <p:nvPr/>
        </p:nvGrpSpPr>
        <p:grpSpPr>
          <a:xfrm>
            <a:off x="0" y="0"/>
            <a:ext cx="9144000" cy="5143500"/>
            <a:chOff x="0" y="0"/>
            <a:chExt cx="9144000" cy="5143500"/>
          </a:xfrm>
        </p:grpSpPr>
        <p:pic>
          <p:nvPicPr>
            <p:cNvPr id="4012" name="Gödel-Zitat, Abschnitt 2, Ausschnitt"/>
            <p:cNvPicPr>
              <a:picLocks noChangeAspect="1" noChangeArrowheads="1"/>
            </p:cNvPicPr>
            <p:nvPr/>
          </p:nvPicPr>
          <p:blipFill>
            <a:blip r:embed="rId3">
              <a:extLst>
                <a:ext uri="{28A0092B-C50C-407E-A947-70E740481C1C}">
                  <a14:useLocalDpi xmlns:a14="http://schemas.microsoft.com/office/drawing/2010/main" val="0"/>
                </a:ext>
              </a:extLst>
            </a:blip>
            <a:srcRect l="92753" t="14129" b="79435"/>
            <a:stretch>
              <a:fillRect/>
            </a:stretch>
          </p:blipFill>
          <p:spPr bwMode="auto">
            <a:xfrm>
              <a:off x="8188134" y="834597"/>
              <a:ext cx="612966" cy="267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13" name="Gödel-Zitat, Abschnitt 2, Ausschnitt"/>
            <p:cNvPicPr>
              <a:picLocks noChangeAspect="1" noChangeArrowheads="1"/>
            </p:cNvPicPr>
            <p:nvPr/>
          </p:nvPicPr>
          <p:blipFill>
            <a:blip r:embed="rId3">
              <a:extLst>
                <a:ext uri="{28A0092B-C50C-407E-A947-70E740481C1C}">
                  <a14:useLocalDpi xmlns:a14="http://schemas.microsoft.com/office/drawing/2010/main" val="0"/>
                </a:ext>
              </a:extLst>
            </a:blip>
            <a:srcRect t="20565" b="52684"/>
            <a:stretch>
              <a:fillRect/>
            </a:stretch>
          </p:blipFill>
          <p:spPr bwMode="auto">
            <a:xfrm>
              <a:off x="342900" y="1101954"/>
              <a:ext cx="8458200" cy="1111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003" name="Klick 3: Erweiterung der Zahlbereiche"/>
          <p:cNvGrpSpPr/>
          <p:nvPr/>
        </p:nvGrpSpPr>
        <p:grpSpPr>
          <a:xfrm>
            <a:off x="0" y="0"/>
            <a:ext cx="9144000" cy="5143500"/>
            <a:chOff x="0" y="0"/>
            <a:chExt cx="9144000" cy="5143500"/>
          </a:xfrm>
        </p:grpSpPr>
        <p:pic>
          <p:nvPicPr>
            <p:cNvPr id="4014" name="Gödel-Zitat, Abschnitt 3, Ausschnitt"/>
            <p:cNvPicPr>
              <a:picLocks noChangeAspect="1" noChangeArrowheads="1"/>
            </p:cNvPicPr>
            <p:nvPr/>
          </p:nvPicPr>
          <p:blipFill>
            <a:blip r:embed="rId3">
              <a:extLst>
                <a:ext uri="{28A0092B-C50C-407E-A947-70E740481C1C}">
                  <a14:useLocalDpi xmlns:a14="http://schemas.microsoft.com/office/drawing/2010/main" val="0"/>
                </a:ext>
              </a:extLst>
            </a:blip>
            <a:srcRect t="47316" b="32810"/>
            <a:stretch>
              <a:fillRect/>
            </a:stretch>
          </p:blipFill>
          <p:spPr bwMode="auto">
            <a:xfrm>
              <a:off x="342900" y="2213212"/>
              <a:ext cx="8458200" cy="825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15" name="Gödel-Zitat, Abschnitt 3, Ausschnitt"/>
            <p:cNvPicPr>
              <a:picLocks noChangeAspect="1" noChangeArrowheads="1"/>
            </p:cNvPicPr>
            <p:nvPr/>
          </p:nvPicPr>
          <p:blipFill>
            <a:blip r:embed="rId3">
              <a:extLst>
                <a:ext uri="{28A0092B-C50C-407E-A947-70E740481C1C}">
                  <a14:useLocalDpi xmlns:a14="http://schemas.microsoft.com/office/drawing/2010/main" val="0"/>
                </a:ext>
              </a:extLst>
            </a:blip>
            <a:srcRect t="67190" r="52506" b="26845"/>
            <a:stretch>
              <a:fillRect/>
            </a:stretch>
          </p:blipFill>
          <p:spPr bwMode="auto">
            <a:xfrm>
              <a:off x="342900" y="3038803"/>
              <a:ext cx="4017138" cy="247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Gerade Verbindung 7"/>
            <p:cNvCxnSpPr/>
            <p:nvPr/>
          </p:nvCxnSpPr>
          <p:spPr>
            <a:xfrm>
              <a:off x="6647854" y="2739356"/>
              <a:ext cx="198456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469525" y="3001572"/>
              <a:ext cx="665290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004" name="Klick 4: Infinitesimale als nächster Schritt"/>
          <p:cNvGrpSpPr/>
          <p:nvPr/>
        </p:nvGrpSpPr>
        <p:grpSpPr>
          <a:xfrm>
            <a:off x="0" y="0"/>
            <a:ext cx="9144000" cy="5143500"/>
            <a:chOff x="0" y="0"/>
            <a:chExt cx="9144000" cy="5143500"/>
          </a:xfrm>
        </p:grpSpPr>
        <p:pic>
          <p:nvPicPr>
            <p:cNvPr id="4016" name="Gödel-Zitat, Abschnitt 4, Ausschnitt"/>
            <p:cNvPicPr>
              <a:picLocks noChangeAspect="1" noChangeArrowheads="1"/>
            </p:cNvPicPr>
            <p:nvPr/>
          </p:nvPicPr>
          <p:blipFill>
            <a:blip r:embed="rId3">
              <a:extLst>
                <a:ext uri="{28A0092B-C50C-407E-A947-70E740481C1C}">
                  <a14:useLocalDpi xmlns:a14="http://schemas.microsoft.com/office/drawing/2010/main" val="0"/>
                </a:ext>
              </a:extLst>
            </a:blip>
            <a:srcRect l="47494" t="67190" b="26845"/>
            <a:stretch>
              <a:fillRect/>
            </a:stretch>
          </p:blipFill>
          <p:spPr bwMode="auto">
            <a:xfrm>
              <a:off x="4360038" y="3038803"/>
              <a:ext cx="4441062" cy="247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17" name="Gödel-Zitat, Abschnitt 4, Ausschnitt"/>
            <p:cNvPicPr>
              <a:picLocks noChangeAspect="1" noChangeArrowheads="1"/>
            </p:cNvPicPr>
            <p:nvPr/>
          </p:nvPicPr>
          <p:blipFill>
            <a:blip r:embed="rId3">
              <a:extLst>
                <a:ext uri="{28A0092B-C50C-407E-A947-70E740481C1C}">
                  <a14:useLocalDpi xmlns:a14="http://schemas.microsoft.com/office/drawing/2010/main" val="0"/>
                </a:ext>
              </a:extLst>
            </a:blip>
            <a:srcRect t="73155"/>
            <a:stretch>
              <a:fillRect/>
            </a:stretch>
          </p:blipFill>
          <p:spPr bwMode="auto">
            <a:xfrm>
              <a:off x="342900" y="3286596"/>
              <a:ext cx="8458200" cy="111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Gerade Verbindung 11"/>
            <p:cNvCxnSpPr/>
            <p:nvPr/>
          </p:nvCxnSpPr>
          <p:spPr>
            <a:xfrm>
              <a:off x="6105485" y="3249800"/>
              <a:ext cx="11525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075" name="visible-citation-6-3075">
            <a:extLst>
              <a:ext uri="{FF2B5EF4-FFF2-40B4-BE49-F238E27FC236}">
                <a16:creationId xmlns:a16="http://schemas.microsoft.com/office/drawing/2014/main" xmlns="" id="{8F8ABB62-3F62-442B-B7D9-B16A76505CB3}"/>
              </a:ext>
            </a:extLst>
          </p:cNvPr>
          <p:cNvSpPr>
            <a:spLocks noGrp="1"/>
          </p:cNvSpPr>
          <p:nvPr/>
        </p:nvSpPr>
        <p:spPr>
          <a:xfrm>
            <a:off x="342900" y="4600575"/>
            <a:ext cx="8458200" cy="2857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dirty="0">
                <a:solidFill>
                  <a:srgbClr val="000000"/>
                </a:solidFill>
                <a:latin typeface="Times New Roman"/>
                <a:ea typeface="Times New Roman"/>
                <a:cs typeface="Times New Roman"/>
              </a:rPr>
              <a:t>Kurt Gödel, </a:t>
            </a:r>
            <a:r>
              <a:rPr sz="1050" dirty="0" err="1">
                <a:solidFill>
                  <a:srgbClr val="000000"/>
                </a:solidFill>
                <a:latin typeface="Times New Roman"/>
                <a:ea typeface="Times New Roman"/>
                <a:cs typeface="Times New Roman"/>
              </a:rPr>
              <a:t>Äußerung</a:t>
            </a:r>
            <a:r>
              <a:rPr sz="1050" dirty="0">
                <a:solidFill>
                  <a:srgbClr val="000000"/>
                </a:solidFill>
                <a:latin typeface="Times New Roman"/>
                <a:ea typeface="Times New Roman"/>
                <a:cs typeface="Times New Roman"/>
              </a:rPr>
              <a:t> am IAS (</a:t>
            </a:r>
            <a:r>
              <a:rPr sz="1050" dirty="0" err="1">
                <a:solidFill>
                  <a:srgbClr val="000000"/>
                </a:solidFill>
                <a:latin typeface="Times New Roman"/>
                <a:ea typeface="Times New Roman"/>
                <a:cs typeface="Times New Roman"/>
              </a:rPr>
              <a:t>März</a:t>
            </a:r>
            <a:r>
              <a:rPr sz="1050" dirty="0">
                <a:solidFill>
                  <a:srgbClr val="000000"/>
                </a:solidFill>
                <a:latin typeface="Times New Roman"/>
                <a:ea typeface="Times New Roman"/>
                <a:cs typeface="Times New Roman"/>
              </a:rPr>
              <a:t> 1973), in: Robinson, Non-standard </a:t>
            </a:r>
            <a:r>
              <a:rPr sz="1050" dirty="0" smtClean="0">
                <a:solidFill>
                  <a:srgbClr val="000000"/>
                </a:solidFill>
                <a:latin typeface="Times New Roman"/>
                <a:ea typeface="Times New Roman"/>
                <a:cs typeface="Times New Roman"/>
              </a:rPr>
              <a:t>Analysis,</a:t>
            </a:r>
            <a:r>
              <a:rPr lang="de-DE" sz="1050" dirty="0" smtClean="0">
                <a:solidFill>
                  <a:srgbClr val="000000"/>
                </a:solidFill>
                <a:latin typeface="Times New Roman"/>
                <a:ea typeface="Times New Roman"/>
                <a:cs typeface="Times New Roman"/>
              </a:rPr>
              <a:t> V</a:t>
            </a:r>
            <a:r>
              <a:rPr sz="1050" dirty="0" err="1" smtClean="0">
                <a:solidFill>
                  <a:srgbClr val="000000"/>
                </a:solidFill>
                <a:latin typeface="Times New Roman"/>
                <a:ea typeface="Times New Roman"/>
                <a:cs typeface="Times New Roman"/>
              </a:rPr>
              <a:t>orwort</a:t>
            </a:r>
            <a:r>
              <a:rPr sz="1050" dirty="0" smtClean="0">
                <a:solidFill>
                  <a:srgbClr val="000000"/>
                </a:solidFill>
                <a:latin typeface="Times New Roman"/>
                <a:ea typeface="Times New Roman"/>
                <a:cs typeface="Times New Roman"/>
              </a:rPr>
              <a:t> </a:t>
            </a:r>
            <a:r>
              <a:rPr sz="1050" dirty="0" err="1">
                <a:solidFill>
                  <a:srgbClr val="000000"/>
                </a:solidFill>
                <a:latin typeface="Times New Roman"/>
                <a:ea typeface="Times New Roman"/>
                <a:cs typeface="Times New Roman"/>
              </a:rPr>
              <a:t>zur</a:t>
            </a:r>
            <a:r>
              <a:rPr sz="1050" dirty="0">
                <a:solidFill>
                  <a:srgbClr val="000000"/>
                </a:solidFill>
                <a:latin typeface="Times New Roman"/>
                <a:ea typeface="Times New Roman"/>
                <a:cs typeface="Times New Roman"/>
              </a:rPr>
              <a:t> 2. </a:t>
            </a:r>
            <a:r>
              <a:rPr sz="1050" dirty="0" err="1">
                <a:solidFill>
                  <a:srgbClr val="000000"/>
                </a:solidFill>
                <a:latin typeface="Times New Roman"/>
                <a:ea typeface="Times New Roman"/>
                <a:cs typeface="Times New Roman"/>
              </a:rPr>
              <a:t>Auflage</a:t>
            </a:r>
            <a:r>
              <a:rPr sz="1050" dirty="0">
                <a:solidFill>
                  <a:srgbClr val="000000"/>
                </a:solidFill>
                <a:latin typeface="Times New Roman"/>
                <a:ea typeface="Times New Roman"/>
                <a:cs typeface="Times New Roman"/>
              </a:rPr>
              <a:t> (1974), </a:t>
            </a:r>
            <a:r>
              <a:rPr sz="1050" dirty="0" err="1">
                <a:solidFill>
                  <a:srgbClr val="000000"/>
                </a:solidFill>
                <a:latin typeface="Times New Roman"/>
                <a:ea typeface="Times New Roman"/>
                <a:cs typeface="Times New Roman"/>
              </a:rPr>
              <a:t>Nachdruck</a:t>
            </a:r>
            <a:r>
              <a:rPr sz="1050" dirty="0">
                <a:solidFill>
                  <a:srgbClr val="000000"/>
                </a:solidFill>
                <a:latin typeface="Times New Roman"/>
                <a:ea typeface="Times New Roman"/>
                <a:cs typeface="Times New Roman"/>
              </a:rPr>
              <a:t> Princeton 1996, S. xvi.</a:t>
            </a:r>
          </a:p>
        </p:txBody>
      </p:sp>
    </p:spTree>
    <p:extLst>
      <p:ext uri="{BB962C8B-B14F-4D97-AF65-F5344CB8AC3E}">
        <p14:creationId xmlns:p14="http://schemas.microsoft.com/office/powerpoint/2010/main" val="2589919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0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0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476250" y="3333750"/>
            <a:ext cx="4000500" cy="996696"/>
          </a:xfrm>
          <a:prstGeom prst="rect">
            <a:avLst/>
          </a:prstGeom>
        </p:spPr>
        <p:txBody>
          <a:bodyPr wrap="square" lIns="0" tIns="0" rIns="0" bIns="0" anchor="t">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10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 the creation of non-standard analysis is a standard model of important mathematical research.”</a:t>
            </a:r>
            <a:endParaRPr sz="1200">
              <a:latin typeface="Times New Roman"/>
              <a:ea typeface="Times New Roman"/>
              <a:cs typeface="Times New Roman"/>
            </a:endParaRPr>
          </a:p>
        </p:txBody>
      </p:sp>
      <p:pic>
        <p:nvPicPr>
          <p:cNvPr id="9218" name="Picture 2" descr="https://upload.wikimedia.org/wikipedia/commons/thumb/a/a7/Arend_Heyting_%281967%29.jpg/250px-Arend_Heyting_%281967%29.jpg"/>
          <p:cNvPicPr>
            <a:picLocks noChangeAspect="1" noChangeArrowheads="1"/>
          </p:cNvPicPr>
          <p:nvPr/>
        </p:nvPicPr>
        <p:blipFill>
          <a:blip r:embed="rId3">
            <a:extLst>
              <a:ext uri="{28A0092B-C50C-407E-A947-70E740481C1C}">
                <a14:useLocalDpi xmlns:a14="http://schemas.microsoft.com/office/drawing/2010/main" val="0"/>
              </a:ext>
            </a:extLst>
          </a:blip>
          <a:srcRect l="50" r="50"/>
          <a:stretch>
            <a:fillRect/>
          </a:stretch>
        </p:blipFill>
        <p:spPr bwMode="auto">
          <a:xfrm>
            <a:off x="1619250" y="228600"/>
            <a:ext cx="1714500" cy="2286000"/>
          </a:xfrm>
          <a:prstGeom prst="rect">
            <a:avLst/>
          </a:prstGeom>
          <a:noFill/>
          <a:extLst>
            <a:ext uri="{909E8E84-426E-40DD-AFC4-6F175D3DCCD1}">
              <a14:hiddenFill xmlns:a14="http://schemas.microsoft.com/office/drawing/2010/main">
                <a:solidFill>
                  <a:srgbClr val="FFFFFF"/>
                </a:solidFill>
              </a14:hiddenFill>
            </a:ext>
          </a:extLst>
        </p:spPr>
      </p:pic>
      <p:sp>
        <p:nvSpPr>
          <p:cNvPr id="9221" name="add-caption-Arend Heyting">
            <a:extLst>
              <a:ext uri="{FF2B5EF4-FFF2-40B4-BE49-F238E27FC236}">
                <a16:creationId xmlns:a16="http://schemas.microsoft.com/office/drawing/2014/main" xmlns="" id="{3FCD80A6-C2AE-4657-8835-FF8FE776FF39}"/>
              </a:ext>
            </a:extLst>
          </p:cNvPr>
          <p:cNvSpPr>
            <a:spLocks noGrp="1"/>
          </p:cNvSpPr>
          <p:nvPr/>
        </p:nvSpPr>
        <p:spPr>
          <a:xfrm>
            <a:off x="476250" y="2647950"/>
            <a:ext cx="4000500" cy="552450"/>
          </a:xfrm>
          <a:prstGeom prst="rect">
            <a:avLst/>
          </a:prstGeom>
          <a:noFill/>
          <a:ln w="0">
            <a:noFill/>
            <a:prstDash val="solid"/>
          </a:ln>
        </p:spPr>
        <p:txBody>
          <a:bodyPr wrap="square" lIns="0" tIns="0" rIns="0" bIns="0" anchor="t">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defRPr sz="1800">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Arend Heyting</a:t>
            </a:r>
          </a:p>
          <a:p>
            <a:pPr algn="ctr">
              <a:defRPr sz="180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(1898–1980)</a:t>
            </a:r>
          </a:p>
        </p:txBody>
      </p:sp>
      <p:sp>
        <p:nvSpPr>
          <p:cNvPr id="9224" name="visible-citation-7-9223">
            <a:extLst>
              <a:ext uri="{FF2B5EF4-FFF2-40B4-BE49-F238E27FC236}">
                <a16:creationId xmlns:a16="http://schemas.microsoft.com/office/drawing/2014/main" xmlns="" id="{2756AF3D-68E4-400A-BBFD-79BF3B6E515A}"/>
              </a:ext>
            </a:extLst>
          </p:cNvPr>
          <p:cNvSpPr>
            <a:spLocks noGrp="1"/>
          </p:cNvSpPr>
          <p:nvPr/>
        </p:nvSpPr>
        <p:spPr>
          <a:xfrm>
            <a:off x="476250" y="4467225"/>
            <a:ext cx="4000500" cy="45720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a:solidFill>
                  <a:srgbClr val="000000"/>
                </a:solidFill>
                <a:latin typeface="Times New Roman"/>
                <a:ea typeface="Times New Roman"/>
                <a:cs typeface="Times New Roman"/>
              </a:rPr>
              <a:t>„Address to Professor A. Robinson“,</a:t>
            </a:r>
          </a:p>
          <a:p>
            <a:pPr algn="l">
              <a:lnSpc>
                <a:spcPct val="105000"/>
              </a:lnSpc>
              <a:buNone/>
              <a:defRPr sz="1050">
                <a:solidFill>
                  <a:srgbClr val="000000"/>
                </a:solidFill>
                <a:latin typeface="Times New Roman"/>
                <a:ea typeface="Times New Roman"/>
                <a:cs typeface="Times New Roman"/>
              </a:defRPr>
            </a:pPr>
            <a:r>
              <a:rPr sz="1050">
                <a:solidFill>
                  <a:srgbClr val="000000"/>
                </a:solidFill>
                <a:latin typeface="Times New Roman"/>
                <a:ea typeface="Times New Roman"/>
                <a:cs typeface="Times New Roman"/>
              </a:rPr>
              <a:t>Nieuw Archief voor Wiskunde 21 (1973), S. 136.</a:t>
            </a:r>
          </a:p>
        </p:txBody>
      </p:sp>
      <p:grpSp>
        <p:nvGrpSpPr>
          <p:cNvPr id="9225" name="Schritt 1: H. Jerome Keisler"/>
          <p:cNvGrpSpPr/>
          <p:nvPr/>
        </p:nvGrpSpPr>
        <p:grpSpPr>
          <a:xfrm>
            <a:off x="4667250" y="228600"/>
            <a:ext cx="4153222" cy="4650105"/>
            <a:chOff x="4667250" y="228600"/>
            <a:chExt cx="4153222" cy="4650105"/>
          </a:xfrm>
        </p:grpSpPr>
        <p:pic>
          <p:nvPicPr>
            <p:cNvPr id="9220" name="Picture 4" descr="Poster of Jerome Keisler"/>
            <p:cNvPicPr>
              <a:picLocks noChangeAspect="1" noChangeArrowheads="1"/>
            </p:cNvPicPr>
            <p:nvPr/>
          </p:nvPicPr>
          <p:blipFill>
            <a:blip r:embed="rId4">
              <a:extLst>
                <a:ext uri="{28A0092B-C50C-407E-A947-70E740481C1C}">
                  <a14:useLocalDpi xmlns:a14="http://schemas.microsoft.com/office/drawing/2010/main" val="0"/>
                </a:ext>
              </a:extLst>
            </a:blip>
            <a:srcRect t="920" b="920"/>
            <a:stretch>
              <a:fillRect/>
            </a:stretch>
          </p:blipFill>
          <p:spPr bwMode="auto">
            <a:xfrm>
              <a:off x="5810250" y="228600"/>
              <a:ext cx="1714500" cy="2286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4667250" y="3333750"/>
              <a:ext cx="4000500" cy="694944"/>
            </a:xfrm>
            <a:prstGeom prst="rect">
              <a:avLst/>
            </a:prstGeom>
            <a:noFill/>
          </p:spPr>
          <p:txBody>
            <a:bodyPr wrap="square" lIns="0" tIns="0" rIns="0" bIns="0" anchor="t">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10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“one of the major mathematical advances of the twentieth century”</a:t>
              </a:r>
              <a:endParaRPr>
                <a:latin typeface="Times New Roman"/>
                <a:ea typeface="Times New Roman"/>
                <a:cs typeface="Times New Roman"/>
              </a:endParaRPr>
            </a:p>
          </p:txBody>
        </p:sp>
        <p:sp>
          <p:nvSpPr>
            <p:cNvPr id="9222" name="add-caption-H. Jerome Keisler">
              <a:extLst>
                <a:ext uri="{FF2B5EF4-FFF2-40B4-BE49-F238E27FC236}">
                  <a16:creationId xmlns:a16="http://schemas.microsoft.com/office/drawing/2014/main" xmlns="" id="{394A5049-57F3-4E4A-869B-EFF2E0CDAFB6}"/>
                </a:ext>
              </a:extLst>
            </p:cNvPr>
            <p:cNvSpPr>
              <a:spLocks noGrp="1"/>
            </p:cNvSpPr>
            <p:nvPr/>
          </p:nvSpPr>
          <p:spPr>
            <a:xfrm>
              <a:off x="4667250" y="2647950"/>
              <a:ext cx="4000500" cy="552450"/>
            </a:xfrm>
            <a:prstGeom prst="rect">
              <a:avLst/>
            </a:prstGeom>
            <a:noFill/>
            <a:ln w="0">
              <a:noFill/>
              <a:prstDash val="solid"/>
            </a:ln>
          </p:spPr>
          <p:txBody>
            <a:bodyPr wrap="square" lIns="0" tIns="0" rIns="0" bIns="0" anchor="t">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defRPr sz="1800">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H. Jerome Keisler</a:t>
              </a:r>
            </a:p>
            <a:p>
              <a:pPr algn="ctr">
                <a:defRPr sz="180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 1936)</a:t>
              </a:r>
            </a:p>
          </p:txBody>
        </p:sp>
        <p:sp>
          <p:nvSpPr>
            <p:cNvPr id="9223" name="visible-citation-7-5">
              <a:extLst>
                <a:ext uri="{FF2B5EF4-FFF2-40B4-BE49-F238E27FC236}">
                  <a16:creationId xmlns:a16="http://schemas.microsoft.com/office/drawing/2014/main" xmlns="" id="{B6101427-6EDD-4554-843E-23B94294B118}"/>
                </a:ext>
              </a:extLst>
            </p:cNvPr>
            <p:cNvSpPr>
              <a:spLocks noGrp="1"/>
            </p:cNvSpPr>
            <p:nvPr/>
          </p:nvSpPr>
          <p:spPr>
            <a:xfrm>
              <a:off x="4667250" y="4467225"/>
              <a:ext cx="4153222" cy="41148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dirty="0">
                  <a:solidFill>
                    <a:srgbClr val="000000"/>
                  </a:solidFill>
                  <a:latin typeface="Times New Roman"/>
                  <a:ea typeface="Times New Roman"/>
                  <a:cs typeface="Times New Roman"/>
                </a:rPr>
                <a:t>Foundations of Infinitesimal </a:t>
              </a:r>
              <a:r>
                <a:rPr sz="1050" dirty="0" smtClean="0">
                  <a:solidFill>
                    <a:srgbClr val="000000"/>
                  </a:solidFill>
                  <a:latin typeface="Times New Roman"/>
                  <a:ea typeface="Times New Roman"/>
                  <a:cs typeface="Times New Roman"/>
                </a:rPr>
                <a:t>Calculus</a:t>
              </a:r>
              <a:r>
                <a:rPr lang="en-CA" sz="1050" dirty="0" smtClean="0">
                  <a:solidFill>
                    <a:srgbClr val="000000"/>
                  </a:solidFill>
                  <a:latin typeface="Times New Roman"/>
                  <a:ea typeface="Times New Roman"/>
                  <a:cs typeface="Times New Roman"/>
                </a:rPr>
                <a:t> (</a:t>
              </a:r>
              <a:r>
                <a:rPr sz="1050" dirty="0" smtClean="0">
                  <a:solidFill>
                    <a:srgbClr val="000000"/>
                  </a:solidFill>
                  <a:latin typeface="Times New Roman"/>
                  <a:ea typeface="Times New Roman"/>
                  <a:cs typeface="Times New Roman"/>
                </a:rPr>
                <a:t>2007; </a:t>
              </a:r>
              <a:r>
                <a:rPr sz="1050" dirty="0" err="1" smtClean="0">
                  <a:solidFill>
                    <a:srgbClr val="000000"/>
                  </a:solidFill>
                  <a:latin typeface="Times New Roman"/>
                  <a:ea typeface="Times New Roman"/>
                  <a:cs typeface="Times New Roman"/>
                </a:rPr>
                <a:t>Fassung</a:t>
              </a:r>
              <a:r>
                <a:rPr sz="1050" dirty="0" smtClean="0">
                  <a:solidFill>
                    <a:srgbClr val="000000"/>
                  </a:solidFill>
                  <a:latin typeface="Times New Roman"/>
                  <a:ea typeface="Times New Roman"/>
                  <a:cs typeface="Times New Roman"/>
                </a:rPr>
                <a:t> 2022), </a:t>
              </a:r>
              <a:r>
                <a:rPr sz="1050" dirty="0" err="1" smtClean="0">
                  <a:solidFill>
                    <a:srgbClr val="000000"/>
                  </a:solidFill>
                  <a:latin typeface="Times New Roman"/>
                  <a:ea typeface="Times New Roman"/>
                  <a:cs typeface="Times New Roman"/>
                </a:rPr>
                <a:t>Vorwort</a:t>
              </a:r>
              <a:r>
                <a:rPr sz="1050" dirty="0" smtClean="0">
                  <a:solidFill>
                    <a:srgbClr val="000000"/>
                  </a:solidFill>
                  <a:latin typeface="Times New Roman"/>
                  <a:ea typeface="Times New Roman"/>
                  <a:cs typeface="Times New Roman"/>
                </a:rPr>
                <a:t>, S. vii.</a:t>
              </a:r>
              <a:endParaRPr sz="1050" dirty="0">
                <a:solidFill>
                  <a:srgbClr val="000000"/>
                </a:solidFill>
                <a:latin typeface="Times New Roman"/>
                <a:ea typeface="Times New Roman"/>
                <a:cs typeface="Times New Roman"/>
              </a:endParaRPr>
            </a:p>
          </p:txBody>
        </p:sp>
      </p:grpSp>
    </p:spTree>
    <p:extLst>
      <p:ext uri="{BB962C8B-B14F-4D97-AF65-F5344CB8AC3E}">
        <p14:creationId xmlns:p14="http://schemas.microsoft.com/office/powerpoint/2010/main" val="4254062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2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Georg Cantor – Wikipedi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750" y="476250"/>
            <a:ext cx="2643188" cy="3571875"/>
          </a:xfrm>
          <a:prstGeom prst="rect">
            <a:avLst/>
          </a:prstGeom>
          <a:noFill/>
          <a:extLst>
            <a:ext uri="{909E8E84-426E-40DD-AFC4-6F175D3DCCD1}">
              <a14:hiddenFill xmlns:a14="http://schemas.microsoft.com/office/drawing/2010/main">
                <a:solidFill>
                  <a:srgbClr val="FFFFFF"/>
                </a:solidFill>
              </a14:hiddenFill>
            </a:ext>
          </a:extLst>
        </p:spPr>
      </p:pic>
      <p:sp>
        <p:nvSpPr>
          <p:cNvPr id="5123" name="add-caption-Georg Cantor">
            <a:extLst>
              <a:ext uri="{FF2B5EF4-FFF2-40B4-BE49-F238E27FC236}">
                <a16:creationId xmlns:a16="http://schemas.microsoft.com/office/drawing/2014/main" xmlns="" id="{E17C8A45-D7D5-4A5E-BCF1-9167D9187960}"/>
              </a:ext>
            </a:extLst>
          </p:cNvPr>
          <p:cNvSpPr>
            <a:spLocks noGrp="1"/>
          </p:cNvSpPr>
          <p:nvPr/>
        </p:nvSpPr>
        <p:spPr>
          <a:xfrm>
            <a:off x="428625" y="4238625"/>
            <a:ext cx="3114675" cy="590550"/>
          </a:xfrm>
          <a:prstGeom prst="rect">
            <a:avLst/>
          </a:prstGeom>
          <a:noFill/>
          <a:ln w="0">
            <a:noFill/>
            <a:prstDash val="solid"/>
          </a:ln>
        </p:spPr>
        <p:txBody>
          <a:bodyPr wrap="square" lIns="0" tIns="0" rIns="0" bIns="0" anchor="t">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defRPr sz="1800">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Georg Cantor</a:t>
            </a:r>
          </a:p>
          <a:p>
            <a:pPr algn="ctr">
              <a:defRPr sz="180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(1845–1918)</a:t>
            </a:r>
          </a:p>
        </p:txBody>
      </p:sp>
      <p:grpSp>
        <p:nvGrpSpPr>
          <p:cNvPr id="5125" name="Schritt 1: Zitat"/>
          <p:cNvGrpSpPr/>
          <p:nvPr/>
        </p:nvGrpSpPr>
        <p:grpSpPr>
          <a:xfrm>
            <a:off x="3810000" y="1203598"/>
            <a:ext cx="5010472" cy="2711177"/>
            <a:chOff x="3810000" y="1203598"/>
            <a:chExt cx="5010472" cy="2711177"/>
          </a:xfrm>
        </p:grpSpPr>
        <p:sp>
          <p:nvSpPr>
            <p:cNvPr id="2" name="Rechteck 1"/>
            <p:cNvSpPr/>
            <p:nvPr/>
          </p:nvSpPr>
          <p:spPr>
            <a:xfrm>
              <a:off x="3810000" y="1203598"/>
              <a:ext cx="5010472" cy="1072896"/>
            </a:xfrm>
            <a:prstGeom prst="rect">
              <a:avLst/>
            </a:prstGeom>
          </p:spPr>
          <p:txBody>
            <a:bodyPr wrap="square" lIns="0" tIns="0" rIns="0" bIns="0" anchor="t">
              <a:noAutofit/>
            </a:bodyPr>
            <a:lstStyle>
              <a:defPPr algn="l">
                <a:defRPr sz="2800">
                  <a:solidFill>
                    <a:srgbClr val="000000"/>
                  </a:solidFill>
                  <a:latin typeface="Times New Roman"/>
                  <a:ea typeface="Times New Roman"/>
                  <a:cs typeface="Times New Roman"/>
                </a:defRPr>
              </a:defPPr>
              <a:lvl1pPr algn="l">
                <a:defRPr sz="2800">
                  <a:solidFill>
                    <a:srgbClr val="000000"/>
                  </a:solidFill>
                  <a:latin typeface="Times New Roman"/>
                  <a:ea typeface="Times New Roman"/>
                  <a:cs typeface="Times New Roman"/>
                </a:defRPr>
              </a:lvl1pPr>
              <a:lvl2pPr algn="l">
                <a:defRPr sz="2800">
                  <a:solidFill>
                    <a:srgbClr val="000000"/>
                  </a:solidFill>
                  <a:latin typeface="Times New Roman"/>
                  <a:ea typeface="Times New Roman"/>
                  <a:cs typeface="Times New Roman"/>
                </a:defRPr>
              </a:lvl2pPr>
              <a:lvl3pPr algn="l">
                <a:defRPr sz="2800">
                  <a:solidFill>
                    <a:srgbClr val="000000"/>
                  </a:solidFill>
                  <a:latin typeface="Times New Roman"/>
                  <a:ea typeface="Times New Roman"/>
                  <a:cs typeface="Times New Roman"/>
                </a:defRPr>
              </a:lvl3pPr>
              <a:lvl4pPr algn="l">
                <a:defRPr sz="2800">
                  <a:solidFill>
                    <a:srgbClr val="000000"/>
                  </a:solidFill>
                  <a:latin typeface="Times New Roman"/>
                  <a:ea typeface="Times New Roman"/>
                  <a:cs typeface="Times New Roman"/>
                </a:defRPr>
              </a:lvl4pPr>
              <a:lvl5pPr algn="l">
                <a:defRPr sz="2800">
                  <a:solidFill>
                    <a:srgbClr val="000000"/>
                  </a:solidFill>
                  <a:latin typeface="Times New Roman"/>
                  <a:ea typeface="Times New Roman"/>
                  <a:cs typeface="Times New Roman"/>
                </a:defRPr>
              </a:lvl5pPr>
              <a:lvl6pPr algn="l">
                <a:defRPr sz="2800">
                  <a:solidFill>
                    <a:srgbClr val="000000"/>
                  </a:solidFill>
                  <a:latin typeface="Times New Roman"/>
                  <a:ea typeface="Times New Roman"/>
                  <a:cs typeface="Times New Roman"/>
                </a:defRPr>
              </a:lvl6pPr>
              <a:lvl7pPr algn="l">
                <a:defRPr sz="2800">
                  <a:solidFill>
                    <a:srgbClr val="000000"/>
                  </a:solidFill>
                  <a:latin typeface="Times New Roman"/>
                  <a:ea typeface="Times New Roman"/>
                  <a:cs typeface="Times New Roman"/>
                </a:defRPr>
              </a:lvl7pPr>
              <a:lvl8pPr algn="l">
                <a:defRPr sz="2800">
                  <a:solidFill>
                    <a:srgbClr val="000000"/>
                  </a:solidFill>
                  <a:latin typeface="Times New Roman"/>
                  <a:ea typeface="Times New Roman"/>
                  <a:cs typeface="Times New Roman"/>
                </a:defRPr>
              </a:lvl8pPr>
              <a:lvl9pPr algn="l">
                <a:defRPr sz="2800">
                  <a:solidFill>
                    <a:srgbClr val="000000"/>
                  </a:solidFill>
                  <a:latin typeface="Times New Roman"/>
                  <a:ea typeface="Times New Roman"/>
                  <a:cs typeface="Times New Roman"/>
                </a:defRPr>
              </a:lvl9pPr>
            </a:lstStyle>
            <a:p>
              <a:pPr algn="l">
                <a:lnSpc>
                  <a:spcPct val="115000"/>
                </a:lnSpc>
                <a:buNone/>
                <a:defRPr sz="2800">
                  <a:solidFill>
                    <a:srgbClr val="000000"/>
                  </a:solidFill>
                  <a:latin typeface="Times New Roman"/>
                  <a:ea typeface="Times New Roman"/>
                  <a:cs typeface="Times New Roman"/>
                </a:defRPr>
              </a:pPr>
              <a:r>
                <a:rPr sz="3600" dirty="0">
                  <a:solidFill>
                    <a:srgbClr val="000000"/>
                  </a:solidFill>
                </a:rPr>
                <a:t>„</a:t>
              </a:r>
              <a:r>
                <a:rPr sz="3600" dirty="0" smtClean="0">
                  <a:solidFill>
                    <a:srgbClr val="000000"/>
                  </a:solidFill>
                </a:rPr>
                <a:t>Cholera-Bacillus</a:t>
              </a:r>
              <a:r>
                <a:rPr lang="de-DE" sz="3600" dirty="0"/>
                <a:t> </a:t>
              </a:r>
              <a:r>
                <a:rPr sz="3600" dirty="0" smtClean="0">
                  <a:solidFill>
                    <a:srgbClr val="000000"/>
                  </a:solidFill>
                </a:rPr>
                <a:t>der </a:t>
              </a:r>
              <a:r>
                <a:rPr sz="3600" dirty="0" err="1">
                  <a:solidFill>
                    <a:srgbClr val="000000"/>
                  </a:solidFill>
                </a:rPr>
                <a:t>Mathematik</a:t>
              </a:r>
              <a:r>
                <a:rPr sz="3600" dirty="0">
                  <a:solidFill>
                    <a:srgbClr val="000000"/>
                  </a:solidFill>
                </a:rPr>
                <a:t>“</a:t>
              </a:r>
              <a:endParaRPr sz="3600" dirty="0"/>
            </a:p>
          </p:txBody>
        </p:sp>
        <p:sp>
          <p:nvSpPr>
            <p:cNvPr id="5124" name="add-source-cantor">
              <a:extLst>
                <a:ext uri="{FF2B5EF4-FFF2-40B4-BE49-F238E27FC236}">
                  <a16:creationId xmlns:a16="http://schemas.microsoft.com/office/drawing/2014/main" xmlns="" id="{68091AB0-C83A-4D28-B1BF-90FC168877D3}"/>
                </a:ext>
              </a:extLst>
            </p:cNvPr>
            <p:cNvSpPr>
              <a:spLocks noGrp="1"/>
            </p:cNvSpPr>
            <p:nvPr/>
          </p:nvSpPr>
          <p:spPr>
            <a:xfrm>
              <a:off x="3810000" y="3105150"/>
              <a:ext cx="4895850" cy="809625"/>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defRPr sz="1050">
                  <a:solidFill>
                    <a:srgbClr val="000000"/>
                  </a:solidFill>
                  <a:latin typeface="Times New Roman"/>
                  <a:ea typeface="Times New Roman"/>
                  <a:cs typeface="Times New Roman"/>
                </a:defRPr>
              </a:pPr>
              <a:r>
                <a:rPr sz="1050" dirty="0">
                  <a:solidFill>
                    <a:srgbClr val="000000"/>
                  </a:solidFill>
                  <a:latin typeface="Times New Roman"/>
                  <a:ea typeface="Times New Roman"/>
                  <a:cs typeface="Times New Roman"/>
                </a:rPr>
                <a:t>Brief an Giulio </a:t>
              </a:r>
              <a:r>
                <a:rPr sz="1050" dirty="0" err="1">
                  <a:solidFill>
                    <a:srgbClr val="000000"/>
                  </a:solidFill>
                  <a:latin typeface="Times New Roman"/>
                  <a:ea typeface="Times New Roman"/>
                  <a:cs typeface="Times New Roman"/>
                </a:rPr>
                <a:t>Vivanti</a:t>
              </a:r>
              <a:r>
                <a:rPr sz="1050" dirty="0">
                  <a:solidFill>
                    <a:srgbClr val="000000"/>
                  </a:solidFill>
                  <a:latin typeface="Times New Roman"/>
                  <a:ea typeface="Times New Roman"/>
                  <a:cs typeface="Times New Roman"/>
                </a:rPr>
                <a:t>, 13. </a:t>
              </a:r>
              <a:r>
                <a:rPr sz="1050" dirty="0" err="1">
                  <a:solidFill>
                    <a:srgbClr val="000000"/>
                  </a:solidFill>
                  <a:latin typeface="Times New Roman"/>
                  <a:ea typeface="Times New Roman"/>
                  <a:cs typeface="Times New Roman"/>
                </a:rPr>
                <a:t>Dezember</a:t>
              </a:r>
              <a:r>
                <a:rPr sz="1050" dirty="0">
                  <a:solidFill>
                    <a:srgbClr val="000000"/>
                  </a:solidFill>
                  <a:latin typeface="Times New Roman"/>
                  <a:ea typeface="Times New Roman"/>
                  <a:cs typeface="Times New Roman"/>
                </a:rPr>
                <a:t> </a:t>
              </a:r>
              <a:r>
                <a:rPr sz="1050" dirty="0" smtClean="0">
                  <a:solidFill>
                    <a:srgbClr val="000000"/>
                  </a:solidFill>
                  <a:latin typeface="Times New Roman"/>
                  <a:ea typeface="Times New Roman"/>
                  <a:cs typeface="Times New Roman"/>
                </a:rPr>
                <a:t>1893.</a:t>
              </a:r>
              <a:r>
                <a:rPr lang="de-DE" sz="1050" dirty="0" smtClean="0">
                  <a:solidFill>
                    <a:srgbClr val="000000"/>
                  </a:solidFill>
                  <a:latin typeface="Times New Roman"/>
                  <a:ea typeface="Times New Roman"/>
                  <a:cs typeface="Times New Roman"/>
                </a:rPr>
                <a:t> </a:t>
              </a:r>
              <a:r>
                <a:rPr sz="1050" dirty="0" err="1" smtClean="0">
                  <a:solidFill>
                    <a:srgbClr val="000000"/>
                  </a:solidFill>
                  <a:latin typeface="Times New Roman"/>
                  <a:ea typeface="Times New Roman"/>
                  <a:cs typeface="Times New Roman"/>
                </a:rPr>
                <a:t>Zitiert</a:t>
              </a:r>
              <a:r>
                <a:rPr sz="1050" dirty="0" smtClean="0">
                  <a:solidFill>
                    <a:srgbClr val="000000"/>
                  </a:solidFill>
                  <a:latin typeface="Times New Roman"/>
                  <a:ea typeface="Times New Roman"/>
                  <a:cs typeface="Times New Roman"/>
                </a:rPr>
                <a:t> </a:t>
              </a:r>
              <a:r>
                <a:rPr sz="1050" dirty="0" err="1">
                  <a:solidFill>
                    <a:srgbClr val="000000"/>
                  </a:solidFill>
                  <a:latin typeface="Times New Roman"/>
                  <a:ea typeface="Times New Roman"/>
                  <a:cs typeface="Times New Roman"/>
                </a:rPr>
                <a:t>nach</a:t>
              </a:r>
              <a:r>
                <a:rPr sz="1050" dirty="0">
                  <a:solidFill>
                    <a:srgbClr val="000000"/>
                  </a:solidFill>
                  <a:latin typeface="Times New Roman"/>
                  <a:ea typeface="Times New Roman"/>
                  <a:cs typeface="Times New Roman"/>
                </a:rPr>
                <a:t> </a:t>
              </a:r>
              <a:r>
                <a:rPr sz="1050" dirty="0" err="1">
                  <a:solidFill>
                    <a:srgbClr val="000000"/>
                  </a:solidFill>
                  <a:latin typeface="Times New Roman"/>
                  <a:ea typeface="Times New Roman"/>
                  <a:cs typeface="Times New Roman"/>
                </a:rPr>
                <a:t>Kuhlemann</a:t>
              </a:r>
              <a:r>
                <a:rPr sz="1050" dirty="0">
                  <a:solidFill>
                    <a:srgbClr val="000000"/>
                  </a:solidFill>
                  <a:latin typeface="Times New Roman"/>
                  <a:ea typeface="Times New Roman"/>
                  <a:cs typeface="Times New Roman"/>
                </a:rPr>
                <a:t> (2022), S. 200,</a:t>
              </a:r>
            </a:p>
            <a:p>
              <a:pPr algn="l">
                <a:defRPr sz="1050">
                  <a:solidFill>
                    <a:srgbClr val="000000"/>
                  </a:solidFill>
                  <a:latin typeface="Times New Roman"/>
                  <a:ea typeface="Times New Roman"/>
                  <a:cs typeface="Times New Roman"/>
                </a:defRPr>
              </a:pPr>
              <a:r>
                <a:rPr sz="1050" dirty="0" err="1">
                  <a:solidFill>
                    <a:srgbClr val="000000"/>
                  </a:solidFill>
                  <a:latin typeface="Times New Roman"/>
                  <a:ea typeface="Times New Roman"/>
                  <a:cs typeface="Times New Roman"/>
                </a:rPr>
                <a:t>nach</a:t>
              </a:r>
              <a:r>
                <a:rPr sz="1050" dirty="0">
                  <a:solidFill>
                    <a:srgbClr val="000000"/>
                  </a:solidFill>
                  <a:latin typeface="Times New Roman"/>
                  <a:ea typeface="Times New Roman"/>
                  <a:cs typeface="Times New Roman"/>
                </a:rPr>
                <a:t> </a:t>
              </a:r>
              <a:r>
                <a:rPr sz="1050" dirty="0" err="1">
                  <a:solidFill>
                    <a:srgbClr val="000000"/>
                  </a:solidFill>
                  <a:latin typeface="Times New Roman"/>
                  <a:ea typeface="Times New Roman"/>
                  <a:cs typeface="Times New Roman"/>
                </a:rPr>
                <a:t>Meschkowski</a:t>
              </a:r>
              <a:r>
                <a:rPr sz="1050" dirty="0">
                  <a:solidFill>
                    <a:srgbClr val="000000"/>
                  </a:solidFill>
                  <a:latin typeface="Times New Roman"/>
                  <a:ea typeface="Times New Roman"/>
                  <a:cs typeface="Times New Roman"/>
                </a:rPr>
                <a:t> (1965), S. 505–506.</a:t>
              </a:r>
            </a:p>
          </p:txBody>
        </p:sp>
      </p:grpSp>
    </p:spTree>
    <p:extLst>
      <p:ext uri="{BB962C8B-B14F-4D97-AF65-F5344CB8AC3E}">
        <p14:creationId xmlns:p14="http://schemas.microsoft.com/office/powerpoint/2010/main" val="4174028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p:cNvSpPr txBox="1"/>
          <p:nvPr/>
        </p:nvSpPr>
        <p:spPr>
          <a:xfrm>
            <a:off x="342900" y="411510"/>
            <a:ext cx="5381625" cy="1627632"/>
          </a:xfrm>
          <a:prstGeom prst="rect">
            <a:avLst/>
          </a:prstGeom>
          <a:noFill/>
        </p:spPr>
        <p:txBody>
          <a:bodyPr wrap="square" lIns="0" tIns="0" rIns="0" bIns="0" anchor="t">
            <a:noAutofit/>
          </a:bodyPr>
          <a:lstStyle>
            <a:defPPr algn="just">
              <a:defRPr sz="1600">
                <a:solidFill>
                  <a:srgbClr val="000000"/>
                </a:solidFill>
                <a:latin typeface="Times New Roman"/>
                <a:ea typeface="Times New Roman"/>
                <a:cs typeface="Times New Roman"/>
              </a:defRPr>
            </a:defPPr>
            <a:lvl1pPr algn="just">
              <a:defRPr sz="1600">
                <a:solidFill>
                  <a:srgbClr val="000000"/>
                </a:solidFill>
                <a:latin typeface="Times New Roman"/>
                <a:ea typeface="Times New Roman"/>
                <a:cs typeface="Times New Roman"/>
              </a:defRPr>
            </a:lvl1pPr>
            <a:lvl2pPr algn="just">
              <a:defRPr sz="1600">
                <a:solidFill>
                  <a:srgbClr val="000000"/>
                </a:solidFill>
                <a:latin typeface="Times New Roman"/>
                <a:ea typeface="Times New Roman"/>
                <a:cs typeface="Times New Roman"/>
              </a:defRPr>
            </a:lvl2pPr>
            <a:lvl3pPr algn="just">
              <a:defRPr sz="1600">
                <a:solidFill>
                  <a:srgbClr val="000000"/>
                </a:solidFill>
                <a:latin typeface="Times New Roman"/>
                <a:ea typeface="Times New Roman"/>
                <a:cs typeface="Times New Roman"/>
              </a:defRPr>
            </a:lvl3pPr>
            <a:lvl4pPr algn="just">
              <a:defRPr sz="1600">
                <a:solidFill>
                  <a:srgbClr val="000000"/>
                </a:solidFill>
                <a:latin typeface="Times New Roman"/>
                <a:ea typeface="Times New Roman"/>
                <a:cs typeface="Times New Roman"/>
              </a:defRPr>
            </a:lvl4pPr>
            <a:lvl5pPr algn="just">
              <a:defRPr sz="1600">
                <a:solidFill>
                  <a:srgbClr val="000000"/>
                </a:solidFill>
                <a:latin typeface="Times New Roman"/>
                <a:ea typeface="Times New Roman"/>
                <a:cs typeface="Times New Roman"/>
              </a:defRPr>
            </a:lvl5pPr>
            <a:lvl6pPr algn="just">
              <a:defRPr sz="1600">
                <a:solidFill>
                  <a:srgbClr val="000000"/>
                </a:solidFill>
                <a:latin typeface="Times New Roman"/>
                <a:ea typeface="Times New Roman"/>
                <a:cs typeface="Times New Roman"/>
              </a:defRPr>
            </a:lvl6pPr>
            <a:lvl7pPr algn="just">
              <a:defRPr sz="1600">
                <a:solidFill>
                  <a:srgbClr val="000000"/>
                </a:solidFill>
                <a:latin typeface="Times New Roman"/>
                <a:ea typeface="Times New Roman"/>
                <a:cs typeface="Times New Roman"/>
              </a:defRPr>
            </a:lvl7pPr>
            <a:lvl8pPr algn="just">
              <a:defRPr sz="1600">
                <a:solidFill>
                  <a:srgbClr val="000000"/>
                </a:solidFill>
                <a:latin typeface="Times New Roman"/>
                <a:ea typeface="Times New Roman"/>
                <a:cs typeface="Times New Roman"/>
              </a:defRPr>
            </a:lvl8pPr>
            <a:lvl9pPr algn="just">
              <a:defRPr sz="1600">
                <a:solidFill>
                  <a:srgbClr val="000000"/>
                </a:solidFill>
                <a:latin typeface="Times New Roman"/>
                <a:ea typeface="Times New Roman"/>
                <a:cs typeface="Times New Roman"/>
              </a:defRPr>
            </a:lvl9pPr>
          </a:lstStyle>
          <a:p>
            <a:pPr algn="just">
              <a:lnSpc>
                <a:spcPct val="105000"/>
              </a:lnSpc>
              <a:buNone/>
              <a:defRPr sz="1600">
                <a:solidFill>
                  <a:srgbClr val="000000"/>
                </a:solidFill>
                <a:latin typeface="Times New Roman"/>
                <a:ea typeface="Times New Roman"/>
                <a:cs typeface="Times New Roman"/>
              </a:defRPr>
            </a:pPr>
            <a:r>
              <a:rPr sz="1600" dirty="0">
                <a:solidFill>
                  <a:srgbClr val="000000"/>
                </a:solidFill>
                <a:latin typeface="Times New Roman"/>
                <a:ea typeface="Times New Roman"/>
                <a:cs typeface="Times New Roman"/>
              </a:rPr>
              <a:t>“A nonstandard number is </a:t>
            </a:r>
            <a:r>
              <a:rPr sz="1600" b="1" dirty="0">
                <a:solidFill>
                  <a:srgbClr val="000000"/>
                </a:solidFill>
                <a:latin typeface="Times New Roman"/>
                <a:ea typeface="Times New Roman"/>
                <a:cs typeface="Times New Roman"/>
              </a:rPr>
              <a:t>some sort of chimera </a:t>
            </a:r>
            <a:r>
              <a:rPr sz="1600" dirty="0">
                <a:solidFill>
                  <a:srgbClr val="000000"/>
                </a:solidFill>
                <a:latin typeface="Times New Roman"/>
                <a:ea typeface="Times New Roman"/>
                <a:cs typeface="Times New Roman"/>
              </a:rPr>
              <a:t>which is impossible to grasp and certainly not a concrete object. In fact when you look at nonstandard analysis you find out that except for the use of </a:t>
            </a:r>
            <a:r>
              <a:rPr sz="1600" dirty="0" err="1">
                <a:solidFill>
                  <a:srgbClr val="000000"/>
                </a:solidFill>
                <a:latin typeface="Times New Roman"/>
                <a:ea typeface="Times New Roman"/>
                <a:cs typeface="Times New Roman"/>
              </a:rPr>
              <a:t>ultraproducts</a:t>
            </a:r>
            <a:r>
              <a:rPr sz="1600" dirty="0">
                <a:solidFill>
                  <a:srgbClr val="000000"/>
                </a:solidFill>
                <a:latin typeface="Times New Roman"/>
                <a:ea typeface="Times New Roman"/>
                <a:cs typeface="Times New Roman"/>
              </a:rPr>
              <a:t>, which is very efficient, it just shifts the order in logic by one step; it’s not doing much more.”</a:t>
            </a:r>
          </a:p>
        </p:txBody>
      </p:sp>
      <p:pic>
        <p:nvPicPr>
          <p:cNvPr id="10248" name="Picture 8" descr="Alain Connes - Heidelberg Laureate For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361" y="342900"/>
            <a:ext cx="2476478" cy="3717131"/>
          </a:xfrm>
          <a:prstGeom prst="rect">
            <a:avLst/>
          </a:prstGeom>
          <a:noFill/>
          <a:extLst>
            <a:ext uri="{909E8E84-426E-40DD-AFC4-6F175D3DCCD1}">
              <a14:hiddenFill xmlns:a14="http://schemas.microsoft.com/office/drawing/2010/main">
                <a:solidFill>
                  <a:srgbClr val="FFFFFF"/>
                </a:solidFill>
              </a14:hiddenFill>
            </a:ext>
          </a:extLst>
        </p:spPr>
      </p:pic>
      <p:sp>
        <p:nvSpPr>
          <p:cNvPr id="7" name="Rechteck 6"/>
          <p:cNvSpPr/>
          <p:nvPr/>
        </p:nvSpPr>
        <p:spPr>
          <a:xfrm>
            <a:off x="6732240" y="4155926"/>
            <a:ext cx="1643380" cy="640080"/>
          </a:xfrm>
          <a:prstGeom prst="rect">
            <a:avLst/>
          </a:prstGeom>
        </p:spPr>
        <p:txBody>
          <a:bodyPr wrap="square" lIns="0" tIns="0" rIns="0" bIns="0" anchor="t">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defRPr sz="1800">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Alain Connes</a:t>
            </a:r>
          </a:p>
          <a:p>
            <a:pPr algn="ctr">
              <a:defRPr sz="180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 1947)</a:t>
            </a:r>
          </a:p>
        </p:txBody>
      </p:sp>
      <p:sp>
        <p:nvSpPr>
          <p:cNvPr id="10249" name="add-source-connes-chimera">
            <a:extLst>
              <a:ext uri="{FF2B5EF4-FFF2-40B4-BE49-F238E27FC236}">
                <a16:creationId xmlns:a16="http://schemas.microsoft.com/office/drawing/2014/main" xmlns="" id="{F6A31424-4723-449C-8454-D378ABC27FA8}"/>
              </a:ext>
            </a:extLst>
          </p:cNvPr>
          <p:cNvSpPr>
            <a:spLocks noGrp="1"/>
          </p:cNvSpPr>
          <p:nvPr/>
        </p:nvSpPr>
        <p:spPr>
          <a:xfrm>
            <a:off x="342900" y="1880640"/>
            <a:ext cx="5381625" cy="5905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defRPr sz="1050">
                <a:solidFill>
                  <a:srgbClr val="000000"/>
                </a:solidFill>
                <a:latin typeface="Times New Roman"/>
                <a:ea typeface="Times New Roman"/>
                <a:cs typeface="Times New Roman"/>
              </a:defRPr>
            </a:pPr>
            <a:r>
              <a:rPr sz="1050" dirty="0" err="1">
                <a:solidFill>
                  <a:srgbClr val="000000"/>
                </a:solidFill>
                <a:latin typeface="Times New Roman"/>
                <a:ea typeface="Times New Roman"/>
                <a:cs typeface="Times New Roman"/>
              </a:rPr>
              <a:t>Connes</a:t>
            </a:r>
            <a:r>
              <a:rPr sz="1050" dirty="0">
                <a:solidFill>
                  <a:srgbClr val="000000"/>
                </a:solidFill>
                <a:latin typeface="Times New Roman"/>
                <a:ea typeface="Times New Roman"/>
                <a:cs typeface="Times New Roman"/>
              </a:rPr>
              <a:t>, Cyclic </a:t>
            </a:r>
            <a:r>
              <a:rPr sz="1050" dirty="0" err="1">
                <a:solidFill>
                  <a:srgbClr val="000000"/>
                </a:solidFill>
                <a:latin typeface="Times New Roman"/>
                <a:ea typeface="Times New Roman"/>
                <a:cs typeface="Times New Roman"/>
              </a:rPr>
              <a:t>Cohomology</a:t>
            </a:r>
            <a:r>
              <a:rPr sz="1050" dirty="0">
                <a:solidFill>
                  <a:srgbClr val="000000"/>
                </a:solidFill>
                <a:latin typeface="Times New Roman"/>
                <a:ea typeface="Times New Roman"/>
                <a:cs typeface="Times New Roman"/>
              </a:rPr>
              <a:t>, Noncommutative </a:t>
            </a:r>
            <a:r>
              <a:rPr sz="1050" dirty="0" smtClean="0">
                <a:solidFill>
                  <a:srgbClr val="000000"/>
                </a:solidFill>
                <a:latin typeface="Times New Roman"/>
                <a:ea typeface="Times New Roman"/>
                <a:cs typeface="Times New Roman"/>
              </a:rPr>
              <a:t>Geometry</a:t>
            </a:r>
            <a:r>
              <a:rPr lang="de-DE" sz="1050" dirty="0" smtClean="0">
                <a:solidFill>
                  <a:srgbClr val="000000"/>
                </a:solidFill>
                <a:latin typeface="Times New Roman"/>
                <a:ea typeface="Times New Roman"/>
                <a:cs typeface="Times New Roman"/>
              </a:rPr>
              <a:t> a</a:t>
            </a:r>
            <a:r>
              <a:rPr sz="1050" dirty="0" err="1" smtClean="0">
                <a:solidFill>
                  <a:srgbClr val="000000"/>
                </a:solidFill>
                <a:latin typeface="Times New Roman"/>
                <a:ea typeface="Times New Roman"/>
                <a:cs typeface="Times New Roman"/>
              </a:rPr>
              <a:t>nd</a:t>
            </a:r>
            <a:r>
              <a:rPr sz="1050" dirty="0" smtClean="0">
                <a:solidFill>
                  <a:srgbClr val="000000"/>
                </a:solidFill>
                <a:latin typeface="Times New Roman"/>
                <a:ea typeface="Times New Roman"/>
                <a:cs typeface="Times New Roman"/>
              </a:rPr>
              <a:t> </a:t>
            </a:r>
            <a:r>
              <a:rPr sz="1050" dirty="0">
                <a:solidFill>
                  <a:srgbClr val="000000"/>
                </a:solidFill>
                <a:latin typeface="Times New Roman"/>
                <a:ea typeface="Times New Roman"/>
                <a:cs typeface="Times New Roman"/>
              </a:rPr>
              <a:t>Quantum Group Symmetries (2004), S. </a:t>
            </a:r>
            <a:r>
              <a:rPr sz="1050" dirty="0" smtClean="0">
                <a:solidFill>
                  <a:srgbClr val="000000"/>
                </a:solidFill>
                <a:latin typeface="Times New Roman"/>
                <a:ea typeface="Times New Roman"/>
                <a:cs typeface="Times New Roman"/>
              </a:rPr>
              <a:t>14;</a:t>
            </a:r>
            <a:r>
              <a:rPr lang="de-DE" sz="1050" dirty="0" smtClean="0">
                <a:solidFill>
                  <a:srgbClr val="000000"/>
                </a:solidFill>
                <a:latin typeface="Times New Roman"/>
                <a:ea typeface="Times New Roman"/>
                <a:cs typeface="Times New Roman"/>
              </a:rPr>
              <a:t> v</a:t>
            </a:r>
            <a:r>
              <a:rPr sz="1050" dirty="0" smtClean="0">
                <a:solidFill>
                  <a:srgbClr val="000000"/>
                </a:solidFill>
                <a:latin typeface="Times New Roman"/>
                <a:ea typeface="Times New Roman"/>
                <a:cs typeface="Times New Roman"/>
              </a:rPr>
              <a:t>gl</a:t>
            </a:r>
            <a:r>
              <a:rPr sz="1050" dirty="0">
                <a:solidFill>
                  <a:srgbClr val="000000"/>
                </a:solidFill>
                <a:latin typeface="Times New Roman"/>
                <a:ea typeface="Times New Roman"/>
                <a:cs typeface="Times New Roman"/>
              </a:rPr>
              <a:t>. </a:t>
            </a:r>
            <a:r>
              <a:rPr sz="1050" dirty="0" err="1">
                <a:solidFill>
                  <a:srgbClr val="000000"/>
                </a:solidFill>
                <a:latin typeface="Times New Roman"/>
                <a:ea typeface="Times New Roman"/>
                <a:cs typeface="Times New Roman"/>
              </a:rPr>
              <a:t>Kuhlemann</a:t>
            </a:r>
            <a:r>
              <a:rPr sz="1050" dirty="0">
                <a:solidFill>
                  <a:srgbClr val="000000"/>
                </a:solidFill>
                <a:latin typeface="Times New Roman"/>
                <a:ea typeface="Times New Roman"/>
                <a:cs typeface="Times New Roman"/>
              </a:rPr>
              <a:t> (2022), S. 206–207.</a:t>
            </a:r>
          </a:p>
        </p:txBody>
      </p:sp>
      <p:grpSp>
        <p:nvGrpSpPr>
          <p:cNvPr id="10251" name="Schritt 1: Einwand zur Physik"/>
          <p:cNvGrpSpPr/>
          <p:nvPr/>
        </p:nvGrpSpPr>
        <p:grpSpPr>
          <a:xfrm>
            <a:off x="342900" y="2715766"/>
            <a:ext cx="5381625" cy="1219200"/>
            <a:chOff x="342900" y="2715766"/>
            <a:chExt cx="5381625" cy="1219200"/>
          </a:xfrm>
        </p:grpSpPr>
        <p:sp>
          <p:nvSpPr>
            <p:cNvPr id="6" name="Textfeld 5"/>
            <p:cNvSpPr txBox="1"/>
            <p:nvPr/>
          </p:nvSpPr>
          <p:spPr>
            <a:xfrm>
              <a:off x="342900" y="2715766"/>
              <a:ext cx="5381625" cy="635508"/>
            </a:xfrm>
            <a:prstGeom prst="rect">
              <a:avLst/>
            </a:prstGeom>
            <a:noFill/>
          </p:spPr>
          <p:txBody>
            <a:bodyPr wrap="square" lIns="0" tIns="0" rIns="0" bIns="0" anchor="t">
              <a:noAutofit/>
            </a:bodyPr>
            <a:lstStyle>
              <a:defPPr algn="l">
                <a:defRPr sz="1700">
                  <a:solidFill>
                    <a:srgbClr val="000000"/>
                  </a:solidFill>
                  <a:latin typeface="Times New Roman"/>
                  <a:ea typeface="Times New Roman"/>
                  <a:cs typeface="Times New Roman"/>
                </a:defRPr>
              </a:defPPr>
              <a:lvl1pPr algn="l">
                <a:defRPr sz="1700">
                  <a:solidFill>
                    <a:srgbClr val="000000"/>
                  </a:solidFill>
                  <a:latin typeface="Times New Roman"/>
                  <a:ea typeface="Times New Roman"/>
                  <a:cs typeface="Times New Roman"/>
                </a:defRPr>
              </a:lvl1pPr>
              <a:lvl2pPr algn="l">
                <a:defRPr sz="1700">
                  <a:solidFill>
                    <a:srgbClr val="000000"/>
                  </a:solidFill>
                  <a:latin typeface="Times New Roman"/>
                  <a:ea typeface="Times New Roman"/>
                  <a:cs typeface="Times New Roman"/>
                </a:defRPr>
              </a:lvl2pPr>
              <a:lvl3pPr algn="l">
                <a:defRPr sz="1700">
                  <a:solidFill>
                    <a:srgbClr val="000000"/>
                  </a:solidFill>
                  <a:latin typeface="Times New Roman"/>
                  <a:ea typeface="Times New Roman"/>
                  <a:cs typeface="Times New Roman"/>
                </a:defRPr>
              </a:lvl3pPr>
              <a:lvl4pPr algn="l">
                <a:defRPr sz="1700">
                  <a:solidFill>
                    <a:srgbClr val="000000"/>
                  </a:solidFill>
                  <a:latin typeface="Times New Roman"/>
                  <a:ea typeface="Times New Roman"/>
                  <a:cs typeface="Times New Roman"/>
                </a:defRPr>
              </a:lvl4pPr>
              <a:lvl5pPr algn="l">
                <a:defRPr sz="1700">
                  <a:solidFill>
                    <a:srgbClr val="000000"/>
                  </a:solidFill>
                  <a:latin typeface="Times New Roman"/>
                  <a:ea typeface="Times New Roman"/>
                  <a:cs typeface="Times New Roman"/>
                </a:defRPr>
              </a:lvl5pPr>
              <a:lvl6pPr algn="l">
                <a:defRPr sz="1700">
                  <a:solidFill>
                    <a:srgbClr val="000000"/>
                  </a:solidFill>
                  <a:latin typeface="Times New Roman"/>
                  <a:ea typeface="Times New Roman"/>
                  <a:cs typeface="Times New Roman"/>
                </a:defRPr>
              </a:lvl6pPr>
              <a:lvl7pPr algn="l">
                <a:defRPr sz="1700">
                  <a:solidFill>
                    <a:srgbClr val="000000"/>
                  </a:solidFill>
                  <a:latin typeface="Times New Roman"/>
                  <a:ea typeface="Times New Roman"/>
                  <a:cs typeface="Times New Roman"/>
                </a:defRPr>
              </a:lvl7pPr>
              <a:lvl8pPr algn="l">
                <a:defRPr sz="1700">
                  <a:solidFill>
                    <a:srgbClr val="000000"/>
                  </a:solidFill>
                  <a:latin typeface="Times New Roman"/>
                  <a:ea typeface="Times New Roman"/>
                  <a:cs typeface="Times New Roman"/>
                </a:defRPr>
              </a:lvl8pPr>
              <a:lvl9pPr algn="l">
                <a:defRPr sz="1700">
                  <a:solidFill>
                    <a:srgbClr val="000000"/>
                  </a:solidFill>
                  <a:latin typeface="Times New Roman"/>
                  <a:ea typeface="Times New Roman"/>
                  <a:cs typeface="Times New Roman"/>
                </a:defRPr>
              </a:lvl9pPr>
            </a:lstStyle>
            <a:p>
              <a:pPr algn="l">
                <a:lnSpc>
                  <a:spcPct val="105000"/>
                </a:lnSpc>
                <a:buNone/>
                <a:defRPr sz="1700">
                  <a:solidFill>
                    <a:srgbClr val="000000"/>
                  </a:solidFill>
                  <a:latin typeface="Times New Roman"/>
                  <a:ea typeface="Times New Roman"/>
                  <a:cs typeface="Times New Roman"/>
                </a:defRPr>
              </a:pPr>
              <a:r>
                <a:rPr sz="1700" dirty="0">
                  <a:solidFill>
                    <a:srgbClr val="000000"/>
                  </a:solidFill>
                  <a:latin typeface="Times New Roman"/>
                  <a:ea typeface="Times New Roman"/>
                  <a:cs typeface="Times New Roman"/>
                </a:rPr>
                <a:t>“… </a:t>
              </a:r>
              <a:r>
                <a:rPr sz="1700" b="1" dirty="0">
                  <a:solidFill>
                    <a:srgbClr val="000000"/>
                  </a:solidFill>
                  <a:latin typeface="Times New Roman"/>
                  <a:ea typeface="Times New Roman"/>
                  <a:cs typeface="Times New Roman"/>
                </a:rPr>
                <a:t>utterly doomed to failure </a:t>
              </a:r>
              <a:r>
                <a:rPr sz="1700" dirty="0">
                  <a:solidFill>
                    <a:srgbClr val="000000"/>
                  </a:solidFill>
                  <a:latin typeface="Times New Roman"/>
                  <a:ea typeface="Times New Roman"/>
                  <a:cs typeface="Times New Roman"/>
                </a:rPr>
                <a:t>to try to use non-standard analysis to do physics.”</a:t>
              </a:r>
            </a:p>
          </p:txBody>
        </p:sp>
        <p:sp>
          <p:nvSpPr>
            <p:cNvPr id="10250" name="visible-citation-8-10250">
              <a:extLst>
                <a:ext uri="{FF2B5EF4-FFF2-40B4-BE49-F238E27FC236}">
                  <a16:creationId xmlns:a16="http://schemas.microsoft.com/office/drawing/2014/main" xmlns="" id="{C5EC11A4-73D8-49C4-8961-2ED6B05C32D5}"/>
                </a:ext>
              </a:extLst>
            </p:cNvPr>
            <p:cNvSpPr>
              <a:spLocks noGrp="1"/>
            </p:cNvSpPr>
            <p:nvPr/>
          </p:nvSpPr>
          <p:spPr>
            <a:xfrm>
              <a:off x="342900" y="3534916"/>
              <a:ext cx="5381625" cy="4000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dirty="0">
                  <a:solidFill>
                    <a:srgbClr val="000000"/>
                  </a:solidFill>
                  <a:latin typeface="Times New Roman"/>
                  <a:ea typeface="Times New Roman"/>
                  <a:cs typeface="Times New Roman"/>
                </a:rPr>
                <a:t>Goldstein / Skandalis, „An interview with Alain </a:t>
              </a:r>
              <a:r>
                <a:rPr sz="1050" dirty="0" err="1">
                  <a:solidFill>
                    <a:srgbClr val="000000"/>
                  </a:solidFill>
                  <a:latin typeface="Times New Roman"/>
                  <a:ea typeface="Times New Roman"/>
                  <a:cs typeface="Times New Roman"/>
                </a:rPr>
                <a:t>Connes</a:t>
              </a:r>
              <a:r>
                <a:rPr sz="1050" dirty="0" smtClean="0">
                  <a:solidFill>
                    <a:srgbClr val="000000"/>
                  </a:solidFill>
                  <a:latin typeface="Times New Roman"/>
                  <a:ea typeface="Times New Roman"/>
                  <a:cs typeface="Times New Roman"/>
                </a:rPr>
                <a:t>“,</a:t>
              </a:r>
              <a:r>
                <a:rPr lang="de-DE" sz="1050" dirty="0" smtClean="0">
                  <a:solidFill>
                    <a:srgbClr val="000000"/>
                  </a:solidFill>
                  <a:latin typeface="Times New Roman"/>
                  <a:ea typeface="Times New Roman"/>
                  <a:cs typeface="Times New Roman"/>
                </a:rPr>
                <a:t> Teil </a:t>
              </a:r>
              <a:r>
                <a:rPr sz="1050" dirty="0" err="1" smtClean="0">
                  <a:solidFill>
                    <a:srgbClr val="000000"/>
                  </a:solidFill>
                  <a:latin typeface="Times New Roman"/>
                  <a:ea typeface="Times New Roman"/>
                  <a:cs typeface="Times New Roman"/>
                </a:rPr>
                <a:t>il</a:t>
              </a:r>
              <a:r>
                <a:rPr sz="1050" dirty="0" smtClean="0">
                  <a:solidFill>
                    <a:srgbClr val="000000"/>
                  </a:solidFill>
                  <a:latin typeface="Times New Roman"/>
                  <a:ea typeface="Times New Roman"/>
                  <a:cs typeface="Times New Roman"/>
                </a:rPr>
                <a:t> </a:t>
              </a:r>
              <a:r>
                <a:rPr sz="1050" dirty="0">
                  <a:solidFill>
                    <a:srgbClr val="000000"/>
                  </a:solidFill>
                  <a:latin typeface="Times New Roman"/>
                  <a:ea typeface="Times New Roman"/>
                  <a:cs typeface="Times New Roman"/>
                </a:rPr>
                <a:t>I, EMS Newsletter </a:t>
              </a:r>
              <a:r>
                <a:rPr sz="1050" dirty="0" smtClean="0">
                  <a:solidFill>
                    <a:srgbClr val="000000"/>
                  </a:solidFill>
                  <a:latin typeface="Times New Roman"/>
                  <a:ea typeface="Times New Roman"/>
                  <a:cs typeface="Times New Roman"/>
                </a:rPr>
                <a:t>63</a:t>
              </a:r>
              <a:r>
                <a:rPr lang="de-DE" sz="1050" dirty="0" smtClean="0">
                  <a:solidFill>
                    <a:srgbClr val="000000"/>
                  </a:solidFill>
                  <a:latin typeface="Times New Roman"/>
                  <a:ea typeface="Times New Roman"/>
                  <a:cs typeface="Times New Roman"/>
                </a:rPr>
                <a:t>, S. 26</a:t>
              </a:r>
              <a:endParaRPr sz="1050" dirty="0">
                <a:solidFill>
                  <a:srgbClr val="000000"/>
                </a:solidFill>
                <a:latin typeface="Times New Roman"/>
                <a:ea typeface="Times New Roman"/>
                <a:cs typeface="Times New Roman"/>
              </a:endParaRPr>
            </a:p>
          </p:txBody>
        </p:sp>
      </p:grpSp>
    </p:spTree>
    <p:extLst>
      <p:ext uri="{BB962C8B-B14F-4D97-AF65-F5344CB8AC3E}">
        <p14:creationId xmlns:p14="http://schemas.microsoft.com/office/powerpoint/2010/main" val="68880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cdn.discordapp.com/attachments/1483066022482415726/1542147830854983801/image.png?ex=6ae53556&amp;is=6ae3e3d6&amp;hm=a7fd84f50ac703e61ec8ae79362572967811283b1f621fb018c103cb471629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1563638"/>
            <a:ext cx="4712919" cy="2376264"/>
          </a:xfrm>
          <a:prstGeom prst="rect">
            <a:avLst/>
          </a:prstGeom>
          <a:noFill/>
          <a:extLst>
            <a:ext uri="{909E8E84-426E-40DD-AFC4-6F175D3DCCD1}">
              <a14:hiddenFill xmlns:a14="http://schemas.microsoft.com/office/drawing/2010/main">
                <a:solidFill>
                  <a:srgbClr val="FFFFFF"/>
                </a:solidFill>
              </a14:hiddenFill>
            </a:ext>
          </a:extLst>
        </p:spPr>
      </p:pic>
      <p:sp>
        <p:nvSpPr>
          <p:cNvPr id="2" name="Rechteck 1"/>
          <p:cNvSpPr/>
          <p:nvPr/>
        </p:nvSpPr>
        <p:spPr>
          <a:xfrm>
            <a:off x="323528" y="195486"/>
            <a:ext cx="8712968" cy="954107"/>
          </a:xfrm>
          <a:prstGeom prst="rect">
            <a:avLst/>
          </a:prstGeom>
        </p:spPr>
        <p:txBody>
          <a:bodyPr wrap="square">
            <a:spAutoFit/>
          </a:bodyPr>
          <a:lstStyle/>
          <a:p>
            <a:r>
              <a:rPr lang="de-DE" sz="2800" dirty="0">
                <a:latin typeface="Times New Roman" panose="02020603050405020304" pitchFamily="18" charset="0"/>
                <a:cs typeface="Times New Roman" panose="02020603050405020304" pitchFamily="18" charset="0"/>
              </a:rPr>
              <a:t>Berücksichtigen Sie in Ihren Vorlesungen zur Analysis I/II auch Elemente oder Methoden der Nichtstandardanalysis?</a:t>
            </a:r>
          </a:p>
        </p:txBody>
      </p:sp>
      <p:sp>
        <p:nvSpPr>
          <p:cNvPr id="4" name="Textfeld 3"/>
          <p:cNvSpPr txBox="1"/>
          <p:nvPr/>
        </p:nvSpPr>
        <p:spPr>
          <a:xfrm>
            <a:off x="323528" y="4515966"/>
            <a:ext cx="3240360" cy="369332"/>
          </a:xfrm>
          <a:prstGeom prst="rect">
            <a:avLst/>
          </a:prstGeom>
          <a:noFill/>
        </p:spPr>
        <p:txBody>
          <a:bodyPr wrap="square" rtlCol="0">
            <a:spAutoFit/>
          </a:bodyPr>
          <a:lstStyle/>
          <a:p>
            <a:r>
              <a:rPr lang="de-DE" dirty="0" smtClean="0">
                <a:latin typeface="Times New Roman" panose="02020603050405020304" pitchFamily="18" charset="0"/>
                <a:cs typeface="Times New Roman" panose="02020603050405020304" pitchFamily="18" charset="0"/>
              </a:rPr>
              <a:t>Quelle: </a:t>
            </a:r>
            <a:r>
              <a:rPr lang="de-DE" dirty="0" err="1" smtClean="0">
                <a:latin typeface="Times New Roman" panose="02020603050405020304" pitchFamily="18" charset="0"/>
                <a:cs typeface="Times New Roman" panose="02020603050405020304" pitchFamily="18" charset="0"/>
              </a:rPr>
              <a:t>Kuhlemann</a:t>
            </a:r>
            <a:r>
              <a:rPr lang="de-DE" dirty="0" smtClean="0">
                <a:latin typeface="Times New Roman" panose="02020603050405020304" pitchFamily="18" charset="0"/>
                <a:cs typeface="Times New Roman" panose="02020603050405020304" pitchFamily="18" charset="0"/>
              </a:rPr>
              <a:t> (2022), S. 95</a:t>
            </a:r>
            <a:endParaRPr lang="de-D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00326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decimal_question">
            <a:extLst>
              <a:ext uri="{FF2B5EF4-FFF2-40B4-BE49-F238E27FC236}">
                <a16:creationId xmlns="" xmlns:a16="http://schemas.microsoft.com/office/drawing/2014/main" id="{7BB27A3B-F939-402B-B335-4323DCCD073C}"/>
              </a:ext>
            </a:extLst>
          </p:cNvPr>
          <p:cNvPicPr>
            <a:picLocks noChangeAspect="1"/>
          </p:cNvPicPr>
          <p:nvPr/>
        </p:nvPicPr>
        <p:blipFill>
          <a:blip r:embed="rId3"/>
          <a:stretch/>
        </p:blipFill>
        <p:spPr>
          <a:xfrm>
            <a:off x="247650" y="411510"/>
            <a:ext cx="8686800" cy="269211"/>
          </a:xfrm>
          <a:prstGeom prst="rect">
            <a:avLst/>
          </a:prstGeom>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059582"/>
            <a:ext cx="8136904" cy="149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536" y="2851902"/>
            <a:ext cx="8208912" cy="1232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0003" name="Quellenangabe Umfragetabellen">
            <a:extLst>
              <a:ext uri="{FF2B5EF4-FFF2-40B4-BE49-F238E27FC236}">
                <a16:creationId xmlns="" xmlns:a16="http://schemas.microsoft.com/office/drawing/2014/main" id="{CEE478BD-702C-41BB-9C2C-9AE328D7F633}"/>
              </a:ext>
            </a:extLst>
          </p:cNvPr>
          <p:cNvSpPr>
            <a:spLocks noGrp="1"/>
          </p:cNvSpPr>
          <p:nvPr/>
        </p:nvSpPr>
        <p:spPr>
          <a:xfrm>
            <a:off x="395536" y="4803998"/>
            <a:ext cx="8458200" cy="266700"/>
          </a:xfrm>
          <a:prstGeom prst="rect">
            <a:avLst/>
          </a:prstGeom>
          <a:noFill/>
          <a:ln w="0">
            <a:noFill/>
            <a:prstDash val="solid"/>
          </a:ln>
        </p:spPr>
        <p:txBody>
          <a:bodyPr wrap="non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a:solidFill>
                  <a:srgbClr val="000000"/>
                </a:solidFill>
                <a:latin typeface="Times New Roman"/>
                <a:ea typeface="Times New Roman"/>
                <a:cs typeface="Times New Roman"/>
              </a:rPr>
              <a:t>Quelle: Bedürftig / Murawski, Philosophy of Mathematics (2018), § 6.2.1, S. 348–349.</a:t>
            </a:r>
          </a:p>
        </p:txBody>
      </p:sp>
    </p:spTree>
    <p:extLst>
      <p:ext uri="{BB962C8B-B14F-4D97-AF65-F5344CB8AC3E}">
        <p14:creationId xmlns:p14="http://schemas.microsoft.com/office/powerpoint/2010/main" val="64542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899592" y="1823794"/>
            <a:ext cx="7632848" cy="1107996"/>
          </a:xfrm>
          <a:prstGeom prst="rect">
            <a:avLst/>
          </a:prstGeom>
          <a:noFill/>
        </p:spPr>
        <p:txBody>
          <a:bodyPr wrap="square" rtlCol="0">
            <a:spAutoFit/>
          </a:bodyPr>
          <a:lstStyle/>
          <a:p>
            <a:r>
              <a:rPr lang="de-DE" sz="6600" dirty="0" smtClean="0"/>
              <a:t>Hyperreelle Zahlen</a:t>
            </a:r>
            <a:endParaRPr lang="de-DE" sz="6600" dirty="0"/>
          </a:p>
        </p:txBody>
      </p:sp>
    </p:spTree>
    <p:extLst>
      <p:ext uri="{BB962C8B-B14F-4D97-AF65-F5344CB8AC3E}">
        <p14:creationId xmlns:p14="http://schemas.microsoft.com/office/powerpoint/2010/main" val="41418660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Was </a:t>
            </a:r>
            <a:r>
              <a:rPr lang="en-CA" sz="3200" dirty="0" err="1" smtClean="0">
                <a:solidFill>
                  <a:schemeClr val="bg1"/>
                </a:solidFill>
                <a:effectLst>
                  <a:outerShdw blurRad="38100" dist="38100" dir="2700000" algn="tl">
                    <a:srgbClr val="000000">
                      <a:alpha val="43137"/>
                    </a:srgbClr>
                  </a:outerShdw>
                </a:effectLst>
              </a:rPr>
              <a:t>für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neue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Zahltypen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gibt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es</a:t>
            </a:r>
            <a:r>
              <a:rPr lang="en-CA" sz="3200" dirty="0" smtClean="0">
                <a:solidFill>
                  <a:schemeClr val="bg1"/>
                </a:solidFill>
                <a:effectLst>
                  <a:outerShdw blurRad="38100" dist="38100" dir="2700000" algn="tl">
                    <a:srgbClr val="000000">
                      <a:alpha val="43137"/>
                    </a:srgbClr>
                  </a:outerShdw>
                </a:effectLst>
              </a:rPr>
              <a:t>?</a:t>
            </a:r>
            <a:endParaRPr lang="en-CA" sz="3200" dirty="0">
              <a:solidFill>
                <a:schemeClr val="bg1"/>
              </a:solidFill>
              <a:effectLst>
                <a:outerShdw blurRad="38100" dist="38100" dir="2700000" algn="tl">
                  <a:srgbClr val="000000">
                    <a:alpha val="43137"/>
                  </a:srgbClr>
                </a:outerShdw>
              </a:effectLst>
            </a:endParaRPr>
          </a:p>
        </p:txBody>
      </p:sp>
      <p:sp>
        <p:nvSpPr>
          <p:cNvPr id="6" name="Textfeld 5"/>
          <p:cNvSpPr txBox="1"/>
          <p:nvPr/>
        </p:nvSpPr>
        <p:spPr>
          <a:xfrm>
            <a:off x="323528" y="683700"/>
            <a:ext cx="3168352" cy="400110"/>
          </a:xfrm>
          <a:prstGeom prst="rect">
            <a:avLst/>
          </a:prstGeom>
          <a:noFill/>
        </p:spPr>
        <p:txBody>
          <a:bodyPr wrap="square" rtlCol="0">
            <a:spAutoFit/>
          </a:bodyPr>
          <a:lstStyle/>
          <a:p>
            <a:pPr>
              <a:defRPr>
                <a:latin typeface="Times New Roman"/>
                <a:ea typeface="Times New Roman"/>
                <a:cs typeface="Times New Roman"/>
              </a:defRPr>
            </a:pPr>
            <a:r>
              <a:rPr lang="de-DE" sz="2000" b="1" dirty="0" smtClean="0">
                <a:latin typeface="Times New Roman"/>
                <a:cs typeface="Times New Roman"/>
              </a:rPr>
              <a:t>i) Infinitesimalzahlen</a:t>
            </a:r>
            <a:endParaRPr lang="de-DE" sz="2000" b="1" dirty="0">
              <a:latin typeface="Times New Roman"/>
              <a:cs typeface="Times New Roman"/>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849" y="1557052"/>
            <a:ext cx="7776303" cy="1835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1118692"/>
            <a:ext cx="3096344" cy="366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34" name="Schritt 1: Infinite Zahlen"/>
          <p:cNvGrpSpPr/>
          <p:nvPr/>
        </p:nvGrpSpPr>
        <p:grpSpPr>
          <a:xfrm>
            <a:off x="323528" y="3363838"/>
            <a:ext cx="8476838" cy="1512486"/>
            <a:chOff x="323528" y="3363838"/>
            <a:chExt cx="8476838" cy="1512486"/>
          </a:xfrm>
        </p:grpSpPr>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634" y="4476750"/>
              <a:ext cx="8456732" cy="399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feld 8"/>
            <p:cNvSpPr txBox="1"/>
            <p:nvPr/>
          </p:nvSpPr>
          <p:spPr>
            <a:xfrm>
              <a:off x="323528" y="3363838"/>
              <a:ext cx="3168352" cy="400110"/>
            </a:xfrm>
            <a:prstGeom prst="rect">
              <a:avLst/>
            </a:prstGeom>
            <a:noFill/>
          </p:spPr>
          <p:txBody>
            <a:bodyPr wrap="square" rtlCol="0">
              <a:spAutoFit/>
            </a:bodyPr>
            <a:lstStyle/>
            <a:p>
              <a:pPr>
                <a:defRPr>
                  <a:latin typeface="Times New Roman"/>
                  <a:ea typeface="Times New Roman"/>
                  <a:cs typeface="Times New Roman"/>
                </a:defRPr>
              </a:pPr>
              <a:r>
                <a:rPr lang="de-DE" sz="2000" b="1" dirty="0" smtClean="0">
                  <a:latin typeface="Times New Roman"/>
                  <a:cs typeface="Times New Roman"/>
                </a:rPr>
                <a:t>ii) Infinite Zahlen</a:t>
              </a:r>
              <a:endParaRPr lang="de-DE" sz="2000" b="1" dirty="0">
                <a:latin typeface="Times New Roman"/>
                <a:cs typeface="Times New Roman"/>
              </a:endParaRPr>
            </a:p>
          </p:txBody>
        </p:sp>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560" y="3795886"/>
              <a:ext cx="2997980" cy="319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035" name="Schritt 2: Finite Zahlen"/>
          <p:cNvGrpSpPr/>
          <p:nvPr/>
        </p:nvGrpSpPr>
        <p:grpSpPr>
          <a:xfrm>
            <a:off x="5715000" y="2599065"/>
            <a:ext cx="3095625" cy="1556861"/>
            <a:chOff x="5715000" y="2781300"/>
            <a:chExt cx="3095625" cy="1556861"/>
          </a:xfrm>
        </p:grpSpPr>
        <p:sp>
          <p:nvSpPr>
            <p:cNvPr id="8" name="Textfeld 7"/>
            <p:cNvSpPr txBox="1"/>
            <p:nvPr/>
          </p:nvSpPr>
          <p:spPr>
            <a:xfrm>
              <a:off x="5715000" y="2781300"/>
              <a:ext cx="3095625" cy="365760"/>
            </a:xfrm>
            <a:prstGeom prst="rect">
              <a:avLst/>
            </a:prstGeom>
            <a:noFill/>
          </p:spPr>
          <p:txBody>
            <a:bodyPr wrap="square" rtlCol="0">
              <a:spAutoFit/>
            </a:bodyPr>
            <a:lstStyle/>
            <a:p>
              <a:pPr>
                <a:defRPr>
                  <a:latin typeface="Times New Roman"/>
                  <a:ea typeface="Times New Roman"/>
                  <a:cs typeface="Times New Roman"/>
                </a:defRPr>
              </a:pPr>
              <a:r>
                <a:rPr lang="de-DE" b="1" dirty="0" smtClean="0">
                  <a:latin typeface="Times New Roman"/>
                  <a:cs typeface="Times New Roman"/>
                </a:rPr>
                <a:t>iii) Finite Zahlen </a:t>
              </a:r>
            </a:p>
          </p:txBody>
        </p:sp>
        <p:pic>
          <p:nvPicPr>
            <p:cNvPr id="1031" name="Picture 7"/>
            <p:cNvPicPr>
              <a:picLocks noChangeAspect="1" noChangeArrowheads="1"/>
            </p:cNvPicPr>
            <p:nvPr/>
          </p:nvPicPr>
          <p:blipFill rotWithShape="1">
            <a:blip r:embed="rId7">
              <a:extLst>
                <a:ext uri="{28A0092B-C50C-407E-A947-70E740481C1C}">
                  <a14:useLocalDpi xmlns:a14="http://schemas.microsoft.com/office/drawing/2010/main" val="0"/>
                </a:ext>
              </a:extLst>
            </a:blip>
            <a:srcRect r="34103"/>
            <a:stretch/>
          </p:blipFill>
          <p:spPr bwMode="auto">
            <a:xfrm>
              <a:off x="5715000" y="3714750"/>
              <a:ext cx="2799588" cy="289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7"/>
            <p:cNvPicPr>
              <a:picLocks noChangeAspect="1" noChangeArrowheads="1"/>
            </p:cNvPicPr>
            <p:nvPr/>
          </p:nvPicPr>
          <p:blipFill rotWithShape="1">
            <a:blip r:embed="rId7">
              <a:extLst>
                <a:ext uri="{28A0092B-C50C-407E-A947-70E740481C1C}">
                  <a14:useLocalDpi xmlns:a14="http://schemas.microsoft.com/office/drawing/2010/main" val="0"/>
                </a:ext>
              </a:extLst>
            </a:blip>
            <a:srcRect l="66495" t="-1" b="-13185"/>
            <a:stretch/>
          </p:blipFill>
          <p:spPr bwMode="auto">
            <a:xfrm>
              <a:off x="5715000" y="4010025"/>
              <a:ext cx="1423416" cy="328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86500" y="3190875"/>
              <a:ext cx="1512189" cy="473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08957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Was </a:t>
            </a:r>
            <a:r>
              <a:rPr lang="en-CA" sz="3200" dirty="0" err="1" smtClean="0">
                <a:solidFill>
                  <a:schemeClr val="bg1"/>
                </a:solidFill>
                <a:effectLst>
                  <a:outerShdw blurRad="38100" dist="38100" dir="2700000" algn="tl">
                    <a:srgbClr val="000000">
                      <a:alpha val="43137"/>
                    </a:srgbClr>
                  </a:outerShdw>
                </a:effectLst>
              </a:rPr>
              <a:t>für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neue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Zahltypen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gibt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es</a:t>
            </a:r>
            <a:r>
              <a:rPr lang="en-CA" sz="3200" dirty="0" smtClean="0">
                <a:solidFill>
                  <a:schemeClr val="bg1"/>
                </a:solidFill>
                <a:effectLst>
                  <a:outerShdw blurRad="38100" dist="38100" dir="2700000" algn="tl">
                    <a:srgbClr val="000000">
                      <a:alpha val="43137"/>
                    </a:srgbClr>
                  </a:outerShdw>
                </a:effectLst>
              </a:rPr>
              <a:t>?</a:t>
            </a:r>
            <a:endParaRPr lang="en-CA" sz="3200" dirty="0">
              <a:solidFill>
                <a:schemeClr val="bg1"/>
              </a:solidFill>
              <a:effectLst>
                <a:outerShdw blurRad="38100" dist="38100" dir="2700000" algn="tl">
                  <a:srgbClr val="000000">
                    <a:alpha val="43137"/>
                  </a:srgbClr>
                </a:outerShdw>
              </a:effectLst>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92" y="818548"/>
            <a:ext cx="8570988" cy="3913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2863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01" name="Vorlage: Titelband"/>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00002" name="Vorlage: Folientitel"/>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Exakte Gleichheit und infinitesimale Nähe</a:t>
            </a:r>
          </a:p>
        </p:txBody>
      </p:sp>
      <p:pic>
        <p:nvPicPr>
          <p:cNvPr id="7" name="eq_setup">
            <a:extLst>
              <a:ext uri="{FF2B5EF4-FFF2-40B4-BE49-F238E27FC236}">
                <a16:creationId xmlns="" xmlns:a16="http://schemas.microsoft.com/office/drawing/2014/main" id="{87749EB7-680C-4DFC-AB56-035FDF8B240C}"/>
              </a:ext>
            </a:extLst>
          </p:cNvPr>
          <p:cNvPicPr>
            <a:picLocks noChangeAspect="1"/>
          </p:cNvPicPr>
          <p:nvPr/>
        </p:nvPicPr>
        <p:blipFill>
          <a:blip r:embed="rId3"/>
          <a:stretch/>
        </p:blipFill>
        <p:spPr>
          <a:xfrm>
            <a:off x="247650" y="809625"/>
            <a:ext cx="8686800" cy="235086"/>
          </a:xfrm>
          <a:prstGeom prst="rect">
            <a:avLst/>
          </a:prstGeom>
        </p:spPr>
      </p:pic>
      <p:pic>
        <p:nvPicPr>
          <p:cNvPr id="2" name="eq_exact: Einblendung 1"/>
          <p:cNvPicPr>
            <a:picLocks noChangeAspect="1"/>
          </p:cNvPicPr>
          <p:nvPr/>
        </p:nvPicPr>
        <p:blipFill>
          <a:blip r:embed="rId4"/>
          <a:stretch/>
        </p:blipFill>
        <p:spPr>
          <a:xfrm>
            <a:off x="247650" y="1347614"/>
            <a:ext cx="3857625" cy="330225"/>
          </a:xfrm>
          <a:prstGeom prst="rect">
            <a:avLst/>
          </a:prstGeom>
        </p:spPr>
      </p:pic>
      <p:pic>
        <p:nvPicPr>
          <p:cNvPr id="900003" name="eq_exact: Einblendung 2"/>
          <p:cNvPicPr>
            <a:picLocks noChangeAspect="1"/>
          </p:cNvPicPr>
          <p:nvPr/>
        </p:nvPicPr>
        <p:blipFill>
          <a:blip r:embed="rId5"/>
          <a:stretch/>
        </p:blipFill>
        <p:spPr>
          <a:xfrm>
            <a:off x="247650" y="1677839"/>
            <a:ext cx="3857625" cy="375255"/>
          </a:xfrm>
          <a:prstGeom prst="rect">
            <a:avLst/>
          </a:prstGeom>
        </p:spPr>
      </p:pic>
      <p:pic>
        <p:nvPicPr>
          <p:cNvPr id="3" name="eq_near">
            <a:extLst>
              <a:ext uri="{FF2B5EF4-FFF2-40B4-BE49-F238E27FC236}">
                <a16:creationId xmlns="" xmlns:a16="http://schemas.microsoft.com/office/drawing/2014/main" id="{E182BFD8-3AE6-4823-A898-206F899BD28A}"/>
              </a:ext>
            </a:extLst>
          </p:cNvPr>
          <p:cNvPicPr>
            <a:picLocks noChangeAspect="1"/>
          </p:cNvPicPr>
          <p:nvPr/>
        </p:nvPicPr>
        <p:blipFill>
          <a:blip r:embed="rId6"/>
          <a:stretch/>
        </p:blipFill>
        <p:spPr>
          <a:xfrm>
            <a:off x="4387155" y="1347614"/>
            <a:ext cx="4505325" cy="791527"/>
          </a:xfrm>
          <a:prstGeom prst="rect">
            <a:avLst/>
          </a:prstGeom>
        </p:spPr>
      </p:pic>
      <p:grpSp>
        <p:nvGrpSpPr>
          <p:cNvPr id="900004" name="Grafik: Gleichheit und infinitesimale Nähe"/>
          <p:cNvGrpSpPr/>
          <p:nvPr/>
        </p:nvGrpSpPr>
        <p:grpSpPr>
          <a:xfrm>
            <a:off x="400050" y="2438400"/>
            <a:ext cx="8467725" cy="2063948"/>
            <a:chOff x="400050" y="2438400"/>
            <a:chExt cx="8467725" cy="2063948"/>
          </a:xfrm>
        </p:grpSpPr>
        <p:sp>
          <p:nvSpPr>
            <p:cNvPr id="900005" name="Gleichheit: Beschreibung">
              <a:extLst>
                <a:ext uri="{FF2B5EF4-FFF2-40B4-BE49-F238E27FC236}">
                  <a16:creationId xmlns="" xmlns:a16="http://schemas.microsoft.com/office/drawing/2014/main" id="{F781AB57-C836-4D3F-BDCC-6D4688117A7A}"/>
                </a:ext>
              </a:extLst>
            </p:cNvPr>
            <p:cNvSpPr>
              <a:spLocks noGrp="1"/>
            </p:cNvSpPr>
            <p:nvPr/>
          </p:nvSpPr>
          <p:spPr>
            <a:xfrm>
              <a:off x="400050" y="2438400"/>
              <a:ext cx="3571875" cy="266700"/>
            </a:xfrm>
            <a:prstGeom prst="rect">
              <a:avLst/>
            </a:prstGeom>
            <a:noFill/>
            <a:ln w="0">
              <a:noFill/>
              <a:prstDash val="solid"/>
            </a:ln>
          </p:spPr>
          <p:txBody>
            <a:bodyPr wrap="none" lIns="0" tIns="0" rIns="0" bIns="0" anchor="ctr"/>
            <a:lstStyle>
              <a:defPPr algn="ctr">
                <a:defRPr sz="1650">
                  <a:solidFill>
                    <a:srgbClr val="2B2B2B"/>
                  </a:solidFill>
                  <a:latin typeface="Palatino Linotype"/>
                  <a:ea typeface="Palatino Linotype"/>
                  <a:cs typeface="Palatino Linotype"/>
                </a:defRPr>
              </a:defPPr>
              <a:lvl1pPr algn="ctr">
                <a:defRPr sz="1650">
                  <a:solidFill>
                    <a:srgbClr val="2B2B2B"/>
                  </a:solidFill>
                  <a:latin typeface="Palatino Linotype"/>
                  <a:ea typeface="Palatino Linotype"/>
                  <a:cs typeface="Palatino Linotype"/>
                </a:defRPr>
              </a:lvl1pPr>
              <a:lvl2pPr algn="ctr">
                <a:defRPr sz="1650">
                  <a:solidFill>
                    <a:srgbClr val="2B2B2B"/>
                  </a:solidFill>
                  <a:latin typeface="Palatino Linotype"/>
                  <a:ea typeface="Palatino Linotype"/>
                  <a:cs typeface="Palatino Linotype"/>
                </a:defRPr>
              </a:lvl2pPr>
              <a:lvl3pPr algn="ctr">
                <a:defRPr sz="1650">
                  <a:solidFill>
                    <a:srgbClr val="2B2B2B"/>
                  </a:solidFill>
                  <a:latin typeface="Palatino Linotype"/>
                  <a:ea typeface="Palatino Linotype"/>
                  <a:cs typeface="Palatino Linotype"/>
                </a:defRPr>
              </a:lvl3pPr>
              <a:lvl4pPr algn="ctr">
                <a:defRPr sz="1650">
                  <a:solidFill>
                    <a:srgbClr val="2B2B2B"/>
                  </a:solidFill>
                  <a:latin typeface="Palatino Linotype"/>
                  <a:ea typeface="Palatino Linotype"/>
                  <a:cs typeface="Palatino Linotype"/>
                </a:defRPr>
              </a:lvl4pPr>
              <a:lvl5pPr algn="ctr">
                <a:defRPr sz="1650">
                  <a:solidFill>
                    <a:srgbClr val="2B2B2B"/>
                  </a:solidFill>
                  <a:latin typeface="Palatino Linotype"/>
                  <a:ea typeface="Palatino Linotype"/>
                  <a:cs typeface="Palatino Linotype"/>
                </a:defRPr>
              </a:lvl5pPr>
              <a:lvl6pPr algn="ctr">
                <a:defRPr sz="1650">
                  <a:solidFill>
                    <a:srgbClr val="2B2B2B"/>
                  </a:solidFill>
                  <a:latin typeface="Palatino Linotype"/>
                  <a:ea typeface="Palatino Linotype"/>
                  <a:cs typeface="Palatino Linotype"/>
                </a:defRPr>
              </a:lvl6pPr>
              <a:lvl7pPr algn="ctr">
                <a:defRPr sz="1650">
                  <a:solidFill>
                    <a:srgbClr val="2B2B2B"/>
                  </a:solidFill>
                  <a:latin typeface="Palatino Linotype"/>
                  <a:ea typeface="Palatino Linotype"/>
                  <a:cs typeface="Palatino Linotype"/>
                </a:defRPr>
              </a:lvl7pPr>
              <a:lvl8pPr algn="ctr">
                <a:defRPr sz="1650">
                  <a:solidFill>
                    <a:srgbClr val="2B2B2B"/>
                  </a:solidFill>
                  <a:latin typeface="Palatino Linotype"/>
                  <a:ea typeface="Palatino Linotype"/>
                  <a:cs typeface="Palatino Linotype"/>
                </a:defRPr>
              </a:lvl8pPr>
              <a:lvl9pPr algn="ctr">
                <a:defRPr sz="1650">
                  <a:solidFill>
                    <a:srgbClr val="2B2B2B"/>
                  </a:solidFill>
                  <a:latin typeface="Palatino Linotype"/>
                  <a:ea typeface="Palatino Linotype"/>
                  <a:cs typeface="Palatino Linotype"/>
                </a:defRPr>
              </a:lvl9pPr>
            </a:lstStyle>
            <a:p>
              <a:pPr algn="ctr">
                <a:defRPr sz="1650">
                  <a:solidFill>
                    <a:srgbClr val="2B2B2B"/>
                  </a:solidFill>
                  <a:latin typeface="Palatino Linotype"/>
                  <a:ea typeface="Palatino Linotype"/>
                  <a:cs typeface="Palatino Linotype"/>
                </a:defRPr>
              </a:pPr>
              <a:r>
                <a:rPr sz="1650">
                  <a:solidFill>
                    <a:srgbClr val="2B2B2B"/>
                  </a:solidFill>
                  <a:latin typeface="Palatino Linotype"/>
                  <a:ea typeface="Palatino Linotype"/>
                  <a:cs typeface="Palatino Linotype"/>
                </a:rPr>
                <a:t>Ein und derselbe Punkt</a:t>
              </a:r>
            </a:p>
          </p:txBody>
        </p:sp>
        <p:sp>
          <p:nvSpPr>
            <p:cNvPr id="900006" name="Gleichheit: Zahlengerade">
              <a:extLst>
                <a:ext uri="{FF2B5EF4-FFF2-40B4-BE49-F238E27FC236}">
                  <a16:creationId xmlns="" xmlns:a16="http://schemas.microsoft.com/office/drawing/2014/main" id="{EDAE7838-5831-4E6C-836F-75A292A238B5}"/>
                </a:ext>
              </a:extLst>
            </p:cNvPr>
            <p:cNvSpPr>
              <a:spLocks noGrp="1"/>
            </p:cNvSpPr>
            <p:nvPr/>
          </p:nvSpPr>
          <p:spPr>
            <a:xfrm>
              <a:off x="666750" y="3333750"/>
              <a:ext cx="3048000" cy="0"/>
            </a:xfrm>
            <a:prstGeom prst="line">
              <a:avLst/>
            </a:prstGeom>
            <a:noFill/>
            <a:ln w="16193">
              <a:solidFill>
                <a:srgbClr val="2B2B2B"/>
              </a:solidFill>
              <a:prstDash val="solid"/>
            </a:ln>
          </p:spPr>
        </p:sp>
        <p:sp>
          <p:nvSpPr>
            <p:cNvPr id="900007" name="Gleichheit: Pfeil oben">
              <a:extLst>
                <a:ext uri="{FF2B5EF4-FFF2-40B4-BE49-F238E27FC236}">
                  <a16:creationId xmlns="" xmlns:a16="http://schemas.microsoft.com/office/drawing/2014/main" id="{4E09161C-B6FF-48F3-8302-EBCCEF5A9DD2}"/>
                </a:ext>
              </a:extLst>
            </p:cNvPr>
            <p:cNvSpPr>
              <a:spLocks noGrp="1"/>
            </p:cNvSpPr>
            <p:nvPr/>
          </p:nvSpPr>
          <p:spPr>
            <a:xfrm>
              <a:off x="3638550" y="3286125"/>
              <a:ext cx="76200" cy="47625"/>
            </a:xfrm>
            <a:prstGeom prst="line">
              <a:avLst/>
            </a:prstGeom>
            <a:noFill/>
            <a:ln w="16193">
              <a:solidFill>
                <a:srgbClr val="2B2B2B"/>
              </a:solidFill>
              <a:prstDash val="solid"/>
            </a:ln>
          </p:spPr>
        </p:sp>
        <p:sp>
          <p:nvSpPr>
            <p:cNvPr id="900008" name="Gleichheit: Pfeil unten">
              <a:extLst>
                <a:ext uri="{FF2B5EF4-FFF2-40B4-BE49-F238E27FC236}">
                  <a16:creationId xmlns="" xmlns:a16="http://schemas.microsoft.com/office/drawing/2014/main" id="{130B5B98-2B73-44D3-B84B-E720A59FA933}"/>
                </a:ext>
              </a:extLst>
            </p:cNvPr>
            <p:cNvSpPr>
              <a:spLocks noGrp="1"/>
            </p:cNvSpPr>
            <p:nvPr/>
          </p:nvSpPr>
          <p:spPr>
            <a:xfrm flipV="1">
              <a:off x="3638550" y="3333750"/>
              <a:ext cx="76200" cy="47625"/>
            </a:xfrm>
            <a:prstGeom prst="line">
              <a:avLst/>
            </a:prstGeom>
            <a:noFill/>
            <a:ln w="16193">
              <a:solidFill>
                <a:srgbClr val="2B2B2B"/>
              </a:solidFill>
              <a:prstDash val="solid"/>
            </a:ln>
          </p:spPr>
        </p:sp>
        <p:sp>
          <p:nvSpPr>
            <p:cNvPr id="900009" name="Gleichheit: gemeinsamer Punkt">
              <a:extLst>
                <a:ext uri="{FF2B5EF4-FFF2-40B4-BE49-F238E27FC236}">
                  <a16:creationId xmlns="" xmlns:a16="http://schemas.microsoft.com/office/drawing/2014/main" id="{7DBCAD3E-27E0-45FB-93B6-425FE91A3CCF}"/>
                </a:ext>
              </a:extLst>
            </p:cNvPr>
            <p:cNvSpPr>
              <a:spLocks noGrp="1"/>
            </p:cNvSpPr>
            <p:nvPr/>
          </p:nvSpPr>
          <p:spPr>
            <a:xfrm>
              <a:off x="2138363" y="3281363"/>
              <a:ext cx="104775" cy="104775"/>
            </a:xfrm>
            <a:prstGeom prst="ellipse">
              <a:avLst/>
            </a:prstGeom>
            <a:solidFill>
              <a:srgbClr val="2F5897"/>
            </a:solidFill>
            <a:ln w="9525">
              <a:solidFill>
                <a:srgbClr val="FFFFFF"/>
              </a:solidFill>
              <a:prstDash val="solid"/>
            </a:ln>
          </p:spPr>
        </p:sp>
        <p:pic>
          <p:nvPicPr>
            <p:cNvPr id="900010" name="Grafik 900009">
              <a:extLst>
                <a:ext uri="{FF2B5EF4-FFF2-40B4-BE49-F238E27FC236}">
                  <a16:creationId xmlns="" xmlns:a16="http://schemas.microsoft.com/office/drawing/2014/main" id="{166D520D-99F1-4CE9-BCA3-461D388D1BB8}"/>
                </a:ext>
              </a:extLst>
            </p:cNvPr>
            <p:cNvPicPr>
              <a:picLocks noChangeAspect="1"/>
            </p:cNvPicPr>
            <p:nvPr/>
          </p:nvPicPr>
          <p:blipFill>
            <a:blip r:embed="rId7"/>
            <a:stretch/>
          </p:blipFill>
          <p:spPr>
            <a:xfrm>
              <a:off x="1899047" y="3505200"/>
              <a:ext cx="583406" cy="190500"/>
            </a:xfrm>
            <a:prstGeom prst="rect">
              <a:avLst/>
            </a:prstGeom>
          </p:spPr>
        </p:pic>
        <p:sp>
          <p:nvSpPr>
            <p:cNvPr id="900011" name="Gleichheit: Abstand">
              <a:extLst>
                <a:ext uri="{FF2B5EF4-FFF2-40B4-BE49-F238E27FC236}">
                  <a16:creationId xmlns="" xmlns:a16="http://schemas.microsoft.com/office/drawing/2014/main" id="{8AD363A6-7F81-4F28-B938-DCF65AB32BF3}"/>
                </a:ext>
              </a:extLst>
            </p:cNvPr>
            <p:cNvSpPr>
              <a:spLocks noGrp="1"/>
            </p:cNvSpPr>
            <p:nvPr/>
          </p:nvSpPr>
          <p:spPr>
            <a:xfrm>
              <a:off x="476250" y="4019550"/>
              <a:ext cx="3429000" cy="266700"/>
            </a:xfrm>
            <a:prstGeom prst="rect">
              <a:avLst/>
            </a:prstGeom>
            <a:noFill/>
            <a:ln w="0">
              <a:noFill/>
              <a:prstDash val="solid"/>
            </a:ln>
          </p:spPr>
          <p:txBody>
            <a:bodyPr wrap="none" lIns="0" tIns="0" rIns="0" bIns="0" anchor="ctr"/>
            <a:lstStyle>
              <a:defPPr algn="ctr">
                <a:defRPr sz="1575">
                  <a:solidFill>
                    <a:srgbClr val="2B2B2B"/>
                  </a:solidFill>
                  <a:latin typeface="Palatino Linotype"/>
                  <a:ea typeface="Palatino Linotype"/>
                  <a:cs typeface="Palatino Linotype"/>
                </a:defRPr>
              </a:defPPr>
              <a:lvl1pPr algn="ctr">
                <a:defRPr sz="1575">
                  <a:solidFill>
                    <a:srgbClr val="2B2B2B"/>
                  </a:solidFill>
                  <a:latin typeface="Palatino Linotype"/>
                  <a:ea typeface="Palatino Linotype"/>
                  <a:cs typeface="Palatino Linotype"/>
                </a:defRPr>
              </a:lvl1pPr>
              <a:lvl2pPr algn="ctr">
                <a:defRPr sz="1575">
                  <a:solidFill>
                    <a:srgbClr val="2B2B2B"/>
                  </a:solidFill>
                  <a:latin typeface="Palatino Linotype"/>
                  <a:ea typeface="Palatino Linotype"/>
                  <a:cs typeface="Palatino Linotype"/>
                </a:defRPr>
              </a:lvl2pPr>
              <a:lvl3pPr algn="ctr">
                <a:defRPr sz="1575">
                  <a:solidFill>
                    <a:srgbClr val="2B2B2B"/>
                  </a:solidFill>
                  <a:latin typeface="Palatino Linotype"/>
                  <a:ea typeface="Palatino Linotype"/>
                  <a:cs typeface="Palatino Linotype"/>
                </a:defRPr>
              </a:lvl3pPr>
              <a:lvl4pPr algn="ctr">
                <a:defRPr sz="1575">
                  <a:solidFill>
                    <a:srgbClr val="2B2B2B"/>
                  </a:solidFill>
                  <a:latin typeface="Palatino Linotype"/>
                  <a:ea typeface="Palatino Linotype"/>
                  <a:cs typeface="Palatino Linotype"/>
                </a:defRPr>
              </a:lvl4pPr>
              <a:lvl5pPr algn="ctr">
                <a:defRPr sz="1575">
                  <a:solidFill>
                    <a:srgbClr val="2B2B2B"/>
                  </a:solidFill>
                  <a:latin typeface="Palatino Linotype"/>
                  <a:ea typeface="Palatino Linotype"/>
                  <a:cs typeface="Palatino Linotype"/>
                </a:defRPr>
              </a:lvl5pPr>
              <a:lvl6pPr algn="ctr">
                <a:defRPr sz="1575">
                  <a:solidFill>
                    <a:srgbClr val="2B2B2B"/>
                  </a:solidFill>
                  <a:latin typeface="Palatino Linotype"/>
                  <a:ea typeface="Palatino Linotype"/>
                  <a:cs typeface="Palatino Linotype"/>
                </a:defRPr>
              </a:lvl6pPr>
              <a:lvl7pPr algn="ctr">
                <a:defRPr sz="1575">
                  <a:solidFill>
                    <a:srgbClr val="2B2B2B"/>
                  </a:solidFill>
                  <a:latin typeface="Palatino Linotype"/>
                  <a:ea typeface="Palatino Linotype"/>
                  <a:cs typeface="Palatino Linotype"/>
                </a:defRPr>
              </a:lvl7pPr>
              <a:lvl8pPr algn="ctr">
                <a:defRPr sz="1575">
                  <a:solidFill>
                    <a:srgbClr val="2B2B2B"/>
                  </a:solidFill>
                  <a:latin typeface="Palatino Linotype"/>
                  <a:ea typeface="Palatino Linotype"/>
                  <a:cs typeface="Palatino Linotype"/>
                </a:defRPr>
              </a:lvl8pPr>
              <a:lvl9pPr algn="ctr">
                <a:defRPr sz="1575">
                  <a:solidFill>
                    <a:srgbClr val="2B2B2B"/>
                  </a:solidFill>
                  <a:latin typeface="Palatino Linotype"/>
                  <a:ea typeface="Palatino Linotype"/>
                  <a:cs typeface="Palatino Linotype"/>
                </a:defRPr>
              </a:lvl9pPr>
            </a:lstStyle>
            <a:p>
              <a:pPr algn="ctr">
                <a:defRPr sz="1575">
                  <a:solidFill>
                    <a:srgbClr val="2B2B2B"/>
                  </a:solidFill>
                  <a:latin typeface="Palatino Linotype"/>
                  <a:ea typeface="Palatino Linotype"/>
                  <a:cs typeface="Palatino Linotype"/>
                </a:defRPr>
              </a:pPr>
              <a:r>
                <a:rPr sz="1575">
                  <a:solidFill>
                    <a:srgbClr val="2B2B2B"/>
                  </a:solidFill>
                  <a:latin typeface="Palatino Linotype"/>
                  <a:ea typeface="Palatino Linotype"/>
                  <a:cs typeface="Palatino Linotype"/>
                </a:rPr>
                <a:t>Abstand null</a:t>
              </a:r>
            </a:p>
          </p:txBody>
        </p:sp>
        <p:sp>
          <p:nvSpPr>
            <p:cNvPr id="900012" name="Nähe: Beschreibung">
              <a:extLst>
                <a:ext uri="{FF2B5EF4-FFF2-40B4-BE49-F238E27FC236}">
                  <a16:creationId xmlns="" xmlns:a16="http://schemas.microsoft.com/office/drawing/2014/main" id="{2E8CA3D1-C14C-49AA-90AD-77F2221CB947}"/>
                </a:ext>
              </a:extLst>
            </p:cNvPr>
            <p:cNvSpPr>
              <a:spLocks noGrp="1"/>
            </p:cNvSpPr>
            <p:nvPr/>
          </p:nvSpPr>
          <p:spPr>
            <a:xfrm>
              <a:off x="4476750" y="2438400"/>
              <a:ext cx="4381500" cy="266700"/>
            </a:xfrm>
            <a:prstGeom prst="rect">
              <a:avLst/>
            </a:prstGeom>
            <a:noFill/>
            <a:ln w="0">
              <a:noFill/>
              <a:prstDash val="solid"/>
            </a:ln>
          </p:spPr>
          <p:txBody>
            <a:bodyPr wrap="none" lIns="0" tIns="0" rIns="0" bIns="0" anchor="ctr"/>
            <a:lstStyle>
              <a:defPPr algn="ctr">
                <a:defRPr sz="1650">
                  <a:solidFill>
                    <a:srgbClr val="2B2B2B"/>
                  </a:solidFill>
                  <a:latin typeface="Palatino Linotype"/>
                  <a:ea typeface="Palatino Linotype"/>
                  <a:cs typeface="Palatino Linotype"/>
                </a:defRPr>
              </a:defPPr>
              <a:lvl1pPr algn="ctr">
                <a:defRPr sz="1650">
                  <a:solidFill>
                    <a:srgbClr val="2B2B2B"/>
                  </a:solidFill>
                  <a:latin typeface="Palatino Linotype"/>
                  <a:ea typeface="Palatino Linotype"/>
                  <a:cs typeface="Palatino Linotype"/>
                </a:defRPr>
              </a:lvl1pPr>
              <a:lvl2pPr algn="ctr">
                <a:defRPr sz="1650">
                  <a:solidFill>
                    <a:srgbClr val="2B2B2B"/>
                  </a:solidFill>
                  <a:latin typeface="Palatino Linotype"/>
                  <a:ea typeface="Palatino Linotype"/>
                  <a:cs typeface="Palatino Linotype"/>
                </a:defRPr>
              </a:lvl2pPr>
              <a:lvl3pPr algn="ctr">
                <a:defRPr sz="1650">
                  <a:solidFill>
                    <a:srgbClr val="2B2B2B"/>
                  </a:solidFill>
                  <a:latin typeface="Palatino Linotype"/>
                  <a:ea typeface="Palatino Linotype"/>
                  <a:cs typeface="Palatino Linotype"/>
                </a:defRPr>
              </a:lvl3pPr>
              <a:lvl4pPr algn="ctr">
                <a:defRPr sz="1650">
                  <a:solidFill>
                    <a:srgbClr val="2B2B2B"/>
                  </a:solidFill>
                  <a:latin typeface="Palatino Linotype"/>
                  <a:ea typeface="Palatino Linotype"/>
                  <a:cs typeface="Palatino Linotype"/>
                </a:defRPr>
              </a:lvl4pPr>
              <a:lvl5pPr algn="ctr">
                <a:defRPr sz="1650">
                  <a:solidFill>
                    <a:srgbClr val="2B2B2B"/>
                  </a:solidFill>
                  <a:latin typeface="Palatino Linotype"/>
                  <a:ea typeface="Palatino Linotype"/>
                  <a:cs typeface="Palatino Linotype"/>
                </a:defRPr>
              </a:lvl5pPr>
              <a:lvl6pPr algn="ctr">
                <a:defRPr sz="1650">
                  <a:solidFill>
                    <a:srgbClr val="2B2B2B"/>
                  </a:solidFill>
                  <a:latin typeface="Palatino Linotype"/>
                  <a:ea typeface="Palatino Linotype"/>
                  <a:cs typeface="Palatino Linotype"/>
                </a:defRPr>
              </a:lvl6pPr>
              <a:lvl7pPr algn="ctr">
                <a:defRPr sz="1650">
                  <a:solidFill>
                    <a:srgbClr val="2B2B2B"/>
                  </a:solidFill>
                  <a:latin typeface="Palatino Linotype"/>
                  <a:ea typeface="Palatino Linotype"/>
                  <a:cs typeface="Palatino Linotype"/>
                </a:defRPr>
              </a:lvl7pPr>
              <a:lvl8pPr algn="ctr">
                <a:defRPr sz="1650">
                  <a:solidFill>
                    <a:srgbClr val="2B2B2B"/>
                  </a:solidFill>
                  <a:latin typeface="Palatino Linotype"/>
                  <a:ea typeface="Palatino Linotype"/>
                  <a:cs typeface="Palatino Linotype"/>
                </a:defRPr>
              </a:lvl8pPr>
              <a:lvl9pPr algn="ctr">
                <a:defRPr sz="1650">
                  <a:solidFill>
                    <a:srgbClr val="2B2B2B"/>
                  </a:solidFill>
                  <a:latin typeface="Palatino Linotype"/>
                  <a:ea typeface="Palatino Linotype"/>
                  <a:cs typeface="Palatino Linotype"/>
                </a:defRPr>
              </a:lvl9pPr>
            </a:lstStyle>
            <a:p>
              <a:pPr algn="ctr">
                <a:defRPr sz="1650">
                  <a:solidFill>
                    <a:srgbClr val="2B2B2B"/>
                  </a:solidFill>
                  <a:latin typeface="Palatino Linotype"/>
                  <a:ea typeface="Palatino Linotype"/>
                  <a:cs typeface="Palatino Linotype"/>
                </a:defRPr>
              </a:pPr>
              <a:r>
                <a:rPr sz="1650">
                  <a:solidFill>
                    <a:srgbClr val="2B2B2B"/>
                  </a:solidFill>
                  <a:latin typeface="Palatino Linotype"/>
                  <a:ea typeface="Palatino Linotype"/>
                  <a:cs typeface="Palatino Linotype"/>
                </a:rPr>
                <a:t>Zwei verschiedene Punkte möglich</a:t>
              </a:r>
            </a:p>
          </p:txBody>
        </p:sp>
        <p:sp>
          <p:nvSpPr>
            <p:cNvPr id="900013" name="Nähe: Zahlengerade">
              <a:extLst>
                <a:ext uri="{FF2B5EF4-FFF2-40B4-BE49-F238E27FC236}">
                  <a16:creationId xmlns="" xmlns:a16="http://schemas.microsoft.com/office/drawing/2014/main" id="{8015E13F-692E-4375-B03E-FD5163188B82}"/>
                </a:ext>
              </a:extLst>
            </p:cNvPr>
            <p:cNvSpPr>
              <a:spLocks noGrp="1"/>
            </p:cNvSpPr>
            <p:nvPr/>
          </p:nvSpPr>
          <p:spPr>
            <a:xfrm>
              <a:off x="4857750" y="3333750"/>
              <a:ext cx="3638550" cy="0"/>
            </a:xfrm>
            <a:prstGeom prst="line">
              <a:avLst/>
            </a:prstGeom>
            <a:noFill/>
            <a:ln w="16193">
              <a:solidFill>
                <a:srgbClr val="2B2B2B"/>
              </a:solidFill>
              <a:prstDash val="solid"/>
            </a:ln>
          </p:spPr>
        </p:sp>
        <p:sp>
          <p:nvSpPr>
            <p:cNvPr id="900014" name="Nähe: Pfeil oben">
              <a:extLst>
                <a:ext uri="{FF2B5EF4-FFF2-40B4-BE49-F238E27FC236}">
                  <a16:creationId xmlns="" xmlns:a16="http://schemas.microsoft.com/office/drawing/2014/main" id="{8CD46082-6A52-4F9A-9C73-A3EA55A823DE}"/>
                </a:ext>
              </a:extLst>
            </p:cNvPr>
            <p:cNvSpPr>
              <a:spLocks noGrp="1"/>
            </p:cNvSpPr>
            <p:nvPr/>
          </p:nvSpPr>
          <p:spPr>
            <a:xfrm>
              <a:off x="8420100" y="3286125"/>
              <a:ext cx="76200" cy="47625"/>
            </a:xfrm>
            <a:prstGeom prst="line">
              <a:avLst/>
            </a:prstGeom>
            <a:noFill/>
            <a:ln w="16193">
              <a:solidFill>
                <a:srgbClr val="2B2B2B"/>
              </a:solidFill>
              <a:prstDash val="solid"/>
            </a:ln>
          </p:spPr>
        </p:sp>
        <p:sp>
          <p:nvSpPr>
            <p:cNvPr id="900015" name="Nähe: Pfeil unten">
              <a:extLst>
                <a:ext uri="{FF2B5EF4-FFF2-40B4-BE49-F238E27FC236}">
                  <a16:creationId xmlns="" xmlns:a16="http://schemas.microsoft.com/office/drawing/2014/main" id="{BF62AE7F-BCB2-4FA0-A0C1-D6EB0C0BD5FB}"/>
                </a:ext>
              </a:extLst>
            </p:cNvPr>
            <p:cNvSpPr>
              <a:spLocks noGrp="1"/>
            </p:cNvSpPr>
            <p:nvPr/>
          </p:nvSpPr>
          <p:spPr>
            <a:xfrm flipV="1">
              <a:off x="8420100" y="3333750"/>
              <a:ext cx="76200" cy="47625"/>
            </a:xfrm>
            <a:prstGeom prst="line">
              <a:avLst/>
            </a:prstGeom>
            <a:noFill/>
            <a:ln w="16193">
              <a:solidFill>
                <a:srgbClr val="2B2B2B"/>
              </a:solidFill>
              <a:prstDash val="solid"/>
            </a:ln>
          </p:spPr>
        </p:sp>
        <p:sp>
          <p:nvSpPr>
            <p:cNvPr id="900016" name="Nähe: Abstand">
              <a:extLst>
                <a:ext uri="{FF2B5EF4-FFF2-40B4-BE49-F238E27FC236}">
                  <a16:creationId xmlns="" xmlns:a16="http://schemas.microsoft.com/office/drawing/2014/main" id="{BAD3D2CD-235B-4616-BD9D-4F9AF26A7350}"/>
                </a:ext>
              </a:extLst>
            </p:cNvPr>
            <p:cNvSpPr>
              <a:spLocks noGrp="1"/>
            </p:cNvSpPr>
            <p:nvPr/>
          </p:nvSpPr>
          <p:spPr>
            <a:xfrm>
              <a:off x="5905500" y="3086100"/>
              <a:ext cx="1524000" cy="0"/>
            </a:xfrm>
            <a:prstGeom prst="line">
              <a:avLst/>
            </a:prstGeom>
            <a:noFill/>
            <a:ln w="14288">
              <a:solidFill>
                <a:srgbClr val="7C8793"/>
              </a:solidFill>
              <a:prstDash val="solid"/>
            </a:ln>
          </p:spPr>
        </p:sp>
        <p:sp>
          <p:nvSpPr>
            <p:cNvPr id="900017" name="Nähe: Abstand links">
              <a:extLst>
                <a:ext uri="{FF2B5EF4-FFF2-40B4-BE49-F238E27FC236}">
                  <a16:creationId xmlns="" xmlns:a16="http://schemas.microsoft.com/office/drawing/2014/main" id="{FC8C4D79-7A98-4D17-8029-37C3041CB356}"/>
                </a:ext>
              </a:extLst>
            </p:cNvPr>
            <p:cNvSpPr>
              <a:spLocks noGrp="1"/>
            </p:cNvSpPr>
            <p:nvPr/>
          </p:nvSpPr>
          <p:spPr>
            <a:xfrm>
              <a:off x="5905500" y="3028950"/>
              <a:ext cx="0" cy="114300"/>
            </a:xfrm>
            <a:prstGeom prst="line">
              <a:avLst/>
            </a:prstGeom>
            <a:noFill/>
            <a:ln w="14288">
              <a:solidFill>
                <a:srgbClr val="7C8793"/>
              </a:solidFill>
              <a:prstDash val="solid"/>
            </a:ln>
          </p:spPr>
        </p:sp>
        <p:sp>
          <p:nvSpPr>
            <p:cNvPr id="900018" name="Nähe: Abstand rechts">
              <a:extLst>
                <a:ext uri="{FF2B5EF4-FFF2-40B4-BE49-F238E27FC236}">
                  <a16:creationId xmlns="" xmlns:a16="http://schemas.microsoft.com/office/drawing/2014/main" id="{D22925A0-ADA4-4E19-A756-346AC74CB9F3}"/>
                </a:ext>
              </a:extLst>
            </p:cNvPr>
            <p:cNvSpPr>
              <a:spLocks noGrp="1"/>
            </p:cNvSpPr>
            <p:nvPr/>
          </p:nvSpPr>
          <p:spPr>
            <a:xfrm>
              <a:off x="7429500" y="3028950"/>
              <a:ext cx="0" cy="114300"/>
            </a:xfrm>
            <a:prstGeom prst="line">
              <a:avLst/>
            </a:prstGeom>
            <a:noFill/>
            <a:ln w="14288">
              <a:solidFill>
                <a:srgbClr val="7C8793"/>
              </a:solidFill>
              <a:prstDash val="solid"/>
            </a:ln>
          </p:spPr>
        </p:sp>
        <p:pic>
          <p:nvPicPr>
            <p:cNvPr id="900019" name="Grafik 900018">
              <a:extLst>
                <a:ext uri="{FF2B5EF4-FFF2-40B4-BE49-F238E27FC236}">
                  <a16:creationId xmlns="" xmlns:a16="http://schemas.microsoft.com/office/drawing/2014/main" id="{758BCAA4-729F-433A-8F5A-9D0B4A041565}"/>
                </a:ext>
              </a:extLst>
            </p:cNvPr>
            <p:cNvPicPr>
              <a:picLocks noChangeAspect="1"/>
            </p:cNvPicPr>
            <p:nvPr/>
          </p:nvPicPr>
          <p:blipFill>
            <a:blip r:embed="rId8"/>
            <a:stretch/>
          </p:blipFill>
          <p:spPr>
            <a:xfrm>
              <a:off x="6610350" y="2819400"/>
              <a:ext cx="114300" cy="202406"/>
            </a:xfrm>
            <a:prstGeom prst="rect">
              <a:avLst/>
            </a:prstGeom>
          </p:spPr>
        </p:pic>
        <p:sp>
          <p:nvSpPr>
            <p:cNvPr id="900020" name="Nähe: Punkt x">
              <a:extLst>
                <a:ext uri="{FF2B5EF4-FFF2-40B4-BE49-F238E27FC236}">
                  <a16:creationId xmlns="" xmlns:a16="http://schemas.microsoft.com/office/drawing/2014/main" id="{B99373D3-8ECC-4BB0-8E65-F930B13DE313}"/>
                </a:ext>
              </a:extLst>
            </p:cNvPr>
            <p:cNvSpPr>
              <a:spLocks noGrp="1"/>
            </p:cNvSpPr>
            <p:nvPr/>
          </p:nvSpPr>
          <p:spPr>
            <a:xfrm>
              <a:off x="5853113" y="3281363"/>
              <a:ext cx="104775" cy="104775"/>
            </a:xfrm>
            <a:prstGeom prst="ellipse">
              <a:avLst/>
            </a:prstGeom>
            <a:solidFill>
              <a:srgbClr val="2F5897"/>
            </a:solidFill>
            <a:ln w="9525">
              <a:solidFill>
                <a:srgbClr val="FFFFFF"/>
              </a:solidFill>
              <a:prstDash val="solid"/>
            </a:ln>
          </p:spPr>
        </p:sp>
        <p:sp>
          <p:nvSpPr>
            <p:cNvPr id="900021" name="Nähe: Punkt y">
              <a:extLst>
                <a:ext uri="{FF2B5EF4-FFF2-40B4-BE49-F238E27FC236}">
                  <a16:creationId xmlns="" xmlns:a16="http://schemas.microsoft.com/office/drawing/2014/main" id="{814BC5B2-9133-499E-B81D-2AF818D6122B}"/>
                </a:ext>
              </a:extLst>
            </p:cNvPr>
            <p:cNvSpPr>
              <a:spLocks noGrp="1"/>
            </p:cNvSpPr>
            <p:nvPr/>
          </p:nvSpPr>
          <p:spPr>
            <a:xfrm>
              <a:off x="7377113" y="3281363"/>
              <a:ext cx="104775" cy="104775"/>
            </a:xfrm>
            <a:prstGeom prst="ellipse">
              <a:avLst/>
            </a:prstGeom>
            <a:solidFill>
              <a:srgbClr val="9C5252"/>
            </a:solidFill>
            <a:ln w="9525">
              <a:solidFill>
                <a:srgbClr val="FFFFFF"/>
              </a:solidFill>
              <a:prstDash val="solid"/>
            </a:ln>
          </p:spPr>
        </p:sp>
        <p:pic>
          <p:nvPicPr>
            <p:cNvPr id="900022" name="Grafik 900021">
              <a:extLst>
                <a:ext uri="{FF2B5EF4-FFF2-40B4-BE49-F238E27FC236}">
                  <a16:creationId xmlns="" xmlns:a16="http://schemas.microsoft.com/office/drawing/2014/main" id="{283D27F0-D914-4F72-BEF6-8ABBDDD88D3A}"/>
                </a:ext>
              </a:extLst>
            </p:cNvPr>
            <p:cNvPicPr>
              <a:picLocks noChangeAspect="1"/>
            </p:cNvPicPr>
            <p:nvPr/>
          </p:nvPicPr>
          <p:blipFill>
            <a:blip r:embed="rId9"/>
            <a:stretch/>
          </p:blipFill>
          <p:spPr>
            <a:xfrm>
              <a:off x="5829300" y="3505200"/>
              <a:ext cx="152400" cy="138113"/>
            </a:xfrm>
            <a:prstGeom prst="rect">
              <a:avLst/>
            </a:prstGeom>
          </p:spPr>
        </p:pic>
        <p:pic>
          <p:nvPicPr>
            <p:cNvPr id="900023" name="Grafik 900022">
              <a:extLst>
                <a:ext uri="{FF2B5EF4-FFF2-40B4-BE49-F238E27FC236}">
                  <a16:creationId xmlns="" xmlns:a16="http://schemas.microsoft.com/office/drawing/2014/main" id="{794B8C3D-2A81-46A4-A05A-D3B9B05EE87E}"/>
                </a:ext>
              </a:extLst>
            </p:cNvPr>
            <p:cNvPicPr>
              <a:picLocks noChangeAspect="1"/>
            </p:cNvPicPr>
            <p:nvPr/>
          </p:nvPicPr>
          <p:blipFill>
            <a:blip r:embed="rId10"/>
            <a:stretch/>
          </p:blipFill>
          <p:spPr>
            <a:xfrm>
              <a:off x="6928247" y="3505200"/>
              <a:ext cx="1002506" cy="252413"/>
            </a:xfrm>
            <a:prstGeom prst="rect">
              <a:avLst/>
            </a:prstGeom>
          </p:spPr>
        </p:pic>
        <p:sp>
          <p:nvSpPr>
            <p:cNvPr id="900024" name="Nähe: Vergrößerung">
              <a:extLst>
                <a:ext uri="{FF2B5EF4-FFF2-40B4-BE49-F238E27FC236}">
                  <a16:creationId xmlns="" xmlns:a16="http://schemas.microsoft.com/office/drawing/2014/main" id="{B78326A7-D496-4C28-8A8F-C6CDF203D73B}"/>
                </a:ext>
              </a:extLst>
            </p:cNvPr>
            <p:cNvSpPr>
              <a:spLocks noGrp="1"/>
            </p:cNvSpPr>
            <p:nvPr/>
          </p:nvSpPr>
          <p:spPr>
            <a:xfrm>
              <a:off x="4486275" y="3867894"/>
              <a:ext cx="4381500" cy="238125"/>
            </a:xfrm>
            <a:prstGeom prst="rect">
              <a:avLst/>
            </a:prstGeom>
            <a:noFill/>
            <a:ln w="0">
              <a:noFill/>
              <a:prstDash val="solid"/>
            </a:ln>
          </p:spPr>
          <p:txBody>
            <a:bodyPr wrap="none" lIns="0" tIns="0" rIns="0" bIns="0" anchor="ctr"/>
            <a:lstStyle>
              <a:defPPr algn="ctr">
                <a:defRPr sz="1275">
                  <a:solidFill>
                    <a:srgbClr val="7C8793"/>
                  </a:solidFill>
                  <a:latin typeface="Palatino Linotype"/>
                  <a:ea typeface="Palatino Linotype"/>
                  <a:cs typeface="Palatino Linotype"/>
                </a:defRPr>
              </a:defPPr>
              <a:lvl1pPr algn="ctr">
                <a:defRPr sz="1275">
                  <a:solidFill>
                    <a:srgbClr val="7C8793"/>
                  </a:solidFill>
                  <a:latin typeface="Palatino Linotype"/>
                  <a:ea typeface="Palatino Linotype"/>
                  <a:cs typeface="Palatino Linotype"/>
                </a:defRPr>
              </a:lvl1pPr>
              <a:lvl2pPr algn="ctr">
                <a:defRPr sz="1275">
                  <a:solidFill>
                    <a:srgbClr val="7C8793"/>
                  </a:solidFill>
                  <a:latin typeface="Palatino Linotype"/>
                  <a:ea typeface="Palatino Linotype"/>
                  <a:cs typeface="Palatino Linotype"/>
                </a:defRPr>
              </a:lvl2pPr>
              <a:lvl3pPr algn="ctr">
                <a:defRPr sz="1275">
                  <a:solidFill>
                    <a:srgbClr val="7C8793"/>
                  </a:solidFill>
                  <a:latin typeface="Palatino Linotype"/>
                  <a:ea typeface="Palatino Linotype"/>
                  <a:cs typeface="Palatino Linotype"/>
                </a:defRPr>
              </a:lvl3pPr>
              <a:lvl4pPr algn="ctr">
                <a:defRPr sz="1275">
                  <a:solidFill>
                    <a:srgbClr val="7C8793"/>
                  </a:solidFill>
                  <a:latin typeface="Palatino Linotype"/>
                  <a:ea typeface="Palatino Linotype"/>
                  <a:cs typeface="Palatino Linotype"/>
                </a:defRPr>
              </a:lvl4pPr>
              <a:lvl5pPr algn="ctr">
                <a:defRPr sz="1275">
                  <a:solidFill>
                    <a:srgbClr val="7C8793"/>
                  </a:solidFill>
                  <a:latin typeface="Palatino Linotype"/>
                  <a:ea typeface="Palatino Linotype"/>
                  <a:cs typeface="Palatino Linotype"/>
                </a:defRPr>
              </a:lvl5pPr>
              <a:lvl6pPr algn="ctr">
                <a:defRPr sz="1275">
                  <a:solidFill>
                    <a:srgbClr val="7C8793"/>
                  </a:solidFill>
                  <a:latin typeface="Palatino Linotype"/>
                  <a:ea typeface="Palatino Linotype"/>
                  <a:cs typeface="Palatino Linotype"/>
                </a:defRPr>
              </a:lvl6pPr>
              <a:lvl7pPr algn="ctr">
                <a:defRPr sz="1275">
                  <a:solidFill>
                    <a:srgbClr val="7C8793"/>
                  </a:solidFill>
                  <a:latin typeface="Palatino Linotype"/>
                  <a:ea typeface="Palatino Linotype"/>
                  <a:cs typeface="Palatino Linotype"/>
                </a:defRPr>
              </a:lvl7pPr>
              <a:lvl8pPr algn="ctr">
                <a:defRPr sz="1275">
                  <a:solidFill>
                    <a:srgbClr val="7C8793"/>
                  </a:solidFill>
                  <a:latin typeface="Palatino Linotype"/>
                  <a:ea typeface="Palatino Linotype"/>
                  <a:cs typeface="Palatino Linotype"/>
                </a:defRPr>
              </a:lvl8pPr>
              <a:lvl9pPr algn="ctr">
                <a:defRPr sz="1275">
                  <a:solidFill>
                    <a:srgbClr val="7C8793"/>
                  </a:solidFill>
                  <a:latin typeface="Palatino Linotype"/>
                  <a:ea typeface="Palatino Linotype"/>
                  <a:cs typeface="Palatino Linotype"/>
                </a:defRPr>
              </a:lvl9pPr>
            </a:lstStyle>
            <a:p>
              <a:pPr algn="ctr">
                <a:defRPr sz="1275">
                  <a:solidFill>
                    <a:srgbClr val="7C8793"/>
                  </a:solidFill>
                  <a:latin typeface="Palatino Linotype"/>
                  <a:ea typeface="Palatino Linotype"/>
                  <a:cs typeface="Palatino Linotype"/>
                </a:defRPr>
              </a:pPr>
              <a:r>
                <a:rPr sz="1275" dirty="0" err="1">
                  <a:solidFill>
                    <a:srgbClr val="7C8793"/>
                  </a:solidFill>
                  <a:latin typeface="Palatino Linotype"/>
                  <a:ea typeface="Palatino Linotype"/>
                  <a:cs typeface="Palatino Linotype"/>
                </a:rPr>
                <a:t>Infinitesimaler</a:t>
              </a:r>
              <a:r>
                <a:rPr sz="1275" dirty="0">
                  <a:solidFill>
                    <a:srgbClr val="7C8793"/>
                  </a:solidFill>
                  <a:latin typeface="Palatino Linotype"/>
                  <a:ea typeface="Palatino Linotype"/>
                  <a:cs typeface="Palatino Linotype"/>
                </a:rPr>
                <a:t> </a:t>
              </a:r>
              <a:r>
                <a:rPr sz="1275" dirty="0" err="1">
                  <a:solidFill>
                    <a:srgbClr val="7C8793"/>
                  </a:solidFill>
                  <a:latin typeface="Palatino Linotype"/>
                  <a:ea typeface="Palatino Linotype"/>
                  <a:cs typeface="Palatino Linotype"/>
                </a:rPr>
                <a:t>Abstand</a:t>
              </a:r>
              <a:r>
                <a:rPr sz="1275" dirty="0">
                  <a:solidFill>
                    <a:srgbClr val="7C8793"/>
                  </a:solidFill>
                  <a:latin typeface="Palatino Linotype"/>
                  <a:ea typeface="Palatino Linotype"/>
                  <a:cs typeface="Palatino Linotype"/>
                </a:rPr>
                <a:t>, </a:t>
              </a:r>
              <a:r>
                <a:rPr sz="1275" dirty="0" err="1">
                  <a:solidFill>
                    <a:srgbClr val="7C8793"/>
                  </a:solidFill>
                  <a:latin typeface="Palatino Linotype"/>
                  <a:ea typeface="Palatino Linotype"/>
                  <a:cs typeface="Palatino Linotype"/>
                </a:rPr>
                <a:t>schematisch</a:t>
              </a:r>
              <a:r>
                <a:rPr sz="1275" dirty="0">
                  <a:solidFill>
                    <a:srgbClr val="7C8793"/>
                  </a:solidFill>
                  <a:latin typeface="Palatino Linotype"/>
                  <a:ea typeface="Palatino Linotype"/>
                  <a:cs typeface="Palatino Linotype"/>
                </a:rPr>
                <a:t> </a:t>
              </a:r>
              <a:r>
                <a:rPr sz="1275" dirty="0" err="1">
                  <a:solidFill>
                    <a:srgbClr val="7C8793"/>
                  </a:solidFill>
                  <a:latin typeface="Palatino Linotype"/>
                  <a:ea typeface="Palatino Linotype"/>
                  <a:cs typeface="Palatino Linotype"/>
                </a:rPr>
                <a:t>vergrößert</a:t>
              </a:r>
              <a:endParaRPr sz="1275" dirty="0">
                <a:solidFill>
                  <a:srgbClr val="7C8793"/>
                </a:solidFill>
                <a:latin typeface="Palatino Linotype"/>
                <a:ea typeface="Palatino Linotype"/>
                <a:cs typeface="Palatino Linotype"/>
              </a:endParaRPr>
            </a:p>
          </p:txBody>
        </p:sp>
        <p:pic>
          <p:nvPicPr>
            <p:cNvPr id="900025" name="Grafik 900024">
              <a:extLst>
                <a:ext uri="{FF2B5EF4-FFF2-40B4-BE49-F238E27FC236}">
                  <a16:creationId xmlns="" xmlns:a16="http://schemas.microsoft.com/office/drawing/2014/main" id="{E556F676-E57C-4467-9E58-04F0C921D0FC}"/>
                </a:ext>
              </a:extLst>
            </p:cNvPr>
            <p:cNvPicPr>
              <a:picLocks noChangeAspect="1"/>
            </p:cNvPicPr>
            <p:nvPr/>
          </p:nvPicPr>
          <p:blipFill>
            <a:blip r:embed="rId11"/>
            <a:stretch/>
          </p:blipFill>
          <p:spPr>
            <a:xfrm>
              <a:off x="6198394" y="4299942"/>
              <a:ext cx="938213" cy="202406"/>
            </a:xfrm>
            <a:prstGeom prst="rect">
              <a:avLst/>
            </a:prstGeom>
          </p:spPr>
        </p:pic>
      </p:grpSp>
    </p:spTree>
    <p:extLst>
      <p:ext uri="{BB962C8B-B14F-4D97-AF65-F5344CB8AC3E}">
        <p14:creationId xmlns:p14="http://schemas.microsoft.com/office/powerpoint/2010/main" val="50083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00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00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Abgrenzungen</a:t>
            </a:r>
            <a:endParaRPr lang="en-CA" sz="3200" dirty="0">
              <a:solidFill>
                <a:schemeClr val="bg1"/>
              </a:solidFill>
              <a:effectLst>
                <a:outerShdw blurRad="38100" dist="38100" dir="2700000" algn="tl">
                  <a:srgbClr val="000000">
                    <a:alpha val="43137"/>
                  </a:srgbClr>
                </a:outerShdw>
              </a:effectLst>
            </a:endParaRPr>
          </a:p>
        </p:txBody>
      </p:sp>
      <p:sp>
        <p:nvSpPr>
          <p:cNvPr id="100" name="distinction-cavalieri">
            <a:extLst>
              <a:ext uri="{FF2B5EF4-FFF2-40B4-BE49-F238E27FC236}">
                <a16:creationId xmlns="" xmlns:a16="http://schemas.microsoft.com/office/drawing/2014/main" id="{5AE292E0-8737-4507-BA2A-6D62E444D761}"/>
              </a:ext>
            </a:extLst>
          </p:cNvPr>
          <p:cNvSpPr>
            <a:spLocks noGrp="1"/>
          </p:cNvSpPr>
          <p:nvPr/>
        </p:nvSpPr>
        <p:spPr>
          <a:xfrm>
            <a:off x="419100" y="781050"/>
            <a:ext cx="2609850" cy="333375"/>
          </a:xfrm>
          <a:prstGeom prst="rect">
            <a:avLst/>
          </a:prstGeom>
          <a:noFill/>
          <a:ln w="0">
            <a:noFill/>
            <a:prstDash val="solid"/>
          </a:ln>
        </p:spPr>
        <p:txBody>
          <a:bodyPr wrap="square" lIns="0" tIns="0" rIns="0" bIns="0" anchor="t">
            <a:noAutofit/>
          </a:bodyPr>
          <a:lstStyle>
            <a:defPPr algn="ctr">
              <a:defRPr sz="2000" b="1">
                <a:solidFill>
                  <a:srgbClr val="000000"/>
                </a:solidFill>
                <a:latin typeface="Times New Roman"/>
                <a:ea typeface="Times New Roman"/>
                <a:cs typeface="Times New Roman"/>
              </a:defRPr>
            </a:defPPr>
            <a:lvl1pPr algn="ctr">
              <a:defRPr sz="2000" b="1">
                <a:solidFill>
                  <a:srgbClr val="000000"/>
                </a:solidFill>
                <a:latin typeface="Times New Roman"/>
                <a:ea typeface="Times New Roman"/>
                <a:cs typeface="Times New Roman"/>
              </a:defRPr>
            </a:lvl1pPr>
            <a:lvl2pPr algn="ctr">
              <a:defRPr sz="2000" b="1">
                <a:solidFill>
                  <a:srgbClr val="000000"/>
                </a:solidFill>
                <a:latin typeface="Times New Roman"/>
                <a:ea typeface="Times New Roman"/>
                <a:cs typeface="Times New Roman"/>
              </a:defRPr>
            </a:lvl2pPr>
            <a:lvl3pPr algn="ctr">
              <a:defRPr sz="2000" b="1">
                <a:solidFill>
                  <a:srgbClr val="000000"/>
                </a:solidFill>
                <a:latin typeface="Times New Roman"/>
                <a:ea typeface="Times New Roman"/>
                <a:cs typeface="Times New Roman"/>
              </a:defRPr>
            </a:lvl3pPr>
            <a:lvl4pPr algn="ctr">
              <a:defRPr sz="2000" b="1">
                <a:solidFill>
                  <a:srgbClr val="000000"/>
                </a:solidFill>
                <a:latin typeface="Times New Roman"/>
                <a:ea typeface="Times New Roman"/>
                <a:cs typeface="Times New Roman"/>
              </a:defRPr>
            </a:lvl4pPr>
            <a:lvl5pPr algn="ctr">
              <a:defRPr sz="2000" b="1">
                <a:solidFill>
                  <a:srgbClr val="000000"/>
                </a:solidFill>
                <a:latin typeface="Times New Roman"/>
                <a:ea typeface="Times New Roman"/>
                <a:cs typeface="Times New Roman"/>
              </a:defRPr>
            </a:lvl5pPr>
            <a:lvl6pPr algn="ctr">
              <a:defRPr sz="2000" b="1">
                <a:solidFill>
                  <a:srgbClr val="000000"/>
                </a:solidFill>
                <a:latin typeface="Times New Roman"/>
                <a:ea typeface="Times New Roman"/>
                <a:cs typeface="Times New Roman"/>
              </a:defRPr>
            </a:lvl6pPr>
            <a:lvl7pPr algn="ctr">
              <a:defRPr sz="2000" b="1">
                <a:solidFill>
                  <a:srgbClr val="000000"/>
                </a:solidFill>
                <a:latin typeface="Times New Roman"/>
                <a:ea typeface="Times New Roman"/>
                <a:cs typeface="Times New Roman"/>
              </a:defRPr>
            </a:lvl7pPr>
            <a:lvl8pPr algn="ctr">
              <a:defRPr sz="2000" b="1">
                <a:solidFill>
                  <a:srgbClr val="000000"/>
                </a:solidFill>
                <a:latin typeface="Times New Roman"/>
                <a:ea typeface="Times New Roman"/>
                <a:cs typeface="Times New Roman"/>
              </a:defRPr>
            </a:lvl8pPr>
            <a:lvl9pPr algn="ctr">
              <a:defRPr sz="2000" b="1">
                <a:solidFill>
                  <a:srgbClr val="000000"/>
                </a:solidFill>
                <a:latin typeface="Times New Roman"/>
                <a:ea typeface="Times New Roman"/>
                <a:cs typeface="Times New Roman"/>
              </a:defRPr>
            </a:lvl9pPr>
          </a:lstStyle>
          <a:p>
            <a:pPr algn="ctr">
              <a:lnSpc>
                <a:spcPct val="108000"/>
              </a:lnSpc>
              <a:buNone/>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Indivisiblen</a:t>
            </a:r>
          </a:p>
        </p:txBody>
      </p:sp>
      <p:pic>
        <p:nvPicPr>
          <p:cNvPr id="101" name="Grafik 100">
            <a:extLst>
              <a:ext uri="{FF2B5EF4-FFF2-40B4-BE49-F238E27FC236}">
                <a16:creationId xmlns="" xmlns:a16="http://schemas.microsoft.com/office/drawing/2014/main" id="{AEAB7937-D305-4C31-8EFE-2902A826E5D0}"/>
              </a:ext>
            </a:extLst>
          </p:cNvPr>
          <p:cNvPicPr>
            <a:picLocks noChangeAspect="1"/>
          </p:cNvPicPr>
          <p:nvPr/>
        </p:nvPicPr>
        <p:blipFill>
          <a:blip r:embed="rId3"/>
          <a:srcRect l="4429" r="4429"/>
          <a:stretch/>
        </p:blipFill>
        <p:spPr>
          <a:xfrm>
            <a:off x="1123950" y="1219200"/>
            <a:ext cx="1200150" cy="1428750"/>
          </a:xfrm>
          <a:prstGeom prst="rect">
            <a:avLst/>
          </a:prstGeom>
        </p:spPr>
      </p:pic>
      <p:sp>
        <p:nvSpPr>
          <p:cNvPr id="102" name="portrait-name-cavalieri">
            <a:extLst>
              <a:ext uri="{FF2B5EF4-FFF2-40B4-BE49-F238E27FC236}">
                <a16:creationId xmlns="" xmlns:a16="http://schemas.microsoft.com/office/drawing/2014/main" id="{6C17CD89-AA41-4A34-8487-D8E47BB3F5D2}"/>
              </a:ext>
            </a:extLst>
          </p:cNvPr>
          <p:cNvSpPr>
            <a:spLocks noGrp="1"/>
          </p:cNvSpPr>
          <p:nvPr/>
        </p:nvSpPr>
        <p:spPr>
          <a:xfrm>
            <a:off x="419100" y="2733675"/>
            <a:ext cx="2609850" cy="438150"/>
          </a:xfrm>
          <a:prstGeom prst="rect">
            <a:avLst/>
          </a:prstGeom>
          <a:noFill/>
          <a:ln w="0">
            <a:noFill/>
            <a:prstDash val="solid"/>
          </a:ln>
        </p:spPr>
        <p:txBody>
          <a:bodyPr wrap="square" lIns="0" tIns="0" rIns="0" bIns="0" anchor="t">
            <a:noAutofit/>
          </a:bodyPr>
          <a:lstStyle>
            <a:defPPr algn="ctr">
              <a:defRPr sz="1600" b="1">
                <a:solidFill>
                  <a:srgbClr val="000000"/>
                </a:solidFill>
                <a:latin typeface="Times New Roman"/>
                <a:ea typeface="Times New Roman"/>
                <a:cs typeface="Times New Roman"/>
              </a:defRPr>
            </a:defPPr>
            <a:lvl1pPr algn="ctr">
              <a:defRPr sz="1600" b="1">
                <a:solidFill>
                  <a:srgbClr val="000000"/>
                </a:solidFill>
                <a:latin typeface="Times New Roman"/>
                <a:ea typeface="Times New Roman"/>
                <a:cs typeface="Times New Roman"/>
              </a:defRPr>
            </a:lvl1pPr>
            <a:lvl2pPr algn="ctr">
              <a:defRPr sz="1600" b="1">
                <a:solidFill>
                  <a:srgbClr val="000000"/>
                </a:solidFill>
                <a:latin typeface="Times New Roman"/>
                <a:ea typeface="Times New Roman"/>
                <a:cs typeface="Times New Roman"/>
              </a:defRPr>
            </a:lvl2pPr>
            <a:lvl3pPr algn="ctr">
              <a:defRPr sz="1600" b="1">
                <a:solidFill>
                  <a:srgbClr val="000000"/>
                </a:solidFill>
                <a:latin typeface="Times New Roman"/>
                <a:ea typeface="Times New Roman"/>
                <a:cs typeface="Times New Roman"/>
              </a:defRPr>
            </a:lvl3pPr>
            <a:lvl4pPr algn="ctr">
              <a:defRPr sz="1600" b="1">
                <a:solidFill>
                  <a:srgbClr val="000000"/>
                </a:solidFill>
                <a:latin typeface="Times New Roman"/>
                <a:ea typeface="Times New Roman"/>
                <a:cs typeface="Times New Roman"/>
              </a:defRPr>
            </a:lvl4pPr>
            <a:lvl5pPr algn="ctr">
              <a:defRPr sz="1600" b="1">
                <a:solidFill>
                  <a:srgbClr val="000000"/>
                </a:solidFill>
                <a:latin typeface="Times New Roman"/>
                <a:ea typeface="Times New Roman"/>
                <a:cs typeface="Times New Roman"/>
              </a:defRPr>
            </a:lvl5pPr>
            <a:lvl6pPr algn="ctr">
              <a:defRPr sz="1600" b="1">
                <a:solidFill>
                  <a:srgbClr val="000000"/>
                </a:solidFill>
                <a:latin typeface="Times New Roman"/>
                <a:ea typeface="Times New Roman"/>
                <a:cs typeface="Times New Roman"/>
              </a:defRPr>
            </a:lvl6pPr>
            <a:lvl7pPr algn="ctr">
              <a:defRPr sz="1600" b="1">
                <a:solidFill>
                  <a:srgbClr val="000000"/>
                </a:solidFill>
                <a:latin typeface="Times New Roman"/>
                <a:ea typeface="Times New Roman"/>
                <a:cs typeface="Times New Roman"/>
              </a:defRPr>
            </a:lvl7pPr>
            <a:lvl8pPr algn="ctr">
              <a:defRPr sz="1600" b="1">
                <a:solidFill>
                  <a:srgbClr val="000000"/>
                </a:solidFill>
                <a:latin typeface="Times New Roman"/>
                <a:ea typeface="Times New Roman"/>
                <a:cs typeface="Times New Roman"/>
              </a:defRPr>
            </a:lvl8pPr>
            <a:lvl9pPr algn="ctr">
              <a:defRPr sz="1600" b="1">
                <a:solidFill>
                  <a:srgbClr val="000000"/>
                </a:solidFill>
                <a:latin typeface="Times New Roman"/>
                <a:ea typeface="Times New Roman"/>
                <a:cs typeface="Times New Roman"/>
              </a:defRPr>
            </a:lvl9pPr>
          </a:lstStyle>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Bonaventura</a:t>
            </a:r>
          </a:p>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Cavalieri</a:t>
            </a:r>
          </a:p>
        </p:txBody>
      </p:sp>
      <p:sp>
        <p:nvSpPr>
          <p:cNvPr id="103" name="portrait-years-cavalieri">
            <a:extLst>
              <a:ext uri="{FF2B5EF4-FFF2-40B4-BE49-F238E27FC236}">
                <a16:creationId xmlns="" xmlns:a16="http://schemas.microsoft.com/office/drawing/2014/main" id="{E4580C8B-762B-4F4B-AA81-3360E2A92B59}"/>
              </a:ext>
            </a:extLst>
          </p:cNvPr>
          <p:cNvSpPr>
            <a:spLocks noGrp="1"/>
          </p:cNvSpPr>
          <p:nvPr/>
        </p:nvSpPr>
        <p:spPr>
          <a:xfrm>
            <a:off x="419100" y="3200400"/>
            <a:ext cx="2609850" cy="238125"/>
          </a:xfrm>
          <a:prstGeom prst="rect">
            <a:avLst/>
          </a:prstGeom>
          <a:noFill/>
          <a:ln w="0">
            <a:noFill/>
            <a:prstDash val="solid"/>
          </a:ln>
        </p:spPr>
        <p:txBody>
          <a:bodyPr wrap="square" lIns="0" tIns="0" rIns="0" bIns="0" anchor="t">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8000"/>
              </a:lnSpc>
              <a:buNone/>
              <a:defRPr sz="1400">
                <a:solidFill>
                  <a:srgbClr val="000000"/>
                </a:solidFill>
                <a:latin typeface="Times New Roman"/>
                <a:ea typeface="Times New Roman"/>
                <a:cs typeface="Times New Roman"/>
              </a:defRPr>
            </a:pPr>
            <a:r>
              <a:rPr sz="1400">
                <a:solidFill>
                  <a:srgbClr val="000000"/>
                </a:solidFill>
                <a:latin typeface="Times New Roman"/>
                <a:ea typeface="Times New Roman"/>
                <a:cs typeface="Times New Roman"/>
              </a:rPr>
              <a:t>(1598–1647)</a:t>
            </a:r>
          </a:p>
        </p:txBody>
      </p:sp>
      <p:grpSp>
        <p:nvGrpSpPr>
          <p:cNvPr id="115" name="Schritt 1: Infinitesimale"/>
          <p:cNvGrpSpPr/>
          <p:nvPr/>
        </p:nvGrpSpPr>
        <p:grpSpPr>
          <a:xfrm>
            <a:off x="3267075" y="781050"/>
            <a:ext cx="2609850" cy="4076700"/>
            <a:chOff x="3267075" y="781050"/>
            <a:chExt cx="2609850" cy="4076700"/>
          </a:xfrm>
        </p:grpSpPr>
        <p:sp>
          <p:nvSpPr>
            <p:cNvPr id="105" name="distinction-leibniz">
              <a:extLst>
                <a:ext uri="{FF2B5EF4-FFF2-40B4-BE49-F238E27FC236}">
                  <a16:creationId xmlns="" xmlns:a16="http://schemas.microsoft.com/office/drawing/2014/main" id="{AF191370-3A8D-4A16-9F4F-6BB2A6F933ED}"/>
                </a:ext>
              </a:extLst>
            </p:cNvPr>
            <p:cNvSpPr>
              <a:spLocks noGrp="1"/>
            </p:cNvSpPr>
            <p:nvPr/>
          </p:nvSpPr>
          <p:spPr>
            <a:xfrm>
              <a:off x="3267075" y="781050"/>
              <a:ext cx="2609850" cy="333375"/>
            </a:xfrm>
            <a:prstGeom prst="rect">
              <a:avLst/>
            </a:prstGeom>
            <a:noFill/>
            <a:ln w="0">
              <a:noFill/>
              <a:prstDash val="solid"/>
            </a:ln>
          </p:spPr>
          <p:txBody>
            <a:bodyPr wrap="square" lIns="0" tIns="0" rIns="0" bIns="0" anchor="t">
              <a:noAutofit/>
            </a:bodyPr>
            <a:lstStyle>
              <a:defPPr algn="ctr">
                <a:defRPr sz="2000" b="1">
                  <a:solidFill>
                    <a:srgbClr val="000000"/>
                  </a:solidFill>
                  <a:latin typeface="Times New Roman"/>
                  <a:ea typeface="Times New Roman"/>
                  <a:cs typeface="Times New Roman"/>
                </a:defRPr>
              </a:defPPr>
              <a:lvl1pPr algn="ctr">
                <a:defRPr sz="2000" b="1">
                  <a:solidFill>
                    <a:srgbClr val="000000"/>
                  </a:solidFill>
                  <a:latin typeface="Times New Roman"/>
                  <a:ea typeface="Times New Roman"/>
                  <a:cs typeface="Times New Roman"/>
                </a:defRPr>
              </a:lvl1pPr>
              <a:lvl2pPr algn="ctr">
                <a:defRPr sz="2000" b="1">
                  <a:solidFill>
                    <a:srgbClr val="000000"/>
                  </a:solidFill>
                  <a:latin typeface="Times New Roman"/>
                  <a:ea typeface="Times New Roman"/>
                  <a:cs typeface="Times New Roman"/>
                </a:defRPr>
              </a:lvl2pPr>
              <a:lvl3pPr algn="ctr">
                <a:defRPr sz="2000" b="1">
                  <a:solidFill>
                    <a:srgbClr val="000000"/>
                  </a:solidFill>
                  <a:latin typeface="Times New Roman"/>
                  <a:ea typeface="Times New Roman"/>
                  <a:cs typeface="Times New Roman"/>
                </a:defRPr>
              </a:lvl3pPr>
              <a:lvl4pPr algn="ctr">
                <a:defRPr sz="2000" b="1">
                  <a:solidFill>
                    <a:srgbClr val="000000"/>
                  </a:solidFill>
                  <a:latin typeface="Times New Roman"/>
                  <a:ea typeface="Times New Roman"/>
                  <a:cs typeface="Times New Roman"/>
                </a:defRPr>
              </a:lvl4pPr>
              <a:lvl5pPr algn="ctr">
                <a:defRPr sz="2000" b="1">
                  <a:solidFill>
                    <a:srgbClr val="000000"/>
                  </a:solidFill>
                  <a:latin typeface="Times New Roman"/>
                  <a:ea typeface="Times New Roman"/>
                  <a:cs typeface="Times New Roman"/>
                </a:defRPr>
              </a:lvl5pPr>
              <a:lvl6pPr algn="ctr">
                <a:defRPr sz="2000" b="1">
                  <a:solidFill>
                    <a:srgbClr val="000000"/>
                  </a:solidFill>
                  <a:latin typeface="Times New Roman"/>
                  <a:ea typeface="Times New Roman"/>
                  <a:cs typeface="Times New Roman"/>
                </a:defRPr>
              </a:lvl6pPr>
              <a:lvl7pPr algn="ctr">
                <a:defRPr sz="2000" b="1">
                  <a:solidFill>
                    <a:srgbClr val="000000"/>
                  </a:solidFill>
                  <a:latin typeface="Times New Roman"/>
                  <a:ea typeface="Times New Roman"/>
                  <a:cs typeface="Times New Roman"/>
                </a:defRPr>
              </a:lvl7pPr>
              <a:lvl8pPr algn="ctr">
                <a:defRPr sz="2000" b="1">
                  <a:solidFill>
                    <a:srgbClr val="000000"/>
                  </a:solidFill>
                  <a:latin typeface="Times New Roman"/>
                  <a:ea typeface="Times New Roman"/>
                  <a:cs typeface="Times New Roman"/>
                </a:defRPr>
              </a:lvl8pPr>
              <a:lvl9pPr algn="ctr">
                <a:defRPr sz="2000" b="1">
                  <a:solidFill>
                    <a:srgbClr val="000000"/>
                  </a:solidFill>
                  <a:latin typeface="Times New Roman"/>
                  <a:ea typeface="Times New Roman"/>
                  <a:cs typeface="Times New Roman"/>
                </a:defRPr>
              </a:lvl9pPr>
            </a:lstStyle>
            <a:p>
              <a:pPr algn="ctr">
                <a:lnSpc>
                  <a:spcPct val="108000"/>
                </a:lnSpc>
                <a:buNone/>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Infinitesimale</a:t>
              </a:r>
            </a:p>
          </p:txBody>
        </p:sp>
        <p:pic>
          <p:nvPicPr>
            <p:cNvPr id="106" name="Grafik 105">
              <a:extLst>
                <a:ext uri="{FF2B5EF4-FFF2-40B4-BE49-F238E27FC236}">
                  <a16:creationId xmlns="" xmlns:a16="http://schemas.microsoft.com/office/drawing/2014/main" id="{371E77F4-561A-42BE-81BB-87D0A35226FE}"/>
                </a:ext>
              </a:extLst>
            </p:cNvPr>
            <p:cNvPicPr>
              <a:picLocks noChangeAspect="1"/>
            </p:cNvPicPr>
            <p:nvPr/>
          </p:nvPicPr>
          <p:blipFill>
            <a:blip r:embed="rId4"/>
            <a:srcRect l="4409" r="4409"/>
            <a:stretch/>
          </p:blipFill>
          <p:spPr>
            <a:xfrm>
              <a:off x="3971925" y="1219200"/>
              <a:ext cx="1200150" cy="1428750"/>
            </a:xfrm>
            <a:prstGeom prst="rect">
              <a:avLst/>
            </a:prstGeom>
          </p:spPr>
        </p:pic>
        <p:sp>
          <p:nvSpPr>
            <p:cNvPr id="107" name="portrait-name-leibniz">
              <a:extLst>
                <a:ext uri="{FF2B5EF4-FFF2-40B4-BE49-F238E27FC236}">
                  <a16:creationId xmlns="" xmlns:a16="http://schemas.microsoft.com/office/drawing/2014/main" id="{CE64ACC8-ED88-4253-994D-4A3742C87A4C}"/>
                </a:ext>
              </a:extLst>
            </p:cNvPr>
            <p:cNvSpPr>
              <a:spLocks noGrp="1"/>
            </p:cNvSpPr>
            <p:nvPr/>
          </p:nvSpPr>
          <p:spPr>
            <a:xfrm>
              <a:off x="3267075" y="2733675"/>
              <a:ext cx="2609850" cy="438150"/>
            </a:xfrm>
            <a:prstGeom prst="rect">
              <a:avLst/>
            </a:prstGeom>
            <a:noFill/>
            <a:ln w="0">
              <a:noFill/>
              <a:prstDash val="solid"/>
            </a:ln>
          </p:spPr>
          <p:txBody>
            <a:bodyPr wrap="square" lIns="0" tIns="0" rIns="0" bIns="0" anchor="t">
              <a:noAutofit/>
            </a:bodyPr>
            <a:lstStyle>
              <a:defPPr algn="ctr">
                <a:defRPr sz="1600" b="1">
                  <a:solidFill>
                    <a:srgbClr val="000000"/>
                  </a:solidFill>
                  <a:latin typeface="Times New Roman"/>
                  <a:ea typeface="Times New Roman"/>
                  <a:cs typeface="Times New Roman"/>
                </a:defRPr>
              </a:defPPr>
              <a:lvl1pPr algn="ctr">
                <a:defRPr sz="1600" b="1">
                  <a:solidFill>
                    <a:srgbClr val="000000"/>
                  </a:solidFill>
                  <a:latin typeface="Times New Roman"/>
                  <a:ea typeface="Times New Roman"/>
                  <a:cs typeface="Times New Roman"/>
                </a:defRPr>
              </a:lvl1pPr>
              <a:lvl2pPr algn="ctr">
                <a:defRPr sz="1600" b="1">
                  <a:solidFill>
                    <a:srgbClr val="000000"/>
                  </a:solidFill>
                  <a:latin typeface="Times New Roman"/>
                  <a:ea typeface="Times New Roman"/>
                  <a:cs typeface="Times New Roman"/>
                </a:defRPr>
              </a:lvl2pPr>
              <a:lvl3pPr algn="ctr">
                <a:defRPr sz="1600" b="1">
                  <a:solidFill>
                    <a:srgbClr val="000000"/>
                  </a:solidFill>
                  <a:latin typeface="Times New Roman"/>
                  <a:ea typeface="Times New Roman"/>
                  <a:cs typeface="Times New Roman"/>
                </a:defRPr>
              </a:lvl3pPr>
              <a:lvl4pPr algn="ctr">
                <a:defRPr sz="1600" b="1">
                  <a:solidFill>
                    <a:srgbClr val="000000"/>
                  </a:solidFill>
                  <a:latin typeface="Times New Roman"/>
                  <a:ea typeface="Times New Roman"/>
                  <a:cs typeface="Times New Roman"/>
                </a:defRPr>
              </a:lvl4pPr>
              <a:lvl5pPr algn="ctr">
                <a:defRPr sz="1600" b="1">
                  <a:solidFill>
                    <a:srgbClr val="000000"/>
                  </a:solidFill>
                  <a:latin typeface="Times New Roman"/>
                  <a:ea typeface="Times New Roman"/>
                  <a:cs typeface="Times New Roman"/>
                </a:defRPr>
              </a:lvl5pPr>
              <a:lvl6pPr algn="ctr">
                <a:defRPr sz="1600" b="1">
                  <a:solidFill>
                    <a:srgbClr val="000000"/>
                  </a:solidFill>
                  <a:latin typeface="Times New Roman"/>
                  <a:ea typeface="Times New Roman"/>
                  <a:cs typeface="Times New Roman"/>
                </a:defRPr>
              </a:lvl6pPr>
              <a:lvl7pPr algn="ctr">
                <a:defRPr sz="1600" b="1">
                  <a:solidFill>
                    <a:srgbClr val="000000"/>
                  </a:solidFill>
                  <a:latin typeface="Times New Roman"/>
                  <a:ea typeface="Times New Roman"/>
                  <a:cs typeface="Times New Roman"/>
                </a:defRPr>
              </a:lvl7pPr>
              <a:lvl8pPr algn="ctr">
                <a:defRPr sz="1600" b="1">
                  <a:solidFill>
                    <a:srgbClr val="000000"/>
                  </a:solidFill>
                  <a:latin typeface="Times New Roman"/>
                  <a:ea typeface="Times New Roman"/>
                  <a:cs typeface="Times New Roman"/>
                </a:defRPr>
              </a:lvl8pPr>
              <a:lvl9pPr algn="ctr">
                <a:defRPr sz="1600" b="1">
                  <a:solidFill>
                    <a:srgbClr val="000000"/>
                  </a:solidFill>
                  <a:latin typeface="Times New Roman"/>
                  <a:ea typeface="Times New Roman"/>
                  <a:cs typeface="Times New Roman"/>
                </a:defRPr>
              </a:lvl9pPr>
            </a:lstStyle>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Gottfried Wilhelm</a:t>
              </a:r>
            </a:p>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Leibniz</a:t>
              </a:r>
            </a:p>
          </p:txBody>
        </p:sp>
        <p:sp>
          <p:nvSpPr>
            <p:cNvPr id="108" name="portrait-years-leibniz">
              <a:extLst>
                <a:ext uri="{FF2B5EF4-FFF2-40B4-BE49-F238E27FC236}">
                  <a16:creationId xmlns="" xmlns:a16="http://schemas.microsoft.com/office/drawing/2014/main" id="{246176DF-7BD5-436B-B5F6-A96A3F81DC8F}"/>
                </a:ext>
              </a:extLst>
            </p:cNvPr>
            <p:cNvSpPr>
              <a:spLocks noGrp="1"/>
            </p:cNvSpPr>
            <p:nvPr/>
          </p:nvSpPr>
          <p:spPr>
            <a:xfrm>
              <a:off x="3267075" y="3200400"/>
              <a:ext cx="2609850" cy="238125"/>
            </a:xfrm>
            <a:prstGeom prst="rect">
              <a:avLst/>
            </a:prstGeom>
            <a:noFill/>
            <a:ln w="0">
              <a:noFill/>
              <a:prstDash val="solid"/>
            </a:ln>
          </p:spPr>
          <p:txBody>
            <a:bodyPr wrap="square" lIns="0" tIns="0" rIns="0" bIns="0" anchor="t">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8000"/>
                </a:lnSpc>
                <a:buNone/>
                <a:defRPr sz="1400">
                  <a:solidFill>
                    <a:srgbClr val="000000"/>
                  </a:solidFill>
                  <a:latin typeface="Times New Roman"/>
                  <a:ea typeface="Times New Roman"/>
                  <a:cs typeface="Times New Roman"/>
                </a:defRPr>
              </a:pPr>
              <a:r>
                <a:rPr sz="1400">
                  <a:solidFill>
                    <a:srgbClr val="000000"/>
                  </a:solidFill>
                  <a:latin typeface="Times New Roman"/>
                  <a:ea typeface="Times New Roman"/>
                  <a:cs typeface="Times New Roman"/>
                </a:rPr>
                <a:t>(1646–1716)</a:t>
              </a:r>
            </a:p>
          </p:txBody>
        </p:sp>
        <p:grpSp>
          <p:nvGrpSpPr>
            <p:cNvPr id="16001" name="Grafik: Teilbares Infinitesimal"/>
            <p:cNvGrpSpPr/>
            <p:nvPr/>
          </p:nvGrpSpPr>
          <p:grpSpPr>
            <a:xfrm>
              <a:off x="3267075" y="3562350"/>
              <a:ext cx="2609850" cy="1295400"/>
              <a:chOff x="3267075" y="3562350"/>
              <a:chExt cx="2609850" cy="1295400"/>
            </a:xfrm>
          </p:grpSpPr>
          <p:pic>
            <p:nvPicPr>
              <p:cNvPr id="14007" name="infinitesimal-label">
                <a:extLst>
                  <a:ext uri="{FF2B5EF4-FFF2-40B4-BE49-F238E27FC236}">
                    <a16:creationId xmlns="" xmlns:a16="http://schemas.microsoft.com/office/drawing/2014/main" id="{7552B5F4-24F8-40CB-B88A-FF5C2843946A}"/>
                  </a:ext>
                </a:extLst>
              </p:cNvPr>
              <p:cNvPicPr>
                <a:picLocks noChangeAspect="1"/>
              </p:cNvPicPr>
              <p:nvPr/>
            </p:nvPicPr>
            <p:blipFill>
              <a:blip r:embed="rId5"/>
              <a:stretch/>
            </p:blipFill>
            <p:spPr>
              <a:xfrm>
                <a:off x="4111907" y="3562350"/>
                <a:ext cx="920187" cy="178168"/>
              </a:xfrm>
              <a:prstGeom prst="rect">
                <a:avLst/>
              </a:prstGeom>
            </p:spPr>
          </p:pic>
          <p:sp>
            <p:nvSpPr>
              <p:cNvPr id="14008" name="infinitesimal-parent">
                <a:extLst>
                  <a:ext uri="{FF2B5EF4-FFF2-40B4-BE49-F238E27FC236}">
                    <a16:creationId xmlns="" xmlns:a16="http://schemas.microsoft.com/office/drawing/2014/main" id="{8717E01D-ED9C-43A2-956C-7AF370452B59}"/>
                  </a:ext>
                </a:extLst>
              </p:cNvPr>
              <p:cNvSpPr>
                <a:spLocks noGrp="1"/>
              </p:cNvSpPr>
              <p:nvPr/>
            </p:nvSpPr>
            <p:spPr>
              <a:xfrm>
                <a:off x="3933825" y="3857625"/>
                <a:ext cx="1276350" cy="0"/>
              </a:xfrm>
              <a:prstGeom prst="line">
                <a:avLst/>
              </a:prstGeom>
              <a:noFill/>
              <a:ln w="21908">
                <a:solidFill>
                  <a:srgbClr val="4F81BD"/>
                </a:solidFill>
                <a:prstDash val="solid"/>
              </a:ln>
            </p:spPr>
          </p:sp>
          <p:sp>
            <p:nvSpPr>
              <p:cNvPr id="14009" name="infinitesimal-parent-left">
                <a:extLst>
                  <a:ext uri="{FF2B5EF4-FFF2-40B4-BE49-F238E27FC236}">
                    <a16:creationId xmlns="" xmlns:a16="http://schemas.microsoft.com/office/drawing/2014/main" id="{B22248B0-AAE8-488D-9BFB-51A33E2AC42A}"/>
                  </a:ext>
                </a:extLst>
              </p:cNvPr>
              <p:cNvSpPr>
                <a:spLocks noGrp="1"/>
              </p:cNvSpPr>
              <p:nvPr/>
            </p:nvSpPr>
            <p:spPr>
              <a:xfrm>
                <a:off x="3933825" y="3810000"/>
                <a:ext cx="0" cy="95250"/>
              </a:xfrm>
              <a:prstGeom prst="line">
                <a:avLst/>
              </a:prstGeom>
              <a:noFill/>
              <a:ln w="21908">
                <a:solidFill>
                  <a:srgbClr val="4F81BD"/>
                </a:solidFill>
                <a:prstDash val="solid"/>
              </a:ln>
            </p:spPr>
          </p:sp>
          <p:sp>
            <p:nvSpPr>
              <p:cNvPr id="14010" name="infinitesimal-parent-right">
                <a:extLst>
                  <a:ext uri="{FF2B5EF4-FFF2-40B4-BE49-F238E27FC236}">
                    <a16:creationId xmlns="" xmlns:a16="http://schemas.microsoft.com/office/drawing/2014/main" id="{3F388F2C-DBD3-4958-8655-B62882D4CB67}"/>
                  </a:ext>
                </a:extLst>
              </p:cNvPr>
              <p:cNvSpPr>
                <a:spLocks noGrp="1"/>
              </p:cNvSpPr>
              <p:nvPr/>
            </p:nvSpPr>
            <p:spPr>
              <a:xfrm>
                <a:off x="5210175" y="3810000"/>
                <a:ext cx="0" cy="95250"/>
              </a:xfrm>
              <a:prstGeom prst="line">
                <a:avLst/>
              </a:prstGeom>
              <a:noFill/>
              <a:ln w="21908">
                <a:solidFill>
                  <a:srgbClr val="4F81BD"/>
                </a:solidFill>
                <a:prstDash val="solid"/>
              </a:ln>
            </p:spPr>
          </p:sp>
          <p:sp>
            <p:nvSpPr>
              <p:cNvPr id="14011" name="infinitesimal-division">
                <a:extLst>
                  <a:ext uri="{FF2B5EF4-FFF2-40B4-BE49-F238E27FC236}">
                    <a16:creationId xmlns="" xmlns:a16="http://schemas.microsoft.com/office/drawing/2014/main" id="{2424E741-B9F2-45B0-9759-17B8427A8757}"/>
                  </a:ext>
                </a:extLst>
              </p:cNvPr>
              <p:cNvSpPr>
                <a:spLocks noGrp="1"/>
              </p:cNvSpPr>
              <p:nvPr/>
            </p:nvSpPr>
            <p:spPr>
              <a:xfrm>
                <a:off x="4514850" y="3981450"/>
                <a:ext cx="114300" cy="180975"/>
              </a:xfrm>
              <a:prstGeom prst="downArrow">
                <a:avLst/>
              </a:prstGeom>
              <a:solidFill>
                <a:srgbClr val="000000"/>
              </a:solidFill>
              <a:ln w="0">
                <a:noFill/>
                <a:prstDash val="solid"/>
              </a:ln>
            </p:spPr>
          </p:sp>
          <p:sp>
            <p:nvSpPr>
              <p:cNvPr id="14012" name="infinitesimal-half-left">
                <a:extLst>
                  <a:ext uri="{FF2B5EF4-FFF2-40B4-BE49-F238E27FC236}">
                    <a16:creationId xmlns="" xmlns:a16="http://schemas.microsoft.com/office/drawing/2014/main" id="{99D864D9-F32E-4061-8542-1E118B9522D0}"/>
                  </a:ext>
                </a:extLst>
              </p:cNvPr>
              <p:cNvSpPr>
                <a:spLocks noGrp="1"/>
              </p:cNvSpPr>
              <p:nvPr/>
            </p:nvSpPr>
            <p:spPr>
              <a:xfrm>
                <a:off x="3867150" y="4248150"/>
                <a:ext cx="638175" cy="0"/>
              </a:xfrm>
              <a:prstGeom prst="line">
                <a:avLst/>
              </a:prstGeom>
              <a:noFill/>
              <a:ln w="21908">
                <a:solidFill>
                  <a:srgbClr val="4F81BD"/>
                </a:solidFill>
                <a:prstDash val="solid"/>
              </a:ln>
            </p:spPr>
          </p:sp>
          <p:sp>
            <p:nvSpPr>
              <p:cNvPr id="14013" name="infinitesimal-half-right">
                <a:extLst>
                  <a:ext uri="{FF2B5EF4-FFF2-40B4-BE49-F238E27FC236}">
                    <a16:creationId xmlns="" xmlns:a16="http://schemas.microsoft.com/office/drawing/2014/main" id="{96561C5B-20C3-4E6F-9E09-E26DCDA28508}"/>
                  </a:ext>
                </a:extLst>
              </p:cNvPr>
              <p:cNvSpPr>
                <a:spLocks noGrp="1"/>
              </p:cNvSpPr>
              <p:nvPr/>
            </p:nvSpPr>
            <p:spPr>
              <a:xfrm>
                <a:off x="4638675" y="4248150"/>
                <a:ext cx="638175" cy="0"/>
              </a:xfrm>
              <a:prstGeom prst="line">
                <a:avLst/>
              </a:prstGeom>
              <a:noFill/>
              <a:ln w="21908">
                <a:solidFill>
                  <a:srgbClr val="4F81BD"/>
                </a:solidFill>
                <a:prstDash val="solid"/>
              </a:ln>
            </p:spPr>
          </p:sp>
          <p:sp>
            <p:nvSpPr>
              <p:cNvPr id="14014" name="infinitesimal-limit-first">
                <a:extLst>
                  <a:ext uri="{FF2B5EF4-FFF2-40B4-BE49-F238E27FC236}">
                    <a16:creationId xmlns="" xmlns:a16="http://schemas.microsoft.com/office/drawing/2014/main" id="{03149C60-C997-4573-B9C0-EAF91F201382}"/>
                  </a:ext>
                </a:extLst>
              </p:cNvPr>
              <p:cNvSpPr>
                <a:spLocks noGrp="1"/>
              </p:cNvSpPr>
              <p:nvPr/>
            </p:nvSpPr>
            <p:spPr>
              <a:xfrm>
                <a:off x="3867150" y="4200525"/>
                <a:ext cx="0" cy="95250"/>
              </a:xfrm>
              <a:prstGeom prst="line">
                <a:avLst/>
              </a:prstGeom>
              <a:noFill/>
              <a:ln w="21908">
                <a:solidFill>
                  <a:srgbClr val="4F81BD"/>
                </a:solidFill>
                <a:prstDash val="solid"/>
              </a:ln>
            </p:spPr>
          </p:sp>
          <p:sp>
            <p:nvSpPr>
              <p:cNvPr id="14015" name="infinitesimal-limit-second">
                <a:extLst>
                  <a:ext uri="{FF2B5EF4-FFF2-40B4-BE49-F238E27FC236}">
                    <a16:creationId xmlns="" xmlns:a16="http://schemas.microsoft.com/office/drawing/2014/main" id="{AACF2753-BFF0-4276-9028-760B118A73F8}"/>
                  </a:ext>
                </a:extLst>
              </p:cNvPr>
              <p:cNvSpPr>
                <a:spLocks noGrp="1"/>
              </p:cNvSpPr>
              <p:nvPr/>
            </p:nvSpPr>
            <p:spPr>
              <a:xfrm>
                <a:off x="4505325" y="4200525"/>
                <a:ext cx="0" cy="95250"/>
              </a:xfrm>
              <a:prstGeom prst="line">
                <a:avLst/>
              </a:prstGeom>
              <a:noFill/>
              <a:ln w="21908">
                <a:solidFill>
                  <a:srgbClr val="4F81BD"/>
                </a:solidFill>
                <a:prstDash val="solid"/>
              </a:ln>
            </p:spPr>
          </p:sp>
          <p:sp>
            <p:nvSpPr>
              <p:cNvPr id="14016" name="infinitesimal-limit-third">
                <a:extLst>
                  <a:ext uri="{FF2B5EF4-FFF2-40B4-BE49-F238E27FC236}">
                    <a16:creationId xmlns="" xmlns:a16="http://schemas.microsoft.com/office/drawing/2014/main" id="{F01AFE7D-EC9E-4AD1-B04C-D23879F30B0C}"/>
                  </a:ext>
                </a:extLst>
              </p:cNvPr>
              <p:cNvSpPr>
                <a:spLocks noGrp="1"/>
              </p:cNvSpPr>
              <p:nvPr/>
            </p:nvSpPr>
            <p:spPr>
              <a:xfrm>
                <a:off x="4638675" y="4200525"/>
                <a:ext cx="0" cy="95250"/>
              </a:xfrm>
              <a:prstGeom prst="line">
                <a:avLst/>
              </a:prstGeom>
              <a:noFill/>
              <a:ln w="21908">
                <a:solidFill>
                  <a:srgbClr val="4F81BD"/>
                </a:solidFill>
                <a:prstDash val="solid"/>
              </a:ln>
            </p:spPr>
          </p:sp>
          <p:sp>
            <p:nvSpPr>
              <p:cNvPr id="14017" name="infinitesimal-limit-fourth">
                <a:extLst>
                  <a:ext uri="{FF2B5EF4-FFF2-40B4-BE49-F238E27FC236}">
                    <a16:creationId xmlns="" xmlns:a16="http://schemas.microsoft.com/office/drawing/2014/main" id="{7E00E599-AEF3-4CD0-9F1F-501D91D6D5BB}"/>
                  </a:ext>
                </a:extLst>
              </p:cNvPr>
              <p:cNvSpPr>
                <a:spLocks noGrp="1"/>
              </p:cNvSpPr>
              <p:nvPr/>
            </p:nvSpPr>
            <p:spPr>
              <a:xfrm>
                <a:off x="5276850" y="4200525"/>
                <a:ext cx="0" cy="95250"/>
              </a:xfrm>
              <a:prstGeom prst="line">
                <a:avLst/>
              </a:prstGeom>
              <a:noFill/>
              <a:ln w="21908">
                <a:solidFill>
                  <a:srgbClr val="4F81BD"/>
                </a:solidFill>
                <a:prstDash val="solid"/>
              </a:ln>
            </p:spPr>
          </p:sp>
          <p:pic>
            <p:nvPicPr>
              <p:cNvPr id="14018" name="infinitesimal-half-label-left">
                <a:extLst>
                  <a:ext uri="{FF2B5EF4-FFF2-40B4-BE49-F238E27FC236}">
                    <a16:creationId xmlns="" xmlns:a16="http://schemas.microsoft.com/office/drawing/2014/main" id="{91EE1744-8DCC-4CF7-9465-A7F6D9E50077}"/>
                  </a:ext>
                </a:extLst>
              </p:cNvPr>
              <p:cNvPicPr>
                <a:picLocks noChangeAspect="1"/>
              </p:cNvPicPr>
              <p:nvPr/>
            </p:nvPicPr>
            <p:blipFill>
              <a:blip r:embed="rId6"/>
              <a:stretch/>
            </p:blipFill>
            <p:spPr>
              <a:xfrm>
                <a:off x="4039340" y="4324350"/>
                <a:ext cx="293796" cy="201460"/>
              </a:xfrm>
              <a:prstGeom prst="rect">
                <a:avLst/>
              </a:prstGeom>
            </p:spPr>
          </p:pic>
          <p:pic>
            <p:nvPicPr>
              <p:cNvPr id="14019" name="infinitesimal-half-label-right">
                <a:extLst>
                  <a:ext uri="{FF2B5EF4-FFF2-40B4-BE49-F238E27FC236}">
                    <a16:creationId xmlns="" xmlns:a16="http://schemas.microsoft.com/office/drawing/2014/main" id="{4CD9A972-D9F1-4043-9657-6C0D48AE92E4}"/>
                  </a:ext>
                </a:extLst>
              </p:cNvPr>
              <p:cNvPicPr>
                <a:picLocks noChangeAspect="1"/>
              </p:cNvPicPr>
              <p:nvPr/>
            </p:nvPicPr>
            <p:blipFill>
              <a:blip r:embed="rId6"/>
              <a:stretch/>
            </p:blipFill>
            <p:spPr>
              <a:xfrm>
                <a:off x="4810865" y="4324350"/>
                <a:ext cx="293796" cy="201460"/>
              </a:xfrm>
              <a:prstGeom prst="rect">
                <a:avLst/>
              </a:prstGeom>
            </p:spPr>
          </p:pic>
          <p:sp>
            <p:nvSpPr>
              <p:cNvPr id="14020" name="infinitesimal-caption">
                <a:extLst>
                  <a:ext uri="{FF2B5EF4-FFF2-40B4-BE49-F238E27FC236}">
                    <a16:creationId xmlns="" xmlns:a16="http://schemas.microsoft.com/office/drawing/2014/main" id="{AB9D6A12-A32C-41D7-A18D-0C5158417412}"/>
                  </a:ext>
                </a:extLst>
              </p:cNvPr>
              <p:cNvSpPr>
                <a:spLocks noGrp="1"/>
              </p:cNvSpPr>
              <p:nvPr/>
            </p:nvSpPr>
            <p:spPr>
              <a:xfrm>
                <a:off x="3267075" y="4638675"/>
                <a:ext cx="2609850" cy="219075"/>
              </a:xfrm>
              <a:prstGeom prst="rect">
                <a:avLst/>
              </a:prstGeom>
              <a:noFill/>
              <a:ln w="0">
                <a:noFill/>
                <a:prstDash val="solid"/>
              </a:ln>
            </p:spPr>
            <p:txBody>
              <a:bodyPr wrap="square" lIns="0" tIns="0" rIns="0" bIns="0" anchor="ctr">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0000"/>
                  </a:lnSpc>
                  <a:buNone/>
                  <a:defRPr sz="1400">
                    <a:solidFill>
                      <a:srgbClr val="000000"/>
                    </a:solidFill>
                    <a:latin typeface="Times New Roman"/>
                    <a:ea typeface="Times New Roman"/>
                    <a:cs typeface="Times New Roman"/>
                  </a:defRPr>
                </a:pPr>
                <a:r>
                  <a:rPr sz="1400">
                    <a:solidFill>
                      <a:srgbClr val="000000"/>
                    </a:solidFill>
                    <a:latin typeface="Times New Roman"/>
                    <a:ea typeface="Times New Roman"/>
                    <a:cs typeface="Times New Roman"/>
                  </a:rPr>
                  <a:t>weiter teilbarer Linienteil</a:t>
                </a:r>
              </a:p>
            </p:txBody>
          </p:sp>
        </p:grpSp>
      </p:grpSp>
      <p:grpSp>
        <p:nvGrpSpPr>
          <p:cNvPr id="116" name="Schritt 2: Punkte"/>
          <p:cNvGrpSpPr/>
          <p:nvPr/>
        </p:nvGrpSpPr>
        <p:grpSpPr>
          <a:xfrm>
            <a:off x="6115050" y="781050"/>
            <a:ext cx="2609850" cy="4076700"/>
            <a:chOff x="6115050" y="781050"/>
            <a:chExt cx="2609850" cy="4076700"/>
          </a:xfrm>
        </p:grpSpPr>
        <p:sp>
          <p:nvSpPr>
            <p:cNvPr id="110" name="distinction-dedekind">
              <a:extLst>
                <a:ext uri="{FF2B5EF4-FFF2-40B4-BE49-F238E27FC236}">
                  <a16:creationId xmlns="" xmlns:a16="http://schemas.microsoft.com/office/drawing/2014/main" id="{63CF3FF7-205D-4FB4-A14A-F15F0AE285A2}"/>
                </a:ext>
              </a:extLst>
            </p:cNvPr>
            <p:cNvSpPr>
              <a:spLocks noGrp="1"/>
            </p:cNvSpPr>
            <p:nvPr/>
          </p:nvSpPr>
          <p:spPr>
            <a:xfrm>
              <a:off x="6115050" y="781050"/>
              <a:ext cx="2609850" cy="333375"/>
            </a:xfrm>
            <a:prstGeom prst="rect">
              <a:avLst/>
            </a:prstGeom>
            <a:noFill/>
            <a:ln w="0">
              <a:noFill/>
              <a:prstDash val="solid"/>
            </a:ln>
          </p:spPr>
          <p:txBody>
            <a:bodyPr wrap="square" lIns="0" tIns="0" rIns="0" bIns="0" anchor="t">
              <a:noAutofit/>
            </a:bodyPr>
            <a:lstStyle>
              <a:defPPr algn="ctr">
                <a:defRPr sz="2000" b="1">
                  <a:solidFill>
                    <a:srgbClr val="000000"/>
                  </a:solidFill>
                  <a:latin typeface="Times New Roman"/>
                  <a:ea typeface="Times New Roman"/>
                  <a:cs typeface="Times New Roman"/>
                </a:defRPr>
              </a:defPPr>
              <a:lvl1pPr algn="ctr">
                <a:defRPr sz="2000" b="1">
                  <a:solidFill>
                    <a:srgbClr val="000000"/>
                  </a:solidFill>
                  <a:latin typeface="Times New Roman"/>
                  <a:ea typeface="Times New Roman"/>
                  <a:cs typeface="Times New Roman"/>
                </a:defRPr>
              </a:lvl1pPr>
              <a:lvl2pPr algn="ctr">
                <a:defRPr sz="2000" b="1">
                  <a:solidFill>
                    <a:srgbClr val="000000"/>
                  </a:solidFill>
                  <a:latin typeface="Times New Roman"/>
                  <a:ea typeface="Times New Roman"/>
                  <a:cs typeface="Times New Roman"/>
                </a:defRPr>
              </a:lvl2pPr>
              <a:lvl3pPr algn="ctr">
                <a:defRPr sz="2000" b="1">
                  <a:solidFill>
                    <a:srgbClr val="000000"/>
                  </a:solidFill>
                  <a:latin typeface="Times New Roman"/>
                  <a:ea typeface="Times New Roman"/>
                  <a:cs typeface="Times New Roman"/>
                </a:defRPr>
              </a:lvl3pPr>
              <a:lvl4pPr algn="ctr">
                <a:defRPr sz="2000" b="1">
                  <a:solidFill>
                    <a:srgbClr val="000000"/>
                  </a:solidFill>
                  <a:latin typeface="Times New Roman"/>
                  <a:ea typeface="Times New Roman"/>
                  <a:cs typeface="Times New Roman"/>
                </a:defRPr>
              </a:lvl4pPr>
              <a:lvl5pPr algn="ctr">
                <a:defRPr sz="2000" b="1">
                  <a:solidFill>
                    <a:srgbClr val="000000"/>
                  </a:solidFill>
                  <a:latin typeface="Times New Roman"/>
                  <a:ea typeface="Times New Roman"/>
                  <a:cs typeface="Times New Roman"/>
                </a:defRPr>
              </a:lvl5pPr>
              <a:lvl6pPr algn="ctr">
                <a:defRPr sz="2000" b="1">
                  <a:solidFill>
                    <a:srgbClr val="000000"/>
                  </a:solidFill>
                  <a:latin typeface="Times New Roman"/>
                  <a:ea typeface="Times New Roman"/>
                  <a:cs typeface="Times New Roman"/>
                </a:defRPr>
              </a:lvl6pPr>
              <a:lvl7pPr algn="ctr">
                <a:defRPr sz="2000" b="1">
                  <a:solidFill>
                    <a:srgbClr val="000000"/>
                  </a:solidFill>
                  <a:latin typeface="Times New Roman"/>
                  <a:ea typeface="Times New Roman"/>
                  <a:cs typeface="Times New Roman"/>
                </a:defRPr>
              </a:lvl7pPr>
              <a:lvl8pPr algn="ctr">
                <a:defRPr sz="2000" b="1">
                  <a:solidFill>
                    <a:srgbClr val="000000"/>
                  </a:solidFill>
                  <a:latin typeface="Times New Roman"/>
                  <a:ea typeface="Times New Roman"/>
                  <a:cs typeface="Times New Roman"/>
                </a:defRPr>
              </a:lvl8pPr>
              <a:lvl9pPr algn="ctr">
                <a:defRPr sz="2000" b="1">
                  <a:solidFill>
                    <a:srgbClr val="000000"/>
                  </a:solidFill>
                  <a:latin typeface="Times New Roman"/>
                  <a:ea typeface="Times New Roman"/>
                  <a:cs typeface="Times New Roman"/>
                </a:defRPr>
              </a:lvl9pPr>
            </a:lstStyle>
            <a:p>
              <a:pPr algn="ctr">
                <a:lnSpc>
                  <a:spcPct val="108000"/>
                </a:lnSpc>
                <a:buNone/>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Punkte</a:t>
              </a:r>
            </a:p>
          </p:txBody>
        </p:sp>
        <p:pic>
          <p:nvPicPr>
            <p:cNvPr id="111" name="Grafik 110">
              <a:extLst>
                <a:ext uri="{FF2B5EF4-FFF2-40B4-BE49-F238E27FC236}">
                  <a16:creationId xmlns="" xmlns:a16="http://schemas.microsoft.com/office/drawing/2014/main" id="{AD0EA0BE-B89B-4DF0-BAAF-65B87CC5AE14}"/>
                </a:ext>
              </a:extLst>
            </p:cNvPr>
            <p:cNvPicPr>
              <a:picLocks noChangeAspect="1"/>
            </p:cNvPicPr>
            <p:nvPr/>
          </p:nvPicPr>
          <p:blipFill>
            <a:blip r:embed="rId7"/>
            <a:srcRect b="10714"/>
            <a:stretch/>
          </p:blipFill>
          <p:spPr>
            <a:xfrm>
              <a:off x="6819900" y="1219200"/>
              <a:ext cx="1200150" cy="1428750"/>
            </a:xfrm>
            <a:prstGeom prst="rect">
              <a:avLst/>
            </a:prstGeom>
          </p:spPr>
        </p:pic>
        <p:sp>
          <p:nvSpPr>
            <p:cNvPr id="112" name="portrait-name-dedekind">
              <a:extLst>
                <a:ext uri="{FF2B5EF4-FFF2-40B4-BE49-F238E27FC236}">
                  <a16:creationId xmlns="" xmlns:a16="http://schemas.microsoft.com/office/drawing/2014/main" id="{9706A570-871D-41C9-87A8-36E594555F29}"/>
                </a:ext>
              </a:extLst>
            </p:cNvPr>
            <p:cNvSpPr>
              <a:spLocks noGrp="1"/>
            </p:cNvSpPr>
            <p:nvPr/>
          </p:nvSpPr>
          <p:spPr>
            <a:xfrm>
              <a:off x="6115050" y="2733675"/>
              <a:ext cx="2609850" cy="438150"/>
            </a:xfrm>
            <a:prstGeom prst="rect">
              <a:avLst/>
            </a:prstGeom>
            <a:noFill/>
            <a:ln w="0">
              <a:noFill/>
              <a:prstDash val="solid"/>
            </a:ln>
          </p:spPr>
          <p:txBody>
            <a:bodyPr wrap="square" lIns="0" tIns="0" rIns="0" bIns="0" anchor="t">
              <a:noAutofit/>
            </a:bodyPr>
            <a:lstStyle>
              <a:defPPr algn="ctr">
                <a:defRPr sz="1600" b="1">
                  <a:solidFill>
                    <a:srgbClr val="000000"/>
                  </a:solidFill>
                  <a:latin typeface="Times New Roman"/>
                  <a:ea typeface="Times New Roman"/>
                  <a:cs typeface="Times New Roman"/>
                </a:defRPr>
              </a:defPPr>
              <a:lvl1pPr algn="ctr">
                <a:defRPr sz="1600" b="1">
                  <a:solidFill>
                    <a:srgbClr val="000000"/>
                  </a:solidFill>
                  <a:latin typeface="Times New Roman"/>
                  <a:ea typeface="Times New Roman"/>
                  <a:cs typeface="Times New Roman"/>
                </a:defRPr>
              </a:lvl1pPr>
              <a:lvl2pPr algn="ctr">
                <a:defRPr sz="1600" b="1">
                  <a:solidFill>
                    <a:srgbClr val="000000"/>
                  </a:solidFill>
                  <a:latin typeface="Times New Roman"/>
                  <a:ea typeface="Times New Roman"/>
                  <a:cs typeface="Times New Roman"/>
                </a:defRPr>
              </a:lvl2pPr>
              <a:lvl3pPr algn="ctr">
                <a:defRPr sz="1600" b="1">
                  <a:solidFill>
                    <a:srgbClr val="000000"/>
                  </a:solidFill>
                  <a:latin typeface="Times New Roman"/>
                  <a:ea typeface="Times New Roman"/>
                  <a:cs typeface="Times New Roman"/>
                </a:defRPr>
              </a:lvl3pPr>
              <a:lvl4pPr algn="ctr">
                <a:defRPr sz="1600" b="1">
                  <a:solidFill>
                    <a:srgbClr val="000000"/>
                  </a:solidFill>
                  <a:latin typeface="Times New Roman"/>
                  <a:ea typeface="Times New Roman"/>
                  <a:cs typeface="Times New Roman"/>
                </a:defRPr>
              </a:lvl4pPr>
              <a:lvl5pPr algn="ctr">
                <a:defRPr sz="1600" b="1">
                  <a:solidFill>
                    <a:srgbClr val="000000"/>
                  </a:solidFill>
                  <a:latin typeface="Times New Roman"/>
                  <a:ea typeface="Times New Roman"/>
                  <a:cs typeface="Times New Roman"/>
                </a:defRPr>
              </a:lvl5pPr>
              <a:lvl6pPr algn="ctr">
                <a:defRPr sz="1600" b="1">
                  <a:solidFill>
                    <a:srgbClr val="000000"/>
                  </a:solidFill>
                  <a:latin typeface="Times New Roman"/>
                  <a:ea typeface="Times New Roman"/>
                  <a:cs typeface="Times New Roman"/>
                </a:defRPr>
              </a:lvl6pPr>
              <a:lvl7pPr algn="ctr">
                <a:defRPr sz="1600" b="1">
                  <a:solidFill>
                    <a:srgbClr val="000000"/>
                  </a:solidFill>
                  <a:latin typeface="Times New Roman"/>
                  <a:ea typeface="Times New Roman"/>
                  <a:cs typeface="Times New Roman"/>
                </a:defRPr>
              </a:lvl7pPr>
              <a:lvl8pPr algn="ctr">
                <a:defRPr sz="1600" b="1">
                  <a:solidFill>
                    <a:srgbClr val="000000"/>
                  </a:solidFill>
                  <a:latin typeface="Times New Roman"/>
                  <a:ea typeface="Times New Roman"/>
                  <a:cs typeface="Times New Roman"/>
                </a:defRPr>
              </a:lvl8pPr>
              <a:lvl9pPr algn="ctr">
                <a:defRPr sz="1600" b="1">
                  <a:solidFill>
                    <a:srgbClr val="000000"/>
                  </a:solidFill>
                  <a:latin typeface="Times New Roman"/>
                  <a:ea typeface="Times New Roman"/>
                  <a:cs typeface="Times New Roman"/>
                </a:defRPr>
              </a:lvl9pPr>
            </a:lstStyle>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Richard</a:t>
              </a:r>
            </a:p>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Dedekind</a:t>
              </a:r>
            </a:p>
          </p:txBody>
        </p:sp>
        <p:sp>
          <p:nvSpPr>
            <p:cNvPr id="113" name="portrait-years-dedekind">
              <a:extLst>
                <a:ext uri="{FF2B5EF4-FFF2-40B4-BE49-F238E27FC236}">
                  <a16:creationId xmlns="" xmlns:a16="http://schemas.microsoft.com/office/drawing/2014/main" id="{94884472-0307-4D5F-962E-792E5CD333F4}"/>
                </a:ext>
              </a:extLst>
            </p:cNvPr>
            <p:cNvSpPr>
              <a:spLocks noGrp="1"/>
            </p:cNvSpPr>
            <p:nvPr/>
          </p:nvSpPr>
          <p:spPr>
            <a:xfrm>
              <a:off x="6115050" y="3200400"/>
              <a:ext cx="2609850" cy="238125"/>
            </a:xfrm>
            <a:prstGeom prst="rect">
              <a:avLst/>
            </a:prstGeom>
            <a:noFill/>
            <a:ln w="0">
              <a:noFill/>
              <a:prstDash val="solid"/>
            </a:ln>
          </p:spPr>
          <p:txBody>
            <a:bodyPr wrap="square" lIns="0" tIns="0" rIns="0" bIns="0" anchor="t">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8000"/>
                </a:lnSpc>
                <a:buNone/>
                <a:defRPr sz="1400">
                  <a:solidFill>
                    <a:srgbClr val="000000"/>
                  </a:solidFill>
                  <a:latin typeface="Times New Roman"/>
                  <a:ea typeface="Times New Roman"/>
                  <a:cs typeface="Times New Roman"/>
                </a:defRPr>
              </a:pPr>
              <a:r>
                <a:rPr sz="1400" dirty="0">
                  <a:solidFill>
                    <a:srgbClr val="000000"/>
                  </a:solidFill>
                  <a:latin typeface="Times New Roman"/>
                  <a:ea typeface="Times New Roman"/>
                  <a:cs typeface="Times New Roman"/>
                </a:rPr>
                <a:t>(1831–1916)</a:t>
              </a:r>
            </a:p>
          </p:txBody>
        </p:sp>
        <p:grpSp>
          <p:nvGrpSpPr>
            <p:cNvPr id="16002" name="Grafik: Punkt ohne Ausdehnung"/>
            <p:cNvGrpSpPr/>
            <p:nvPr/>
          </p:nvGrpSpPr>
          <p:grpSpPr>
            <a:xfrm>
              <a:off x="6115050" y="3609975"/>
              <a:ext cx="2609850" cy="1247775"/>
              <a:chOff x="6115050" y="3609975"/>
              <a:chExt cx="2609850" cy="1247775"/>
            </a:xfrm>
          </p:grpSpPr>
          <p:pic>
            <p:nvPicPr>
              <p:cNvPr id="14021" name="point-label">
                <a:extLst>
                  <a:ext uri="{FF2B5EF4-FFF2-40B4-BE49-F238E27FC236}">
                    <a16:creationId xmlns="" xmlns:a16="http://schemas.microsoft.com/office/drawing/2014/main" id="{83160904-CF3B-4FAE-8765-36900013B76E}"/>
                  </a:ext>
                </a:extLst>
              </p:cNvPr>
              <p:cNvPicPr>
                <a:picLocks noChangeAspect="1"/>
              </p:cNvPicPr>
              <p:nvPr/>
            </p:nvPicPr>
            <p:blipFill>
              <a:blip r:embed="rId8"/>
              <a:stretch/>
            </p:blipFill>
            <p:spPr>
              <a:xfrm>
                <a:off x="7362228" y="3609975"/>
                <a:ext cx="115494" cy="115494"/>
              </a:xfrm>
              <a:prstGeom prst="rect">
                <a:avLst/>
              </a:prstGeom>
            </p:spPr>
          </p:pic>
          <p:sp>
            <p:nvSpPr>
              <p:cNvPr id="14022" name="point-reference-line">
                <a:extLst>
                  <a:ext uri="{FF2B5EF4-FFF2-40B4-BE49-F238E27FC236}">
                    <a16:creationId xmlns="" xmlns:a16="http://schemas.microsoft.com/office/drawing/2014/main" id="{3478B67E-7F12-4F68-A597-E8C2CC24D904}"/>
                  </a:ext>
                </a:extLst>
              </p:cNvPr>
              <p:cNvSpPr>
                <a:spLocks noGrp="1"/>
              </p:cNvSpPr>
              <p:nvPr/>
            </p:nvSpPr>
            <p:spPr>
              <a:xfrm>
                <a:off x="6372225" y="3952875"/>
                <a:ext cx="2095500" cy="0"/>
              </a:xfrm>
              <a:prstGeom prst="line">
                <a:avLst/>
              </a:prstGeom>
              <a:noFill/>
              <a:ln w="13335">
                <a:solidFill>
                  <a:srgbClr val="9B9B9B"/>
                </a:solidFill>
                <a:prstDash val="solid"/>
              </a:ln>
            </p:spPr>
          </p:sp>
          <p:sp>
            <p:nvSpPr>
              <p:cNvPr id="14023" name="point-mark">
                <a:extLst>
                  <a:ext uri="{FF2B5EF4-FFF2-40B4-BE49-F238E27FC236}">
                    <a16:creationId xmlns="" xmlns:a16="http://schemas.microsoft.com/office/drawing/2014/main" id="{3A18F5C6-FF35-4550-BF4D-81A04387B28B}"/>
                  </a:ext>
                </a:extLst>
              </p:cNvPr>
              <p:cNvSpPr>
                <a:spLocks noGrp="1"/>
              </p:cNvSpPr>
              <p:nvPr/>
            </p:nvSpPr>
            <p:spPr>
              <a:xfrm>
                <a:off x="7384256" y="3917156"/>
                <a:ext cx="71438" cy="71438"/>
              </a:xfrm>
              <a:prstGeom prst="ellipse">
                <a:avLst/>
              </a:prstGeom>
              <a:solidFill>
                <a:srgbClr val="4F81BD"/>
              </a:solidFill>
              <a:ln w="0">
                <a:noFill/>
                <a:prstDash val="solid"/>
              </a:ln>
            </p:spPr>
          </p:sp>
          <p:sp>
            <p:nvSpPr>
              <p:cNvPr id="14024" name="point-caption">
                <a:extLst>
                  <a:ext uri="{FF2B5EF4-FFF2-40B4-BE49-F238E27FC236}">
                    <a16:creationId xmlns="" xmlns:a16="http://schemas.microsoft.com/office/drawing/2014/main" id="{D171E4FA-61CD-4624-8497-6E9736F15342}"/>
                  </a:ext>
                </a:extLst>
              </p:cNvPr>
              <p:cNvSpPr>
                <a:spLocks noGrp="1"/>
              </p:cNvSpPr>
              <p:nvPr/>
            </p:nvSpPr>
            <p:spPr>
              <a:xfrm>
                <a:off x="6115050" y="4638675"/>
                <a:ext cx="2609850" cy="219075"/>
              </a:xfrm>
              <a:prstGeom prst="rect">
                <a:avLst/>
              </a:prstGeom>
              <a:noFill/>
              <a:ln w="0">
                <a:noFill/>
                <a:prstDash val="solid"/>
              </a:ln>
            </p:spPr>
            <p:txBody>
              <a:bodyPr wrap="square" lIns="0" tIns="0" rIns="0" bIns="0" anchor="ctr">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0000"/>
                  </a:lnSpc>
                  <a:buNone/>
                  <a:defRPr sz="1400">
                    <a:solidFill>
                      <a:srgbClr val="000000"/>
                    </a:solidFill>
                    <a:latin typeface="Times New Roman"/>
                    <a:ea typeface="Times New Roman"/>
                    <a:cs typeface="Times New Roman"/>
                  </a:defRPr>
                </a:pPr>
                <a:r>
                  <a:rPr sz="1400">
                    <a:solidFill>
                      <a:srgbClr val="000000"/>
                    </a:solidFill>
                    <a:latin typeface="Times New Roman"/>
                    <a:ea typeface="Times New Roman"/>
                    <a:cs typeface="Times New Roman"/>
                  </a:rPr>
                  <a:t>ohne Ausdehnung</a:t>
                </a:r>
              </a:p>
            </p:txBody>
          </p:sp>
        </p:grpSp>
      </p:grpSp>
      <p:grpSp>
        <p:nvGrpSpPr>
          <p:cNvPr id="16000" name="Grafik: Cavalieris Indivisiblen einer Fläche"/>
          <p:cNvGrpSpPr/>
          <p:nvPr/>
        </p:nvGrpSpPr>
        <p:grpSpPr>
          <a:xfrm>
            <a:off x="419100" y="3600450"/>
            <a:ext cx="2609850" cy="1257300"/>
            <a:chOff x="419100" y="3600450"/>
            <a:chExt cx="2609850" cy="1257300"/>
          </a:xfrm>
        </p:grpSpPr>
        <p:sp>
          <p:nvSpPr>
            <p:cNvPr id="17000" name="indivisibles-plane-boundary">
              <a:extLst>
                <a:ext uri="{FF2B5EF4-FFF2-40B4-BE49-F238E27FC236}">
                  <a16:creationId xmlns="" xmlns:a16="http://schemas.microsoft.com/office/drawing/2014/main" id="{51D433ED-245B-46CB-B7D5-C716C2A4C829}"/>
                </a:ext>
              </a:extLst>
            </p:cNvPr>
            <p:cNvSpPr>
              <a:spLocks noGrp="1"/>
            </p:cNvSpPr>
            <p:nvPr/>
          </p:nvSpPr>
          <p:spPr>
            <a:xfrm>
              <a:off x="847725" y="3600450"/>
              <a:ext cx="1752600" cy="952500"/>
            </a:xfrm>
            <a:custGeom>
              <a:avLst/>
              <a:gdLst/>
              <a:ahLst/>
              <a:cxnLst/>
              <a:rect l="0" t="0" r="0" b="0"/>
              <a:pathLst>
                <a:path w="1752600" h="952500">
                  <a:moveTo>
                    <a:pt x="876300" y="0"/>
                  </a:moveTo>
                  <a:lnTo>
                    <a:pt x="1752600" y="952500"/>
                  </a:lnTo>
                  <a:lnTo>
                    <a:pt x="0" y="952500"/>
                  </a:lnTo>
                  <a:close/>
                </a:path>
              </a:pathLst>
            </a:custGeom>
            <a:noFill/>
            <a:ln w="11906">
              <a:solidFill>
                <a:srgbClr val="A5A5A5"/>
              </a:solidFill>
              <a:prstDash val="solid"/>
            </a:ln>
          </p:spPr>
        </p:sp>
        <p:sp>
          <p:nvSpPr>
            <p:cNvPr id="17001" name="indivisibles-line-1">
              <a:extLst>
                <a:ext uri="{FF2B5EF4-FFF2-40B4-BE49-F238E27FC236}">
                  <a16:creationId xmlns="" xmlns:a16="http://schemas.microsoft.com/office/drawing/2014/main" id="{C17A7305-C09D-4C17-8A94-4954E3EDBC45}"/>
                </a:ext>
              </a:extLst>
            </p:cNvPr>
            <p:cNvSpPr>
              <a:spLocks noGrp="1"/>
            </p:cNvSpPr>
            <p:nvPr/>
          </p:nvSpPr>
          <p:spPr>
            <a:xfrm>
              <a:off x="1657426" y="3672840"/>
              <a:ext cx="133198" cy="0"/>
            </a:xfrm>
            <a:prstGeom prst="line">
              <a:avLst/>
            </a:prstGeom>
            <a:noFill/>
            <a:ln w="12383">
              <a:solidFill>
                <a:srgbClr val="9CB9DC"/>
              </a:solidFill>
              <a:prstDash val="solid"/>
            </a:ln>
          </p:spPr>
        </p:sp>
        <p:sp>
          <p:nvSpPr>
            <p:cNvPr id="17002" name="indivisibles-line-2">
              <a:extLst>
                <a:ext uri="{FF2B5EF4-FFF2-40B4-BE49-F238E27FC236}">
                  <a16:creationId xmlns="" xmlns:a16="http://schemas.microsoft.com/office/drawing/2014/main" id="{DB7D26A2-3DA3-4871-B059-2A79815A706F}"/>
                </a:ext>
              </a:extLst>
            </p:cNvPr>
            <p:cNvSpPr>
              <a:spLocks noGrp="1"/>
            </p:cNvSpPr>
            <p:nvPr/>
          </p:nvSpPr>
          <p:spPr>
            <a:xfrm>
              <a:off x="1590827" y="3745230"/>
              <a:ext cx="266395" cy="0"/>
            </a:xfrm>
            <a:prstGeom prst="line">
              <a:avLst/>
            </a:prstGeom>
            <a:noFill/>
            <a:ln w="12383">
              <a:solidFill>
                <a:srgbClr val="9CB9DC"/>
              </a:solidFill>
              <a:prstDash val="solid"/>
            </a:ln>
          </p:spPr>
        </p:sp>
        <p:sp>
          <p:nvSpPr>
            <p:cNvPr id="17003" name="indivisibles-line-3">
              <a:extLst>
                <a:ext uri="{FF2B5EF4-FFF2-40B4-BE49-F238E27FC236}">
                  <a16:creationId xmlns="" xmlns:a16="http://schemas.microsoft.com/office/drawing/2014/main" id="{753B4093-38EC-41BA-ACBB-41BB17DA4600}"/>
                </a:ext>
              </a:extLst>
            </p:cNvPr>
            <p:cNvSpPr>
              <a:spLocks noGrp="1"/>
            </p:cNvSpPr>
            <p:nvPr/>
          </p:nvSpPr>
          <p:spPr>
            <a:xfrm>
              <a:off x="1524229" y="3817620"/>
              <a:ext cx="399593" cy="0"/>
            </a:xfrm>
            <a:prstGeom prst="line">
              <a:avLst/>
            </a:prstGeom>
            <a:noFill/>
            <a:ln w="12383">
              <a:solidFill>
                <a:srgbClr val="9CB9DC"/>
              </a:solidFill>
              <a:prstDash val="solid"/>
            </a:ln>
          </p:spPr>
        </p:sp>
        <p:sp>
          <p:nvSpPr>
            <p:cNvPr id="17004" name="indivisibles-line-4">
              <a:extLst>
                <a:ext uri="{FF2B5EF4-FFF2-40B4-BE49-F238E27FC236}">
                  <a16:creationId xmlns="" xmlns:a16="http://schemas.microsoft.com/office/drawing/2014/main" id="{34C3EB66-1D68-4A25-92F9-59761EB9726D}"/>
                </a:ext>
              </a:extLst>
            </p:cNvPr>
            <p:cNvSpPr>
              <a:spLocks noGrp="1"/>
            </p:cNvSpPr>
            <p:nvPr/>
          </p:nvSpPr>
          <p:spPr>
            <a:xfrm>
              <a:off x="1457630" y="3890010"/>
              <a:ext cx="532790" cy="0"/>
            </a:xfrm>
            <a:prstGeom prst="line">
              <a:avLst/>
            </a:prstGeom>
            <a:noFill/>
            <a:ln w="12383">
              <a:solidFill>
                <a:srgbClr val="9CB9DC"/>
              </a:solidFill>
              <a:prstDash val="solid"/>
            </a:ln>
          </p:spPr>
        </p:sp>
        <p:sp>
          <p:nvSpPr>
            <p:cNvPr id="17005" name="indivisibles-line-5">
              <a:extLst>
                <a:ext uri="{FF2B5EF4-FFF2-40B4-BE49-F238E27FC236}">
                  <a16:creationId xmlns="" xmlns:a16="http://schemas.microsoft.com/office/drawing/2014/main" id="{32F716B5-C83B-4372-8C69-0E7BE59B8C50}"/>
                </a:ext>
              </a:extLst>
            </p:cNvPr>
            <p:cNvSpPr>
              <a:spLocks noGrp="1"/>
            </p:cNvSpPr>
            <p:nvPr/>
          </p:nvSpPr>
          <p:spPr>
            <a:xfrm>
              <a:off x="1391031" y="3962400"/>
              <a:ext cx="665988" cy="0"/>
            </a:xfrm>
            <a:prstGeom prst="line">
              <a:avLst/>
            </a:prstGeom>
            <a:noFill/>
            <a:ln w="12383">
              <a:solidFill>
                <a:srgbClr val="9CB9DC"/>
              </a:solidFill>
              <a:prstDash val="solid"/>
            </a:ln>
          </p:spPr>
        </p:sp>
        <p:sp>
          <p:nvSpPr>
            <p:cNvPr id="17006" name="indivisibles-line-6">
              <a:extLst>
                <a:ext uri="{FF2B5EF4-FFF2-40B4-BE49-F238E27FC236}">
                  <a16:creationId xmlns="" xmlns:a16="http://schemas.microsoft.com/office/drawing/2014/main" id="{847CD30D-A358-40F0-9B87-461AD1482B21}"/>
                </a:ext>
              </a:extLst>
            </p:cNvPr>
            <p:cNvSpPr>
              <a:spLocks noGrp="1"/>
            </p:cNvSpPr>
            <p:nvPr/>
          </p:nvSpPr>
          <p:spPr>
            <a:xfrm>
              <a:off x="1324432" y="4034790"/>
              <a:ext cx="799186" cy="0"/>
            </a:xfrm>
            <a:prstGeom prst="line">
              <a:avLst/>
            </a:prstGeom>
            <a:noFill/>
            <a:ln w="12383">
              <a:solidFill>
                <a:srgbClr val="9CB9DC"/>
              </a:solidFill>
              <a:prstDash val="solid"/>
            </a:ln>
          </p:spPr>
        </p:sp>
        <p:sp>
          <p:nvSpPr>
            <p:cNvPr id="17007" name="indivisibles-line-7">
              <a:extLst>
                <a:ext uri="{FF2B5EF4-FFF2-40B4-BE49-F238E27FC236}">
                  <a16:creationId xmlns="" xmlns:a16="http://schemas.microsoft.com/office/drawing/2014/main" id="{31D4F91B-A49F-4861-BB48-0C956406BA2C}"/>
                </a:ext>
              </a:extLst>
            </p:cNvPr>
            <p:cNvSpPr>
              <a:spLocks noGrp="1"/>
            </p:cNvSpPr>
            <p:nvPr/>
          </p:nvSpPr>
          <p:spPr>
            <a:xfrm>
              <a:off x="1257833" y="4107180"/>
              <a:ext cx="932383" cy="0"/>
            </a:xfrm>
            <a:prstGeom prst="line">
              <a:avLst/>
            </a:prstGeom>
            <a:noFill/>
            <a:ln w="12383">
              <a:solidFill>
                <a:srgbClr val="9CB9DC"/>
              </a:solidFill>
              <a:prstDash val="solid"/>
            </a:ln>
          </p:spPr>
        </p:sp>
        <p:sp>
          <p:nvSpPr>
            <p:cNvPr id="17008" name="indivisibles-line-8">
              <a:extLst>
                <a:ext uri="{FF2B5EF4-FFF2-40B4-BE49-F238E27FC236}">
                  <a16:creationId xmlns="" xmlns:a16="http://schemas.microsoft.com/office/drawing/2014/main" id="{406A5824-D4E2-4673-B265-3ADBDBCFE5CB}"/>
                </a:ext>
              </a:extLst>
            </p:cNvPr>
            <p:cNvSpPr>
              <a:spLocks noGrp="1"/>
            </p:cNvSpPr>
            <p:nvPr/>
          </p:nvSpPr>
          <p:spPr>
            <a:xfrm>
              <a:off x="1191235" y="4179570"/>
              <a:ext cx="1065581" cy="0"/>
            </a:xfrm>
            <a:prstGeom prst="line">
              <a:avLst/>
            </a:prstGeom>
            <a:noFill/>
            <a:ln w="12383">
              <a:solidFill>
                <a:srgbClr val="9CB9DC"/>
              </a:solidFill>
              <a:prstDash val="solid"/>
            </a:ln>
          </p:spPr>
        </p:sp>
        <p:sp>
          <p:nvSpPr>
            <p:cNvPr id="17009" name="indivisibles-line-9">
              <a:extLst>
                <a:ext uri="{FF2B5EF4-FFF2-40B4-BE49-F238E27FC236}">
                  <a16:creationId xmlns="" xmlns:a16="http://schemas.microsoft.com/office/drawing/2014/main" id="{3BF71488-061A-4703-8CFB-0EA7C36059B8}"/>
                </a:ext>
              </a:extLst>
            </p:cNvPr>
            <p:cNvSpPr>
              <a:spLocks noGrp="1"/>
            </p:cNvSpPr>
            <p:nvPr/>
          </p:nvSpPr>
          <p:spPr>
            <a:xfrm>
              <a:off x="1124636" y="4251960"/>
              <a:ext cx="1198778" cy="0"/>
            </a:xfrm>
            <a:prstGeom prst="line">
              <a:avLst/>
            </a:prstGeom>
            <a:noFill/>
            <a:ln w="12383">
              <a:solidFill>
                <a:srgbClr val="9CB9DC"/>
              </a:solidFill>
              <a:prstDash val="solid"/>
            </a:ln>
          </p:spPr>
        </p:sp>
        <p:sp>
          <p:nvSpPr>
            <p:cNvPr id="17010" name="indivisibles-line-10">
              <a:extLst>
                <a:ext uri="{FF2B5EF4-FFF2-40B4-BE49-F238E27FC236}">
                  <a16:creationId xmlns="" xmlns:a16="http://schemas.microsoft.com/office/drawing/2014/main" id="{370AF6B9-6807-4B45-8B72-A71A89070BA9}"/>
                </a:ext>
              </a:extLst>
            </p:cNvPr>
            <p:cNvSpPr>
              <a:spLocks noGrp="1"/>
            </p:cNvSpPr>
            <p:nvPr/>
          </p:nvSpPr>
          <p:spPr>
            <a:xfrm>
              <a:off x="1058037" y="4324350"/>
              <a:ext cx="1331976" cy="0"/>
            </a:xfrm>
            <a:prstGeom prst="line">
              <a:avLst/>
            </a:prstGeom>
            <a:noFill/>
            <a:ln w="12383">
              <a:solidFill>
                <a:srgbClr val="9CB9DC"/>
              </a:solidFill>
              <a:prstDash val="solid"/>
            </a:ln>
          </p:spPr>
        </p:sp>
        <p:sp>
          <p:nvSpPr>
            <p:cNvPr id="17011" name="indivisibles-line-11">
              <a:extLst>
                <a:ext uri="{FF2B5EF4-FFF2-40B4-BE49-F238E27FC236}">
                  <a16:creationId xmlns="" xmlns:a16="http://schemas.microsoft.com/office/drawing/2014/main" id="{F61216C1-DAF5-432E-B10D-19097721CE18}"/>
                </a:ext>
              </a:extLst>
            </p:cNvPr>
            <p:cNvSpPr>
              <a:spLocks noGrp="1"/>
            </p:cNvSpPr>
            <p:nvPr/>
          </p:nvSpPr>
          <p:spPr>
            <a:xfrm>
              <a:off x="991438" y="4396740"/>
              <a:ext cx="1465174" cy="0"/>
            </a:xfrm>
            <a:prstGeom prst="line">
              <a:avLst/>
            </a:prstGeom>
            <a:noFill/>
            <a:ln w="12383">
              <a:solidFill>
                <a:srgbClr val="9CB9DC"/>
              </a:solidFill>
              <a:prstDash val="solid"/>
            </a:ln>
          </p:spPr>
        </p:sp>
        <p:sp>
          <p:nvSpPr>
            <p:cNvPr id="17012" name="indivisibles-line-12">
              <a:extLst>
                <a:ext uri="{FF2B5EF4-FFF2-40B4-BE49-F238E27FC236}">
                  <a16:creationId xmlns="" xmlns:a16="http://schemas.microsoft.com/office/drawing/2014/main" id="{AEA63801-3F54-4F68-9E74-337E1DF52B06}"/>
                </a:ext>
              </a:extLst>
            </p:cNvPr>
            <p:cNvSpPr>
              <a:spLocks noGrp="1"/>
            </p:cNvSpPr>
            <p:nvPr/>
          </p:nvSpPr>
          <p:spPr>
            <a:xfrm>
              <a:off x="924839" y="4469130"/>
              <a:ext cx="1598371" cy="0"/>
            </a:xfrm>
            <a:prstGeom prst="line">
              <a:avLst/>
            </a:prstGeom>
            <a:noFill/>
            <a:ln w="12383">
              <a:solidFill>
                <a:srgbClr val="9CB9DC"/>
              </a:solidFill>
              <a:prstDash val="solid"/>
            </a:ln>
          </p:spPr>
        </p:sp>
        <p:sp>
          <p:nvSpPr>
            <p:cNvPr id="17013" name="indivisibles-highlighted-line">
              <a:extLst>
                <a:ext uri="{FF2B5EF4-FFF2-40B4-BE49-F238E27FC236}">
                  <a16:creationId xmlns="" xmlns:a16="http://schemas.microsoft.com/office/drawing/2014/main" id="{04969802-9A43-407C-826F-D0F043CA0BEF}"/>
                </a:ext>
              </a:extLst>
            </p:cNvPr>
            <p:cNvSpPr>
              <a:spLocks noGrp="1"/>
            </p:cNvSpPr>
            <p:nvPr/>
          </p:nvSpPr>
          <p:spPr>
            <a:xfrm>
              <a:off x="1191235" y="4179570"/>
              <a:ext cx="1065581" cy="0"/>
            </a:xfrm>
            <a:prstGeom prst="line">
              <a:avLst/>
            </a:prstGeom>
            <a:noFill/>
            <a:ln w="31433">
              <a:solidFill>
                <a:srgbClr val="4F81BD"/>
              </a:solidFill>
              <a:prstDash val="solid"/>
            </a:ln>
          </p:spPr>
        </p:sp>
        <p:sp>
          <p:nvSpPr>
            <p:cNvPr id="17014" name="indivisibles-caption">
              <a:extLst>
                <a:ext uri="{FF2B5EF4-FFF2-40B4-BE49-F238E27FC236}">
                  <a16:creationId xmlns="" xmlns:a16="http://schemas.microsoft.com/office/drawing/2014/main" id="{FD0B7518-0956-433F-9651-D9343D258747}"/>
                </a:ext>
              </a:extLst>
            </p:cNvPr>
            <p:cNvSpPr>
              <a:spLocks noGrp="1"/>
            </p:cNvSpPr>
            <p:nvPr/>
          </p:nvSpPr>
          <p:spPr>
            <a:xfrm>
              <a:off x="419100" y="4638675"/>
              <a:ext cx="2609850" cy="219075"/>
            </a:xfrm>
            <a:prstGeom prst="rect">
              <a:avLst/>
            </a:prstGeom>
            <a:noFill/>
            <a:ln w="0">
              <a:noFill/>
              <a:prstDash val="solid"/>
            </a:ln>
          </p:spPr>
          <p:txBody>
            <a:bodyPr wrap="none" lIns="0" tIns="0" rIns="0" bIns="0" anchor="ctr">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0000"/>
                </a:lnSpc>
                <a:buNone/>
                <a:defRPr sz="1400">
                  <a:solidFill>
                    <a:srgbClr val="000000"/>
                  </a:solidFill>
                  <a:latin typeface="Times New Roman"/>
                  <a:ea typeface="Times New Roman"/>
                  <a:cs typeface="Times New Roman"/>
                </a:defRPr>
              </a:pPr>
              <a:r>
                <a:rPr sz="1400">
                  <a:solidFill>
                    <a:srgbClr val="000000"/>
                  </a:solidFill>
                  <a:latin typeface="Times New Roman"/>
                  <a:ea typeface="Times New Roman"/>
                  <a:cs typeface="Times New Roman"/>
                </a:rPr>
                <a:t>Linien als Flächenelemente</a:t>
              </a:r>
            </a:p>
          </p:txBody>
        </p:sp>
      </p:grpSp>
    </p:spTree>
    <p:extLst>
      <p:ext uri="{BB962C8B-B14F-4D97-AF65-F5344CB8AC3E}">
        <p14:creationId xmlns:p14="http://schemas.microsoft.com/office/powerpoint/2010/main" val="385795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00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de-DE" sz="3200" dirty="0">
                <a:solidFill>
                  <a:schemeClr val="bg1"/>
                </a:solidFill>
                <a:effectLst>
                  <a:outerShdw blurRad="38100" dist="38100" dir="2700000" algn="tl">
                    <a:srgbClr val="000000">
                      <a:alpha val="43137"/>
                    </a:srgbClr>
                  </a:outerShdw>
                </a:effectLst>
              </a:rPr>
              <a:t>Infinitesimale als „Klebstoff“ des Kontinuums</a:t>
            </a:r>
            <a:endParaRPr lang="en-CA" sz="3200" dirty="0">
              <a:solidFill>
                <a:schemeClr val="bg1"/>
              </a:solidFill>
              <a:effectLst>
                <a:outerShdw blurRad="38100" dist="38100" dir="2700000" algn="tl">
                  <a:srgbClr val="000000">
                    <a:alpha val="43137"/>
                  </a:srgbClr>
                </a:outerShdw>
              </a:effectLst>
            </a:endParaRPr>
          </a:p>
        </p:txBody>
      </p:sp>
      <p:pic>
        <p:nvPicPr>
          <p:cNvPr id="4101" name="Picture 5" descr="D:\Downloads\Infinitesimal Glue Around r.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781063"/>
            <a:ext cx="7772400" cy="2592107"/>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43600" y="3133743"/>
            <a:ext cx="2667000" cy="211609"/>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3" name="add-peirce-glue">
            <a:extLst>
              <a:ext uri="{FF2B5EF4-FFF2-40B4-BE49-F238E27FC236}">
                <a16:creationId xmlns:a16="http://schemas.microsoft.com/office/drawing/2014/main" xmlns="" id="{D921F495-A6D7-4A85-AA5B-0CB5794B724E}"/>
              </a:ext>
            </a:extLst>
          </p:cNvPr>
          <p:cNvSpPr>
            <a:spLocks noGrp="1"/>
          </p:cNvSpPr>
          <p:nvPr/>
        </p:nvSpPr>
        <p:spPr>
          <a:xfrm>
            <a:off x="419100" y="3486150"/>
            <a:ext cx="8305800" cy="561975"/>
          </a:xfrm>
          <a:prstGeom prst="rect">
            <a:avLst/>
          </a:prstGeom>
          <a:noFill/>
          <a:ln w="0">
            <a:noFill/>
            <a:prstDash val="solid"/>
          </a:ln>
        </p:spPr>
        <p:txBody>
          <a:bodyPr wrap="square" lIns="0" tIns="0" rIns="0" bIns="0" anchor="t">
            <a:noAutofit/>
          </a:bodyPr>
          <a:lstStyle>
            <a:defPPr algn="l">
              <a:defRPr sz="1500">
                <a:solidFill>
                  <a:srgbClr val="000000"/>
                </a:solidFill>
                <a:latin typeface="Times New Roman"/>
                <a:ea typeface="Times New Roman"/>
                <a:cs typeface="Times New Roman"/>
              </a:defRPr>
            </a:defPPr>
            <a:lvl1pPr algn="l">
              <a:defRPr sz="1500">
                <a:solidFill>
                  <a:srgbClr val="000000"/>
                </a:solidFill>
                <a:latin typeface="Times New Roman"/>
                <a:ea typeface="Times New Roman"/>
                <a:cs typeface="Times New Roman"/>
              </a:defRPr>
            </a:lvl1pPr>
            <a:lvl2pPr algn="l">
              <a:defRPr sz="1500">
                <a:solidFill>
                  <a:srgbClr val="000000"/>
                </a:solidFill>
                <a:latin typeface="Times New Roman"/>
                <a:ea typeface="Times New Roman"/>
                <a:cs typeface="Times New Roman"/>
              </a:defRPr>
            </a:lvl2pPr>
            <a:lvl3pPr algn="l">
              <a:defRPr sz="1500">
                <a:solidFill>
                  <a:srgbClr val="000000"/>
                </a:solidFill>
                <a:latin typeface="Times New Roman"/>
                <a:ea typeface="Times New Roman"/>
                <a:cs typeface="Times New Roman"/>
              </a:defRPr>
            </a:lvl3pPr>
            <a:lvl4pPr algn="l">
              <a:defRPr sz="1500">
                <a:solidFill>
                  <a:srgbClr val="000000"/>
                </a:solidFill>
                <a:latin typeface="Times New Roman"/>
                <a:ea typeface="Times New Roman"/>
                <a:cs typeface="Times New Roman"/>
              </a:defRPr>
            </a:lvl4pPr>
            <a:lvl5pPr algn="l">
              <a:defRPr sz="1500">
                <a:solidFill>
                  <a:srgbClr val="000000"/>
                </a:solidFill>
                <a:latin typeface="Times New Roman"/>
                <a:ea typeface="Times New Roman"/>
                <a:cs typeface="Times New Roman"/>
              </a:defRPr>
            </a:lvl5pPr>
            <a:lvl6pPr algn="l">
              <a:defRPr sz="1500">
                <a:solidFill>
                  <a:srgbClr val="000000"/>
                </a:solidFill>
                <a:latin typeface="Times New Roman"/>
                <a:ea typeface="Times New Roman"/>
                <a:cs typeface="Times New Roman"/>
              </a:defRPr>
            </a:lvl6pPr>
            <a:lvl7pPr algn="l">
              <a:defRPr sz="1500">
                <a:solidFill>
                  <a:srgbClr val="000000"/>
                </a:solidFill>
                <a:latin typeface="Times New Roman"/>
                <a:ea typeface="Times New Roman"/>
                <a:cs typeface="Times New Roman"/>
              </a:defRPr>
            </a:lvl7pPr>
            <a:lvl8pPr algn="l">
              <a:defRPr sz="1500">
                <a:solidFill>
                  <a:srgbClr val="000000"/>
                </a:solidFill>
                <a:latin typeface="Times New Roman"/>
                <a:ea typeface="Times New Roman"/>
                <a:cs typeface="Times New Roman"/>
              </a:defRPr>
            </a:lvl8pPr>
            <a:lvl9pPr algn="l">
              <a:defRPr sz="1500">
                <a:solidFill>
                  <a:srgbClr val="000000"/>
                </a:solidFill>
                <a:latin typeface="Times New Roman"/>
                <a:ea typeface="Times New Roman"/>
                <a:cs typeface="Times New Roman"/>
              </a:defRPr>
            </a:lvl9pPr>
          </a:lstStyle>
          <a:p>
            <a:pPr algn="l">
              <a:lnSpc>
                <a:spcPct val="113000"/>
              </a:lnSpc>
              <a:buNone/>
              <a:defRPr sz="1500">
                <a:solidFill>
                  <a:srgbClr val="000000"/>
                </a:solidFill>
                <a:latin typeface="Times New Roman"/>
                <a:ea typeface="Times New Roman"/>
                <a:cs typeface="Times New Roman"/>
              </a:defRPr>
            </a:pPr>
            <a:r>
              <a:rPr sz="1500" b="1">
                <a:solidFill>
                  <a:srgbClr val="000000"/>
                </a:solidFill>
                <a:latin typeface="Times New Roman"/>
                <a:ea typeface="Times New Roman"/>
                <a:cs typeface="Times New Roman"/>
              </a:rPr>
              <a:t>Kontinuität. </a:t>
            </a:r>
            <a:r>
              <a:rPr sz="1500">
                <a:solidFill>
                  <a:srgbClr val="000000"/>
                </a:solidFill>
                <a:latin typeface="Times New Roman"/>
                <a:ea typeface="Times New Roman"/>
                <a:cs typeface="Times New Roman"/>
              </a:rPr>
              <a:t>Peirce deutet Infinitesimale als „Klebstoff“, durch den Punkte ihre isolierte Einzelheit verlieren.</a:t>
            </a:r>
          </a:p>
        </p:txBody>
      </p:sp>
      <p:sp>
        <p:nvSpPr>
          <p:cNvPr id="4104" name="add-peirce-time">
            <a:extLst>
              <a:ext uri="{FF2B5EF4-FFF2-40B4-BE49-F238E27FC236}">
                <a16:creationId xmlns:a16="http://schemas.microsoft.com/office/drawing/2014/main" xmlns="" id="{F96ECE4F-B1B1-4590-8953-EE389021CFA7}"/>
              </a:ext>
            </a:extLst>
          </p:cNvPr>
          <p:cNvSpPr>
            <a:spLocks noGrp="1"/>
          </p:cNvSpPr>
          <p:nvPr/>
        </p:nvSpPr>
        <p:spPr>
          <a:xfrm>
            <a:off x="419100" y="4143375"/>
            <a:ext cx="8305800" cy="476250"/>
          </a:xfrm>
          <a:prstGeom prst="rect">
            <a:avLst/>
          </a:prstGeom>
          <a:noFill/>
          <a:ln w="0">
            <a:noFill/>
            <a:prstDash val="solid"/>
          </a:ln>
        </p:spPr>
        <p:txBody>
          <a:bodyPr wrap="square" lIns="0" tIns="0" rIns="0" bIns="0" anchor="t">
            <a:noAutofit/>
          </a:bodyPr>
          <a:lstStyle>
            <a:defPPr algn="l">
              <a:defRPr sz="1500">
                <a:solidFill>
                  <a:srgbClr val="000000"/>
                </a:solidFill>
                <a:latin typeface="Times New Roman"/>
                <a:ea typeface="Times New Roman"/>
                <a:cs typeface="Times New Roman"/>
              </a:defRPr>
            </a:defPPr>
            <a:lvl1pPr algn="l">
              <a:defRPr sz="1500">
                <a:solidFill>
                  <a:srgbClr val="000000"/>
                </a:solidFill>
                <a:latin typeface="Times New Roman"/>
                <a:ea typeface="Times New Roman"/>
                <a:cs typeface="Times New Roman"/>
              </a:defRPr>
            </a:lvl1pPr>
            <a:lvl2pPr algn="l">
              <a:defRPr sz="1500">
                <a:solidFill>
                  <a:srgbClr val="000000"/>
                </a:solidFill>
                <a:latin typeface="Times New Roman"/>
                <a:ea typeface="Times New Roman"/>
                <a:cs typeface="Times New Roman"/>
              </a:defRPr>
            </a:lvl2pPr>
            <a:lvl3pPr algn="l">
              <a:defRPr sz="1500">
                <a:solidFill>
                  <a:srgbClr val="000000"/>
                </a:solidFill>
                <a:latin typeface="Times New Roman"/>
                <a:ea typeface="Times New Roman"/>
                <a:cs typeface="Times New Roman"/>
              </a:defRPr>
            </a:lvl3pPr>
            <a:lvl4pPr algn="l">
              <a:defRPr sz="1500">
                <a:solidFill>
                  <a:srgbClr val="000000"/>
                </a:solidFill>
                <a:latin typeface="Times New Roman"/>
                <a:ea typeface="Times New Roman"/>
                <a:cs typeface="Times New Roman"/>
              </a:defRPr>
            </a:lvl4pPr>
            <a:lvl5pPr algn="l">
              <a:defRPr sz="1500">
                <a:solidFill>
                  <a:srgbClr val="000000"/>
                </a:solidFill>
                <a:latin typeface="Times New Roman"/>
                <a:ea typeface="Times New Roman"/>
                <a:cs typeface="Times New Roman"/>
              </a:defRPr>
            </a:lvl5pPr>
            <a:lvl6pPr algn="l">
              <a:defRPr sz="1500">
                <a:solidFill>
                  <a:srgbClr val="000000"/>
                </a:solidFill>
                <a:latin typeface="Times New Roman"/>
                <a:ea typeface="Times New Roman"/>
                <a:cs typeface="Times New Roman"/>
              </a:defRPr>
            </a:lvl6pPr>
            <a:lvl7pPr algn="l">
              <a:defRPr sz="1500">
                <a:solidFill>
                  <a:srgbClr val="000000"/>
                </a:solidFill>
                <a:latin typeface="Times New Roman"/>
                <a:ea typeface="Times New Roman"/>
                <a:cs typeface="Times New Roman"/>
              </a:defRPr>
            </a:lvl7pPr>
            <a:lvl8pPr algn="l">
              <a:defRPr sz="1500">
                <a:solidFill>
                  <a:srgbClr val="000000"/>
                </a:solidFill>
                <a:latin typeface="Times New Roman"/>
                <a:ea typeface="Times New Roman"/>
                <a:cs typeface="Times New Roman"/>
              </a:defRPr>
            </a:lvl8pPr>
            <a:lvl9pPr algn="l">
              <a:defRPr sz="1500">
                <a:solidFill>
                  <a:srgbClr val="000000"/>
                </a:solidFill>
                <a:latin typeface="Times New Roman"/>
                <a:ea typeface="Times New Roman"/>
                <a:cs typeface="Times New Roman"/>
              </a:defRPr>
            </a:lvl9pPr>
          </a:lstStyle>
          <a:p>
            <a:pPr algn="l">
              <a:lnSpc>
                <a:spcPct val="113000"/>
              </a:lnSpc>
              <a:buNone/>
              <a:defRPr sz="1500">
                <a:solidFill>
                  <a:srgbClr val="000000"/>
                </a:solidFill>
                <a:latin typeface="Times New Roman"/>
                <a:ea typeface="Times New Roman"/>
                <a:cs typeface="Times New Roman"/>
              </a:defRPr>
            </a:pPr>
            <a:r>
              <a:rPr sz="1500" b="1">
                <a:solidFill>
                  <a:srgbClr val="000000"/>
                </a:solidFill>
                <a:latin typeface="Times New Roman"/>
                <a:ea typeface="Times New Roman"/>
                <a:cs typeface="Times New Roman"/>
              </a:rPr>
              <a:t>Zeitbewusstsein. </a:t>
            </a:r>
            <a:r>
              <a:rPr sz="1500">
                <a:solidFill>
                  <a:srgbClr val="000000"/>
                </a:solidFill>
                <a:latin typeface="Times New Roman"/>
                <a:ea typeface="Times New Roman"/>
                <a:cs typeface="Times New Roman"/>
              </a:rPr>
              <a:t>Das unmittelbar erlebte Jetzt besitzt nach Peirce eine infinitesimale Dauer.</a:t>
            </a:r>
          </a:p>
        </p:txBody>
      </p:sp>
      <p:sp>
        <p:nvSpPr>
          <p:cNvPr id="4105" name="visible-citation-13-4105">
            <a:extLst>
              <a:ext uri="{FF2B5EF4-FFF2-40B4-BE49-F238E27FC236}">
                <a16:creationId xmlns:a16="http://schemas.microsoft.com/office/drawing/2014/main" xmlns="" id="{5A3DC69F-8D84-403E-90C7-A0A8B742DA32}"/>
              </a:ext>
            </a:extLst>
          </p:cNvPr>
          <p:cNvSpPr>
            <a:spLocks noGrp="1"/>
          </p:cNvSpPr>
          <p:nvPr/>
        </p:nvSpPr>
        <p:spPr>
          <a:xfrm>
            <a:off x="395536" y="4803998"/>
            <a:ext cx="8458200" cy="26670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a:solidFill>
                  <a:srgbClr val="000000"/>
                </a:solidFill>
                <a:latin typeface="Times New Roman"/>
                <a:ea typeface="Times New Roman"/>
                <a:cs typeface="Times New Roman"/>
              </a:rPr>
              <a:t>John L. Bell, The Continuous, the Discrete and the Infinitesimal (2019), § 5.4, S. 163–165.</a:t>
            </a:r>
          </a:p>
        </p:txBody>
      </p:sp>
    </p:spTree>
    <p:extLst>
      <p:ext uri="{BB962C8B-B14F-4D97-AF65-F5344CB8AC3E}">
        <p14:creationId xmlns:p14="http://schemas.microsoft.com/office/powerpoint/2010/main" val="86388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Was </a:t>
            </a:r>
            <a:r>
              <a:rPr lang="en-CA" sz="3200" dirty="0" err="1" smtClean="0">
                <a:solidFill>
                  <a:schemeClr val="bg1"/>
                </a:solidFill>
                <a:effectLst>
                  <a:outerShdw blurRad="38100" dist="38100" dir="2700000" algn="tl">
                    <a:srgbClr val="000000">
                      <a:alpha val="43137"/>
                    </a:srgbClr>
                  </a:outerShdw>
                </a:effectLst>
              </a:rPr>
              <a:t>sind</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Infinitesimalzahlen</a:t>
            </a:r>
            <a:r>
              <a:rPr lang="en-CA" sz="3200" dirty="0" smtClean="0">
                <a:solidFill>
                  <a:schemeClr val="bg1"/>
                </a:solidFill>
                <a:effectLst>
                  <a:outerShdw blurRad="38100" dist="38100" dir="2700000" algn="tl">
                    <a:srgbClr val="000000">
                      <a:alpha val="43137"/>
                    </a:srgbClr>
                  </a:outerShdw>
                </a:effectLst>
              </a:rPr>
              <a:t>?</a:t>
            </a:r>
            <a:endParaRPr lang="en-CA" sz="3200" dirty="0">
              <a:solidFill>
                <a:schemeClr val="bg1"/>
              </a:solidFill>
              <a:effectLst>
                <a:outerShdw blurRad="38100" dist="38100" dir="2700000" algn="tl">
                  <a:srgbClr val="000000">
                    <a:alpha val="43137"/>
                  </a:srgbClr>
                </a:outerShdw>
              </a:effectLst>
            </a:endParaRPr>
          </a:p>
        </p:txBody>
      </p:sp>
      <p:pic>
        <p:nvPicPr>
          <p:cNvPr id="100" name="Grafik 99">
            <a:extLst>
              <a:ext uri="{FF2B5EF4-FFF2-40B4-BE49-F238E27FC236}">
                <a16:creationId xmlns:a16="http://schemas.microsoft.com/office/drawing/2014/main" xmlns="" id="{75C37BBC-465C-41D4-8F9C-DF41016EF380}"/>
              </a:ext>
            </a:extLst>
          </p:cNvPr>
          <p:cNvPicPr>
            <a:picLocks noChangeAspect="1"/>
          </p:cNvPicPr>
          <p:nvPr/>
        </p:nvPicPr>
        <p:blipFill>
          <a:blip r:embed="rId3"/>
          <a:srcRect l="4771" r="4771"/>
          <a:stretch/>
        </p:blipFill>
        <p:spPr>
          <a:xfrm>
            <a:off x="1762125" y="762000"/>
            <a:ext cx="1428750" cy="1714500"/>
          </a:xfrm>
          <a:prstGeom prst="rect">
            <a:avLst/>
          </a:prstGeom>
        </p:spPr>
      </p:pic>
      <p:sp>
        <p:nvSpPr>
          <p:cNvPr id="101" name="name-leibniz">
            <a:extLst>
              <a:ext uri="{FF2B5EF4-FFF2-40B4-BE49-F238E27FC236}">
                <a16:creationId xmlns:a16="http://schemas.microsoft.com/office/drawing/2014/main" xmlns="" id="{584D0D11-F9D9-4B37-AA83-438617C8B800}"/>
              </a:ext>
            </a:extLst>
          </p:cNvPr>
          <p:cNvSpPr>
            <a:spLocks noGrp="1"/>
          </p:cNvSpPr>
          <p:nvPr/>
        </p:nvSpPr>
        <p:spPr>
          <a:xfrm>
            <a:off x="476250" y="2543175"/>
            <a:ext cx="4000500" cy="285750"/>
          </a:xfrm>
          <a:prstGeom prst="rect">
            <a:avLst/>
          </a:prstGeom>
          <a:noFill/>
          <a:ln w="0">
            <a:noFill/>
            <a:prstDash val="solid"/>
          </a:ln>
        </p:spPr>
        <p:txBody>
          <a:bodyPr wrap="square" lIns="0" tIns="0" rIns="0" bIns="0" anchor="t">
            <a:noAutofit/>
          </a:bodyPr>
          <a:lstStyle>
            <a:defPPr algn="ctr">
              <a:defRPr sz="1800" b="1">
                <a:solidFill>
                  <a:srgbClr val="000000"/>
                </a:solidFill>
                <a:latin typeface="Times New Roman"/>
                <a:ea typeface="Times New Roman"/>
                <a:cs typeface="Times New Roman"/>
              </a:defRPr>
            </a:defPPr>
            <a:lvl1pPr algn="ctr">
              <a:defRPr sz="1800" b="1">
                <a:solidFill>
                  <a:srgbClr val="000000"/>
                </a:solidFill>
                <a:latin typeface="Times New Roman"/>
                <a:ea typeface="Times New Roman"/>
                <a:cs typeface="Times New Roman"/>
              </a:defRPr>
            </a:lvl1pPr>
            <a:lvl2pPr algn="ctr">
              <a:defRPr sz="1800" b="1">
                <a:solidFill>
                  <a:srgbClr val="000000"/>
                </a:solidFill>
                <a:latin typeface="Times New Roman"/>
                <a:ea typeface="Times New Roman"/>
                <a:cs typeface="Times New Roman"/>
              </a:defRPr>
            </a:lvl2pPr>
            <a:lvl3pPr algn="ctr">
              <a:defRPr sz="1800" b="1">
                <a:solidFill>
                  <a:srgbClr val="000000"/>
                </a:solidFill>
                <a:latin typeface="Times New Roman"/>
                <a:ea typeface="Times New Roman"/>
                <a:cs typeface="Times New Roman"/>
              </a:defRPr>
            </a:lvl3pPr>
            <a:lvl4pPr algn="ctr">
              <a:defRPr sz="1800" b="1">
                <a:solidFill>
                  <a:srgbClr val="000000"/>
                </a:solidFill>
                <a:latin typeface="Times New Roman"/>
                <a:ea typeface="Times New Roman"/>
                <a:cs typeface="Times New Roman"/>
              </a:defRPr>
            </a:lvl4pPr>
            <a:lvl5pPr algn="ctr">
              <a:defRPr sz="1800" b="1">
                <a:solidFill>
                  <a:srgbClr val="000000"/>
                </a:solidFill>
                <a:latin typeface="Times New Roman"/>
                <a:ea typeface="Times New Roman"/>
                <a:cs typeface="Times New Roman"/>
              </a:defRPr>
            </a:lvl5pPr>
            <a:lvl6pPr algn="ctr">
              <a:defRPr sz="1800" b="1">
                <a:solidFill>
                  <a:srgbClr val="000000"/>
                </a:solidFill>
                <a:latin typeface="Times New Roman"/>
                <a:ea typeface="Times New Roman"/>
                <a:cs typeface="Times New Roman"/>
              </a:defRPr>
            </a:lvl6pPr>
            <a:lvl7pPr algn="ctr">
              <a:defRPr sz="1800" b="1">
                <a:solidFill>
                  <a:srgbClr val="000000"/>
                </a:solidFill>
                <a:latin typeface="Times New Roman"/>
                <a:ea typeface="Times New Roman"/>
                <a:cs typeface="Times New Roman"/>
              </a:defRPr>
            </a:lvl7pPr>
            <a:lvl8pPr algn="ctr">
              <a:defRPr sz="1800" b="1">
                <a:solidFill>
                  <a:srgbClr val="000000"/>
                </a:solidFill>
                <a:latin typeface="Times New Roman"/>
                <a:ea typeface="Times New Roman"/>
                <a:cs typeface="Times New Roman"/>
              </a:defRPr>
            </a:lvl8pPr>
            <a:lvl9pPr algn="ctr">
              <a:defRPr sz="1800" b="1">
                <a:solidFill>
                  <a:srgbClr val="000000"/>
                </a:solidFill>
                <a:latin typeface="Times New Roman"/>
                <a:ea typeface="Times New Roman"/>
                <a:cs typeface="Times New Roman"/>
              </a:defRPr>
            </a:lvl9pPr>
          </a:lstStyle>
          <a:p>
            <a:pPr algn="ctr">
              <a:lnSpc>
                <a:spcPct val="108000"/>
              </a:lnSpc>
              <a:buNone/>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Gottfried Wilhelm Leibniz</a:t>
            </a:r>
          </a:p>
        </p:txBody>
      </p:sp>
      <p:sp>
        <p:nvSpPr>
          <p:cNvPr id="102" name="years-leibniz">
            <a:extLst>
              <a:ext uri="{FF2B5EF4-FFF2-40B4-BE49-F238E27FC236}">
                <a16:creationId xmlns:a16="http://schemas.microsoft.com/office/drawing/2014/main" xmlns="" id="{33FD8792-786C-41F5-AAA7-08BA45B06DE2}"/>
              </a:ext>
            </a:extLst>
          </p:cNvPr>
          <p:cNvSpPr>
            <a:spLocks noGrp="1"/>
          </p:cNvSpPr>
          <p:nvPr/>
        </p:nvSpPr>
        <p:spPr>
          <a:xfrm>
            <a:off x="476250" y="2838450"/>
            <a:ext cx="4000500" cy="247650"/>
          </a:xfrm>
          <a:prstGeom prst="rect">
            <a:avLst/>
          </a:prstGeom>
          <a:noFill/>
          <a:ln w="0">
            <a:noFill/>
            <a:prstDash val="solid"/>
          </a:ln>
        </p:spPr>
        <p:txBody>
          <a:bodyPr wrap="square" lIns="0" tIns="0" rIns="0" bIns="0" anchor="t">
            <a:noAutofit/>
          </a:bodyPr>
          <a:lstStyle>
            <a:defPPr algn="ctr">
              <a:defRPr sz="1600">
                <a:solidFill>
                  <a:srgbClr val="000000"/>
                </a:solidFill>
                <a:latin typeface="Times New Roman"/>
                <a:ea typeface="Times New Roman"/>
                <a:cs typeface="Times New Roman"/>
              </a:defRPr>
            </a:defPPr>
            <a:lvl1pPr algn="ctr">
              <a:defRPr sz="1600">
                <a:solidFill>
                  <a:srgbClr val="000000"/>
                </a:solidFill>
                <a:latin typeface="Times New Roman"/>
                <a:ea typeface="Times New Roman"/>
                <a:cs typeface="Times New Roman"/>
              </a:defRPr>
            </a:lvl1pPr>
            <a:lvl2pPr algn="ctr">
              <a:defRPr sz="1600">
                <a:solidFill>
                  <a:srgbClr val="000000"/>
                </a:solidFill>
                <a:latin typeface="Times New Roman"/>
                <a:ea typeface="Times New Roman"/>
                <a:cs typeface="Times New Roman"/>
              </a:defRPr>
            </a:lvl2pPr>
            <a:lvl3pPr algn="ctr">
              <a:defRPr sz="1600">
                <a:solidFill>
                  <a:srgbClr val="000000"/>
                </a:solidFill>
                <a:latin typeface="Times New Roman"/>
                <a:ea typeface="Times New Roman"/>
                <a:cs typeface="Times New Roman"/>
              </a:defRPr>
            </a:lvl3pPr>
            <a:lvl4pPr algn="ctr">
              <a:defRPr sz="1600">
                <a:solidFill>
                  <a:srgbClr val="000000"/>
                </a:solidFill>
                <a:latin typeface="Times New Roman"/>
                <a:ea typeface="Times New Roman"/>
                <a:cs typeface="Times New Roman"/>
              </a:defRPr>
            </a:lvl4pPr>
            <a:lvl5pPr algn="ctr">
              <a:defRPr sz="1600">
                <a:solidFill>
                  <a:srgbClr val="000000"/>
                </a:solidFill>
                <a:latin typeface="Times New Roman"/>
                <a:ea typeface="Times New Roman"/>
                <a:cs typeface="Times New Roman"/>
              </a:defRPr>
            </a:lvl5pPr>
            <a:lvl6pPr algn="ctr">
              <a:defRPr sz="1600">
                <a:solidFill>
                  <a:srgbClr val="000000"/>
                </a:solidFill>
                <a:latin typeface="Times New Roman"/>
                <a:ea typeface="Times New Roman"/>
                <a:cs typeface="Times New Roman"/>
              </a:defRPr>
            </a:lvl6pPr>
            <a:lvl7pPr algn="ctr">
              <a:defRPr sz="1600">
                <a:solidFill>
                  <a:srgbClr val="000000"/>
                </a:solidFill>
                <a:latin typeface="Times New Roman"/>
                <a:ea typeface="Times New Roman"/>
                <a:cs typeface="Times New Roman"/>
              </a:defRPr>
            </a:lvl7pPr>
            <a:lvl8pPr algn="ctr">
              <a:defRPr sz="1600">
                <a:solidFill>
                  <a:srgbClr val="000000"/>
                </a:solidFill>
                <a:latin typeface="Times New Roman"/>
                <a:ea typeface="Times New Roman"/>
                <a:cs typeface="Times New Roman"/>
              </a:defRPr>
            </a:lvl8pPr>
            <a:lvl9pPr algn="ctr">
              <a:defRPr sz="1600">
                <a:solidFill>
                  <a:srgbClr val="000000"/>
                </a:solidFill>
                <a:latin typeface="Times New Roman"/>
                <a:ea typeface="Times New Roman"/>
                <a:cs typeface="Times New Roman"/>
              </a:defRPr>
            </a:lvl9pPr>
          </a:lstStyle>
          <a:p>
            <a:pPr algn="ctr">
              <a:lnSpc>
                <a:spcPct val="108000"/>
              </a:lnSpc>
              <a:buNone/>
              <a:defRPr sz="1600">
                <a:solidFill>
                  <a:srgbClr val="000000"/>
                </a:solidFill>
                <a:latin typeface="Times New Roman"/>
                <a:ea typeface="Times New Roman"/>
                <a:cs typeface="Times New Roman"/>
              </a:defRPr>
            </a:pPr>
            <a:r>
              <a:rPr sz="1600">
                <a:solidFill>
                  <a:srgbClr val="000000"/>
                </a:solidFill>
                <a:latin typeface="Times New Roman"/>
                <a:ea typeface="Times New Roman"/>
                <a:cs typeface="Times New Roman"/>
              </a:rPr>
              <a:t>(1646–1716)</a:t>
            </a:r>
          </a:p>
        </p:txBody>
      </p:sp>
      <p:sp>
        <p:nvSpPr>
          <p:cNvPr id="103" name="quotation-leibniz">
            <a:extLst>
              <a:ext uri="{FF2B5EF4-FFF2-40B4-BE49-F238E27FC236}">
                <a16:creationId xmlns:a16="http://schemas.microsoft.com/office/drawing/2014/main" xmlns="" id="{0378FD79-E4AF-44E9-AF8C-1FFAA3DFC735}"/>
              </a:ext>
            </a:extLst>
          </p:cNvPr>
          <p:cNvSpPr>
            <a:spLocks noGrp="1"/>
          </p:cNvSpPr>
          <p:nvPr/>
        </p:nvSpPr>
        <p:spPr>
          <a:xfrm>
            <a:off x="476250" y="3190875"/>
            <a:ext cx="4000500" cy="304800"/>
          </a:xfrm>
          <a:prstGeom prst="rect">
            <a:avLst/>
          </a:prstGeom>
          <a:noFill/>
          <a:ln w="0">
            <a:noFill/>
            <a:prstDash val="solid"/>
          </a:ln>
        </p:spPr>
        <p:txBody>
          <a:bodyPr wrap="square" lIns="0" tIns="0" rIns="0" bIns="0" anchor="t">
            <a:noAutofit/>
          </a:bodyPr>
          <a:lstStyle>
            <a:defPPr algn="l">
              <a:defRPr sz="1800" b="1">
                <a:solidFill>
                  <a:srgbClr val="000000"/>
                </a:solidFill>
                <a:latin typeface="Times New Roman"/>
                <a:ea typeface="Times New Roman"/>
                <a:cs typeface="Times New Roman"/>
              </a:defRPr>
            </a:defPPr>
            <a:lvl1pPr algn="l">
              <a:defRPr sz="1800" b="1">
                <a:solidFill>
                  <a:srgbClr val="000000"/>
                </a:solidFill>
                <a:latin typeface="Times New Roman"/>
                <a:ea typeface="Times New Roman"/>
                <a:cs typeface="Times New Roman"/>
              </a:defRPr>
            </a:lvl1pPr>
            <a:lvl2pPr algn="l">
              <a:defRPr sz="1800" b="1">
                <a:solidFill>
                  <a:srgbClr val="000000"/>
                </a:solidFill>
                <a:latin typeface="Times New Roman"/>
                <a:ea typeface="Times New Roman"/>
                <a:cs typeface="Times New Roman"/>
              </a:defRPr>
            </a:lvl2pPr>
            <a:lvl3pPr algn="l">
              <a:defRPr sz="1800" b="1">
                <a:solidFill>
                  <a:srgbClr val="000000"/>
                </a:solidFill>
                <a:latin typeface="Times New Roman"/>
                <a:ea typeface="Times New Roman"/>
                <a:cs typeface="Times New Roman"/>
              </a:defRPr>
            </a:lvl3pPr>
            <a:lvl4pPr algn="l">
              <a:defRPr sz="1800" b="1">
                <a:solidFill>
                  <a:srgbClr val="000000"/>
                </a:solidFill>
                <a:latin typeface="Times New Roman"/>
                <a:ea typeface="Times New Roman"/>
                <a:cs typeface="Times New Roman"/>
              </a:defRPr>
            </a:lvl4pPr>
            <a:lvl5pPr algn="l">
              <a:defRPr sz="1800" b="1">
                <a:solidFill>
                  <a:srgbClr val="000000"/>
                </a:solidFill>
                <a:latin typeface="Times New Roman"/>
                <a:ea typeface="Times New Roman"/>
                <a:cs typeface="Times New Roman"/>
              </a:defRPr>
            </a:lvl5pPr>
            <a:lvl6pPr algn="l">
              <a:defRPr sz="1800" b="1">
                <a:solidFill>
                  <a:srgbClr val="000000"/>
                </a:solidFill>
                <a:latin typeface="Times New Roman"/>
                <a:ea typeface="Times New Roman"/>
                <a:cs typeface="Times New Roman"/>
              </a:defRPr>
            </a:lvl6pPr>
            <a:lvl7pPr algn="l">
              <a:defRPr sz="1800" b="1">
                <a:solidFill>
                  <a:srgbClr val="000000"/>
                </a:solidFill>
                <a:latin typeface="Times New Roman"/>
                <a:ea typeface="Times New Roman"/>
                <a:cs typeface="Times New Roman"/>
              </a:defRPr>
            </a:lvl7pPr>
            <a:lvl8pPr algn="l">
              <a:defRPr sz="1800" b="1">
                <a:solidFill>
                  <a:srgbClr val="000000"/>
                </a:solidFill>
                <a:latin typeface="Times New Roman"/>
                <a:ea typeface="Times New Roman"/>
                <a:cs typeface="Times New Roman"/>
              </a:defRPr>
            </a:lvl8pPr>
            <a:lvl9pPr algn="l">
              <a:defRPr sz="1800" b="1">
                <a:solidFill>
                  <a:srgbClr val="000000"/>
                </a:solidFill>
                <a:latin typeface="Times New Roman"/>
                <a:ea typeface="Times New Roman"/>
                <a:cs typeface="Times New Roman"/>
              </a:defRPr>
            </a:lvl9pPr>
          </a:lstStyle>
          <a:p>
            <a:pPr algn="l">
              <a:lnSpc>
                <a:spcPct val="108000"/>
              </a:lnSpc>
              <a:buNone/>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„wohlbegründete Fiktionen“</a:t>
            </a:r>
          </a:p>
        </p:txBody>
      </p:sp>
      <p:sp>
        <p:nvSpPr>
          <p:cNvPr id="104" name="explanation-leibniz">
            <a:extLst>
              <a:ext uri="{FF2B5EF4-FFF2-40B4-BE49-F238E27FC236}">
                <a16:creationId xmlns:a16="http://schemas.microsoft.com/office/drawing/2014/main" xmlns="" id="{882E8856-693C-43C3-818A-3A9D7A9A7976}"/>
              </a:ext>
            </a:extLst>
          </p:cNvPr>
          <p:cNvSpPr>
            <a:spLocks noGrp="1"/>
          </p:cNvSpPr>
          <p:nvPr/>
        </p:nvSpPr>
        <p:spPr>
          <a:xfrm>
            <a:off x="476250" y="3571875"/>
            <a:ext cx="4000500" cy="971550"/>
          </a:xfrm>
          <a:prstGeom prst="rect">
            <a:avLst/>
          </a:prstGeom>
          <a:noFill/>
          <a:ln w="0">
            <a:noFill/>
            <a:prstDash val="solid"/>
          </a:ln>
        </p:spPr>
        <p:txBody>
          <a:bodyPr wrap="square" lIns="0" tIns="0" rIns="0" bIns="0" anchor="t">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08000"/>
              </a:lnSpc>
              <a:buNone/>
              <a:defRPr sz="1800">
                <a:solidFill>
                  <a:srgbClr val="000000"/>
                </a:solidFill>
                <a:latin typeface="Times New Roman"/>
                <a:ea typeface="Times New Roman"/>
                <a:cs typeface="Times New Roman"/>
              </a:defRPr>
            </a:pPr>
            <a:r>
              <a:rPr sz="1800" dirty="0" err="1">
                <a:solidFill>
                  <a:srgbClr val="000000"/>
                </a:solidFill>
                <a:latin typeface="Times New Roman"/>
                <a:ea typeface="Times New Roman"/>
                <a:cs typeface="Times New Roman"/>
              </a:rPr>
              <a:t>Infinitesimale</a:t>
            </a:r>
            <a:r>
              <a:rPr sz="1800" dirty="0">
                <a:solidFill>
                  <a:srgbClr val="000000"/>
                </a:solidFill>
                <a:latin typeface="Times New Roman"/>
                <a:ea typeface="Times New Roman"/>
                <a:cs typeface="Times New Roman"/>
              </a:rPr>
              <a:t> </a:t>
            </a:r>
            <a:r>
              <a:rPr sz="1800" dirty="0" err="1">
                <a:solidFill>
                  <a:srgbClr val="000000"/>
                </a:solidFill>
                <a:latin typeface="Times New Roman"/>
                <a:ea typeface="Times New Roman"/>
                <a:cs typeface="Times New Roman"/>
              </a:rPr>
              <a:t>erleichtern</a:t>
            </a:r>
            <a:r>
              <a:rPr sz="1800" dirty="0">
                <a:solidFill>
                  <a:srgbClr val="000000"/>
                </a:solidFill>
                <a:latin typeface="Times New Roman"/>
                <a:ea typeface="Times New Roman"/>
                <a:cs typeface="Times New Roman"/>
              </a:rPr>
              <a:t> das </a:t>
            </a:r>
            <a:r>
              <a:rPr sz="1800" dirty="0" err="1">
                <a:solidFill>
                  <a:srgbClr val="000000"/>
                </a:solidFill>
                <a:latin typeface="Times New Roman"/>
                <a:ea typeface="Times New Roman"/>
                <a:cs typeface="Times New Roman"/>
              </a:rPr>
              <a:t>Rechnen</a:t>
            </a:r>
            <a:r>
              <a:rPr sz="1800" dirty="0">
                <a:solidFill>
                  <a:srgbClr val="000000"/>
                </a:solidFill>
                <a:latin typeface="Times New Roman"/>
                <a:ea typeface="Times New Roman"/>
                <a:cs typeface="Times New Roman"/>
              </a:rPr>
              <a:t> und </a:t>
            </a:r>
            <a:r>
              <a:rPr sz="1800" dirty="0" err="1">
                <a:solidFill>
                  <a:srgbClr val="000000"/>
                </a:solidFill>
                <a:latin typeface="Times New Roman"/>
                <a:ea typeface="Times New Roman"/>
                <a:cs typeface="Times New Roman"/>
              </a:rPr>
              <a:t>Denken</a:t>
            </a:r>
            <a:r>
              <a:rPr sz="1800" dirty="0">
                <a:solidFill>
                  <a:srgbClr val="000000"/>
                </a:solidFill>
                <a:latin typeface="Times New Roman"/>
                <a:ea typeface="Times New Roman"/>
                <a:cs typeface="Times New Roman"/>
              </a:rPr>
              <a:t>. Leibniz </a:t>
            </a:r>
            <a:r>
              <a:rPr sz="1800" dirty="0" err="1">
                <a:solidFill>
                  <a:srgbClr val="000000"/>
                </a:solidFill>
                <a:latin typeface="Times New Roman"/>
                <a:ea typeface="Times New Roman"/>
                <a:cs typeface="Times New Roman"/>
              </a:rPr>
              <a:t>vergleicht</a:t>
            </a:r>
            <a:r>
              <a:rPr sz="1800" dirty="0">
                <a:solidFill>
                  <a:srgbClr val="000000"/>
                </a:solidFill>
                <a:latin typeface="Times New Roman"/>
                <a:ea typeface="Times New Roman"/>
                <a:cs typeface="Times New Roman"/>
              </a:rPr>
              <a:t> </a:t>
            </a:r>
            <a:r>
              <a:rPr sz="1800" dirty="0" err="1">
                <a:solidFill>
                  <a:srgbClr val="000000"/>
                </a:solidFill>
                <a:latin typeface="Times New Roman"/>
                <a:ea typeface="Times New Roman"/>
                <a:cs typeface="Times New Roman"/>
              </a:rPr>
              <a:t>ihren</a:t>
            </a:r>
            <a:r>
              <a:rPr sz="1800" dirty="0">
                <a:solidFill>
                  <a:srgbClr val="000000"/>
                </a:solidFill>
                <a:latin typeface="Times New Roman"/>
                <a:ea typeface="Times New Roman"/>
                <a:cs typeface="Times New Roman"/>
              </a:rPr>
              <a:t> </a:t>
            </a:r>
            <a:r>
              <a:rPr sz="1800" dirty="0" err="1">
                <a:solidFill>
                  <a:srgbClr val="000000"/>
                </a:solidFill>
                <a:latin typeface="Times New Roman"/>
                <a:ea typeface="Times New Roman"/>
                <a:cs typeface="Times New Roman"/>
              </a:rPr>
              <a:t>Gebrauch</a:t>
            </a:r>
            <a:r>
              <a:rPr sz="1800" dirty="0">
                <a:solidFill>
                  <a:srgbClr val="000000"/>
                </a:solidFill>
                <a:latin typeface="Times New Roman"/>
                <a:ea typeface="Times New Roman"/>
                <a:cs typeface="Times New Roman"/>
              </a:rPr>
              <a:t> </a:t>
            </a:r>
            <a:r>
              <a:rPr sz="1800" dirty="0" err="1">
                <a:solidFill>
                  <a:srgbClr val="000000"/>
                </a:solidFill>
                <a:latin typeface="Times New Roman"/>
                <a:ea typeface="Times New Roman"/>
                <a:cs typeface="Times New Roman"/>
              </a:rPr>
              <a:t>mit</a:t>
            </a:r>
            <a:r>
              <a:rPr sz="1800" dirty="0">
                <a:solidFill>
                  <a:srgbClr val="000000"/>
                </a:solidFill>
                <a:latin typeface="Times New Roman"/>
                <a:ea typeface="Times New Roman"/>
                <a:cs typeface="Times New Roman"/>
              </a:rPr>
              <a:t> dem </a:t>
            </a:r>
            <a:r>
              <a:rPr sz="1800" dirty="0" err="1">
                <a:solidFill>
                  <a:srgbClr val="000000"/>
                </a:solidFill>
                <a:latin typeface="Times New Roman"/>
                <a:ea typeface="Times New Roman"/>
                <a:cs typeface="Times New Roman"/>
              </a:rPr>
              <a:t>imaginärer</a:t>
            </a:r>
            <a:r>
              <a:rPr sz="1800" dirty="0">
                <a:solidFill>
                  <a:srgbClr val="000000"/>
                </a:solidFill>
                <a:latin typeface="Times New Roman"/>
                <a:ea typeface="Times New Roman"/>
                <a:cs typeface="Times New Roman"/>
              </a:rPr>
              <a:t> </a:t>
            </a:r>
            <a:r>
              <a:rPr sz="1800" dirty="0" err="1">
                <a:solidFill>
                  <a:srgbClr val="000000"/>
                </a:solidFill>
                <a:latin typeface="Times New Roman"/>
                <a:ea typeface="Times New Roman"/>
                <a:cs typeface="Times New Roman"/>
              </a:rPr>
              <a:t>Wurzeln</a:t>
            </a:r>
            <a:r>
              <a:rPr sz="1800" dirty="0">
                <a:solidFill>
                  <a:srgbClr val="000000"/>
                </a:solidFill>
                <a:latin typeface="Times New Roman"/>
                <a:ea typeface="Times New Roman"/>
                <a:cs typeface="Times New Roman"/>
              </a:rPr>
              <a:t>.</a:t>
            </a:r>
          </a:p>
        </p:txBody>
      </p:sp>
      <p:sp>
        <p:nvSpPr>
          <p:cNvPr id="105" name="citation-leibniz">
            <a:extLst>
              <a:ext uri="{FF2B5EF4-FFF2-40B4-BE49-F238E27FC236}">
                <a16:creationId xmlns:a16="http://schemas.microsoft.com/office/drawing/2014/main" xmlns="" id="{F3EF72F9-2DEC-4564-88B6-9FAEFF0AA6C7}"/>
              </a:ext>
            </a:extLst>
          </p:cNvPr>
          <p:cNvSpPr>
            <a:spLocks noGrp="1"/>
          </p:cNvSpPr>
          <p:nvPr/>
        </p:nvSpPr>
        <p:spPr>
          <a:xfrm>
            <a:off x="476250" y="4638675"/>
            <a:ext cx="4000500" cy="4381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a:solidFill>
                  <a:srgbClr val="000000"/>
                </a:solidFill>
                <a:latin typeface="Times New Roman"/>
                <a:ea typeface="Times New Roman"/>
                <a:cs typeface="Times New Roman"/>
              </a:rPr>
              <a:t>Leibniz an Varignon, 2.2. und 20.6.1702, A III, 9, Nr. 4 und 29;</a:t>
            </a:r>
          </a:p>
          <a:p>
            <a:pPr algn="l">
              <a:lnSpc>
                <a:spcPct val="105000"/>
              </a:lnSpc>
              <a:buNone/>
              <a:defRPr sz="1050">
                <a:solidFill>
                  <a:srgbClr val="000000"/>
                </a:solidFill>
                <a:latin typeface="Times New Roman"/>
                <a:ea typeface="Times New Roman"/>
                <a:cs typeface="Times New Roman"/>
              </a:defRPr>
            </a:pPr>
            <a:r>
              <a:rPr sz="1050">
                <a:solidFill>
                  <a:srgbClr val="000000"/>
                </a:solidFill>
                <a:latin typeface="Times New Roman"/>
                <a:ea typeface="Times New Roman"/>
                <a:cs typeface="Times New Roman"/>
              </a:rPr>
              <a:t>vgl. Kuhlemann (2022), S. 199–200, 204.</a:t>
            </a:r>
          </a:p>
        </p:txBody>
      </p:sp>
      <p:grpSp>
        <p:nvGrpSpPr>
          <p:cNvPr id="112" name="Schritt 1: Berkeley"/>
          <p:cNvGrpSpPr/>
          <p:nvPr/>
        </p:nvGrpSpPr>
        <p:grpSpPr>
          <a:xfrm>
            <a:off x="4667250" y="762000"/>
            <a:ext cx="4000500" cy="4314825"/>
            <a:chOff x="4667250" y="762000"/>
            <a:chExt cx="4000500" cy="4314825"/>
          </a:xfrm>
        </p:grpSpPr>
        <p:pic>
          <p:nvPicPr>
            <p:cNvPr id="106" name="Grafik 105">
              <a:extLst>
                <a:ext uri="{FF2B5EF4-FFF2-40B4-BE49-F238E27FC236}">
                  <a16:creationId xmlns:a16="http://schemas.microsoft.com/office/drawing/2014/main" xmlns="" id="{C4494A3D-9436-4736-92DC-6972289FE439}"/>
                </a:ext>
              </a:extLst>
            </p:cNvPr>
            <p:cNvPicPr>
              <a:picLocks noChangeAspect="1"/>
            </p:cNvPicPr>
            <p:nvPr/>
          </p:nvPicPr>
          <p:blipFill>
            <a:blip r:embed="rId4"/>
            <a:srcRect l="20000" t="10000" r="24000" b="40000"/>
            <a:stretch/>
          </p:blipFill>
          <p:spPr>
            <a:xfrm>
              <a:off x="5953125" y="762000"/>
              <a:ext cx="1428750" cy="1714500"/>
            </a:xfrm>
            <a:prstGeom prst="rect">
              <a:avLst/>
            </a:prstGeom>
          </p:spPr>
        </p:pic>
        <p:sp>
          <p:nvSpPr>
            <p:cNvPr id="107" name="name-berkeley">
              <a:extLst>
                <a:ext uri="{FF2B5EF4-FFF2-40B4-BE49-F238E27FC236}">
                  <a16:creationId xmlns:a16="http://schemas.microsoft.com/office/drawing/2014/main" xmlns="" id="{DD5679D0-72B5-4FBB-9340-F43875A49A2A}"/>
                </a:ext>
              </a:extLst>
            </p:cNvPr>
            <p:cNvSpPr>
              <a:spLocks noGrp="1"/>
            </p:cNvSpPr>
            <p:nvPr/>
          </p:nvSpPr>
          <p:spPr>
            <a:xfrm>
              <a:off x="4667250" y="2543175"/>
              <a:ext cx="4000500" cy="285750"/>
            </a:xfrm>
            <a:prstGeom prst="rect">
              <a:avLst/>
            </a:prstGeom>
            <a:noFill/>
            <a:ln w="0">
              <a:noFill/>
              <a:prstDash val="solid"/>
            </a:ln>
          </p:spPr>
          <p:txBody>
            <a:bodyPr wrap="square" lIns="0" tIns="0" rIns="0" bIns="0" anchor="t">
              <a:noAutofit/>
            </a:bodyPr>
            <a:lstStyle>
              <a:defPPr algn="ctr">
                <a:defRPr sz="1800" b="1">
                  <a:solidFill>
                    <a:srgbClr val="000000"/>
                  </a:solidFill>
                  <a:latin typeface="Times New Roman"/>
                  <a:ea typeface="Times New Roman"/>
                  <a:cs typeface="Times New Roman"/>
                </a:defRPr>
              </a:defPPr>
              <a:lvl1pPr algn="ctr">
                <a:defRPr sz="1800" b="1">
                  <a:solidFill>
                    <a:srgbClr val="000000"/>
                  </a:solidFill>
                  <a:latin typeface="Times New Roman"/>
                  <a:ea typeface="Times New Roman"/>
                  <a:cs typeface="Times New Roman"/>
                </a:defRPr>
              </a:lvl1pPr>
              <a:lvl2pPr algn="ctr">
                <a:defRPr sz="1800" b="1">
                  <a:solidFill>
                    <a:srgbClr val="000000"/>
                  </a:solidFill>
                  <a:latin typeface="Times New Roman"/>
                  <a:ea typeface="Times New Roman"/>
                  <a:cs typeface="Times New Roman"/>
                </a:defRPr>
              </a:lvl2pPr>
              <a:lvl3pPr algn="ctr">
                <a:defRPr sz="1800" b="1">
                  <a:solidFill>
                    <a:srgbClr val="000000"/>
                  </a:solidFill>
                  <a:latin typeface="Times New Roman"/>
                  <a:ea typeface="Times New Roman"/>
                  <a:cs typeface="Times New Roman"/>
                </a:defRPr>
              </a:lvl3pPr>
              <a:lvl4pPr algn="ctr">
                <a:defRPr sz="1800" b="1">
                  <a:solidFill>
                    <a:srgbClr val="000000"/>
                  </a:solidFill>
                  <a:latin typeface="Times New Roman"/>
                  <a:ea typeface="Times New Roman"/>
                  <a:cs typeface="Times New Roman"/>
                </a:defRPr>
              </a:lvl4pPr>
              <a:lvl5pPr algn="ctr">
                <a:defRPr sz="1800" b="1">
                  <a:solidFill>
                    <a:srgbClr val="000000"/>
                  </a:solidFill>
                  <a:latin typeface="Times New Roman"/>
                  <a:ea typeface="Times New Roman"/>
                  <a:cs typeface="Times New Roman"/>
                </a:defRPr>
              </a:lvl5pPr>
              <a:lvl6pPr algn="ctr">
                <a:defRPr sz="1800" b="1">
                  <a:solidFill>
                    <a:srgbClr val="000000"/>
                  </a:solidFill>
                  <a:latin typeface="Times New Roman"/>
                  <a:ea typeface="Times New Roman"/>
                  <a:cs typeface="Times New Roman"/>
                </a:defRPr>
              </a:lvl6pPr>
              <a:lvl7pPr algn="ctr">
                <a:defRPr sz="1800" b="1">
                  <a:solidFill>
                    <a:srgbClr val="000000"/>
                  </a:solidFill>
                  <a:latin typeface="Times New Roman"/>
                  <a:ea typeface="Times New Roman"/>
                  <a:cs typeface="Times New Roman"/>
                </a:defRPr>
              </a:lvl7pPr>
              <a:lvl8pPr algn="ctr">
                <a:defRPr sz="1800" b="1">
                  <a:solidFill>
                    <a:srgbClr val="000000"/>
                  </a:solidFill>
                  <a:latin typeface="Times New Roman"/>
                  <a:ea typeface="Times New Roman"/>
                  <a:cs typeface="Times New Roman"/>
                </a:defRPr>
              </a:lvl8pPr>
              <a:lvl9pPr algn="ctr">
                <a:defRPr sz="1800" b="1">
                  <a:solidFill>
                    <a:srgbClr val="000000"/>
                  </a:solidFill>
                  <a:latin typeface="Times New Roman"/>
                  <a:ea typeface="Times New Roman"/>
                  <a:cs typeface="Times New Roman"/>
                </a:defRPr>
              </a:lvl9pPr>
            </a:lstStyle>
            <a:p>
              <a:pPr algn="ctr">
                <a:lnSpc>
                  <a:spcPct val="108000"/>
                </a:lnSpc>
                <a:buNone/>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George Berkeley</a:t>
              </a:r>
            </a:p>
          </p:txBody>
        </p:sp>
        <p:sp>
          <p:nvSpPr>
            <p:cNvPr id="108" name="years-berkeley">
              <a:extLst>
                <a:ext uri="{FF2B5EF4-FFF2-40B4-BE49-F238E27FC236}">
                  <a16:creationId xmlns:a16="http://schemas.microsoft.com/office/drawing/2014/main" xmlns="" id="{CDCCCD8B-E821-4666-8642-D18C6E5DA360}"/>
                </a:ext>
              </a:extLst>
            </p:cNvPr>
            <p:cNvSpPr>
              <a:spLocks noGrp="1"/>
            </p:cNvSpPr>
            <p:nvPr/>
          </p:nvSpPr>
          <p:spPr>
            <a:xfrm>
              <a:off x="4667250" y="2838450"/>
              <a:ext cx="4000500" cy="247650"/>
            </a:xfrm>
            <a:prstGeom prst="rect">
              <a:avLst/>
            </a:prstGeom>
            <a:noFill/>
            <a:ln w="0">
              <a:noFill/>
              <a:prstDash val="solid"/>
            </a:ln>
          </p:spPr>
          <p:txBody>
            <a:bodyPr wrap="square" lIns="0" tIns="0" rIns="0" bIns="0" anchor="t">
              <a:noAutofit/>
            </a:bodyPr>
            <a:lstStyle>
              <a:defPPr algn="ctr">
                <a:defRPr sz="1600">
                  <a:solidFill>
                    <a:srgbClr val="000000"/>
                  </a:solidFill>
                  <a:latin typeface="Times New Roman"/>
                  <a:ea typeface="Times New Roman"/>
                  <a:cs typeface="Times New Roman"/>
                </a:defRPr>
              </a:defPPr>
              <a:lvl1pPr algn="ctr">
                <a:defRPr sz="1600">
                  <a:solidFill>
                    <a:srgbClr val="000000"/>
                  </a:solidFill>
                  <a:latin typeface="Times New Roman"/>
                  <a:ea typeface="Times New Roman"/>
                  <a:cs typeface="Times New Roman"/>
                </a:defRPr>
              </a:lvl1pPr>
              <a:lvl2pPr algn="ctr">
                <a:defRPr sz="1600">
                  <a:solidFill>
                    <a:srgbClr val="000000"/>
                  </a:solidFill>
                  <a:latin typeface="Times New Roman"/>
                  <a:ea typeface="Times New Roman"/>
                  <a:cs typeface="Times New Roman"/>
                </a:defRPr>
              </a:lvl2pPr>
              <a:lvl3pPr algn="ctr">
                <a:defRPr sz="1600">
                  <a:solidFill>
                    <a:srgbClr val="000000"/>
                  </a:solidFill>
                  <a:latin typeface="Times New Roman"/>
                  <a:ea typeface="Times New Roman"/>
                  <a:cs typeface="Times New Roman"/>
                </a:defRPr>
              </a:lvl3pPr>
              <a:lvl4pPr algn="ctr">
                <a:defRPr sz="1600">
                  <a:solidFill>
                    <a:srgbClr val="000000"/>
                  </a:solidFill>
                  <a:latin typeface="Times New Roman"/>
                  <a:ea typeface="Times New Roman"/>
                  <a:cs typeface="Times New Roman"/>
                </a:defRPr>
              </a:lvl4pPr>
              <a:lvl5pPr algn="ctr">
                <a:defRPr sz="1600">
                  <a:solidFill>
                    <a:srgbClr val="000000"/>
                  </a:solidFill>
                  <a:latin typeface="Times New Roman"/>
                  <a:ea typeface="Times New Roman"/>
                  <a:cs typeface="Times New Roman"/>
                </a:defRPr>
              </a:lvl5pPr>
              <a:lvl6pPr algn="ctr">
                <a:defRPr sz="1600">
                  <a:solidFill>
                    <a:srgbClr val="000000"/>
                  </a:solidFill>
                  <a:latin typeface="Times New Roman"/>
                  <a:ea typeface="Times New Roman"/>
                  <a:cs typeface="Times New Roman"/>
                </a:defRPr>
              </a:lvl6pPr>
              <a:lvl7pPr algn="ctr">
                <a:defRPr sz="1600">
                  <a:solidFill>
                    <a:srgbClr val="000000"/>
                  </a:solidFill>
                  <a:latin typeface="Times New Roman"/>
                  <a:ea typeface="Times New Roman"/>
                  <a:cs typeface="Times New Roman"/>
                </a:defRPr>
              </a:lvl7pPr>
              <a:lvl8pPr algn="ctr">
                <a:defRPr sz="1600">
                  <a:solidFill>
                    <a:srgbClr val="000000"/>
                  </a:solidFill>
                  <a:latin typeface="Times New Roman"/>
                  <a:ea typeface="Times New Roman"/>
                  <a:cs typeface="Times New Roman"/>
                </a:defRPr>
              </a:lvl8pPr>
              <a:lvl9pPr algn="ctr">
                <a:defRPr sz="1600">
                  <a:solidFill>
                    <a:srgbClr val="000000"/>
                  </a:solidFill>
                  <a:latin typeface="Times New Roman"/>
                  <a:ea typeface="Times New Roman"/>
                  <a:cs typeface="Times New Roman"/>
                </a:defRPr>
              </a:lvl9pPr>
            </a:lstStyle>
            <a:p>
              <a:pPr algn="ctr">
                <a:lnSpc>
                  <a:spcPct val="108000"/>
                </a:lnSpc>
                <a:buNone/>
                <a:defRPr sz="1600">
                  <a:solidFill>
                    <a:srgbClr val="000000"/>
                  </a:solidFill>
                  <a:latin typeface="Times New Roman"/>
                  <a:ea typeface="Times New Roman"/>
                  <a:cs typeface="Times New Roman"/>
                </a:defRPr>
              </a:pPr>
              <a:r>
                <a:rPr sz="1600">
                  <a:solidFill>
                    <a:srgbClr val="000000"/>
                  </a:solidFill>
                  <a:latin typeface="Times New Roman"/>
                  <a:ea typeface="Times New Roman"/>
                  <a:cs typeface="Times New Roman"/>
                </a:rPr>
                <a:t>(1685–1753)</a:t>
              </a:r>
            </a:p>
          </p:txBody>
        </p:sp>
        <p:sp>
          <p:nvSpPr>
            <p:cNvPr id="109" name="quotation-berkeley">
              <a:extLst>
                <a:ext uri="{FF2B5EF4-FFF2-40B4-BE49-F238E27FC236}">
                  <a16:creationId xmlns:a16="http://schemas.microsoft.com/office/drawing/2014/main" xmlns="" id="{927FA6F4-B1D4-474A-A339-896A6DC5B185}"/>
                </a:ext>
              </a:extLst>
            </p:cNvPr>
            <p:cNvSpPr>
              <a:spLocks noGrp="1"/>
            </p:cNvSpPr>
            <p:nvPr/>
          </p:nvSpPr>
          <p:spPr>
            <a:xfrm>
              <a:off x="4667250" y="3190875"/>
              <a:ext cx="4000500" cy="304800"/>
            </a:xfrm>
            <a:prstGeom prst="rect">
              <a:avLst/>
            </a:prstGeom>
            <a:noFill/>
            <a:ln w="0">
              <a:noFill/>
              <a:prstDash val="solid"/>
            </a:ln>
          </p:spPr>
          <p:txBody>
            <a:bodyPr wrap="square" lIns="0" tIns="0" rIns="0" bIns="0" anchor="t">
              <a:noAutofit/>
            </a:bodyPr>
            <a:lstStyle>
              <a:defPPr algn="l">
                <a:defRPr sz="1800" b="1">
                  <a:solidFill>
                    <a:srgbClr val="000000"/>
                  </a:solidFill>
                  <a:latin typeface="Times New Roman"/>
                  <a:ea typeface="Times New Roman"/>
                  <a:cs typeface="Times New Roman"/>
                </a:defRPr>
              </a:defPPr>
              <a:lvl1pPr algn="l">
                <a:defRPr sz="1800" b="1">
                  <a:solidFill>
                    <a:srgbClr val="000000"/>
                  </a:solidFill>
                  <a:latin typeface="Times New Roman"/>
                  <a:ea typeface="Times New Roman"/>
                  <a:cs typeface="Times New Roman"/>
                </a:defRPr>
              </a:lvl1pPr>
              <a:lvl2pPr algn="l">
                <a:defRPr sz="1800" b="1">
                  <a:solidFill>
                    <a:srgbClr val="000000"/>
                  </a:solidFill>
                  <a:latin typeface="Times New Roman"/>
                  <a:ea typeface="Times New Roman"/>
                  <a:cs typeface="Times New Roman"/>
                </a:defRPr>
              </a:lvl2pPr>
              <a:lvl3pPr algn="l">
                <a:defRPr sz="1800" b="1">
                  <a:solidFill>
                    <a:srgbClr val="000000"/>
                  </a:solidFill>
                  <a:latin typeface="Times New Roman"/>
                  <a:ea typeface="Times New Roman"/>
                  <a:cs typeface="Times New Roman"/>
                </a:defRPr>
              </a:lvl3pPr>
              <a:lvl4pPr algn="l">
                <a:defRPr sz="1800" b="1">
                  <a:solidFill>
                    <a:srgbClr val="000000"/>
                  </a:solidFill>
                  <a:latin typeface="Times New Roman"/>
                  <a:ea typeface="Times New Roman"/>
                  <a:cs typeface="Times New Roman"/>
                </a:defRPr>
              </a:lvl4pPr>
              <a:lvl5pPr algn="l">
                <a:defRPr sz="1800" b="1">
                  <a:solidFill>
                    <a:srgbClr val="000000"/>
                  </a:solidFill>
                  <a:latin typeface="Times New Roman"/>
                  <a:ea typeface="Times New Roman"/>
                  <a:cs typeface="Times New Roman"/>
                </a:defRPr>
              </a:lvl5pPr>
              <a:lvl6pPr algn="l">
                <a:defRPr sz="1800" b="1">
                  <a:solidFill>
                    <a:srgbClr val="000000"/>
                  </a:solidFill>
                  <a:latin typeface="Times New Roman"/>
                  <a:ea typeface="Times New Roman"/>
                  <a:cs typeface="Times New Roman"/>
                </a:defRPr>
              </a:lvl6pPr>
              <a:lvl7pPr algn="l">
                <a:defRPr sz="1800" b="1">
                  <a:solidFill>
                    <a:srgbClr val="000000"/>
                  </a:solidFill>
                  <a:latin typeface="Times New Roman"/>
                  <a:ea typeface="Times New Roman"/>
                  <a:cs typeface="Times New Roman"/>
                </a:defRPr>
              </a:lvl7pPr>
              <a:lvl8pPr algn="l">
                <a:defRPr sz="1800" b="1">
                  <a:solidFill>
                    <a:srgbClr val="000000"/>
                  </a:solidFill>
                  <a:latin typeface="Times New Roman"/>
                  <a:ea typeface="Times New Roman"/>
                  <a:cs typeface="Times New Roman"/>
                </a:defRPr>
              </a:lvl8pPr>
              <a:lvl9pPr algn="l">
                <a:defRPr sz="1800" b="1">
                  <a:solidFill>
                    <a:srgbClr val="000000"/>
                  </a:solidFill>
                  <a:latin typeface="Times New Roman"/>
                  <a:ea typeface="Times New Roman"/>
                  <a:cs typeface="Times New Roman"/>
                </a:defRPr>
              </a:lvl9pPr>
            </a:lstStyle>
            <a:p>
              <a:pPr algn="l">
                <a:lnSpc>
                  <a:spcPct val="108000"/>
                </a:lnSpc>
                <a:buNone/>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„Ghosts of departed Quantities“</a:t>
              </a:r>
            </a:p>
          </p:txBody>
        </p:sp>
        <p:sp>
          <p:nvSpPr>
            <p:cNvPr id="110" name="explanation-berkeley">
              <a:extLst>
                <a:ext uri="{FF2B5EF4-FFF2-40B4-BE49-F238E27FC236}">
                  <a16:creationId xmlns:a16="http://schemas.microsoft.com/office/drawing/2014/main" xmlns="" id="{A407EA9C-19CE-46C4-828D-632C04B163EF}"/>
                </a:ext>
              </a:extLst>
            </p:cNvPr>
            <p:cNvSpPr>
              <a:spLocks noGrp="1"/>
            </p:cNvSpPr>
            <p:nvPr/>
          </p:nvSpPr>
          <p:spPr>
            <a:xfrm>
              <a:off x="4667250" y="3571875"/>
              <a:ext cx="4000500" cy="971550"/>
            </a:xfrm>
            <a:prstGeom prst="rect">
              <a:avLst/>
            </a:prstGeom>
            <a:noFill/>
            <a:ln w="0">
              <a:noFill/>
              <a:prstDash val="solid"/>
            </a:ln>
          </p:spPr>
          <p:txBody>
            <a:bodyPr wrap="square" lIns="0" tIns="0" rIns="0" bIns="0" anchor="t">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08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Seine Kritik richtet sich gegen Größen, die zunächst ungleich null gesetzt und später wie null behandelt werden.</a:t>
              </a:r>
            </a:p>
          </p:txBody>
        </p:sp>
        <p:sp>
          <p:nvSpPr>
            <p:cNvPr id="111" name="citation-berkeley">
              <a:extLst>
                <a:ext uri="{FF2B5EF4-FFF2-40B4-BE49-F238E27FC236}">
                  <a16:creationId xmlns:a16="http://schemas.microsoft.com/office/drawing/2014/main" xmlns="" id="{D536D263-6F98-4822-B221-A17C92E84FA0}"/>
                </a:ext>
              </a:extLst>
            </p:cNvPr>
            <p:cNvSpPr>
              <a:spLocks noGrp="1"/>
            </p:cNvSpPr>
            <p:nvPr/>
          </p:nvSpPr>
          <p:spPr>
            <a:xfrm>
              <a:off x="4667250" y="4638675"/>
              <a:ext cx="4000500" cy="4381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dirty="0">
                  <a:solidFill>
                    <a:srgbClr val="000000"/>
                  </a:solidFill>
                  <a:latin typeface="Times New Roman"/>
                  <a:ea typeface="Times New Roman"/>
                  <a:cs typeface="Times New Roman"/>
                </a:rPr>
                <a:t>Berkeley, The Analyst (1734), § 35, S. 59;</a:t>
              </a:r>
            </a:p>
            <a:p>
              <a:pPr algn="l">
                <a:lnSpc>
                  <a:spcPct val="105000"/>
                </a:lnSpc>
                <a:buNone/>
                <a:defRPr sz="1050">
                  <a:solidFill>
                    <a:srgbClr val="000000"/>
                  </a:solidFill>
                  <a:latin typeface="Times New Roman"/>
                  <a:ea typeface="Times New Roman"/>
                  <a:cs typeface="Times New Roman"/>
                </a:defRPr>
              </a:pPr>
              <a:r>
                <a:rPr sz="1050" dirty="0" err="1">
                  <a:solidFill>
                    <a:srgbClr val="000000"/>
                  </a:solidFill>
                  <a:latin typeface="Times New Roman"/>
                  <a:ea typeface="Times New Roman"/>
                  <a:cs typeface="Times New Roman"/>
                </a:rPr>
                <a:t>vgl</a:t>
              </a:r>
              <a:r>
                <a:rPr sz="1050" dirty="0">
                  <a:solidFill>
                    <a:srgbClr val="000000"/>
                  </a:solidFill>
                  <a:latin typeface="Times New Roman"/>
                  <a:ea typeface="Times New Roman"/>
                  <a:cs typeface="Times New Roman"/>
                </a:rPr>
                <a:t>. </a:t>
              </a:r>
              <a:r>
                <a:rPr sz="1050" dirty="0" err="1">
                  <a:solidFill>
                    <a:srgbClr val="000000"/>
                  </a:solidFill>
                  <a:latin typeface="Times New Roman"/>
                  <a:ea typeface="Times New Roman"/>
                  <a:cs typeface="Times New Roman"/>
                </a:rPr>
                <a:t>Kuhlemann</a:t>
              </a:r>
              <a:r>
                <a:rPr sz="1050" dirty="0">
                  <a:solidFill>
                    <a:srgbClr val="000000"/>
                  </a:solidFill>
                  <a:latin typeface="Times New Roman"/>
                  <a:ea typeface="Times New Roman"/>
                  <a:cs typeface="Times New Roman"/>
                </a:rPr>
                <a:t> (2022), S. 199–200, 204.</a:t>
              </a:r>
            </a:p>
          </p:txBody>
        </p:sp>
      </p:grpSp>
    </p:spTree>
    <p:extLst>
      <p:ext uri="{BB962C8B-B14F-4D97-AF65-F5344CB8AC3E}">
        <p14:creationId xmlns:p14="http://schemas.microsoft.com/office/powerpoint/2010/main" val="54340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 xmlns:a16="http://schemas.microsoft.com/office/drawing/2014/main" id="{027696E7-1FB2-4823-AEBF-DFF5139E3C9C}"/>
              </a:ext>
            </a:extLst>
          </p:cNvPr>
          <p:cNvSpPr>
            <a:spLocks noGrp="1"/>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Textfeld 3">
            <a:extLst>
              <a:ext uri="{FF2B5EF4-FFF2-40B4-BE49-F238E27FC236}">
                <a16:creationId xmlns="" xmlns:a16="http://schemas.microsoft.com/office/drawing/2014/main" id="{AB630356-49DA-4C03-9FF1-3B0BDCC8956E}"/>
              </a:ext>
            </a:extLst>
          </p:cNvPr>
          <p:cNvSpPr>
            <a:spLocks noGrp="1"/>
          </p:cNvSpPr>
          <p:nvPr/>
        </p:nvSpPr>
        <p:spPr>
          <a:xfrm>
            <a:off x="0" y="0"/>
            <a:ext cx="9144000" cy="579120"/>
          </a:xfrm>
          <a:prstGeom prst="rect">
            <a:avLst/>
          </a:prstGeom>
          <a:noFill/>
        </p:spPr>
        <p:txBody>
          <a:bodyPr wrap="square" lIns="76200" tIns="19050" rIns="76200" bIns="19050" anchor="ctr">
            <a:noAutofit/>
          </a:bodyPr>
          <a:lstStyle>
            <a:defPPr algn="ctr">
              <a:defRPr sz="3200">
                <a:solidFill>
                  <a:srgbClr val="FFFFFF"/>
                </a:solidFill>
                <a:latin typeface="Calibri"/>
                <a:ea typeface="Calibri"/>
                <a:cs typeface="Calibri"/>
              </a:defRPr>
            </a:defPPr>
            <a:lvl1pPr algn="ctr">
              <a:defRPr sz="3200">
                <a:solidFill>
                  <a:srgbClr val="FFFFFF"/>
                </a:solidFill>
                <a:latin typeface="Calibri"/>
                <a:ea typeface="Calibri"/>
                <a:cs typeface="Calibri"/>
              </a:defRPr>
            </a:lvl1pPr>
            <a:lvl2pPr algn="ctr">
              <a:defRPr sz="3200">
                <a:solidFill>
                  <a:srgbClr val="FFFFFF"/>
                </a:solidFill>
                <a:latin typeface="Calibri"/>
                <a:ea typeface="Calibri"/>
                <a:cs typeface="Calibri"/>
              </a:defRPr>
            </a:lvl2pPr>
            <a:lvl3pPr algn="ctr">
              <a:defRPr sz="3200">
                <a:solidFill>
                  <a:srgbClr val="FFFFFF"/>
                </a:solidFill>
                <a:latin typeface="Calibri"/>
                <a:ea typeface="Calibri"/>
                <a:cs typeface="Calibri"/>
              </a:defRPr>
            </a:lvl3pPr>
            <a:lvl4pPr algn="ctr">
              <a:defRPr sz="3200">
                <a:solidFill>
                  <a:srgbClr val="FFFFFF"/>
                </a:solidFill>
                <a:latin typeface="Calibri"/>
                <a:ea typeface="Calibri"/>
                <a:cs typeface="Calibri"/>
              </a:defRPr>
            </a:lvl4pPr>
            <a:lvl5pPr algn="ctr">
              <a:defRPr sz="3200">
                <a:solidFill>
                  <a:srgbClr val="FFFFFF"/>
                </a:solidFill>
                <a:latin typeface="Calibri"/>
                <a:ea typeface="Calibri"/>
                <a:cs typeface="Calibri"/>
              </a:defRPr>
            </a:lvl5pPr>
            <a:lvl6pPr algn="ctr">
              <a:defRPr sz="3200">
                <a:solidFill>
                  <a:srgbClr val="FFFFFF"/>
                </a:solidFill>
                <a:latin typeface="Calibri"/>
                <a:ea typeface="Calibri"/>
                <a:cs typeface="Calibri"/>
              </a:defRPr>
            </a:lvl6pPr>
            <a:lvl7pPr algn="ctr">
              <a:defRPr sz="3200">
                <a:solidFill>
                  <a:srgbClr val="FFFFFF"/>
                </a:solidFill>
                <a:latin typeface="Calibri"/>
                <a:ea typeface="Calibri"/>
                <a:cs typeface="Calibri"/>
              </a:defRPr>
            </a:lvl7pPr>
            <a:lvl8pPr algn="ctr">
              <a:defRPr sz="3200">
                <a:solidFill>
                  <a:srgbClr val="FFFFFF"/>
                </a:solidFill>
                <a:latin typeface="Calibri"/>
                <a:ea typeface="Calibri"/>
                <a:cs typeface="Calibri"/>
              </a:defRPr>
            </a:lvl8pPr>
            <a:lvl9pPr algn="ctr">
              <a:defRPr sz="3200">
                <a:solidFill>
                  <a:srgbClr val="FFFFFF"/>
                </a:solidFill>
                <a:latin typeface="Calibri"/>
                <a:ea typeface="Calibri"/>
                <a:cs typeface="Calibri"/>
              </a:defRPr>
            </a:lvl9pPr>
          </a:lstStyle>
          <a:p>
            <a:pPr algn="ctr">
              <a:buNone/>
              <a:defRPr sz="3200">
                <a:solidFill>
                  <a:srgbClr val="FFFFFF"/>
                </a:solidFill>
                <a:latin typeface="Calibri"/>
                <a:ea typeface="Calibri"/>
                <a:cs typeface="Calibri"/>
              </a:defRPr>
            </a:pPr>
            <a:r>
              <a:rPr sz="3200">
                <a:solidFill>
                  <a:srgbClr val="FFFFFF"/>
                </a:solidFill>
                <a:effectLst>
                  <a:outerShdw blurRad="38100" dist="38100" dir="2700000" algn="tl">
                    <a:srgbClr val="000000">
                      <a:alpha val="43137"/>
                    </a:srgbClr>
                  </a:outerShdw>
                </a:effectLst>
                <a:latin typeface="Calibri"/>
                <a:ea typeface="Calibri"/>
                <a:cs typeface="Calibri"/>
              </a:rPr>
              <a:t>Leibniz: Zwei Arten des Unendlichen</a:t>
            </a:r>
            <a:endParaRPr sz="3200">
              <a:solidFill>
                <a:schemeClr val="bg1"/>
              </a:solidFill>
              <a:effectLst>
                <a:outerShdw blurRad="38100" dist="38100" dir="2700000" algn="tl">
                  <a:srgbClr val="000000">
                    <a:alpha val="43137"/>
                  </a:srgbClr>
                </a:outerShdw>
              </a:effectLst>
            </a:endParaRPr>
          </a:p>
        </p:txBody>
      </p:sp>
      <p:sp>
        <p:nvSpPr>
          <p:cNvPr id="5" name="interminata-heading">
            <a:extLst>
              <a:ext uri="{FF2B5EF4-FFF2-40B4-BE49-F238E27FC236}">
                <a16:creationId xmlns="" xmlns:a16="http://schemas.microsoft.com/office/drawing/2014/main" id="{702704DA-ADE1-461C-8EDF-B875DB91DEDA}"/>
              </a:ext>
            </a:extLst>
          </p:cNvPr>
          <p:cNvSpPr>
            <a:spLocks noGrp="1"/>
          </p:cNvSpPr>
          <p:nvPr/>
        </p:nvSpPr>
        <p:spPr>
          <a:xfrm>
            <a:off x="419100" y="981075"/>
            <a:ext cx="3810000" cy="371475"/>
          </a:xfrm>
          <a:prstGeom prst="rect">
            <a:avLst/>
          </a:prstGeom>
          <a:noFill/>
          <a:ln w="0">
            <a:noFill/>
            <a:prstDash val="solid"/>
          </a:ln>
        </p:spPr>
        <p:txBody>
          <a:bodyPr wrap="none" lIns="0" tIns="0" rIns="0" bIns="0" anchor="t">
            <a:noAutofit/>
          </a:bodyPr>
          <a:lstStyle>
            <a:defPPr algn="ctr">
              <a:defRPr sz="2100" b="1" i="1">
                <a:solidFill>
                  <a:srgbClr val="000000"/>
                </a:solidFill>
                <a:latin typeface="Times New Roman"/>
                <a:ea typeface="Times New Roman"/>
                <a:cs typeface="Times New Roman"/>
              </a:defRPr>
            </a:defPPr>
            <a:lvl1pPr algn="ctr">
              <a:defRPr sz="2100" b="1" i="1">
                <a:solidFill>
                  <a:srgbClr val="000000"/>
                </a:solidFill>
                <a:latin typeface="Times New Roman"/>
                <a:ea typeface="Times New Roman"/>
                <a:cs typeface="Times New Roman"/>
              </a:defRPr>
            </a:lvl1pPr>
            <a:lvl2pPr algn="ctr">
              <a:defRPr sz="2100" b="1" i="1">
                <a:solidFill>
                  <a:srgbClr val="000000"/>
                </a:solidFill>
                <a:latin typeface="Times New Roman"/>
                <a:ea typeface="Times New Roman"/>
                <a:cs typeface="Times New Roman"/>
              </a:defRPr>
            </a:lvl2pPr>
            <a:lvl3pPr algn="ctr">
              <a:defRPr sz="2100" b="1" i="1">
                <a:solidFill>
                  <a:srgbClr val="000000"/>
                </a:solidFill>
                <a:latin typeface="Times New Roman"/>
                <a:ea typeface="Times New Roman"/>
                <a:cs typeface="Times New Roman"/>
              </a:defRPr>
            </a:lvl3pPr>
            <a:lvl4pPr algn="ctr">
              <a:defRPr sz="2100" b="1" i="1">
                <a:solidFill>
                  <a:srgbClr val="000000"/>
                </a:solidFill>
                <a:latin typeface="Times New Roman"/>
                <a:ea typeface="Times New Roman"/>
                <a:cs typeface="Times New Roman"/>
              </a:defRPr>
            </a:lvl4pPr>
            <a:lvl5pPr algn="ctr">
              <a:defRPr sz="2100" b="1" i="1">
                <a:solidFill>
                  <a:srgbClr val="000000"/>
                </a:solidFill>
                <a:latin typeface="Times New Roman"/>
                <a:ea typeface="Times New Roman"/>
                <a:cs typeface="Times New Roman"/>
              </a:defRPr>
            </a:lvl5pPr>
            <a:lvl6pPr algn="ctr">
              <a:defRPr sz="2100" b="1" i="1">
                <a:solidFill>
                  <a:srgbClr val="000000"/>
                </a:solidFill>
                <a:latin typeface="Times New Roman"/>
                <a:ea typeface="Times New Roman"/>
                <a:cs typeface="Times New Roman"/>
              </a:defRPr>
            </a:lvl6pPr>
            <a:lvl7pPr algn="ctr">
              <a:defRPr sz="2100" b="1" i="1">
                <a:solidFill>
                  <a:srgbClr val="000000"/>
                </a:solidFill>
                <a:latin typeface="Times New Roman"/>
                <a:ea typeface="Times New Roman"/>
                <a:cs typeface="Times New Roman"/>
              </a:defRPr>
            </a:lvl7pPr>
            <a:lvl8pPr algn="ctr">
              <a:defRPr sz="2100" b="1" i="1">
                <a:solidFill>
                  <a:srgbClr val="000000"/>
                </a:solidFill>
                <a:latin typeface="Times New Roman"/>
                <a:ea typeface="Times New Roman"/>
                <a:cs typeface="Times New Roman"/>
              </a:defRPr>
            </a:lvl8pPr>
            <a:lvl9pPr algn="ctr">
              <a:defRPr sz="2100" b="1" i="1">
                <a:solidFill>
                  <a:srgbClr val="000000"/>
                </a:solidFill>
                <a:latin typeface="Times New Roman"/>
                <a:ea typeface="Times New Roman"/>
                <a:cs typeface="Times New Roman"/>
              </a:defRPr>
            </a:lvl9pPr>
          </a:lstStyle>
          <a:p>
            <a:pPr algn="ctr">
              <a:defRPr sz="2100" b="1" i="1">
                <a:solidFill>
                  <a:srgbClr val="000000"/>
                </a:solidFill>
                <a:latin typeface="Times New Roman"/>
                <a:ea typeface="Times New Roman"/>
                <a:cs typeface="Times New Roman"/>
              </a:defRPr>
            </a:pPr>
            <a:r>
              <a:rPr sz="2100" b="1" i="1">
                <a:solidFill>
                  <a:srgbClr val="000000"/>
                </a:solidFill>
                <a:latin typeface="Times New Roman"/>
                <a:ea typeface="Times New Roman"/>
                <a:cs typeface="Times New Roman"/>
              </a:rPr>
              <a:t>Infinita interminata</a:t>
            </a:r>
          </a:p>
        </p:txBody>
      </p:sp>
      <p:sp>
        <p:nvSpPr>
          <p:cNvPr id="6" name="terminata-heading">
            <a:extLst>
              <a:ext uri="{FF2B5EF4-FFF2-40B4-BE49-F238E27FC236}">
                <a16:creationId xmlns="" xmlns:a16="http://schemas.microsoft.com/office/drawing/2014/main" id="{6F8E5DEE-AB15-4FB0-B84B-2A1A75751D62}"/>
              </a:ext>
            </a:extLst>
          </p:cNvPr>
          <p:cNvSpPr>
            <a:spLocks noGrp="1"/>
          </p:cNvSpPr>
          <p:nvPr/>
        </p:nvSpPr>
        <p:spPr>
          <a:xfrm>
            <a:off x="4914900" y="981075"/>
            <a:ext cx="3810000" cy="371475"/>
          </a:xfrm>
          <a:prstGeom prst="rect">
            <a:avLst/>
          </a:prstGeom>
          <a:noFill/>
          <a:ln w="0">
            <a:noFill/>
            <a:prstDash val="solid"/>
          </a:ln>
        </p:spPr>
        <p:txBody>
          <a:bodyPr wrap="none" lIns="0" tIns="0" rIns="0" bIns="0" anchor="t">
            <a:noAutofit/>
          </a:bodyPr>
          <a:lstStyle>
            <a:defPPr algn="ctr">
              <a:defRPr sz="2100" b="1" i="1">
                <a:solidFill>
                  <a:srgbClr val="000000"/>
                </a:solidFill>
                <a:latin typeface="Times New Roman"/>
                <a:ea typeface="Times New Roman"/>
                <a:cs typeface="Times New Roman"/>
              </a:defRPr>
            </a:defPPr>
            <a:lvl1pPr algn="ctr">
              <a:defRPr sz="2100" b="1" i="1">
                <a:solidFill>
                  <a:srgbClr val="000000"/>
                </a:solidFill>
                <a:latin typeface="Times New Roman"/>
                <a:ea typeface="Times New Roman"/>
                <a:cs typeface="Times New Roman"/>
              </a:defRPr>
            </a:lvl1pPr>
            <a:lvl2pPr algn="ctr">
              <a:defRPr sz="2100" b="1" i="1">
                <a:solidFill>
                  <a:srgbClr val="000000"/>
                </a:solidFill>
                <a:latin typeface="Times New Roman"/>
                <a:ea typeface="Times New Roman"/>
                <a:cs typeface="Times New Roman"/>
              </a:defRPr>
            </a:lvl2pPr>
            <a:lvl3pPr algn="ctr">
              <a:defRPr sz="2100" b="1" i="1">
                <a:solidFill>
                  <a:srgbClr val="000000"/>
                </a:solidFill>
                <a:latin typeface="Times New Roman"/>
                <a:ea typeface="Times New Roman"/>
                <a:cs typeface="Times New Roman"/>
              </a:defRPr>
            </a:lvl3pPr>
            <a:lvl4pPr algn="ctr">
              <a:defRPr sz="2100" b="1" i="1">
                <a:solidFill>
                  <a:srgbClr val="000000"/>
                </a:solidFill>
                <a:latin typeface="Times New Roman"/>
                <a:ea typeface="Times New Roman"/>
                <a:cs typeface="Times New Roman"/>
              </a:defRPr>
            </a:lvl4pPr>
            <a:lvl5pPr algn="ctr">
              <a:defRPr sz="2100" b="1" i="1">
                <a:solidFill>
                  <a:srgbClr val="000000"/>
                </a:solidFill>
                <a:latin typeface="Times New Roman"/>
                <a:ea typeface="Times New Roman"/>
                <a:cs typeface="Times New Roman"/>
              </a:defRPr>
            </a:lvl5pPr>
            <a:lvl6pPr algn="ctr">
              <a:defRPr sz="2100" b="1" i="1">
                <a:solidFill>
                  <a:srgbClr val="000000"/>
                </a:solidFill>
                <a:latin typeface="Times New Roman"/>
                <a:ea typeface="Times New Roman"/>
                <a:cs typeface="Times New Roman"/>
              </a:defRPr>
            </a:lvl6pPr>
            <a:lvl7pPr algn="ctr">
              <a:defRPr sz="2100" b="1" i="1">
                <a:solidFill>
                  <a:srgbClr val="000000"/>
                </a:solidFill>
                <a:latin typeface="Times New Roman"/>
                <a:ea typeface="Times New Roman"/>
                <a:cs typeface="Times New Roman"/>
              </a:defRPr>
            </a:lvl7pPr>
            <a:lvl8pPr algn="ctr">
              <a:defRPr sz="2100" b="1" i="1">
                <a:solidFill>
                  <a:srgbClr val="000000"/>
                </a:solidFill>
                <a:latin typeface="Times New Roman"/>
                <a:ea typeface="Times New Roman"/>
                <a:cs typeface="Times New Roman"/>
              </a:defRPr>
            </a:lvl8pPr>
            <a:lvl9pPr algn="ctr">
              <a:defRPr sz="2100" b="1" i="1">
                <a:solidFill>
                  <a:srgbClr val="000000"/>
                </a:solidFill>
                <a:latin typeface="Times New Roman"/>
                <a:ea typeface="Times New Roman"/>
                <a:cs typeface="Times New Roman"/>
              </a:defRPr>
            </a:lvl9pPr>
          </a:lstStyle>
          <a:p>
            <a:pPr algn="ctr">
              <a:defRPr sz="2100" b="1" i="1">
                <a:solidFill>
                  <a:srgbClr val="000000"/>
                </a:solidFill>
                <a:latin typeface="Times New Roman"/>
                <a:ea typeface="Times New Roman"/>
                <a:cs typeface="Times New Roman"/>
              </a:defRPr>
            </a:pPr>
            <a:r>
              <a:rPr sz="2100" b="1" i="1">
                <a:solidFill>
                  <a:srgbClr val="000000"/>
                </a:solidFill>
                <a:latin typeface="Times New Roman"/>
                <a:ea typeface="Times New Roman"/>
                <a:cs typeface="Times New Roman"/>
              </a:rPr>
              <a:t>Infinita terminata</a:t>
            </a:r>
          </a:p>
        </p:txBody>
      </p:sp>
      <p:sp>
        <p:nvSpPr>
          <p:cNvPr id="7" name="interminata-translation">
            <a:extLst>
              <a:ext uri="{FF2B5EF4-FFF2-40B4-BE49-F238E27FC236}">
                <a16:creationId xmlns="" xmlns:a16="http://schemas.microsoft.com/office/drawing/2014/main" id="{610C3E59-1256-4B69-A6AD-E2EA38B72B95}"/>
              </a:ext>
            </a:extLst>
          </p:cNvPr>
          <p:cNvSpPr>
            <a:spLocks noGrp="1"/>
          </p:cNvSpPr>
          <p:nvPr/>
        </p:nvSpPr>
        <p:spPr>
          <a:xfrm>
            <a:off x="419100" y="1390650"/>
            <a:ext cx="3810000" cy="295275"/>
          </a:xfrm>
          <a:prstGeom prst="rect">
            <a:avLst/>
          </a:prstGeom>
          <a:noFill/>
          <a:ln w="0">
            <a:noFill/>
            <a:prstDash val="solid"/>
          </a:ln>
        </p:spPr>
        <p:txBody>
          <a:bodyPr wrap="none" lIns="0" tIns="0" rIns="0" bIns="0" anchor="t">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unbegrenzte Unendlichkeiten</a:t>
            </a:r>
          </a:p>
        </p:txBody>
      </p:sp>
      <p:sp>
        <p:nvSpPr>
          <p:cNvPr id="8" name="terminata-translation">
            <a:extLst>
              <a:ext uri="{FF2B5EF4-FFF2-40B4-BE49-F238E27FC236}">
                <a16:creationId xmlns="" xmlns:a16="http://schemas.microsoft.com/office/drawing/2014/main" id="{78F596F8-5C37-4D09-8AC9-44ED41823EF4}"/>
              </a:ext>
            </a:extLst>
          </p:cNvPr>
          <p:cNvSpPr>
            <a:spLocks noGrp="1"/>
          </p:cNvSpPr>
          <p:nvPr/>
        </p:nvSpPr>
        <p:spPr>
          <a:xfrm>
            <a:off x="4914900" y="1390650"/>
            <a:ext cx="3810000" cy="295275"/>
          </a:xfrm>
          <a:prstGeom prst="rect">
            <a:avLst/>
          </a:prstGeom>
          <a:noFill/>
          <a:ln w="0">
            <a:noFill/>
            <a:prstDash val="solid"/>
          </a:ln>
        </p:spPr>
        <p:txBody>
          <a:bodyPr wrap="none" lIns="0" tIns="0" rIns="0" bIns="0" anchor="t">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begrenzte Unendlichkeiten</a:t>
            </a:r>
          </a:p>
        </p:txBody>
      </p:sp>
      <p:cxnSp>
        <p:nvCxnSpPr>
          <p:cNvPr id="9" name="unbounded-line">
            <a:extLst>
              <a:ext uri="{FF2B5EF4-FFF2-40B4-BE49-F238E27FC236}">
                <a16:creationId xmlns="" xmlns:a16="http://schemas.microsoft.com/office/drawing/2014/main" id="{D3919268-A8E0-4068-BF4A-8E2B68D689E4}"/>
              </a:ext>
            </a:extLst>
          </p:cNvPr>
          <p:cNvCxnSpPr/>
          <p:nvPr/>
        </p:nvCxnSpPr>
        <p:spPr>
          <a:xfrm>
            <a:off x="762000" y="2076450"/>
            <a:ext cx="3143250" cy="0"/>
          </a:xfrm>
          <a:prstGeom prst="straightConnector1">
            <a:avLst/>
          </a:prstGeom>
          <a:ln w="22860">
            <a:solidFill>
              <a:srgbClr val="4F81BD"/>
            </a:solidFill>
            <a:prstDash val="solid"/>
            <a:headEnd type="arrow" w="med" len="med"/>
            <a:tailEnd type="arrow" w="med" len="med"/>
          </a:ln>
        </p:spPr>
      </p:cxnSp>
      <p:cxnSp>
        <p:nvCxnSpPr>
          <p:cNvPr id="10" name="bounded-line-left">
            <a:extLst>
              <a:ext uri="{FF2B5EF4-FFF2-40B4-BE49-F238E27FC236}">
                <a16:creationId xmlns="" xmlns:a16="http://schemas.microsoft.com/office/drawing/2014/main" id="{0DF9D16E-EB83-41D1-9121-6ED087335C47}"/>
              </a:ext>
            </a:extLst>
          </p:cNvPr>
          <p:cNvCxnSpPr/>
          <p:nvPr/>
        </p:nvCxnSpPr>
        <p:spPr>
          <a:xfrm>
            <a:off x="5257800" y="2076450"/>
            <a:ext cx="1809750" cy="0"/>
          </a:xfrm>
          <a:prstGeom prst="straightConnector1">
            <a:avLst/>
          </a:prstGeom>
          <a:ln w="22860">
            <a:solidFill>
              <a:srgbClr val="4F81BD"/>
            </a:solidFill>
            <a:prstDash val="solid"/>
          </a:ln>
        </p:spPr>
      </p:cxnSp>
      <p:cxnSp>
        <p:nvCxnSpPr>
          <p:cNvPr id="11" name="bounded-line-right">
            <a:extLst>
              <a:ext uri="{FF2B5EF4-FFF2-40B4-BE49-F238E27FC236}">
                <a16:creationId xmlns="" xmlns:a16="http://schemas.microsoft.com/office/drawing/2014/main" id="{12720FF2-994E-4852-B0F2-8EDCF26697B7}"/>
              </a:ext>
            </a:extLst>
          </p:cNvPr>
          <p:cNvCxnSpPr/>
          <p:nvPr/>
        </p:nvCxnSpPr>
        <p:spPr>
          <a:xfrm>
            <a:off x="7391400" y="2076450"/>
            <a:ext cx="1028700" cy="0"/>
          </a:xfrm>
          <a:prstGeom prst="straightConnector1">
            <a:avLst/>
          </a:prstGeom>
          <a:ln w="22860">
            <a:solidFill>
              <a:srgbClr val="4F81BD"/>
            </a:solidFill>
            <a:prstDash val="solid"/>
          </a:ln>
        </p:spPr>
      </p:cxnSp>
      <p:cxnSp>
        <p:nvCxnSpPr>
          <p:cNvPr id="12" name="infinite-distance-break-1">
            <a:extLst>
              <a:ext uri="{FF2B5EF4-FFF2-40B4-BE49-F238E27FC236}">
                <a16:creationId xmlns="" xmlns:a16="http://schemas.microsoft.com/office/drawing/2014/main" id="{BF722420-24FE-4109-BFEC-E434A850E047}"/>
              </a:ext>
            </a:extLst>
          </p:cNvPr>
          <p:cNvCxnSpPr/>
          <p:nvPr/>
        </p:nvCxnSpPr>
        <p:spPr>
          <a:xfrm flipV="1">
            <a:off x="7115175" y="2009775"/>
            <a:ext cx="76200" cy="133350"/>
          </a:xfrm>
          <a:prstGeom prst="straightConnector1">
            <a:avLst/>
          </a:prstGeom>
          <a:ln w="15240">
            <a:solidFill>
              <a:srgbClr val="4F81BD"/>
            </a:solidFill>
            <a:prstDash val="solid"/>
          </a:ln>
        </p:spPr>
      </p:cxnSp>
      <p:cxnSp>
        <p:nvCxnSpPr>
          <p:cNvPr id="13" name="infinite-distance-break-2">
            <a:extLst>
              <a:ext uri="{FF2B5EF4-FFF2-40B4-BE49-F238E27FC236}">
                <a16:creationId xmlns="" xmlns:a16="http://schemas.microsoft.com/office/drawing/2014/main" id="{F4AA50A2-58AD-4119-A754-A93084C30B27}"/>
              </a:ext>
            </a:extLst>
          </p:cNvPr>
          <p:cNvCxnSpPr/>
          <p:nvPr/>
        </p:nvCxnSpPr>
        <p:spPr>
          <a:xfrm flipV="1">
            <a:off x="7229475" y="2009775"/>
            <a:ext cx="76200" cy="133350"/>
          </a:xfrm>
          <a:prstGeom prst="straightConnector1">
            <a:avLst/>
          </a:prstGeom>
          <a:ln w="15240">
            <a:solidFill>
              <a:srgbClr val="4F81BD"/>
            </a:solidFill>
            <a:prstDash val="solid"/>
          </a:ln>
        </p:spPr>
      </p:cxnSp>
      <p:sp>
        <p:nvSpPr>
          <p:cNvPr id="14" name="origin">
            <a:extLst>
              <a:ext uri="{FF2B5EF4-FFF2-40B4-BE49-F238E27FC236}">
                <a16:creationId xmlns="" xmlns:a16="http://schemas.microsoft.com/office/drawing/2014/main" id="{0C2D0F04-C7B7-4527-B00B-41F82A02B9C6}"/>
              </a:ext>
            </a:extLst>
          </p:cNvPr>
          <p:cNvSpPr>
            <a:spLocks noGrp="1"/>
          </p:cNvSpPr>
          <p:nvPr/>
        </p:nvSpPr>
        <p:spPr>
          <a:xfrm>
            <a:off x="5225415" y="2044065"/>
            <a:ext cx="64770" cy="64770"/>
          </a:xfrm>
          <a:prstGeom prst="ellipse">
            <a:avLst/>
          </a:prstGeom>
          <a:solidFill>
            <a:srgbClr val="000000"/>
          </a:solidFill>
          <a:ln w="0">
            <a:solidFill>
              <a:srgbClr val="000000"/>
            </a:solidFill>
            <a:prstDash val="solid"/>
          </a:ln>
        </p:spPr>
      </p:sp>
      <p:sp>
        <p:nvSpPr>
          <p:cNvPr id="15" name="infinite-endpoint">
            <a:extLst>
              <a:ext uri="{FF2B5EF4-FFF2-40B4-BE49-F238E27FC236}">
                <a16:creationId xmlns="" xmlns:a16="http://schemas.microsoft.com/office/drawing/2014/main" id="{3C139188-E24D-4A35-9D5B-5F4E69C9E067}"/>
              </a:ext>
            </a:extLst>
          </p:cNvPr>
          <p:cNvSpPr>
            <a:spLocks noGrp="1"/>
          </p:cNvSpPr>
          <p:nvPr/>
        </p:nvSpPr>
        <p:spPr>
          <a:xfrm>
            <a:off x="8387715" y="2044065"/>
            <a:ext cx="64770" cy="64770"/>
          </a:xfrm>
          <a:prstGeom prst="ellipse">
            <a:avLst/>
          </a:prstGeom>
          <a:solidFill>
            <a:srgbClr val="000000"/>
          </a:solidFill>
          <a:ln w="0">
            <a:solidFill>
              <a:srgbClr val="000000"/>
            </a:solidFill>
            <a:prstDash val="solid"/>
          </a:ln>
        </p:spPr>
      </p:sp>
      <p:pic>
        <p:nvPicPr>
          <p:cNvPr id="16" name="Grafik 15">
            <a:extLst>
              <a:ext uri="{FF2B5EF4-FFF2-40B4-BE49-F238E27FC236}">
                <a16:creationId xmlns="" xmlns:a16="http://schemas.microsoft.com/office/drawing/2014/main" id="{851F00FF-3271-4A99-BFED-66EEC5A1128F}"/>
              </a:ext>
            </a:extLst>
          </p:cNvPr>
          <p:cNvPicPr>
            <a:picLocks noChangeAspect="1"/>
          </p:cNvPicPr>
          <p:nvPr/>
        </p:nvPicPr>
        <p:blipFill>
          <a:blip r:embed="rId3"/>
          <a:stretch/>
        </p:blipFill>
        <p:spPr>
          <a:xfrm>
            <a:off x="5195055" y="2228850"/>
            <a:ext cx="125490" cy="219075"/>
          </a:xfrm>
          <a:prstGeom prst="rect">
            <a:avLst/>
          </a:prstGeom>
        </p:spPr>
      </p:pic>
      <p:pic>
        <p:nvPicPr>
          <p:cNvPr id="17" name="Grafik 16">
            <a:extLst>
              <a:ext uri="{FF2B5EF4-FFF2-40B4-BE49-F238E27FC236}">
                <a16:creationId xmlns="" xmlns:a16="http://schemas.microsoft.com/office/drawing/2014/main" id="{281F3951-30A6-4945-A19A-912AF2139BF2}"/>
              </a:ext>
            </a:extLst>
          </p:cNvPr>
          <p:cNvPicPr>
            <a:picLocks noChangeAspect="1"/>
          </p:cNvPicPr>
          <p:nvPr/>
        </p:nvPicPr>
        <p:blipFill>
          <a:blip r:embed="rId4"/>
          <a:stretch/>
        </p:blipFill>
        <p:spPr>
          <a:xfrm>
            <a:off x="8316943" y="2228850"/>
            <a:ext cx="206313" cy="219075"/>
          </a:xfrm>
          <a:prstGeom prst="rect">
            <a:avLst/>
          </a:prstGeom>
        </p:spPr>
      </p:pic>
      <p:sp>
        <p:nvSpPr>
          <p:cNvPr id="18" name="interminata-explanation">
            <a:extLst>
              <a:ext uri="{FF2B5EF4-FFF2-40B4-BE49-F238E27FC236}">
                <a16:creationId xmlns="" xmlns:a16="http://schemas.microsoft.com/office/drawing/2014/main" id="{861CF135-6DEE-45A3-BD3C-488A3BFAE0B0}"/>
              </a:ext>
            </a:extLst>
          </p:cNvPr>
          <p:cNvSpPr>
            <a:spLocks noGrp="1"/>
          </p:cNvSpPr>
          <p:nvPr/>
        </p:nvSpPr>
        <p:spPr>
          <a:xfrm>
            <a:off x="419100" y="2714625"/>
            <a:ext cx="3810000" cy="1000125"/>
          </a:xfrm>
          <a:prstGeom prst="rect">
            <a:avLst/>
          </a:prstGeom>
          <a:noFill/>
          <a:ln w="0">
            <a:noFill/>
            <a:prstDash val="solid"/>
          </a:ln>
        </p:spPr>
        <p:txBody>
          <a:bodyPr wrap="none" lIns="0" tIns="0" rIns="0" bIns="0" anchor="t">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Leibniz lehnt sie als Ganzes ab.</a:t>
            </a:r>
          </a:p>
          <a:p>
            <a:pPr algn="ct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Sie widersprechen dem</a:t>
            </a:r>
          </a:p>
          <a:p>
            <a:pPr algn="ct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Teil-Ganzes-Axiom.</a:t>
            </a:r>
          </a:p>
        </p:txBody>
      </p:sp>
      <p:sp>
        <p:nvSpPr>
          <p:cNvPr id="19" name="terminata-explanation">
            <a:extLst>
              <a:ext uri="{FF2B5EF4-FFF2-40B4-BE49-F238E27FC236}">
                <a16:creationId xmlns="" xmlns:a16="http://schemas.microsoft.com/office/drawing/2014/main" id="{F2BCA474-B404-4C4E-A2AE-51C16B9F8BA6}"/>
              </a:ext>
            </a:extLst>
          </p:cNvPr>
          <p:cNvSpPr>
            <a:spLocks noGrp="1"/>
          </p:cNvSpPr>
          <p:nvPr/>
        </p:nvSpPr>
        <p:spPr>
          <a:xfrm>
            <a:off x="4914900" y="2714625"/>
            <a:ext cx="3810000" cy="1000125"/>
          </a:xfrm>
          <a:prstGeom prst="rect">
            <a:avLst/>
          </a:prstGeom>
          <a:noFill/>
          <a:ln w="0">
            <a:noFill/>
            <a:prstDash val="solid"/>
          </a:ln>
        </p:spPr>
        <p:txBody>
          <a:bodyPr wrap="none" lIns="0" tIns="0" rIns="0" bIns="0" anchor="t">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defRPr sz="1800">
                <a:solidFill>
                  <a:srgbClr val="000000"/>
                </a:solidFill>
                <a:latin typeface="Times New Roman"/>
                <a:ea typeface="Times New Roman"/>
                <a:cs typeface="Times New Roman"/>
              </a:defRPr>
            </a:pPr>
            <a:r>
              <a:rPr sz="1800" dirty="0" err="1">
                <a:solidFill>
                  <a:srgbClr val="000000"/>
                </a:solidFill>
                <a:latin typeface="Times New Roman"/>
                <a:ea typeface="Times New Roman"/>
                <a:cs typeface="Times New Roman"/>
              </a:rPr>
              <a:t>Endpunkt</a:t>
            </a:r>
            <a:r>
              <a:rPr sz="1800" dirty="0">
                <a:solidFill>
                  <a:srgbClr val="000000"/>
                </a:solidFill>
                <a:latin typeface="Times New Roman"/>
                <a:ea typeface="Times New Roman"/>
                <a:cs typeface="Times New Roman"/>
              </a:rPr>
              <a:t> in </a:t>
            </a:r>
            <a:r>
              <a:rPr sz="1800" dirty="0" err="1">
                <a:solidFill>
                  <a:srgbClr val="000000"/>
                </a:solidFill>
                <a:latin typeface="Times New Roman"/>
                <a:ea typeface="Times New Roman"/>
                <a:cs typeface="Times New Roman"/>
              </a:rPr>
              <a:t>unendlicher</a:t>
            </a:r>
            <a:r>
              <a:rPr sz="1800" dirty="0">
                <a:solidFill>
                  <a:srgbClr val="000000"/>
                </a:solidFill>
                <a:latin typeface="Times New Roman"/>
                <a:ea typeface="Times New Roman"/>
                <a:cs typeface="Times New Roman"/>
              </a:rPr>
              <a:t> </a:t>
            </a:r>
            <a:r>
              <a:rPr sz="1800" dirty="0" err="1">
                <a:solidFill>
                  <a:srgbClr val="000000"/>
                </a:solidFill>
                <a:latin typeface="Times New Roman"/>
                <a:ea typeface="Times New Roman"/>
                <a:cs typeface="Times New Roman"/>
              </a:rPr>
              <a:t>Ferne</a:t>
            </a:r>
            <a:r>
              <a:rPr sz="1800" dirty="0">
                <a:solidFill>
                  <a:srgbClr val="000000"/>
                </a:solidFill>
                <a:latin typeface="Times New Roman"/>
                <a:ea typeface="Times New Roman"/>
                <a:cs typeface="Times New Roman"/>
              </a:rPr>
              <a:t>.</a:t>
            </a:r>
          </a:p>
          <a:p>
            <a:pPr algn="ctr">
              <a:defRPr sz="1800">
                <a:solidFill>
                  <a:srgbClr val="000000"/>
                </a:solidFill>
                <a:latin typeface="Times New Roman"/>
                <a:ea typeface="Times New Roman"/>
                <a:cs typeface="Times New Roman"/>
              </a:defRPr>
            </a:pPr>
            <a:r>
              <a:rPr sz="1800" dirty="0" err="1" smtClean="0">
                <a:solidFill>
                  <a:srgbClr val="000000"/>
                </a:solidFill>
                <a:latin typeface="Times New Roman"/>
                <a:ea typeface="Times New Roman"/>
                <a:cs typeface="Times New Roman"/>
              </a:rPr>
              <a:t>Ihr</a:t>
            </a:r>
            <a:r>
              <a:rPr sz="1800" dirty="0" smtClean="0">
                <a:solidFill>
                  <a:srgbClr val="000000"/>
                </a:solidFill>
                <a:latin typeface="Times New Roman"/>
                <a:ea typeface="Times New Roman"/>
                <a:cs typeface="Times New Roman"/>
              </a:rPr>
              <a:t> </a:t>
            </a:r>
            <a:r>
              <a:rPr sz="1800" dirty="0" err="1">
                <a:solidFill>
                  <a:srgbClr val="000000"/>
                </a:solidFill>
                <a:latin typeface="Times New Roman"/>
                <a:ea typeface="Times New Roman"/>
                <a:cs typeface="Times New Roman"/>
              </a:rPr>
              <a:t>Kehrwert</a:t>
            </a:r>
            <a:r>
              <a:rPr sz="1800" dirty="0">
                <a:solidFill>
                  <a:srgbClr val="000000"/>
                </a:solidFill>
                <a:latin typeface="Times New Roman"/>
                <a:ea typeface="Times New Roman"/>
                <a:cs typeface="Times New Roman"/>
              </a:rPr>
              <a:t> </a:t>
            </a:r>
            <a:r>
              <a:rPr sz="1800" dirty="0" err="1">
                <a:solidFill>
                  <a:srgbClr val="000000"/>
                </a:solidFill>
                <a:latin typeface="Times New Roman"/>
                <a:ea typeface="Times New Roman"/>
                <a:cs typeface="Times New Roman"/>
              </a:rPr>
              <a:t>ist</a:t>
            </a:r>
            <a:r>
              <a:rPr sz="1800" dirty="0">
                <a:solidFill>
                  <a:srgbClr val="000000"/>
                </a:solidFill>
                <a:latin typeface="Times New Roman"/>
                <a:ea typeface="Times New Roman"/>
                <a:cs typeface="Times New Roman"/>
              </a:rPr>
              <a:t> infinitesimal.</a:t>
            </a:r>
          </a:p>
        </p:txBody>
      </p:sp>
    </p:spTree>
    <p:extLst>
      <p:ext uri="{BB962C8B-B14F-4D97-AF65-F5344CB8AC3E}">
        <p14:creationId xmlns:p14="http://schemas.microsoft.com/office/powerpoint/2010/main" val="302086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8" grpId="0"/>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251520" y="1888252"/>
            <a:ext cx="8352928" cy="2123658"/>
          </a:xfrm>
          <a:prstGeom prst="rect">
            <a:avLst/>
          </a:prstGeom>
          <a:noFill/>
        </p:spPr>
        <p:txBody>
          <a:bodyPr wrap="square" rtlCol="0">
            <a:spAutoFit/>
          </a:bodyPr>
          <a:lstStyle/>
          <a:p>
            <a:pPr algn="ctr"/>
            <a:r>
              <a:rPr lang="de-DE" sz="6600" dirty="0"/>
              <a:t>Konstruktion von  ⃰ℝ</a:t>
            </a:r>
          </a:p>
          <a:p>
            <a:pPr algn="ctr"/>
            <a:endParaRPr lang="de-DE" sz="6600" dirty="0"/>
          </a:p>
        </p:txBody>
      </p:sp>
    </p:spTree>
    <p:extLst>
      <p:ext uri="{BB962C8B-B14F-4D97-AF65-F5344CB8AC3E}">
        <p14:creationId xmlns:p14="http://schemas.microsoft.com/office/powerpoint/2010/main" val="8758559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Genese</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Zahlbereiche</a:t>
            </a:r>
            <a:endParaRPr lang="en-CA" sz="3200" dirty="0">
              <a:solidFill>
                <a:schemeClr val="bg1"/>
              </a:solidFill>
              <a:effectLst>
                <a:outerShdw blurRad="38100" dist="38100" dir="2700000" algn="tl">
                  <a:srgbClr val="000000">
                    <a:alpha val="43137"/>
                  </a:srgbClr>
                </a:outerShdw>
              </a:effectLst>
            </a:endParaRPr>
          </a:p>
        </p:txBody>
      </p:sp>
      <p:pic>
        <p:nvPicPr>
          <p:cNvPr id="2050" name="Abschnitt 1 aus Bild 2050">
            <a:extLst>
              <a:ext uri="{FF2B5EF4-FFF2-40B4-BE49-F238E27FC236}">
                <a16:creationId xmlns="" xmlns:a16="http://schemas.microsoft.com/office/drawing/2014/main" id="{6C41E03C-5928-4D4E-A89D-AAB04A145C3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310" b="74718"/>
          <a:stretch/>
        </p:blipFill>
        <p:spPr bwMode="auto">
          <a:xfrm>
            <a:off x="722471" y="695545"/>
            <a:ext cx="7699153" cy="978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Abschnitt 2 aus Bild 2050">
            <a:extLst>
              <a:ext uri="{FF2B5EF4-FFF2-40B4-BE49-F238E27FC236}">
                <a16:creationId xmlns="" xmlns:a16="http://schemas.microsoft.com/office/drawing/2014/main" id="{A9931A33-DF4B-4DE5-BDDA-835937D8017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282" b="56497"/>
          <a:stretch/>
        </p:blipFill>
        <p:spPr bwMode="auto">
          <a:xfrm>
            <a:off x="722471" y="1674321"/>
            <a:ext cx="7699153" cy="850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Abschnitt 3 aus Bild 2050">
            <a:extLst>
              <a:ext uri="{FF2B5EF4-FFF2-40B4-BE49-F238E27FC236}">
                <a16:creationId xmlns="" xmlns:a16="http://schemas.microsoft.com/office/drawing/2014/main" id="{C3CB9B2C-358E-4A4D-B173-3A3596952FD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3503" b="37853"/>
          <a:stretch/>
        </p:blipFill>
        <p:spPr bwMode="auto">
          <a:xfrm>
            <a:off x="722471" y="2524655"/>
            <a:ext cx="7699153" cy="87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Abschnitt 4 aus Bild 2050">
            <a:extLst>
              <a:ext uri="{FF2B5EF4-FFF2-40B4-BE49-F238E27FC236}">
                <a16:creationId xmlns="" xmlns:a16="http://schemas.microsoft.com/office/drawing/2014/main" id="{79479861-0F46-42F2-AA7E-2573FF66C5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2147" b="19068"/>
          <a:stretch/>
        </p:blipFill>
        <p:spPr bwMode="auto">
          <a:xfrm>
            <a:off x="722471" y="3394765"/>
            <a:ext cx="7699153" cy="876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Abschnitt 5 aus Bild 2050">
            <a:extLst>
              <a:ext uri="{FF2B5EF4-FFF2-40B4-BE49-F238E27FC236}">
                <a16:creationId xmlns="" xmlns:a16="http://schemas.microsoft.com/office/drawing/2014/main" id="{D59643D0-6105-41DB-8482-6A8BE781DEF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0932" b="3067"/>
          <a:stretch/>
        </p:blipFill>
        <p:spPr bwMode="auto">
          <a:xfrm>
            <a:off x="722471" y="4271466"/>
            <a:ext cx="7699153" cy="74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6064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Genese</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Zahlbereiche</a:t>
            </a:r>
            <a:endParaRPr lang="en-CA" sz="3200" dirty="0">
              <a:solidFill>
                <a:schemeClr val="bg1"/>
              </a:solidFill>
              <a:effectLst>
                <a:outerShdw blurRad="38100" dist="38100" dir="2700000" algn="tl">
                  <a:srgbClr val="000000">
                    <a:alpha val="43137"/>
                  </a:srgbClr>
                </a:outerShdw>
              </a:effectLst>
            </a:endParaRPr>
          </a:p>
        </p:txBody>
      </p:sp>
      <p:pic>
        <p:nvPicPr>
          <p:cNvPr id="5121" name="Abschnitt 1 aus Bild 5121">
            <a:extLst>
              <a:ext uri="{FF2B5EF4-FFF2-40B4-BE49-F238E27FC236}">
                <a16:creationId xmlns="" xmlns:a16="http://schemas.microsoft.com/office/drawing/2014/main" id="{2E20A185-AC6A-47D1-9877-3AAD4ED097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7423"/>
          <a:stretch>
            <a:fillRect/>
          </a:stretch>
        </p:blipFill>
        <p:spPr bwMode="auto">
          <a:xfrm>
            <a:off x="179512" y="627534"/>
            <a:ext cx="8784976" cy="631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0" name="Abschnitt 2 aus Bild 5121">
            <a:extLst>
              <a:ext uri="{FF2B5EF4-FFF2-40B4-BE49-F238E27FC236}">
                <a16:creationId xmlns="" xmlns:a16="http://schemas.microsoft.com/office/drawing/2014/main" id="{19F3699F-4BDC-4806-B51B-74EE4CCAD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2577"/>
          <a:stretch>
            <a:fillRect/>
          </a:stretch>
        </p:blipFill>
        <p:spPr bwMode="auto">
          <a:xfrm>
            <a:off x="179512" y="1259383"/>
            <a:ext cx="8784976" cy="37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509" y="1707654"/>
            <a:ext cx="7802885" cy="345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520" y="4670588"/>
            <a:ext cx="5947569" cy="27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131" name="Schritt 3: Gleichheit und Ultrafilter"/>
          <p:cNvGrpSpPr/>
          <p:nvPr/>
        </p:nvGrpSpPr>
        <p:grpSpPr>
          <a:xfrm>
            <a:off x="285428" y="2067694"/>
            <a:ext cx="8679060" cy="789583"/>
            <a:chOff x="285428" y="2067694"/>
            <a:chExt cx="8679060" cy="789583"/>
          </a:xfrm>
        </p:grpSpPr>
        <p:pic>
          <p:nvPicPr>
            <p:cNvPr id="51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528" y="2067694"/>
              <a:ext cx="8640960" cy="481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428" y="2571750"/>
              <a:ext cx="5472608" cy="285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132" name="Schritt 4: Freier Ultrafilter"/>
          <p:cNvGrpSpPr/>
          <p:nvPr/>
        </p:nvGrpSpPr>
        <p:grpSpPr>
          <a:xfrm>
            <a:off x="179512" y="3096004"/>
            <a:ext cx="8784976" cy="1449350"/>
            <a:chOff x="179512" y="3096004"/>
            <a:chExt cx="8784976" cy="1449350"/>
          </a:xfrm>
        </p:grpSpPr>
        <p:pic>
          <p:nvPicPr>
            <p:cNvPr id="5128"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512" y="3096004"/>
              <a:ext cx="8784976" cy="1131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9"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520" y="4299942"/>
              <a:ext cx="5184576" cy="24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958334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Genese</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Zahlbereiche</a:t>
            </a:r>
            <a:endParaRPr lang="en-CA" sz="3200" dirty="0">
              <a:solidFill>
                <a:schemeClr val="bg1"/>
              </a:solidFill>
              <a:effectLst>
                <a:outerShdw blurRad="38100" dist="38100" dir="2700000" algn="tl">
                  <a:srgbClr val="000000">
                    <a:alpha val="43137"/>
                  </a:srgbClr>
                </a:outerShdw>
              </a:effectLst>
            </a:endParaRPr>
          </a:p>
        </p:txBody>
      </p:sp>
      <p:pic>
        <p:nvPicPr>
          <p:cNvPr id="7172" name="Abschnitt 1 aus Bild 7172">
            <a:extLst>
              <a:ext uri="{FF2B5EF4-FFF2-40B4-BE49-F238E27FC236}">
                <a16:creationId xmlns="" xmlns:a16="http://schemas.microsoft.com/office/drawing/2014/main" id="{5DDEB450-66A5-46C2-A6FB-B74A297B8F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7262"/>
          <a:stretch/>
        </p:blipFill>
        <p:spPr bwMode="auto">
          <a:xfrm>
            <a:off x="179512" y="3270613"/>
            <a:ext cx="8496944" cy="652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8" name="Abschnitt 2 aus Bild 7172">
            <a:extLst>
              <a:ext uri="{FF2B5EF4-FFF2-40B4-BE49-F238E27FC236}">
                <a16:creationId xmlns="" xmlns:a16="http://schemas.microsoft.com/office/drawing/2014/main" id="{D5C07285-C18F-49C1-8441-746F788CEE5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738" b="35417"/>
          <a:stretch/>
        </p:blipFill>
        <p:spPr bwMode="auto">
          <a:xfrm>
            <a:off x="179512" y="3922780"/>
            <a:ext cx="8496944" cy="634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9" name="Abschnitt 3 aus Bild 7172">
            <a:extLst>
              <a:ext uri="{FF2B5EF4-FFF2-40B4-BE49-F238E27FC236}">
                <a16:creationId xmlns="" xmlns:a16="http://schemas.microsoft.com/office/drawing/2014/main" id="{B0C81891-72EF-46C0-89C7-B3786EA75B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4583" b="19411"/>
          <a:stretch/>
        </p:blipFill>
        <p:spPr bwMode="auto">
          <a:xfrm>
            <a:off x="179512" y="4557161"/>
            <a:ext cx="8496944" cy="318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4" name="Abschnitt 1 aus Bild 7174">
            <a:extLst>
              <a:ext uri="{FF2B5EF4-FFF2-40B4-BE49-F238E27FC236}">
                <a16:creationId xmlns="" xmlns:a16="http://schemas.microsoft.com/office/drawing/2014/main" id="{B1A43BE6-F13E-419D-BAB8-3A435F391F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144" b="52752"/>
          <a:stretch/>
        </p:blipFill>
        <p:spPr bwMode="auto">
          <a:xfrm>
            <a:off x="253456" y="699542"/>
            <a:ext cx="8690520" cy="622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6" name="Abschnitt 2 aus Bild 7174">
            <a:extLst>
              <a:ext uri="{FF2B5EF4-FFF2-40B4-BE49-F238E27FC236}">
                <a16:creationId xmlns="" xmlns:a16="http://schemas.microsoft.com/office/drawing/2014/main" id="{01600727-F1AE-4262-B5AC-AD2E063D8FD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7248" r="7144"/>
          <a:stretch/>
        </p:blipFill>
        <p:spPr bwMode="auto">
          <a:xfrm>
            <a:off x="253456" y="1322206"/>
            <a:ext cx="8690520" cy="695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5" name="Abschnitt 1 aus Bild 7175">
            <a:extLst>
              <a:ext uri="{FF2B5EF4-FFF2-40B4-BE49-F238E27FC236}">
                <a16:creationId xmlns="" xmlns:a16="http://schemas.microsoft.com/office/drawing/2014/main" id="{CC9B142B-86D7-4417-A245-1FD61BE203E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8862" b="41358"/>
          <a:stretch/>
        </p:blipFill>
        <p:spPr bwMode="auto">
          <a:xfrm>
            <a:off x="253456" y="2211710"/>
            <a:ext cx="8595269" cy="585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7" name="Abschnitt 2 aus Bild 7175">
            <a:extLst>
              <a:ext uri="{FF2B5EF4-FFF2-40B4-BE49-F238E27FC236}">
                <a16:creationId xmlns="" xmlns:a16="http://schemas.microsoft.com/office/drawing/2014/main" id="{4F9262B0-3C53-41BB-A3FF-9FC14E00447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58642" r="8862"/>
          <a:stretch/>
        </p:blipFill>
        <p:spPr bwMode="auto">
          <a:xfrm>
            <a:off x="253456" y="2796856"/>
            <a:ext cx="8595269" cy="412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2649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Genese</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Zahlbereiche</a:t>
            </a:r>
            <a:endParaRPr lang="en-CA" sz="3200" dirty="0">
              <a:solidFill>
                <a:schemeClr val="bg1"/>
              </a:solidFill>
              <a:effectLst>
                <a:outerShdw blurRad="38100" dist="38100" dir="2700000" algn="tl">
                  <a:srgbClr val="000000">
                    <a:alpha val="43137"/>
                  </a:srgbClr>
                </a:outerShdw>
              </a:effectLst>
            </a:endParaRPr>
          </a:p>
        </p:txBody>
      </p:sp>
      <p:pic>
        <p:nvPicPr>
          <p:cNvPr id="8194" name="Abschnitt 1 aus Bild 8194">
            <a:extLst>
              <a:ext uri="{FF2B5EF4-FFF2-40B4-BE49-F238E27FC236}">
                <a16:creationId xmlns="" xmlns:a16="http://schemas.microsoft.com/office/drawing/2014/main" id="{71963C92-BF90-4DAF-B583-F6891E2431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7349"/>
          <a:stretch>
            <a:fillRect/>
          </a:stretch>
        </p:blipFill>
        <p:spPr bwMode="auto">
          <a:xfrm>
            <a:off x="251520" y="699543"/>
            <a:ext cx="8640960" cy="643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8" name="Abschnitt 2 aus Bild 8194">
            <a:extLst>
              <a:ext uri="{FF2B5EF4-FFF2-40B4-BE49-F238E27FC236}">
                <a16:creationId xmlns="" xmlns:a16="http://schemas.microsoft.com/office/drawing/2014/main" id="{C78B1918-4134-4727-B6DE-691A0F3C46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2651"/>
          <a:stretch>
            <a:fillRect/>
          </a:stretch>
        </p:blipFill>
        <p:spPr bwMode="auto">
          <a:xfrm>
            <a:off x="251520" y="1343205"/>
            <a:ext cx="8640960" cy="383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Abschnitt 1 aus Bild 8195">
            <a:extLst>
              <a:ext uri="{FF2B5EF4-FFF2-40B4-BE49-F238E27FC236}">
                <a16:creationId xmlns="" xmlns:a16="http://schemas.microsoft.com/office/drawing/2014/main" id="{71E69301-CBD6-4A7E-8A5F-6DD1F40D884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583" b="54772"/>
          <a:stretch/>
        </p:blipFill>
        <p:spPr bwMode="auto">
          <a:xfrm>
            <a:off x="251522" y="1851670"/>
            <a:ext cx="8787705" cy="641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9" name="Abschnitt 2 aus Bild 8195">
            <a:extLst>
              <a:ext uri="{FF2B5EF4-FFF2-40B4-BE49-F238E27FC236}">
                <a16:creationId xmlns="" xmlns:a16="http://schemas.microsoft.com/office/drawing/2014/main" id="{5B3D5891-E78E-4CB8-AABC-6E258EB931C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5228" r="1583" b="24896"/>
          <a:stretch/>
        </p:blipFill>
        <p:spPr bwMode="auto">
          <a:xfrm>
            <a:off x="251522" y="2493591"/>
            <a:ext cx="8787705" cy="424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00" name="Abschnitt 3 aus Bild 8195">
            <a:extLst>
              <a:ext uri="{FF2B5EF4-FFF2-40B4-BE49-F238E27FC236}">
                <a16:creationId xmlns="" xmlns:a16="http://schemas.microsoft.com/office/drawing/2014/main" id="{ADDBD7DC-86B2-4352-A504-8B6CD68DAFC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5104" r="1583"/>
          <a:stretch/>
        </p:blipFill>
        <p:spPr bwMode="auto">
          <a:xfrm>
            <a:off x="251522" y="2917613"/>
            <a:ext cx="8787705" cy="353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201" name="Schritt 5: Fazit"/>
          <p:cNvGrpSpPr/>
          <p:nvPr/>
        </p:nvGrpSpPr>
        <p:grpSpPr>
          <a:xfrm>
            <a:off x="251520" y="3323768"/>
            <a:ext cx="8640960" cy="1048183"/>
            <a:chOff x="251520" y="3323768"/>
            <a:chExt cx="8640960" cy="1048183"/>
          </a:xfrm>
        </p:grpSpPr>
        <p:pic>
          <p:nvPicPr>
            <p:cNvPr id="81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28" y="3900995"/>
              <a:ext cx="8568952" cy="470956"/>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251520" y="3323768"/>
              <a:ext cx="3240360" cy="400110"/>
            </a:xfrm>
            <a:prstGeom prst="rect">
              <a:avLst/>
            </a:prstGeom>
            <a:noFill/>
          </p:spPr>
          <p:txBody>
            <a:bodyPr wrap="square" rtlCol="0">
              <a:spAutoFit/>
            </a:bodyPr>
            <a:lstStyle/>
            <a:p>
              <a:pPr>
                <a:defRPr>
                  <a:latin typeface="Times New Roman"/>
                  <a:ea typeface="Times New Roman"/>
                  <a:cs typeface="Times New Roman"/>
                </a:defRPr>
              </a:pPr>
              <a:r>
                <a:rPr lang="de-DE" sz="2000" b="1" dirty="0" smtClean="0">
                  <a:latin typeface="Times New Roman"/>
                  <a:cs typeface="Times New Roman"/>
                </a:rPr>
                <a:t>Fazit</a:t>
              </a:r>
              <a:endParaRPr lang="de-DE" sz="2000" b="1" dirty="0">
                <a:latin typeface="Times New Roman"/>
                <a:cs typeface="Times New Roman"/>
              </a:endParaRPr>
            </a:p>
          </p:txBody>
        </p:sp>
      </p:grpSp>
    </p:spTree>
    <p:extLst>
      <p:ext uri="{BB962C8B-B14F-4D97-AF65-F5344CB8AC3E}">
        <p14:creationId xmlns:p14="http://schemas.microsoft.com/office/powerpoint/2010/main" val="260557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0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a:solidFill>
                  <a:schemeClr val="bg1"/>
                </a:solidFill>
                <a:effectLst>
                  <a:outerShdw blurRad="38100" dist="38100" dir="2700000" algn="tl">
                    <a:srgbClr val="000000">
                      <a:alpha val="43137"/>
                    </a:srgbClr>
                  </a:outerShdw>
                </a:effectLst>
              </a:rPr>
              <a:t>⃰</a:t>
            </a:r>
            <a:r>
              <a:rPr lang="en-CA" sz="3200" dirty="0" smtClean="0">
                <a:solidFill>
                  <a:schemeClr val="bg1"/>
                </a:solidFill>
                <a:effectLst>
                  <a:outerShdw blurRad="38100" dist="38100" dir="2700000" algn="tl">
                    <a:srgbClr val="000000">
                      <a:alpha val="43137"/>
                    </a:srgbClr>
                  </a:outerShdw>
                </a:effectLst>
              </a:rPr>
              <a:t>ℝ </a:t>
            </a:r>
            <a:r>
              <a:rPr lang="en-CA" sz="3200" dirty="0" err="1" smtClean="0">
                <a:solidFill>
                  <a:schemeClr val="bg1"/>
                </a:solidFill>
                <a:effectLst>
                  <a:outerShdw blurRad="38100" dist="38100" dir="2700000" algn="tl">
                    <a:srgbClr val="000000">
                      <a:alpha val="43137"/>
                    </a:srgbClr>
                  </a:outerShdw>
                </a:effectLst>
              </a:rPr>
              <a:t>ist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ein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geordneter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Körper</a:t>
            </a:r>
            <a:endParaRPr lang="en-CA" sz="3200" dirty="0">
              <a:solidFill>
                <a:schemeClr val="bg1"/>
              </a:solidFill>
              <a:effectLst>
                <a:outerShdw blurRad="38100" dist="38100" dir="2700000" algn="tl">
                  <a:srgbClr val="000000">
                    <a:alpha val="43137"/>
                  </a:srgbClr>
                </a:outerShdw>
              </a:effectLst>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 y="1039669"/>
            <a:ext cx="4000500" cy="1121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047815"/>
            <a:ext cx="4000500" cy="1104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 y="3144949"/>
            <a:ext cx="4000500" cy="930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3117254"/>
            <a:ext cx="4000500" cy="98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93450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Nichtstandardanalysis</a:t>
            </a:r>
            <a:r>
              <a:rPr lang="en-CA" sz="3200" dirty="0" smtClean="0">
                <a:solidFill>
                  <a:schemeClr val="bg1"/>
                </a:solidFill>
                <a:effectLst>
                  <a:outerShdw blurRad="38100" dist="38100" dir="2700000" algn="tl">
                    <a:srgbClr val="000000">
                      <a:alpha val="43137"/>
                    </a:srgbClr>
                  </a:outerShdw>
                </a:effectLst>
              </a:rPr>
              <a:t> und </a:t>
            </a:r>
            <a:r>
              <a:rPr lang="en-CA" sz="3200" dirty="0" err="1" smtClean="0">
                <a:solidFill>
                  <a:schemeClr val="bg1"/>
                </a:solidFill>
                <a:effectLst>
                  <a:outerShdw blurRad="38100" dist="38100" dir="2700000" algn="tl">
                    <a:srgbClr val="000000">
                      <a:alpha val="43137"/>
                    </a:srgbClr>
                  </a:outerShdw>
                </a:effectLst>
              </a:rPr>
              <a:t>Standardanalysis</a:t>
            </a:r>
            <a:endParaRPr lang="en-CA" sz="3200" dirty="0">
              <a:solidFill>
                <a:schemeClr val="bg1"/>
              </a:solidFill>
              <a:effectLst>
                <a:outerShdw blurRad="38100" dist="38100" dir="2700000" algn="tl">
                  <a:srgbClr val="000000">
                    <a:alpha val="43137"/>
                  </a:srgbClr>
                </a:outerShdw>
              </a:effectLst>
            </a:endParaRPr>
          </a:p>
        </p:txBody>
      </p:sp>
      <p:pic>
        <p:nvPicPr>
          <p:cNvPr id="6" name="Picture 2" descr="Personal Profile - SLMat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350" y="866791"/>
            <a:ext cx="2476500" cy="3302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feld 6"/>
          <p:cNvSpPr txBox="1"/>
          <p:nvPr/>
        </p:nvSpPr>
        <p:spPr>
          <a:xfrm>
            <a:off x="5943600" y="4305300"/>
            <a:ext cx="3048000" cy="640080"/>
          </a:xfrm>
          <a:prstGeom prst="rect">
            <a:avLst/>
          </a:prstGeom>
          <a:noFill/>
        </p:spPr>
        <p:txBody>
          <a:bodyPr wrap="square" lIns="0" tIns="0" rIns="0" bIns="0" anchor="t">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defRPr sz="1800">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Terence Tao</a:t>
            </a:r>
          </a:p>
          <a:p>
            <a:pPr algn="ctr">
              <a:defRPr sz="180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 1975)</a:t>
            </a:r>
          </a:p>
        </p:txBody>
      </p:sp>
      <p:grpSp>
        <p:nvGrpSpPr>
          <p:cNvPr id="9" name="Schritt 1: Zitat"/>
          <p:cNvGrpSpPr/>
          <p:nvPr/>
        </p:nvGrpSpPr>
        <p:grpSpPr>
          <a:xfrm>
            <a:off x="342900" y="914400"/>
            <a:ext cx="5381625" cy="2353816"/>
            <a:chOff x="342900" y="914400"/>
            <a:chExt cx="5381625" cy="2353816"/>
          </a:xfrm>
        </p:grpSpPr>
        <p:sp>
          <p:nvSpPr>
            <p:cNvPr id="5" name="Textfeld 4"/>
            <p:cNvSpPr txBox="1"/>
            <p:nvPr/>
          </p:nvSpPr>
          <p:spPr>
            <a:xfrm>
              <a:off x="342900" y="914400"/>
              <a:ext cx="5286375" cy="2031949"/>
            </a:xfrm>
            <a:prstGeom prst="rect">
              <a:avLst/>
            </a:prstGeom>
            <a:noFill/>
          </p:spPr>
          <p:txBody>
            <a:bodyPr wrap="square" lIns="0" tIns="0" rIns="0" bIns="0" anchor="t">
              <a:noAutofit/>
            </a:bodyPr>
            <a:lstStyle>
              <a:defPPr algn="just">
                <a:defRPr sz="1700">
                  <a:solidFill>
                    <a:srgbClr val="000000"/>
                  </a:solidFill>
                  <a:latin typeface="Times New Roman"/>
                  <a:ea typeface="Times New Roman"/>
                  <a:cs typeface="Times New Roman"/>
                </a:defRPr>
              </a:defPPr>
              <a:lvl1pPr algn="just">
                <a:defRPr sz="1700">
                  <a:solidFill>
                    <a:srgbClr val="000000"/>
                  </a:solidFill>
                  <a:latin typeface="Times New Roman"/>
                  <a:ea typeface="Times New Roman"/>
                  <a:cs typeface="Times New Roman"/>
                </a:defRPr>
              </a:lvl1pPr>
              <a:lvl2pPr algn="just">
                <a:defRPr sz="1700">
                  <a:solidFill>
                    <a:srgbClr val="000000"/>
                  </a:solidFill>
                  <a:latin typeface="Times New Roman"/>
                  <a:ea typeface="Times New Roman"/>
                  <a:cs typeface="Times New Roman"/>
                </a:defRPr>
              </a:lvl2pPr>
              <a:lvl3pPr algn="just">
                <a:defRPr sz="1700">
                  <a:solidFill>
                    <a:srgbClr val="000000"/>
                  </a:solidFill>
                  <a:latin typeface="Times New Roman"/>
                  <a:ea typeface="Times New Roman"/>
                  <a:cs typeface="Times New Roman"/>
                </a:defRPr>
              </a:lvl3pPr>
              <a:lvl4pPr algn="just">
                <a:defRPr sz="1700">
                  <a:solidFill>
                    <a:srgbClr val="000000"/>
                  </a:solidFill>
                  <a:latin typeface="Times New Roman"/>
                  <a:ea typeface="Times New Roman"/>
                  <a:cs typeface="Times New Roman"/>
                </a:defRPr>
              </a:lvl4pPr>
              <a:lvl5pPr algn="just">
                <a:defRPr sz="1700">
                  <a:solidFill>
                    <a:srgbClr val="000000"/>
                  </a:solidFill>
                  <a:latin typeface="Times New Roman"/>
                  <a:ea typeface="Times New Roman"/>
                  <a:cs typeface="Times New Roman"/>
                </a:defRPr>
              </a:lvl5pPr>
              <a:lvl6pPr algn="just">
                <a:defRPr sz="1700">
                  <a:solidFill>
                    <a:srgbClr val="000000"/>
                  </a:solidFill>
                  <a:latin typeface="Times New Roman"/>
                  <a:ea typeface="Times New Roman"/>
                  <a:cs typeface="Times New Roman"/>
                </a:defRPr>
              </a:lvl6pPr>
              <a:lvl7pPr algn="just">
                <a:defRPr sz="1700">
                  <a:solidFill>
                    <a:srgbClr val="000000"/>
                  </a:solidFill>
                  <a:latin typeface="Times New Roman"/>
                  <a:ea typeface="Times New Roman"/>
                  <a:cs typeface="Times New Roman"/>
                </a:defRPr>
              </a:lvl7pPr>
              <a:lvl8pPr algn="just">
                <a:defRPr sz="1700">
                  <a:solidFill>
                    <a:srgbClr val="000000"/>
                  </a:solidFill>
                  <a:latin typeface="Times New Roman"/>
                  <a:ea typeface="Times New Roman"/>
                  <a:cs typeface="Times New Roman"/>
                </a:defRPr>
              </a:lvl8pPr>
              <a:lvl9pPr algn="just">
                <a:defRPr sz="1700">
                  <a:solidFill>
                    <a:srgbClr val="000000"/>
                  </a:solidFill>
                  <a:latin typeface="Times New Roman"/>
                  <a:ea typeface="Times New Roman"/>
                  <a:cs typeface="Times New Roman"/>
                </a:defRPr>
              </a:lvl9pPr>
            </a:lstStyle>
            <a:p>
              <a:pPr algn="just">
                <a:lnSpc>
                  <a:spcPct val="107000"/>
                </a:lnSpc>
                <a:buNone/>
                <a:defRPr sz="1700">
                  <a:solidFill>
                    <a:srgbClr val="000000"/>
                  </a:solidFill>
                  <a:latin typeface="Times New Roman"/>
                  <a:ea typeface="Times New Roman"/>
                  <a:cs typeface="Times New Roman"/>
                </a:defRPr>
              </a:pPr>
              <a:r>
                <a:rPr sz="1700" dirty="0">
                  <a:solidFill>
                    <a:srgbClr val="000000"/>
                  </a:solidFill>
                  <a:latin typeface="Times New Roman"/>
                  <a:ea typeface="Times New Roman"/>
                  <a:cs typeface="Times New Roman"/>
                </a:rPr>
                <a:t>“I hope I have shown that non-standard analysis is not a totally ‘alien’ piece of mathematics, and that it is basically only </a:t>
              </a:r>
              <a:r>
                <a:rPr sz="1700" b="1" dirty="0">
                  <a:solidFill>
                    <a:srgbClr val="000000"/>
                  </a:solidFill>
                  <a:latin typeface="Times New Roman"/>
                  <a:ea typeface="Times New Roman"/>
                  <a:cs typeface="Times New Roman"/>
                </a:rPr>
                <a:t>‘one ultrafilter away’ from standard analysis</a:t>
              </a:r>
              <a:r>
                <a:rPr sz="1700" dirty="0">
                  <a:solidFill>
                    <a:srgbClr val="000000"/>
                  </a:solidFill>
                  <a:latin typeface="Times New Roman"/>
                  <a:ea typeface="Times New Roman"/>
                  <a:cs typeface="Times New Roman"/>
                </a:rPr>
                <a:t>. Once one selects an ultrafilter, it is actually relatively easy to swap back and forth from the standard universe and the non-standard one (or to doubly non-standard universes, etc.).”</a:t>
              </a:r>
            </a:p>
          </p:txBody>
        </p:sp>
        <p:sp>
          <p:nvSpPr>
            <p:cNvPr id="8" name="add-source-tao">
              <a:extLst>
                <a:ext uri="{FF2B5EF4-FFF2-40B4-BE49-F238E27FC236}">
                  <a16:creationId xmlns:a16="http://schemas.microsoft.com/office/drawing/2014/main" xmlns="" id="{F9749444-C1FF-4715-8DA0-236A47060274}"/>
                </a:ext>
              </a:extLst>
            </p:cNvPr>
            <p:cNvSpPr>
              <a:spLocks noGrp="1"/>
            </p:cNvSpPr>
            <p:nvPr/>
          </p:nvSpPr>
          <p:spPr>
            <a:xfrm>
              <a:off x="342900" y="2715766"/>
              <a:ext cx="5381625" cy="5524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defRPr sz="1050">
                  <a:solidFill>
                    <a:srgbClr val="000000"/>
                  </a:solidFill>
                  <a:latin typeface="Times New Roman"/>
                  <a:ea typeface="Times New Roman"/>
                  <a:cs typeface="Times New Roman"/>
                </a:defRPr>
              </a:pPr>
              <a:r>
                <a:rPr lang="en-CA" dirty="0" smtClean="0"/>
                <a:t>(T</a:t>
              </a:r>
              <a:r>
                <a:rPr sz="1050" dirty="0" err="1" smtClean="0">
                  <a:solidFill>
                    <a:srgbClr val="000000"/>
                  </a:solidFill>
                  <a:latin typeface="Times New Roman"/>
                  <a:ea typeface="Times New Roman"/>
                  <a:cs typeface="Times New Roman"/>
                </a:rPr>
                <a:t>erence</a:t>
              </a:r>
              <a:r>
                <a:rPr sz="1050" dirty="0" smtClean="0">
                  <a:solidFill>
                    <a:srgbClr val="000000"/>
                  </a:solidFill>
                  <a:latin typeface="Times New Roman"/>
                  <a:ea typeface="Times New Roman"/>
                  <a:cs typeface="Times New Roman"/>
                </a:rPr>
                <a:t> </a:t>
              </a:r>
              <a:r>
                <a:rPr sz="1050" dirty="0">
                  <a:solidFill>
                    <a:srgbClr val="000000"/>
                  </a:solidFill>
                  <a:latin typeface="Times New Roman"/>
                  <a:ea typeface="Times New Roman"/>
                  <a:cs typeface="Times New Roman"/>
                </a:rPr>
                <a:t>Tao, „Ultrafilters, nonstandard analysis, and </a:t>
              </a:r>
              <a:r>
                <a:rPr sz="1050" dirty="0" smtClean="0">
                  <a:solidFill>
                    <a:srgbClr val="000000"/>
                  </a:solidFill>
                  <a:latin typeface="Times New Roman"/>
                  <a:ea typeface="Times New Roman"/>
                  <a:cs typeface="Times New Roman"/>
                </a:rPr>
                <a:t>epsilon</a:t>
              </a:r>
              <a:r>
                <a:rPr lang="de-DE" sz="1050" dirty="0" smtClean="0">
                  <a:solidFill>
                    <a:srgbClr val="000000"/>
                  </a:solidFill>
                  <a:latin typeface="Times New Roman"/>
                  <a:ea typeface="Times New Roman"/>
                  <a:cs typeface="Times New Roman"/>
                </a:rPr>
                <a:t> m</a:t>
              </a:r>
              <a:r>
                <a:rPr sz="1050" dirty="0" err="1" smtClean="0">
                  <a:solidFill>
                    <a:srgbClr val="000000"/>
                  </a:solidFill>
                  <a:latin typeface="Times New Roman"/>
                  <a:ea typeface="Times New Roman"/>
                  <a:cs typeface="Times New Roman"/>
                </a:rPr>
                <a:t>anagement</a:t>
              </a:r>
              <a:r>
                <a:rPr sz="1050" dirty="0">
                  <a:solidFill>
                    <a:srgbClr val="000000"/>
                  </a:solidFill>
                  <a:latin typeface="Times New Roman"/>
                  <a:ea typeface="Times New Roman"/>
                  <a:cs typeface="Times New Roman"/>
                </a:rPr>
                <a:t>“, What’s new, 25. </a:t>
              </a:r>
              <a:r>
                <a:rPr sz="1050" dirty="0" err="1">
                  <a:solidFill>
                    <a:srgbClr val="000000"/>
                  </a:solidFill>
                  <a:latin typeface="Times New Roman"/>
                  <a:ea typeface="Times New Roman"/>
                  <a:cs typeface="Times New Roman"/>
                </a:rPr>
                <a:t>Juni</a:t>
              </a:r>
              <a:r>
                <a:rPr sz="1050" dirty="0">
                  <a:solidFill>
                    <a:srgbClr val="000000"/>
                  </a:solidFill>
                  <a:latin typeface="Times New Roman"/>
                  <a:ea typeface="Times New Roman"/>
                  <a:cs typeface="Times New Roman"/>
                </a:rPr>
                <a:t> 2007, </a:t>
              </a:r>
              <a:r>
                <a:rPr sz="1050" dirty="0" err="1">
                  <a:solidFill>
                    <a:srgbClr val="000000"/>
                  </a:solidFill>
                  <a:latin typeface="Times New Roman"/>
                  <a:ea typeface="Times New Roman"/>
                  <a:cs typeface="Times New Roman"/>
                </a:rPr>
                <a:t>Abschnitt</a:t>
              </a:r>
              <a:r>
                <a:rPr sz="1050" dirty="0">
                  <a:solidFill>
                    <a:srgbClr val="000000"/>
                  </a:solidFill>
                  <a:latin typeface="Times New Roman"/>
                  <a:ea typeface="Times New Roman"/>
                  <a:cs typeface="Times New Roman"/>
                </a:rPr>
                <a:t> „Conclusion</a:t>
              </a:r>
              <a:r>
                <a:rPr sz="1050" dirty="0" smtClean="0">
                  <a:solidFill>
                    <a:srgbClr val="000000"/>
                  </a:solidFill>
                  <a:latin typeface="Times New Roman"/>
                  <a:ea typeface="Times New Roman"/>
                  <a:cs typeface="Times New Roman"/>
                </a:rPr>
                <a:t>“</a:t>
              </a:r>
              <a:r>
                <a:rPr lang="en-CA" sz="1050" dirty="0" smtClean="0">
                  <a:solidFill>
                    <a:srgbClr val="000000"/>
                  </a:solidFill>
                  <a:latin typeface="Times New Roman"/>
                  <a:ea typeface="Times New Roman"/>
                  <a:cs typeface="Times New Roman"/>
                </a:rPr>
                <a:t>)</a:t>
              </a:r>
              <a:endParaRPr sz="1050" dirty="0">
                <a:solidFill>
                  <a:srgbClr val="000000"/>
                </a:solidFill>
                <a:latin typeface="Times New Roman"/>
                <a:ea typeface="Times New Roman"/>
                <a:cs typeface="Times New Roman"/>
              </a:endParaRPr>
            </a:p>
          </p:txBody>
        </p:sp>
      </p:grpSp>
    </p:spTree>
    <p:extLst>
      <p:ext uri="{BB962C8B-B14F-4D97-AF65-F5344CB8AC3E}">
        <p14:creationId xmlns:p14="http://schemas.microsoft.com/office/powerpoint/2010/main" val="2557283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Nichtarchimedische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Körpererweiterung</a:t>
            </a:r>
            <a:r>
              <a:rPr lang="en-CA" sz="3200" dirty="0" smtClean="0">
                <a:solidFill>
                  <a:schemeClr val="bg1"/>
                </a:solidFill>
                <a:effectLst>
                  <a:outerShdw blurRad="38100" dist="38100" dir="2700000" algn="tl">
                    <a:srgbClr val="000000">
                      <a:alpha val="43137"/>
                    </a:srgbClr>
                  </a:outerShdw>
                </a:effectLst>
              </a:rPr>
              <a:t>?</a:t>
            </a:r>
            <a:endParaRPr lang="en-CA" sz="3200" dirty="0">
              <a:solidFill>
                <a:schemeClr val="bg1"/>
              </a:solidFill>
              <a:effectLst>
                <a:outerShdw blurRad="38100" dist="38100" dir="2700000" algn="tl">
                  <a:srgbClr val="000000">
                    <a:alpha val="43137"/>
                  </a:srgbClr>
                </a:outerShdw>
              </a:effectLst>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193" y="699516"/>
            <a:ext cx="8639614" cy="1058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Abschnitt 1 aus Bild 2052">
            <a:extLst>
              <a:ext uri="{FF2B5EF4-FFF2-40B4-BE49-F238E27FC236}">
                <a16:creationId xmlns="" xmlns:a16="http://schemas.microsoft.com/office/drawing/2014/main" id="{B87F8228-3A05-4C73-8A0A-A6F51CA658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31801"/>
          <a:stretch>
            <a:fillRect/>
          </a:stretch>
        </p:blipFill>
        <p:spPr bwMode="auto">
          <a:xfrm>
            <a:off x="266452" y="1899380"/>
            <a:ext cx="8611096" cy="1071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Abschnitt 2 aus Bild 2052">
            <a:extLst>
              <a:ext uri="{FF2B5EF4-FFF2-40B4-BE49-F238E27FC236}">
                <a16:creationId xmlns="" xmlns:a16="http://schemas.microsoft.com/office/drawing/2014/main" id="{590BECBD-88A6-45CD-90BD-8D22E90DC1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68199"/>
          <a:stretch>
            <a:fillRect/>
          </a:stretch>
        </p:blipFill>
        <p:spPr bwMode="auto">
          <a:xfrm>
            <a:off x="266452" y="2970501"/>
            <a:ext cx="8611096" cy="499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131" y="3449479"/>
            <a:ext cx="8783833" cy="74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Abschnitt 1 aus Bild 2054">
            <a:extLst>
              <a:ext uri="{FF2B5EF4-FFF2-40B4-BE49-F238E27FC236}">
                <a16:creationId xmlns="" xmlns:a16="http://schemas.microsoft.com/office/drawing/2014/main" id="{26EC06FE-4D99-41E2-B80A-A839156B84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r="69673"/>
          <a:stretch>
            <a:fillRect/>
          </a:stretch>
        </p:blipFill>
        <p:spPr bwMode="auto">
          <a:xfrm>
            <a:off x="625452" y="4299966"/>
            <a:ext cx="2292624" cy="530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Abschnitt 2 aus Bild 2054">
            <a:extLst>
              <a:ext uri="{FF2B5EF4-FFF2-40B4-BE49-F238E27FC236}">
                <a16:creationId xmlns="" xmlns:a16="http://schemas.microsoft.com/office/drawing/2014/main" id="{FF7C3104-852A-4882-9BC5-4A472FE7F1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30327" r="35754"/>
          <a:stretch>
            <a:fillRect/>
          </a:stretch>
        </p:blipFill>
        <p:spPr bwMode="auto">
          <a:xfrm>
            <a:off x="2918076" y="4299966"/>
            <a:ext cx="2564119" cy="530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059" name="Schritt 6: Folgerung"/>
          <p:cNvGrpSpPr/>
          <p:nvPr/>
        </p:nvGrpSpPr>
        <p:grpSpPr>
          <a:xfrm>
            <a:off x="5482196" y="4299966"/>
            <a:ext cx="3369974" cy="530924"/>
            <a:chOff x="5482196" y="4299966"/>
            <a:chExt cx="3369974" cy="530924"/>
          </a:xfrm>
        </p:grpSpPr>
        <p:pic>
          <p:nvPicPr>
            <p:cNvPr id="2058" name="Abschnitt 3 aus Bild 2054">
              <a:extLst>
                <a:ext uri="{FF2B5EF4-FFF2-40B4-BE49-F238E27FC236}">
                  <a16:creationId xmlns="" xmlns:a16="http://schemas.microsoft.com/office/drawing/2014/main" id="{014CC02F-EFBA-46BE-8A87-57B70C2C04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64246"/>
            <a:stretch>
              <a:fillRect/>
            </a:stretch>
          </p:blipFill>
          <p:spPr bwMode="auto">
            <a:xfrm>
              <a:off x="5482196" y="4299966"/>
              <a:ext cx="2702883" cy="530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04448" y="4461382"/>
              <a:ext cx="247722" cy="266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14845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de-DE" sz="3200" dirty="0">
                <a:solidFill>
                  <a:schemeClr val="bg1"/>
                </a:solidFill>
                <a:effectLst>
                  <a:outerShdw blurRad="38100" dist="38100" dir="2700000" algn="tl">
                    <a:srgbClr val="000000">
                      <a:alpha val="43137"/>
                    </a:srgbClr>
                  </a:outerShdw>
                </a:effectLst>
              </a:rPr>
              <a:t>  ⃰</a:t>
            </a:r>
            <a:r>
              <a:rPr lang="de-DE" sz="3200" dirty="0" smtClean="0">
                <a:solidFill>
                  <a:schemeClr val="bg1"/>
                </a:solidFill>
                <a:effectLst>
                  <a:outerShdw blurRad="38100" dist="38100" dir="2700000" algn="tl">
                    <a:srgbClr val="000000">
                      <a:alpha val="43137"/>
                    </a:srgbClr>
                  </a:outerShdw>
                </a:effectLst>
              </a:rPr>
              <a:t>ℝ ist nicht Dedekind-vollständig</a:t>
            </a:r>
            <a:endParaRPr lang="de-DE" sz="3200" dirty="0">
              <a:solidFill>
                <a:schemeClr val="bg1"/>
              </a:solidFill>
              <a:effectLst>
                <a:outerShdw blurRad="38100" dist="38100" dir="2700000" algn="tl">
                  <a:srgbClr val="000000">
                    <a:alpha val="43137"/>
                  </a:srgbClr>
                </a:outerShdw>
              </a:effectLst>
            </a:endParaRPr>
          </a:p>
        </p:txBody>
      </p:sp>
      <p:pic>
        <p:nvPicPr>
          <p:cNvPr id="5123" name="Abschnitt 1 aus Bild 5123">
            <a:extLst>
              <a:ext uri="{FF2B5EF4-FFF2-40B4-BE49-F238E27FC236}">
                <a16:creationId xmlns="" xmlns:a16="http://schemas.microsoft.com/office/drawing/2014/main" id="{9CB32AD6-3FF2-4382-B7F1-B8147738DA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7768"/>
          <a:stretch>
            <a:fillRect/>
          </a:stretch>
        </p:blipFill>
        <p:spPr bwMode="auto">
          <a:xfrm>
            <a:off x="191041" y="695325"/>
            <a:ext cx="8761918" cy="643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Abschnitt 2 aus Bild 5123">
            <a:extLst>
              <a:ext uri="{FF2B5EF4-FFF2-40B4-BE49-F238E27FC236}">
                <a16:creationId xmlns="" xmlns:a16="http://schemas.microsoft.com/office/drawing/2014/main" id="{34AC3FA2-6FCE-4C8D-8F99-ABCFCC4BB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2232"/>
          <a:stretch>
            <a:fillRect/>
          </a:stretch>
        </p:blipFill>
        <p:spPr bwMode="auto">
          <a:xfrm>
            <a:off x="191041" y="1338856"/>
            <a:ext cx="8761918" cy="58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750" y="2141691"/>
            <a:ext cx="6087442" cy="304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128" name="Schritt 3: Beweis: beschränkte Menge"/>
          <p:cNvGrpSpPr/>
          <p:nvPr/>
        </p:nvGrpSpPr>
        <p:grpSpPr>
          <a:xfrm>
            <a:off x="252138" y="2499741"/>
            <a:ext cx="8639724" cy="487489"/>
            <a:chOff x="252138" y="2499741"/>
            <a:chExt cx="8639724" cy="487489"/>
          </a:xfrm>
        </p:grpSpPr>
        <p:pic>
          <p:nvPicPr>
            <p:cNvPr id="1028" name="Abschnitt 1 aus Bild 1028">
              <a:extLst>
                <a:ext uri="{FF2B5EF4-FFF2-40B4-BE49-F238E27FC236}">
                  <a16:creationId xmlns="" xmlns:a16="http://schemas.microsoft.com/office/drawing/2014/main" id="{9AC34787-1CD2-42A2-BBB8-6327458E7C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69880"/>
            <a:stretch>
              <a:fillRect/>
            </a:stretch>
          </p:blipFill>
          <p:spPr bwMode="auto">
            <a:xfrm>
              <a:off x="252138" y="2499741"/>
              <a:ext cx="8639724" cy="293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Abschnitt 2 aus Bild 1028">
              <a:extLst>
                <a:ext uri="{FF2B5EF4-FFF2-40B4-BE49-F238E27FC236}">
                  <a16:creationId xmlns="" xmlns:a16="http://schemas.microsoft.com/office/drawing/2014/main" id="{E6A24D9C-77F2-4F91-8A4F-7F3C2F95BD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30120" r="28552" b="50000"/>
            <a:stretch>
              <a:fillRect/>
            </a:stretch>
          </p:blipFill>
          <p:spPr bwMode="auto">
            <a:xfrm>
              <a:off x="252138" y="2793409"/>
              <a:ext cx="6172910" cy="193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129" name="Schritt 4: Beweis: kein Supremum"/>
          <p:cNvGrpSpPr/>
          <p:nvPr/>
        </p:nvGrpSpPr>
        <p:grpSpPr>
          <a:xfrm>
            <a:off x="252138" y="2793409"/>
            <a:ext cx="8639724" cy="681311"/>
            <a:chOff x="252138" y="2793409"/>
            <a:chExt cx="8639724" cy="681311"/>
          </a:xfrm>
        </p:grpSpPr>
        <p:pic>
          <p:nvPicPr>
            <p:cNvPr id="5126" name="Abschnitt 3 aus Bild 1028">
              <a:extLst>
                <a:ext uri="{FF2B5EF4-FFF2-40B4-BE49-F238E27FC236}">
                  <a16:creationId xmlns="" xmlns:a16="http://schemas.microsoft.com/office/drawing/2014/main" id="{7D51A13A-4DAB-4E17-AB6F-6ED9189F10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1448" t="30120" b="50000"/>
            <a:stretch>
              <a:fillRect/>
            </a:stretch>
          </p:blipFill>
          <p:spPr bwMode="auto">
            <a:xfrm>
              <a:off x="6425048" y="2793409"/>
              <a:ext cx="2466814" cy="193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7" name="Abschnitt 4 aus Bild 1028">
              <a:extLst>
                <a:ext uri="{FF2B5EF4-FFF2-40B4-BE49-F238E27FC236}">
                  <a16:creationId xmlns="" xmlns:a16="http://schemas.microsoft.com/office/drawing/2014/main" id="{D5B09830-1166-4518-9347-2EDBE6AFA9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000"/>
            <a:stretch>
              <a:fillRect/>
            </a:stretch>
          </p:blipFill>
          <p:spPr bwMode="auto">
            <a:xfrm>
              <a:off x="252138" y="2987230"/>
              <a:ext cx="8639724" cy="487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99008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899592" y="1823794"/>
            <a:ext cx="7632848" cy="1323439"/>
          </a:xfrm>
          <a:prstGeom prst="rect">
            <a:avLst/>
          </a:prstGeom>
          <a:noFill/>
        </p:spPr>
        <p:txBody>
          <a:bodyPr wrap="square" rtlCol="0">
            <a:spAutoFit/>
          </a:bodyPr>
          <a:lstStyle/>
          <a:p>
            <a:pPr algn="ctr"/>
            <a:r>
              <a:rPr lang="de-DE" sz="8000" dirty="0" smtClean="0"/>
              <a:t>Kontinuum</a:t>
            </a:r>
            <a:endParaRPr lang="de-DE" sz="8000" dirty="0"/>
          </a:p>
        </p:txBody>
      </p:sp>
    </p:spTree>
    <p:extLst>
      <p:ext uri="{BB962C8B-B14F-4D97-AF65-F5344CB8AC3E}">
        <p14:creationId xmlns:p14="http://schemas.microsoft.com/office/powerpoint/2010/main" val="37659437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Teil und Ganzes</a:t>
            </a:r>
            <a:endParaRPr lang="en-CA" sz="3200" dirty="0">
              <a:solidFill>
                <a:schemeClr val="bg1"/>
              </a:solidFill>
              <a:effectLst>
                <a:outerShdw blurRad="38100" dist="38100" dir="2700000" algn="tl">
                  <a:srgbClr val="000000">
                    <a:alpha val="43137"/>
                  </a:srgbClr>
                </a:outerShdw>
              </a:effectLst>
            </a:endParaRPr>
          </a:p>
        </p:txBody>
      </p:sp>
      <p:sp>
        <p:nvSpPr>
          <p:cNvPr id="1000" name="question-one-title">
            <a:extLst>
              <a:ext uri="{FF2B5EF4-FFF2-40B4-BE49-F238E27FC236}">
                <a16:creationId xmlns="" xmlns:a16="http://schemas.microsoft.com/office/drawing/2014/main" id="{97E9F816-9B65-422F-9800-FCF33A1CEBA4}"/>
              </a:ext>
            </a:extLst>
          </p:cNvPr>
          <p:cNvSpPr>
            <a:spLocks noGrp="1"/>
          </p:cNvSpPr>
          <p:nvPr/>
        </p:nvSpPr>
        <p:spPr>
          <a:xfrm>
            <a:off x="419100" y="1057275"/>
            <a:ext cx="4191000" cy="342900"/>
          </a:xfrm>
          <a:prstGeom prst="rect">
            <a:avLst/>
          </a:prstGeom>
          <a:noFill/>
          <a:ln w="0">
            <a:noFill/>
            <a:prstDash val="solid"/>
          </a:ln>
        </p:spPr>
        <p:txBody>
          <a:bodyPr wrap="square" lIns="0" tIns="0" rIns="0" bIns="0" anchor="t">
            <a:noAutofit/>
          </a:bodyPr>
          <a:lstStyle>
            <a:defPPr algn="l">
              <a:defRPr sz="2000" b="1">
                <a:solidFill>
                  <a:srgbClr val="000000"/>
                </a:solidFill>
                <a:latin typeface="Times New Roman"/>
                <a:ea typeface="Times New Roman"/>
                <a:cs typeface="Times New Roman"/>
              </a:defRPr>
            </a:defPPr>
            <a:lvl1pPr algn="l">
              <a:defRPr sz="2000" b="1">
                <a:solidFill>
                  <a:srgbClr val="000000"/>
                </a:solidFill>
                <a:latin typeface="Times New Roman"/>
                <a:ea typeface="Times New Roman"/>
                <a:cs typeface="Times New Roman"/>
              </a:defRPr>
            </a:lvl1pPr>
            <a:lvl2pPr algn="l">
              <a:defRPr sz="2000" b="1">
                <a:solidFill>
                  <a:srgbClr val="000000"/>
                </a:solidFill>
                <a:latin typeface="Times New Roman"/>
                <a:ea typeface="Times New Roman"/>
                <a:cs typeface="Times New Roman"/>
              </a:defRPr>
            </a:lvl2pPr>
            <a:lvl3pPr algn="l">
              <a:defRPr sz="2000" b="1">
                <a:solidFill>
                  <a:srgbClr val="000000"/>
                </a:solidFill>
                <a:latin typeface="Times New Roman"/>
                <a:ea typeface="Times New Roman"/>
                <a:cs typeface="Times New Roman"/>
              </a:defRPr>
            </a:lvl3pPr>
            <a:lvl4pPr algn="l">
              <a:defRPr sz="2000" b="1">
                <a:solidFill>
                  <a:srgbClr val="000000"/>
                </a:solidFill>
                <a:latin typeface="Times New Roman"/>
                <a:ea typeface="Times New Roman"/>
                <a:cs typeface="Times New Roman"/>
              </a:defRPr>
            </a:lvl4pPr>
            <a:lvl5pPr algn="l">
              <a:defRPr sz="2000" b="1">
                <a:solidFill>
                  <a:srgbClr val="000000"/>
                </a:solidFill>
                <a:latin typeface="Times New Roman"/>
                <a:ea typeface="Times New Roman"/>
                <a:cs typeface="Times New Roman"/>
              </a:defRPr>
            </a:lvl5pPr>
            <a:lvl6pPr algn="l">
              <a:defRPr sz="2000" b="1">
                <a:solidFill>
                  <a:srgbClr val="000000"/>
                </a:solidFill>
                <a:latin typeface="Times New Roman"/>
                <a:ea typeface="Times New Roman"/>
                <a:cs typeface="Times New Roman"/>
              </a:defRPr>
            </a:lvl6pPr>
            <a:lvl7pPr algn="l">
              <a:defRPr sz="2000" b="1">
                <a:solidFill>
                  <a:srgbClr val="000000"/>
                </a:solidFill>
                <a:latin typeface="Times New Roman"/>
                <a:ea typeface="Times New Roman"/>
                <a:cs typeface="Times New Roman"/>
              </a:defRPr>
            </a:lvl7pPr>
            <a:lvl8pPr algn="l">
              <a:defRPr sz="2000" b="1">
                <a:solidFill>
                  <a:srgbClr val="000000"/>
                </a:solidFill>
                <a:latin typeface="Times New Roman"/>
                <a:ea typeface="Times New Roman"/>
                <a:cs typeface="Times New Roman"/>
              </a:defRPr>
            </a:lvl8pPr>
            <a:lvl9pPr algn="l">
              <a:defRPr sz="2000" b="1">
                <a:solidFill>
                  <a:srgbClr val="000000"/>
                </a:solidFill>
                <a:latin typeface="Times New Roman"/>
                <a:ea typeface="Times New Roman"/>
                <a:cs typeface="Times New Roman"/>
              </a:defRPr>
            </a:lvl9pPr>
          </a:lstStyle>
          <a:p>
            <a:pPr algn="l">
              <a:lnSpc>
                <a:spcPct val="110000"/>
              </a:lnSpc>
              <a:buNone/>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Was ist zuerst gegeben?</a:t>
            </a:r>
          </a:p>
        </p:txBody>
      </p:sp>
      <p:sp>
        <p:nvSpPr>
          <p:cNvPr id="1001" name="question-one">
            <a:extLst>
              <a:ext uri="{FF2B5EF4-FFF2-40B4-BE49-F238E27FC236}">
                <a16:creationId xmlns="" xmlns:a16="http://schemas.microsoft.com/office/drawing/2014/main" id="{7D59ED06-CEB5-4FFA-A6FE-66687BC2D0DB}"/>
              </a:ext>
            </a:extLst>
          </p:cNvPr>
          <p:cNvSpPr>
            <a:spLocks noGrp="1"/>
          </p:cNvSpPr>
          <p:nvPr/>
        </p:nvSpPr>
        <p:spPr>
          <a:xfrm>
            <a:off x="419100" y="1466850"/>
            <a:ext cx="4191000" cy="609600"/>
          </a:xfrm>
          <a:prstGeom prst="rect">
            <a:avLst/>
          </a:prstGeom>
          <a:noFill/>
          <a:ln w="0">
            <a:noFill/>
            <a:prstDash val="solid"/>
          </a:ln>
        </p:spPr>
        <p:txBody>
          <a:bodyPr wrap="square" lIns="0" tIns="0" rIns="0" bIns="0" anchor="t">
            <a:noAutofit/>
          </a:bodyPr>
          <a:lstStyle>
            <a:defPPr algn="l">
              <a:defRPr sz="1900">
                <a:solidFill>
                  <a:srgbClr val="000000"/>
                </a:solidFill>
                <a:latin typeface="Times New Roman"/>
                <a:ea typeface="Times New Roman"/>
                <a:cs typeface="Times New Roman"/>
              </a:defRPr>
            </a:defPPr>
            <a:lvl1pPr algn="l">
              <a:defRPr sz="1900">
                <a:solidFill>
                  <a:srgbClr val="000000"/>
                </a:solidFill>
                <a:latin typeface="Times New Roman"/>
                <a:ea typeface="Times New Roman"/>
                <a:cs typeface="Times New Roman"/>
              </a:defRPr>
            </a:lvl1pPr>
            <a:lvl2pPr algn="l">
              <a:defRPr sz="1900">
                <a:solidFill>
                  <a:srgbClr val="000000"/>
                </a:solidFill>
                <a:latin typeface="Times New Roman"/>
                <a:ea typeface="Times New Roman"/>
                <a:cs typeface="Times New Roman"/>
              </a:defRPr>
            </a:lvl2pPr>
            <a:lvl3pPr algn="l">
              <a:defRPr sz="1900">
                <a:solidFill>
                  <a:srgbClr val="000000"/>
                </a:solidFill>
                <a:latin typeface="Times New Roman"/>
                <a:ea typeface="Times New Roman"/>
                <a:cs typeface="Times New Roman"/>
              </a:defRPr>
            </a:lvl3pPr>
            <a:lvl4pPr algn="l">
              <a:defRPr sz="1900">
                <a:solidFill>
                  <a:srgbClr val="000000"/>
                </a:solidFill>
                <a:latin typeface="Times New Roman"/>
                <a:ea typeface="Times New Roman"/>
                <a:cs typeface="Times New Roman"/>
              </a:defRPr>
            </a:lvl4pPr>
            <a:lvl5pPr algn="l">
              <a:defRPr sz="1900">
                <a:solidFill>
                  <a:srgbClr val="000000"/>
                </a:solidFill>
                <a:latin typeface="Times New Roman"/>
                <a:ea typeface="Times New Roman"/>
                <a:cs typeface="Times New Roman"/>
              </a:defRPr>
            </a:lvl5pPr>
            <a:lvl6pPr algn="l">
              <a:defRPr sz="1900">
                <a:solidFill>
                  <a:srgbClr val="000000"/>
                </a:solidFill>
                <a:latin typeface="Times New Roman"/>
                <a:ea typeface="Times New Roman"/>
                <a:cs typeface="Times New Roman"/>
              </a:defRPr>
            </a:lvl6pPr>
            <a:lvl7pPr algn="l">
              <a:defRPr sz="1900">
                <a:solidFill>
                  <a:srgbClr val="000000"/>
                </a:solidFill>
                <a:latin typeface="Times New Roman"/>
                <a:ea typeface="Times New Roman"/>
                <a:cs typeface="Times New Roman"/>
              </a:defRPr>
            </a:lvl7pPr>
            <a:lvl8pPr algn="l">
              <a:defRPr sz="1900">
                <a:solidFill>
                  <a:srgbClr val="000000"/>
                </a:solidFill>
                <a:latin typeface="Times New Roman"/>
                <a:ea typeface="Times New Roman"/>
                <a:cs typeface="Times New Roman"/>
              </a:defRPr>
            </a:lvl8pPr>
            <a:lvl9pPr algn="l">
              <a:defRPr sz="1900">
                <a:solidFill>
                  <a:srgbClr val="000000"/>
                </a:solidFill>
                <a:latin typeface="Times New Roman"/>
                <a:ea typeface="Times New Roman"/>
                <a:cs typeface="Times New Roman"/>
              </a:defRPr>
            </a:lvl9pPr>
          </a:lstStyle>
          <a:p>
            <a:pPr algn="l">
              <a:lnSpc>
                <a:spcPct val="110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Das Ganze oder seine Teile?</a:t>
            </a:r>
          </a:p>
        </p:txBody>
      </p:sp>
      <p:sp>
        <p:nvSpPr>
          <p:cNvPr id="1006" name="whole-label">
            <a:extLst>
              <a:ext uri="{FF2B5EF4-FFF2-40B4-BE49-F238E27FC236}">
                <a16:creationId xmlns="" xmlns:a16="http://schemas.microsoft.com/office/drawing/2014/main" id="{7502CC58-652A-49D0-B2F2-010B3521EF19}"/>
              </a:ext>
            </a:extLst>
          </p:cNvPr>
          <p:cNvSpPr>
            <a:spLocks noGrp="1"/>
          </p:cNvSpPr>
          <p:nvPr/>
        </p:nvSpPr>
        <p:spPr>
          <a:xfrm>
            <a:off x="5238750" y="1057275"/>
            <a:ext cx="3238500" cy="371475"/>
          </a:xfrm>
          <a:prstGeom prst="rect">
            <a:avLst/>
          </a:prstGeom>
          <a:noFill/>
          <a:ln w="0">
            <a:noFill/>
            <a:prstDash val="solid"/>
          </a:ln>
        </p:spPr>
        <p:txBody>
          <a:bodyPr wrap="square" lIns="0" tIns="0" rIns="0" bIns="0" anchor="ctr">
            <a:noAutofit/>
          </a:bodyPr>
          <a:lstStyle>
            <a:defPPr algn="ctr">
              <a:defRPr sz="2100" b="1">
                <a:solidFill>
                  <a:srgbClr val="000000"/>
                </a:solidFill>
                <a:latin typeface="Times New Roman"/>
                <a:ea typeface="Times New Roman"/>
                <a:cs typeface="Times New Roman"/>
              </a:defRPr>
            </a:defPPr>
            <a:lvl1pPr algn="ctr">
              <a:defRPr sz="2100" b="1">
                <a:solidFill>
                  <a:srgbClr val="000000"/>
                </a:solidFill>
                <a:latin typeface="Times New Roman"/>
                <a:ea typeface="Times New Roman"/>
                <a:cs typeface="Times New Roman"/>
              </a:defRPr>
            </a:lvl1pPr>
            <a:lvl2pPr algn="ctr">
              <a:defRPr sz="2100" b="1">
                <a:solidFill>
                  <a:srgbClr val="000000"/>
                </a:solidFill>
                <a:latin typeface="Times New Roman"/>
                <a:ea typeface="Times New Roman"/>
                <a:cs typeface="Times New Roman"/>
              </a:defRPr>
            </a:lvl2pPr>
            <a:lvl3pPr algn="ctr">
              <a:defRPr sz="2100" b="1">
                <a:solidFill>
                  <a:srgbClr val="000000"/>
                </a:solidFill>
                <a:latin typeface="Times New Roman"/>
                <a:ea typeface="Times New Roman"/>
                <a:cs typeface="Times New Roman"/>
              </a:defRPr>
            </a:lvl3pPr>
            <a:lvl4pPr algn="ctr">
              <a:defRPr sz="2100" b="1">
                <a:solidFill>
                  <a:srgbClr val="000000"/>
                </a:solidFill>
                <a:latin typeface="Times New Roman"/>
                <a:ea typeface="Times New Roman"/>
                <a:cs typeface="Times New Roman"/>
              </a:defRPr>
            </a:lvl4pPr>
            <a:lvl5pPr algn="ctr">
              <a:defRPr sz="2100" b="1">
                <a:solidFill>
                  <a:srgbClr val="000000"/>
                </a:solidFill>
                <a:latin typeface="Times New Roman"/>
                <a:ea typeface="Times New Roman"/>
                <a:cs typeface="Times New Roman"/>
              </a:defRPr>
            </a:lvl5pPr>
            <a:lvl6pPr algn="ctr">
              <a:defRPr sz="2100" b="1">
                <a:solidFill>
                  <a:srgbClr val="000000"/>
                </a:solidFill>
                <a:latin typeface="Times New Roman"/>
                <a:ea typeface="Times New Roman"/>
                <a:cs typeface="Times New Roman"/>
              </a:defRPr>
            </a:lvl6pPr>
            <a:lvl7pPr algn="ctr">
              <a:defRPr sz="2100" b="1">
                <a:solidFill>
                  <a:srgbClr val="000000"/>
                </a:solidFill>
                <a:latin typeface="Times New Roman"/>
                <a:ea typeface="Times New Roman"/>
                <a:cs typeface="Times New Roman"/>
              </a:defRPr>
            </a:lvl7pPr>
            <a:lvl8pPr algn="ctr">
              <a:defRPr sz="2100" b="1">
                <a:solidFill>
                  <a:srgbClr val="000000"/>
                </a:solidFill>
                <a:latin typeface="Times New Roman"/>
                <a:ea typeface="Times New Roman"/>
                <a:cs typeface="Times New Roman"/>
              </a:defRPr>
            </a:lvl8pPr>
            <a:lvl9pPr algn="ctr">
              <a:defRPr sz="2100" b="1">
                <a:solidFill>
                  <a:srgbClr val="000000"/>
                </a:solidFill>
                <a:latin typeface="Times New Roman"/>
                <a:ea typeface="Times New Roman"/>
                <a:cs typeface="Times New Roman"/>
              </a:defRPr>
            </a:lvl9pPr>
          </a:lstStyle>
          <a:p>
            <a:pPr algn="ctr">
              <a:lnSpc>
                <a:spcPct val="110000"/>
              </a:lnSpc>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Ein Ganzes</a:t>
            </a:r>
          </a:p>
        </p:txBody>
      </p:sp>
      <p:sp>
        <p:nvSpPr>
          <p:cNvPr id="1007" name="whole">
            <a:extLst>
              <a:ext uri="{FF2B5EF4-FFF2-40B4-BE49-F238E27FC236}">
                <a16:creationId xmlns="" xmlns:a16="http://schemas.microsoft.com/office/drawing/2014/main" id="{D2764909-33DD-4DAE-A9EF-ACB013EB5003}"/>
              </a:ext>
            </a:extLst>
          </p:cNvPr>
          <p:cNvSpPr>
            <a:spLocks noGrp="1"/>
          </p:cNvSpPr>
          <p:nvPr/>
        </p:nvSpPr>
        <p:spPr>
          <a:xfrm>
            <a:off x="5429250" y="1581150"/>
            <a:ext cx="2857500" cy="609600"/>
          </a:xfrm>
          <a:prstGeom prst="rect">
            <a:avLst/>
          </a:prstGeom>
          <a:solidFill>
            <a:srgbClr val="DCE6F1"/>
          </a:solidFill>
          <a:ln w="14288">
            <a:solidFill>
              <a:srgbClr val="4F81BD"/>
            </a:solidFill>
            <a:prstDash val="solid"/>
          </a:ln>
        </p:spPr>
      </p:sp>
      <p:sp>
        <p:nvSpPr>
          <p:cNvPr id="1016" name="sources">
            <a:extLst>
              <a:ext uri="{FF2B5EF4-FFF2-40B4-BE49-F238E27FC236}">
                <a16:creationId xmlns="" xmlns:a16="http://schemas.microsoft.com/office/drawing/2014/main" id="{DAEE2ED4-7934-40D1-A824-A53F8129F4C7}"/>
              </a:ext>
            </a:extLst>
          </p:cNvPr>
          <p:cNvSpPr>
            <a:spLocks noGrp="1"/>
          </p:cNvSpPr>
          <p:nvPr/>
        </p:nvSpPr>
        <p:spPr>
          <a:xfrm>
            <a:off x="419100" y="4914900"/>
            <a:ext cx="8305800" cy="171450"/>
          </a:xfrm>
          <a:prstGeom prst="rect">
            <a:avLst/>
          </a:prstGeom>
          <a:noFill/>
          <a:ln w="0">
            <a:noFill/>
            <a:prstDash val="solid"/>
          </a:ln>
        </p:spPr>
        <p:txBody>
          <a:bodyPr wrap="square" lIns="0" tIns="0" rIns="0" bIns="0" anchor="t">
            <a:noAutofit/>
          </a:bodyPr>
          <a:lstStyle>
            <a:defPPr algn="l">
              <a:defRPr sz="950">
                <a:solidFill>
                  <a:srgbClr val="000000"/>
                </a:solidFill>
                <a:latin typeface="Times New Roman"/>
                <a:ea typeface="Times New Roman"/>
                <a:cs typeface="Times New Roman"/>
              </a:defRPr>
            </a:defPPr>
            <a:lvl1pPr algn="l">
              <a:defRPr sz="950">
                <a:solidFill>
                  <a:srgbClr val="000000"/>
                </a:solidFill>
                <a:latin typeface="Times New Roman"/>
                <a:ea typeface="Times New Roman"/>
                <a:cs typeface="Times New Roman"/>
              </a:defRPr>
            </a:lvl1pPr>
            <a:lvl2pPr algn="l">
              <a:defRPr sz="950">
                <a:solidFill>
                  <a:srgbClr val="000000"/>
                </a:solidFill>
                <a:latin typeface="Times New Roman"/>
                <a:ea typeface="Times New Roman"/>
                <a:cs typeface="Times New Roman"/>
              </a:defRPr>
            </a:lvl2pPr>
            <a:lvl3pPr algn="l">
              <a:defRPr sz="950">
                <a:solidFill>
                  <a:srgbClr val="000000"/>
                </a:solidFill>
                <a:latin typeface="Times New Roman"/>
                <a:ea typeface="Times New Roman"/>
                <a:cs typeface="Times New Roman"/>
              </a:defRPr>
            </a:lvl3pPr>
            <a:lvl4pPr algn="l">
              <a:defRPr sz="950">
                <a:solidFill>
                  <a:srgbClr val="000000"/>
                </a:solidFill>
                <a:latin typeface="Times New Roman"/>
                <a:ea typeface="Times New Roman"/>
                <a:cs typeface="Times New Roman"/>
              </a:defRPr>
            </a:lvl4pPr>
            <a:lvl5pPr algn="l">
              <a:defRPr sz="950">
                <a:solidFill>
                  <a:srgbClr val="000000"/>
                </a:solidFill>
                <a:latin typeface="Times New Roman"/>
                <a:ea typeface="Times New Roman"/>
                <a:cs typeface="Times New Roman"/>
              </a:defRPr>
            </a:lvl5pPr>
            <a:lvl6pPr algn="l">
              <a:defRPr sz="950">
                <a:solidFill>
                  <a:srgbClr val="000000"/>
                </a:solidFill>
                <a:latin typeface="Times New Roman"/>
                <a:ea typeface="Times New Roman"/>
                <a:cs typeface="Times New Roman"/>
              </a:defRPr>
            </a:lvl6pPr>
            <a:lvl7pPr algn="l">
              <a:defRPr sz="950">
                <a:solidFill>
                  <a:srgbClr val="000000"/>
                </a:solidFill>
                <a:latin typeface="Times New Roman"/>
                <a:ea typeface="Times New Roman"/>
                <a:cs typeface="Times New Roman"/>
              </a:defRPr>
            </a:lvl7pPr>
            <a:lvl8pPr algn="l">
              <a:defRPr sz="950">
                <a:solidFill>
                  <a:srgbClr val="000000"/>
                </a:solidFill>
                <a:latin typeface="Times New Roman"/>
                <a:ea typeface="Times New Roman"/>
                <a:cs typeface="Times New Roman"/>
              </a:defRPr>
            </a:lvl8pPr>
            <a:lvl9pPr algn="l">
              <a:defRPr sz="950">
                <a:solidFill>
                  <a:srgbClr val="000000"/>
                </a:solidFill>
                <a:latin typeface="Times New Roman"/>
                <a:ea typeface="Times New Roman"/>
                <a:cs typeface="Times New Roman"/>
              </a:defRPr>
            </a:lvl9pPr>
          </a:lstStyle>
          <a:p>
            <a:pPr algn="l">
              <a:lnSpc>
                <a:spcPct val="100000"/>
              </a:lnSpc>
              <a:buNone/>
              <a:defRPr sz="950">
                <a:solidFill>
                  <a:srgbClr val="000000"/>
                </a:solidFill>
                <a:latin typeface="Times New Roman"/>
                <a:ea typeface="Times New Roman"/>
                <a:cs typeface="Times New Roman"/>
              </a:defRPr>
            </a:pPr>
            <a:r>
              <a:rPr sz="950">
                <a:solidFill>
                  <a:srgbClr val="000000"/>
                </a:solidFill>
                <a:latin typeface="Times New Roman"/>
                <a:ea typeface="Times New Roman"/>
                <a:cs typeface="Times New Roman"/>
              </a:rPr>
              <a:t>Bedürftig / Murawski (2019), § 3.3.2 und § 3.3.5, S. 197–198, 213–215.</a:t>
            </a:r>
          </a:p>
        </p:txBody>
      </p:sp>
      <p:grpSp>
        <p:nvGrpSpPr>
          <p:cNvPr id="2001" name="Schritt 1"/>
          <p:cNvGrpSpPr/>
          <p:nvPr/>
        </p:nvGrpSpPr>
        <p:grpSpPr>
          <a:xfrm>
            <a:off x="419100" y="2105025"/>
            <a:ext cx="8058150" cy="2657475"/>
            <a:chOff x="419100" y="2105025"/>
            <a:chExt cx="8058150" cy="2657475"/>
          </a:xfrm>
        </p:grpSpPr>
        <p:sp>
          <p:nvSpPr>
            <p:cNvPr id="1002" name="question-two-title">
              <a:extLst>
                <a:ext uri="{FF2B5EF4-FFF2-40B4-BE49-F238E27FC236}">
                  <a16:creationId xmlns="" xmlns:a16="http://schemas.microsoft.com/office/drawing/2014/main" id="{2D29A65B-E3F8-432C-99D0-FB457C6957AA}"/>
                </a:ext>
              </a:extLst>
            </p:cNvPr>
            <p:cNvSpPr>
              <a:spLocks noGrp="1"/>
            </p:cNvSpPr>
            <p:nvPr/>
          </p:nvSpPr>
          <p:spPr>
            <a:xfrm>
              <a:off x="419100" y="2105025"/>
              <a:ext cx="4191000" cy="342900"/>
            </a:xfrm>
            <a:prstGeom prst="rect">
              <a:avLst/>
            </a:prstGeom>
            <a:noFill/>
            <a:ln w="0">
              <a:noFill/>
              <a:prstDash val="solid"/>
            </a:ln>
          </p:spPr>
          <p:txBody>
            <a:bodyPr wrap="square" lIns="0" tIns="0" rIns="0" bIns="0" anchor="t">
              <a:noAutofit/>
            </a:bodyPr>
            <a:lstStyle>
              <a:defPPr algn="l">
                <a:defRPr sz="2000" b="1">
                  <a:solidFill>
                    <a:srgbClr val="000000"/>
                  </a:solidFill>
                  <a:latin typeface="Times New Roman"/>
                  <a:ea typeface="Times New Roman"/>
                  <a:cs typeface="Times New Roman"/>
                </a:defRPr>
              </a:defPPr>
              <a:lvl1pPr algn="l">
                <a:defRPr sz="2000" b="1">
                  <a:solidFill>
                    <a:srgbClr val="000000"/>
                  </a:solidFill>
                  <a:latin typeface="Times New Roman"/>
                  <a:ea typeface="Times New Roman"/>
                  <a:cs typeface="Times New Roman"/>
                </a:defRPr>
              </a:lvl1pPr>
              <a:lvl2pPr algn="l">
                <a:defRPr sz="2000" b="1">
                  <a:solidFill>
                    <a:srgbClr val="000000"/>
                  </a:solidFill>
                  <a:latin typeface="Times New Roman"/>
                  <a:ea typeface="Times New Roman"/>
                  <a:cs typeface="Times New Roman"/>
                </a:defRPr>
              </a:lvl2pPr>
              <a:lvl3pPr algn="l">
                <a:defRPr sz="2000" b="1">
                  <a:solidFill>
                    <a:srgbClr val="000000"/>
                  </a:solidFill>
                  <a:latin typeface="Times New Roman"/>
                  <a:ea typeface="Times New Roman"/>
                  <a:cs typeface="Times New Roman"/>
                </a:defRPr>
              </a:lvl3pPr>
              <a:lvl4pPr algn="l">
                <a:defRPr sz="2000" b="1">
                  <a:solidFill>
                    <a:srgbClr val="000000"/>
                  </a:solidFill>
                  <a:latin typeface="Times New Roman"/>
                  <a:ea typeface="Times New Roman"/>
                  <a:cs typeface="Times New Roman"/>
                </a:defRPr>
              </a:lvl4pPr>
              <a:lvl5pPr algn="l">
                <a:defRPr sz="2000" b="1">
                  <a:solidFill>
                    <a:srgbClr val="000000"/>
                  </a:solidFill>
                  <a:latin typeface="Times New Roman"/>
                  <a:ea typeface="Times New Roman"/>
                  <a:cs typeface="Times New Roman"/>
                </a:defRPr>
              </a:lvl5pPr>
              <a:lvl6pPr algn="l">
                <a:defRPr sz="2000" b="1">
                  <a:solidFill>
                    <a:srgbClr val="000000"/>
                  </a:solidFill>
                  <a:latin typeface="Times New Roman"/>
                  <a:ea typeface="Times New Roman"/>
                  <a:cs typeface="Times New Roman"/>
                </a:defRPr>
              </a:lvl6pPr>
              <a:lvl7pPr algn="l">
                <a:defRPr sz="2000" b="1">
                  <a:solidFill>
                    <a:srgbClr val="000000"/>
                  </a:solidFill>
                  <a:latin typeface="Times New Roman"/>
                  <a:ea typeface="Times New Roman"/>
                  <a:cs typeface="Times New Roman"/>
                </a:defRPr>
              </a:lvl7pPr>
              <a:lvl8pPr algn="l">
                <a:defRPr sz="2000" b="1">
                  <a:solidFill>
                    <a:srgbClr val="000000"/>
                  </a:solidFill>
                  <a:latin typeface="Times New Roman"/>
                  <a:ea typeface="Times New Roman"/>
                  <a:cs typeface="Times New Roman"/>
                </a:defRPr>
              </a:lvl8pPr>
              <a:lvl9pPr algn="l">
                <a:defRPr sz="2000" b="1">
                  <a:solidFill>
                    <a:srgbClr val="000000"/>
                  </a:solidFill>
                  <a:latin typeface="Times New Roman"/>
                  <a:ea typeface="Times New Roman"/>
                  <a:cs typeface="Times New Roman"/>
                </a:defRPr>
              </a:lvl9pPr>
            </a:lstStyle>
            <a:p>
              <a:pPr algn="l">
                <a:lnSpc>
                  <a:spcPct val="110000"/>
                </a:lnSpc>
                <a:buNone/>
                <a:defRPr sz="2000" b="1">
                  <a:solidFill>
                    <a:srgbClr val="000000"/>
                  </a:solidFill>
                  <a:latin typeface="Times New Roman"/>
                  <a:ea typeface="Times New Roman"/>
                  <a:cs typeface="Times New Roman"/>
                </a:defRPr>
              </a:pPr>
              <a:r>
                <a:rPr sz="2000" b="1" dirty="0" err="1">
                  <a:solidFill>
                    <a:srgbClr val="000000"/>
                  </a:solidFill>
                  <a:latin typeface="Times New Roman"/>
                  <a:ea typeface="Times New Roman"/>
                  <a:cs typeface="Times New Roman"/>
                </a:rPr>
                <a:t>Gibt</a:t>
              </a:r>
              <a:r>
                <a:rPr sz="2000" b="1" dirty="0">
                  <a:solidFill>
                    <a:srgbClr val="000000"/>
                  </a:solidFill>
                  <a:latin typeface="Times New Roman"/>
                  <a:ea typeface="Times New Roman"/>
                  <a:cs typeface="Times New Roman"/>
                </a:rPr>
                <a:t> </a:t>
              </a:r>
              <a:r>
                <a:rPr sz="2000" b="1" dirty="0" err="1">
                  <a:solidFill>
                    <a:srgbClr val="000000"/>
                  </a:solidFill>
                  <a:latin typeface="Times New Roman"/>
                  <a:ea typeface="Times New Roman"/>
                  <a:cs typeface="Times New Roman"/>
                </a:rPr>
                <a:t>es</a:t>
              </a:r>
              <a:r>
                <a:rPr sz="2000" b="1" dirty="0">
                  <a:solidFill>
                    <a:srgbClr val="000000"/>
                  </a:solidFill>
                  <a:latin typeface="Times New Roman"/>
                  <a:ea typeface="Times New Roman"/>
                  <a:cs typeface="Times New Roman"/>
                </a:rPr>
                <a:t> </a:t>
              </a:r>
              <a:r>
                <a:rPr sz="2000" b="1" dirty="0" err="1">
                  <a:solidFill>
                    <a:srgbClr val="000000"/>
                  </a:solidFill>
                  <a:latin typeface="Times New Roman"/>
                  <a:ea typeface="Times New Roman"/>
                  <a:cs typeface="Times New Roman"/>
                </a:rPr>
                <a:t>letzte</a:t>
              </a:r>
              <a:r>
                <a:rPr sz="2000" b="1" dirty="0">
                  <a:solidFill>
                    <a:srgbClr val="000000"/>
                  </a:solidFill>
                  <a:latin typeface="Times New Roman"/>
                  <a:ea typeface="Times New Roman"/>
                  <a:cs typeface="Times New Roman"/>
                </a:rPr>
                <a:t> </a:t>
              </a:r>
              <a:r>
                <a:rPr sz="2000" b="1" dirty="0" err="1">
                  <a:solidFill>
                    <a:srgbClr val="000000"/>
                  </a:solidFill>
                  <a:latin typeface="Times New Roman"/>
                  <a:ea typeface="Times New Roman"/>
                  <a:cs typeface="Times New Roman"/>
                </a:rPr>
                <a:t>Teile</a:t>
              </a:r>
              <a:r>
                <a:rPr sz="2000" b="1" dirty="0">
                  <a:solidFill>
                    <a:srgbClr val="000000"/>
                  </a:solidFill>
                  <a:latin typeface="Times New Roman"/>
                  <a:ea typeface="Times New Roman"/>
                  <a:cs typeface="Times New Roman"/>
                </a:rPr>
                <a:t>?</a:t>
              </a:r>
            </a:p>
          </p:txBody>
        </p:sp>
        <p:sp>
          <p:nvSpPr>
            <p:cNvPr id="1003" name="question-two">
              <a:extLst>
                <a:ext uri="{FF2B5EF4-FFF2-40B4-BE49-F238E27FC236}">
                  <a16:creationId xmlns="" xmlns:a16="http://schemas.microsoft.com/office/drawing/2014/main" id="{0E1AA84C-5AF3-4E8D-8D3B-E6F8A80FE68A}"/>
                </a:ext>
              </a:extLst>
            </p:cNvPr>
            <p:cNvSpPr>
              <a:spLocks noGrp="1"/>
            </p:cNvSpPr>
            <p:nvPr/>
          </p:nvSpPr>
          <p:spPr>
            <a:xfrm>
              <a:off x="419100" y="2514600"/>
              <a:ext cx="4191000" cy="609600"/>
            </a:xfrm>
            <a:prstGeom prst="rect">
              <a:avLst/>
            </a:prstGeom>
            <a:noFill/>
            <a:ln w="0">
              <a:noFill/>
              <a:prstDash val="solid"/>
            </a:ln>
          </p:spPr>
          <p:txBody>
            <a:bodyPr wrap="square" lIns="0" tIns="0" rIns="0" bIns="0" anchor="t">
              <a:noAutofit/>
            </a:bodyPr>
            <a:lstStyle>
              <a:defPPr algn="l">
                <a:defRPr sz="1900">
                  <a:solidFill>
                    <a:srgbClr val="000000"/>
                  </a:solidFill>
                  <a:latin typeface="Times New Roman"/>
                  <a:ea typeface="Times New Roman"/>
                  <a:cs typeface="Times New Roman"/>
                </a:defRPr>
              </a:defPPr>
              <a:lvl1pPr algn="l">
                <a:defRPr sz="1900">
                  <a:solidFill>
                    <a:srgbClr val="000000"/>
                  </a:solidFill>
                  <a:latin typeface="Times New Roman"/>
                  <a:ea typeface="Times New Roman"/>
                  <a:cs typeface="Times New Roman"/>
                </a:defRPr>
              </a:lvl1pPr>
              <a:lvl2pPr algn="l">
                <a:defRPr sz="1900">
                  <a:solidFill>
                    <a:srgbClr val="000000"/>
                  </a:solidFill>
                  <a:latin typeface="Times New Roman"/>
                  <a:ea typeface="Times New Roman"/>
                  <a:cs typeface="Times New Roman"/>
                </a:defRPr>
              </a:lvl2pPr>
              <a:lvl3pPr algn="l">
                <a:defRPr sz="1900">
                  <a:solidFill>
                    <a:srgbClr val="000000"/>
                  </a:solidFill>
                  <a:latin typeface="Times New Roman"/>
                  <a:ea typeface="Times New Roman"/>
                  <a:cs typeface="Times New Roman"/>
                </a:defRPr>
              </a:lvl3pPr>
              <a:lvl4pPr algn="l">
                <a:defRPr sz="1900">
                  <a:solidFill>
                    <a:srgbClr val="000000"/>
                  </a:solidFill>
                  <a:latin typeface="Times New Roman"/>
                  <a:ea typeface="Times New Roman"/>
                  <a:cs typeface="Times New Roman"/>
                </a:defRPr>
              </a:lvl4pPr>
              <a:lvl5pPr algn="l">
                <a:defRPr sz="1900">
                  <a:solidFill>
                    <a:srgbClr val="000000"/>
                  </a:solidFill>
                  <a:latin typeface="Times New Roman"/>
                  <a:ea typeface="Times New Roman"/>
                  <a:cs typeface="Times New Roman"/>
                </a:defRPr>
              </a:lvl5pPr>
              <a:lvl6pPr algn="l">
                <a:defRPr sz="1900">
                  <a:solidFill>
                    <a:srgbClr val="000000"/>
                  </a:solidFill>
                  <a:latin typeface="Times New Roman"/>
                  <a:ea typeface="Times New Roman"/>
                  <a:cs typeface="Times New Roman"/>
                </a:defRPr>
              </a:lvl6pPr>
              <a:lvl7pPr algn="l">
                <a:defRPr sz="1900">
                  <a:solidFill>
                    <a:srgbClr val="000000"/>
                  </a:solidFill>
                  <a:latin typeface="Times New Roman"/>
                  <a:ea typeface="Times New Roman"/>
                  <a:cs typeface="Times New Roman"/>
                </a:defRPr>
              </a:lvl7pPr>
              <a:lvl8pPr algn="l">
                <a:defRPr sz="1900">
                  <a:solidFill>
                    <a:srgbClr val="000000"/>
                  </a:solidFill>
                  <a:latin typeface="Times New Roman"/>
                  <a:ea typeface="Times New Roman"/>
                  <a:cs typeface="Times New Roman"/>
                </a:defRPr>
              </a:lvl8pPr>
              <a:lvl9pPr algn="l">
                <a:defRPr sz="1900">
                  <a:solidFill>
                    <a:srgbClr val="000000"/>
                  </a:solidFill>
                  <a:latin typeface="Times New Roman"/>
                  <a:ea typeface="Times New Roman"/>
                  <a:cs typeface="Times New Roman"/>
                </a:defRPr>
              </a:lvl9pPr>
            </a:lstStyle>
            <a:p>
              <a:pPr algn="l">
                <a:lnSpc>
                  <a:spcPct val="110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Oder ist jeder Teil wiederum</a:t>
              </a:r>
            </a:p>
            <a:p>
              <a:pPr algn="l">
                <a:lnSpc>
                  <a:spcPct val="110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weiter teilbar?</a:t>
              </a:r>
            </a:p>
          </p:txBody>
        </p:sp>
        <p:sp>
          <p:nvSpPr>
            <p:cNvPr id="1008" name="division-arrow">
              <a:extLst>
                <a:ext uri="{FF2B5EF4-FFF2-40B4-BE49-F238E27FC236}">
                  <a16:creationId xmlns="" xmlns:a16="http://schemas.microsoft.com/office/drawing/2014/main" id="{2D0ADB07-9C18-4D87-A668-4492095625C8}"/>
                </a:ext>
              </a:extLst>
            </p:cNvPr>
            <p:cNvSpPr>
              <a:spLocks noGrp="1"/>
            </p:cNvSpPr>
            <p:nvPr/>
          </p:nvSpPr>
          <p:spPr>
            <a:xfrm>
              <a:off x="5734050" y="2438400"/>
              <a:ext cx="209550" cy="533400"/>
            </a:xfrm>
            <a:prstGeom prst="downArrow">
              <a:avLst/>
            </a:prstGeom>
            <a:solidFill>
              <a:srgbClr val="000000"/>
            </a:solidFill>
            <a:ln w="0">
              <a:noFill/>
              <a:prstDash val="solid"/>
            </a:ln>
          </p:spPr>
        </p:sp>
        <p:sp>
          <p:nvSpPr>
            <p:cNvPr id="1009" name="division-label">
              <a:extLst>
                <a:ext uri="{FF2B5EF4-FFF2-40B4-BE49-F238E27FC236}">
                  <a16:creationId xmlns="" xmlns:a16="http://schemas.microsoft.com/office/drawing/2014/main" id="{AF94DE6D-AC20-4EC4-A9BD-E4701966335B}"/>
                </a:ext>
              </a:extLst>
            </p:cNvPr>
            <p:cNvSpPr>
              <a:spLocks noGrp="1"/>
            </p:cNvSpPr>
            <p:nvPr/>
          </p:nvSpPr>
          <p:spPr>
            <a:xfrm>
              <a:off x="5048250" y="3124200"/>
              <a:ext cx="1581150" cy="304800"/>
            </a:xfrm>
            <a:prstGeom prst="rect">
              <a:avLst/>
            </a:prstGeom>
            <a:noFill/>
            <a:ln w="0">
              <a:noFill/>
              <a:prstDash val="solid"/>
            </a:ln>
          </p:spPr>
          <p:txBody>
            <a:bodyPr wrap="square" lIns="0" tIns="0" rIns="0" bIns="0" anchor="ctr">
              <a:noAutofit/>
            </a:bodyPr>
            <a:lstStyle>
              <a:defPPr algn="ctr">
                <a:defRPr sz="1700">
                  <a:solidFill>
                    <a:srgbClr val="000000"/>
                  </a:solidFill>
                  <a:latin typeface="Times New Roman"/>
                  <a:ea typeface="Times New Roman"/>
                  <a:cs typeface="Times New Roman"/>
                </a:defRPr>
              </a:defPPr>
              <a:lvl1pPr algn="ctr">
                <a:defRPr sz="1700">
                  <a:solidFill>
                    <a:srgbClr val="000000"/>
                  </a:solidFill>
                  <a:latin typeface="Times New Roman"/>
                  <a:ea typeface="Times New Roman"/>
                  <a:cs typeface="Times New Roman"/>
                </a:defRPr>
              </a:lvl1pPr>
              <a:lvl2pPr algn="ctr">
                <a:defRPr sz="1700">
                  <a:solidFill>
                    <a:srgbClr val="000000"/>
                  </a:solidFill>
                  <a:latin typeface="Times New Roman"/>
                  <a:ea typeface="Times New Roman"/>
                  <a:cs typeface="Times New Roman"/>
                </a:defRPr>
              </a:lvl2pPr>
              <a:lvl3pPr algn="ctr">
                <a:defRPr sz="1700">
                  <a:solidFill>
                    <a:srgbClr val="000000"/>
                  </a:solidFill>
                  <a:latin typeface="Times New Roman"/>
                  <a:ea typeface="Times New Roman"/>
                  <a:cs typeface="Times New Roman"/>
                </a:defRPr>
              </a:lvl3pPr>
              <a:lvl4pPr algn="ctr">
                <a:defRPr sz="1700">
                  <a:solidFill>
                    <a:srgbClr val="000000"/>
                  </a:solidFill>
                  <a:latin typeface="Times New Roman"/>
                  <a:ea typeface="Times New Roman"/>
                  <a:cs typeface="Times New Roman"/>
                </a:defRPr>
              </a:lvl4pPr>
              <a:lvl5pPr algn="ctr">
                <a:defRPr sz="1700">
                  <a:solidFill>
                    <a:srgbClr val="000000"/>
                  </a:solidFill>
                  <a:latin typeface="Times New Roman"/>
                  <a:ea typeface="Times New Roman"/>
                  <a:cs typeface="Times New Roman"/>
                </a:defRPr>
              </a:lvl5pPr>
              <a:lvl6pPr algn="ctr">
                <a:defRPr sz="1700">
                  <a:solidFill>
                    <a:srgbClr val="000000"/>
                  </a:solidFill>
                  <a:latin typeface="Times New Roman"/>
                  <a:ea typeface="Times New Roman"/>
                  <a:cs typeface="Times New Roman"/>
                </a:defRPr>
              </a:lvl6pPr>
              <a:lvl7pPr algn="ctr">
                <a:defRPr sz="1700">
                  <a:solidFill>
                    <a:srgbClr val="000000"/>
                  </a:solidFill>
                  <a:latin typeface="Times New Roman"/>
                  <a:ea typeface="Times New Roman"/>
                  <a:cs typeface="Times New Roman"/>
                </a:defRPr>
              </a:lvl7pPr>
              <a:lvl8pPr algn="ctr">
                <a:defRPr sz="1700">
                  <a:solidFill>
                    <a:srgbClr val="000000"/>
                  </a:solidFill>
                  <a:latin typeface="Times New Roman"/>
                  <a:ea typeface="Times New Roman"/>
                  <a:cs typeface="Times New Roman"/>
                </a:defRPr>
              </a:lvl8pPr>
              <a:lvl9pPr algn="ctr">
                <a:defRPr sz="1700">
                  <a:solidFill>
                    <a:srgbClr val="000000"/>
                  </a:solidFill>
                  <a:latin typeface="Times New Roman"/>
                  <a:ea typeface="Times New Roman"/>
                  <a:cs typeface="Times New Roman"/>
                </a:defRPr>
              </a:lvl9pPr>
            </a:lstStyle>
            <a:p>
              <a:pPr algn="ctr">
                <a:lnSpc>
                  <a:spcPct val="110000"/>
                </a:lnSpc>
                <a:buNone/>
                <a:defRPr sz="1700">
                  <a:solidFill>
                    <a:srgbClr val="000000"/>
                  </a:solidFill>
                  <a:latin typeface="Times New Roman"/>
                  <a:ea typeface="Times New Roman"/>
                  <a:cs typeface="Times New Roman"/>
                </a:defRPr>
              </a:pPr>
              <a:r>
                <a:rPr sz="1700">
                  <a:solidFill>
                    <a:srgbClr val="000000"/>
                  </a:solidFill>
                  <a:latin typeface="Times New Roman"/>
                  <a:ea typeface="Times New Roman"/>
                  <a:cs typeface="Times New Roman"/>
                </a:rPr>
                <a:t>Teilung</a:t>
              </a:r>
            </a:p>
          </p:txBody>
        </p:sp>
        <p:sp>
          <p:nvSpPr>
            <p:cNvPr id="1010" name="part-0">
              <a:extLst>
                <a:ext uri="{FF2B5EF4-FFF2-40B4-BE49-F238E27FC236}">
                  <a16:creationId xmlns="" xmlns:a16="http://schemas.microsoft.com/office/drawing/2014/main" id="{502CA318-1160-4054-AA43-FA5E772E1FA7}"/>
                </a:ext>
              </a:extLst>
            </p:cNvPr>
            <p:cNvSpPr>
              <a:spLocks noGrp="1"/>
            </p:cNvSpPr>
            <p:nvPr/>
          </p:nvSpPr>
          <p:spPr>
            <a:xfrm>
              <a:off x="5238750" y="3629025"/>
              <a:ext cx="952500" cy="609600"/>
            </a:xfrm>
            <a:prstGeom prst="rect">
              <a:avLst/>
            </a:prstGeom>
            <a:solidFill>
              <a:srgbClr val="DCE6F1"/>
            </a:solidFill>
            <a:ln w="14288">
              <a:solidFill>
                <a:srgbClr val="4F81BD"/>
              </a:solidFill>
              <a:prstDash val="solid"/>
            </a:ln>
          </p:spPr>
        </p:sp>
        <p:sp>
          <p:nvSpPr>
            <p:cNvPr id="1011" name="part-1">
              <a:extLst>
                <a:ext uri="{FF2B5EF4-FFF2-40B4-BE49-F238E27FC236}">
                  <a16:creationId xmlns="" xmlns:a16="http://schemas.microsoft.com/office/drawing/2014/main" id="{2C8A3776-4564-46DD-881F-765328AA57EB}"/>
                </a:ext>
              </a:extLst>
            </p:cNvPr>
            <p:cNvSpPr>
              <a:spLocks noGrp="1"/>
            </p:cNvSpPr>
            <p:nvPr/>
          </p:nvSpPr>
          <p:spPr>
            <a:xfrm>
              <a:off x="6381750" y="3629025"/>
              <a:ext cx="952500" cy="609600"/>
            </a:xfrm>
            <a:prstGeom prst="rect">
              <a:avLst/>
            </a:prstGeom>
            <a:solidFill>
              <a:srgbClr val="DCE6F1"/>
            </a:solidFill>
            <a:ln w="14288">
              <a:solidFill>
                <a:srgbClr val="4F81BD"/>
              </a:solidFill>
              <a:prstDash val="solid"/>
            </a:ln>
          </p:spPr>
        </p:sp>
        <p:sp>
          <p:nvSpPr>
            <p:cNvPr id="1012" name="part-2">
              <a:extLst>
                <a:ext uri="{FF2B5EF4-FFF2-40B4-BE49-F238E27FC236}">
                  <a16:creationId xmlns="" xmlns:a16="http://schemas.microsoft.com/office/drawing/2014/main" id="{E14117F3-1F4F-4EA3-B3B9-AE1BC0EBE8AC}"/>
                </a:ext>
              </a:extLst>
            </p:cNvPr>
            <p:cNvSpPr>
              <a:spLocks noGrp="1"/>
            </p:cNvSpPr>
            <p:nvPr/>
          </p:nvSpPr>
          <p:spPr>
            <a:xfrm>
              <a:off x="7524750" y="3629025"/>
              <a:ext cx="952500" cy="609600"/>
            </a:xfrm>
            <a:prstGeom prst="rect">
              <a:avLst/>
            </a:prstGeom>
            <a:solidFill>
              <a:srgbClr val="DCE6F1"/>
            </a:solidFill>
            <a:ln w="14288">
              <a:solidFill>
                <a:srgbClr val="4F81BD"/>
              </a:solidFill>
              <a:prstDash val="solid"/>
            </a:ln>
          </p:spPr>
        </p:sp>
        <p:sp>
          <p:nvSpPr>
            <p:cNvPr id="1013" name="parts-label">
              <a:extLst>
                <a:ext uri="{FF2B5EF4-FFF2-40B4-BE49-F238E27FC236}">
                  <a16:creationId xmlns="" xmlns:a16="http://schemas.microsoft.com/office/drawing/2014/main" id="{4FFE3633-473F-40F0-97F5-681319AEA64E}"/>
                </a:ext>
              </a:extLst>
            </p:cNvPr>
            <p:cNvSpPr>
              <a:spLocks noGrp="1"/>
            </p:cNvSpPr>
            <p:nvPr/>
          </p:nvSpPr>
          <p:spPr>
            <a:xfrm>
              <a:off x="5238750" y="4391025"/>
              <a:ext cx="3238500" cy="371475"/>
            </a:xfrm>
            <a:prstGeom prst="rect">
              <a:avLst/>
            </a:prstGeom>
            <a:noFill/>
            <a:ln w="0">
              <a:noFill/>
              <a:prstDash val="solid"/>
            </a:ln>
          </p:spPr>
          <p:txBody>
            <a:bodyPr wrap="square" lIns="0" tIns="0" rIns="0" bIns="0" anchor="ctr">
              <a:noAutofit/>
            </a:bodyPr>
            <a:lstStyle>
              <a:defPPr algn="ctr">
                <a:defRPr sz="2100" b="1">
                  <a:solidFill>
                    <a:srgbClr val="000000"/>
                  </a:solidFill>
                  <a:latin typeface="Times New Roman"/>
                  <a:ea typeface="Times New Roman"/>
                  <a:cs typeface="Times New Roman"/>
                </a:defRPr>
              </a:defPPr>
              <a:lvl1pPr algn="ctr">
                <a:defRPr sz="2100" b="1">
                  <a:solidFill>
                    <a:srgbClr val="000000"/>
                  </a:solidFill>
                  <a:latin typeface="Times New Roman"/>
                  <a:ea typeface="Times New Roman"/>
                  <a:cs typeface="Times New Roman"/>
                </a:defRPr>
              </a:lvl1pPr>
              <a:lvl2pPr algn="ctr">
                <a:defRPr sz="2100" b="1">
                  <a:solidFill>
                    <a:srgbClr val="000000"/>
                  </a:solidFill>
                  <a:latin typeface="Times New Roman"/>
                  <a:ea typeface="Times New Roman"/>
                  <a:cs typeface="Times New Roman"/>
                </a:defRPr>
              </a:lvl2pPr>
              <a:lvl3pPr algn="ctr">
                <a:defRPr sz="2100" b="1">
                  <a:solidFill>
                    <a:srgbClr val="000000"/>
                  </a:solidFill>
                  <a:latin typeface="Times New Roman"/>
                  <a:ea typeface="Times New Roman"/>
                  <a:cs typeface="Times New Roman"/>
                </a:defRPr>
              </a:lvl3pPr>
              <a:lvl4pPr algn="ctr">
                <a:defRPr sz="2100" b="1">
                  <a:solidFill>
                    <a:srgbClr val="000000"/>
                  </a:solidFill>
                  <a:latin typeface="Times New Roman"/>
                  <a:ea typeface="Times New Roman"/>
                  <a:cs typeface="Times New Roman"/>
                </a:defRPr>
              </a:lvl4pPr>
              <a:lvl5pPr algn="ctr">
                <a:defRPr sz="2100" b="1">
                  <a:solidFill>
                    <a:srgbClr val="000000"/>
                  </a:solidFill>
                  <a:latin typeface="Times New Roman"/>
                  <a:ea typeface="Times New Roman"/>
                  <a:cs typeface="Times New Roman"/>
                </a:defRPr>
              </a:lvl5pPr>
              <a:lvl6pPr algn="ctr">
                <a:defRPr sz="2100" b="1">
                  <a:solidFill>
                    <a:srgbClr val="000000"/>
                  </a:solidFill>
                  <a:latin typeface="Times New Roman"/>
                  <a:ea typeface="Times New Roman"/>
                  <a:cs typeface="Times New Roman"/>
                </a:defRPr>
              </a:lvl6pPr>
              <a:lvl7pPr algn="ctr">
                <a:defRPr sz="2100" b="1">
                  <a:solidFill>
                    <a:srgbClr val="000000"/>
                  </a:solidFill>
                  <a:latin typeface="Times New Roman"/>
                  <a:ea typeface="Times New Roman"/>
                  <a:cs typeface="Times New Roman"/>
                </a:defRPr>
              </a:lvl7pPr>
              <a:lvl8pPr algn="ctr">
                <a:defRPr sz="2100" b="1">
                  <a:solidFill>
                    <a:srgbClr val="000000"/>
                  </a:solidFill>
                  <a:latin typeface="Times New Roman"/>
                  <a:ea typeface="Times New Roman"/>
                  <a:cs typeface="Times New Roman"/>
                </a:defRPr>
              </a:lvl8pPr>
              <a:lvl9pPr algn="ctr">
                <a:defRPr sz="2100" b="1">
                  <a:solidFill>
                    <a:srgbClr val="000000"/>
                  </a:solidFill>
                  <a:latin typeface="Times New Roman"/>
                  <a:ea typeface="Times New Roman"/>
                  <a:cs typeface="Times New Roman"/>
                </a:defRPr>
              </a:lvl9pPr>
            </a:lstStyle>
            <a:p>
              <a:pPr algn="ctr">
                <a:lnSpc>
                  <a:spcPct val="110000"/>
                </a:lnSpc>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Mehrere Teile</a:t>
              </a:r>
            </a:p>
          </p:txBody>
        </p:sp>
      </p:grpSp>
      <p:grpSp>
        <p:nvGrpSpPr>
          <p:cNvPr id="2002" name="Schritt 2"/>
          <p:cNvGrpSpPr/>
          <p:nvPr/>
        </p:nvGrpSpPr>
        <p:grpSpPr>
          <a:xfrm>
            <a:off x="419100" y="2438400"/>
            <a:ext cx="8362950" cy="2019300"/>
            <a:chOff x="419100" y="2438400"/>
            <a:chExt cx="8362950" cy="2019300"/>
          </a:xfrm>
        </p:grpSpPr>
        <p:sp>
          <p:nvSpPr>
            <p:cNvPr id="1004" name="question-three-title">
              <a:extLst>
                <a:ext uri="{FF2B5EF4-FFF2-40B4-BE49-F238E27FC236}">
                  <a16:creationId xmlns="" xmlns:a16="http://schemas.microsoft.com/office/drawing/2014/main" id="{0912C4A4-45E6-45C6-A388-7C4D94052A66}"/>
                </a:ext>
              </a:extLst>
            </p:cNvPr>
            <p:cNvSpPr>
              <a:spLocks noGrp="1"/>
            </p:cNvSpPr>
            <p:nvPr/>
          </p:nvSpPr>
          <p:spPr>
            <a:xfrm>
              <a:off x="419100" y="3438525"/>
              <a:ext cx="4191000" cy="342900"/>
            </a:xfrm>
            <a:prstGeom prst="rect">
              <a:avLst/>
            </a:prstGeom>
            <a:noFill/>
            <a:ln w="0">
              <a:noFill/>
              <a:prstDash val="solid"/>
            </a:ln>
          </p:spPr>
          <p:txBody>
            <a:bodyPr wrap="square" lIns="0" tIns="0" rIns="0" bIns="0" anchor="t">
              <a:noAutofit/>
            </a:bodyPr>
            <a:lstStyle>
              <a:defPPr algn="l">
                <a:defRPr sz="2000" b="1">
                  <a:solidFill>
                    <a:srgbClr val="000000"/>
                  </a:solidFill>
                  <a:latin typeface="Times New Roman"/>
                  <a:ea typeface="Times New Roman"/>
                  <a:cs typeface="Times New Roman"/>
                </a:defRPr>
              </a:defPPr>
              <a:lvl1pPr algn="l">
                <a:defRPr sz="2000" b="1">
                  <a:solidFill>
                    <a:srgbClr val="000000"/>
                  </a:solidFill>
                  <a:latin typeface="Times New Roman"/>
                  <a:ea typeface="Times New Roman"/>
                  <a:cs typeface="Times New Roman"/>
                </a:defRPr>
              </a:lvl1pPr>
              <a:lvl2pPr algn="l">
                <a:defRPr sz="2000" b="1">
                  <a:solidFill>
                    <a:srgbClr val="000000"/>
                  </a:solidFill>
                  <a:latin typeface="Times New Roman"/>
                  <a:ea typeface="Times New Roman"/>
                  <a:cs typeface="Times New Roman"/>
                </a:defRPr>
              </a:lvl2pPr>
              <a:lvl3pPr algn="l">
                <a:defRPr sz="2000" b="1">
                  <a:solidFill>
                    <a:srgbClr val="000000"/>
                  </a:solidFill>
                  <a:latin typeface="Times New Roman"/>
                  <a:ea typeface="Times New Roman"/>
                  <a:cs typeface="Times New Roman"/>
                </a:defRPr>
              </a:lvl3pPr>
              <a:lvl4pPr algn="l">
                <a:defRPr sz="2000" b="1">
                  <a:solidFill>
                    <a:srgbClr val="000000"/>
                  </a:solidFill>
                  <a:latin typeface="Times New Roman"/>
                  <a:ea typeface="Times New Roman"/>
                  <a:cs typeface="Times New Roman"/>
                </a:defRPr>
              </a:lvl4pPr>
              <a:lvl5pPr algn="l">
                <a:defRPr sz="2000" b="1">
                  <a:solidFill>
                    <a:srgbClr val="000000"/>
                  </a:solidFill>
                  <a:latin typeface="Times New Roman"/>
                  <a:ea typeface="Times New Roman"/>
                  <a:cs typeface="Times New Roman"/>
                </a:defRPr>
              </a:lvl5pPr>
              <a:lvl6pPr algn="l">
                <a:defRPr sz="2000" b="1">
                  <a:solidFill>
                    <a:srgbClr val="000000"/>
                  </a:solidFill>
                  <a:latin typeface="Times New Roman"/>
                  <a:ea typeface="Times New Roman"/>
                  <a:cs typeface="Times New Roman"/>
                </a:defRPr>
              </a:lvl6pPr>
              <a:lvl7pPr algn="l">
                <a:defRPr sz="2000" b="1">
                  <a:solidFill>
                    <a:srgbClr val="000000"/>
                  </a:solidFill>
                  <a:latin typeface="Times New Roman"/>
                  <a:ea typeface="Times New Roman"/>
                  <a:cs typeface="Times New Roman"/>
                </a:defRPr>
              </a:lvl7pPr>
              <a:lvl8pPr algn="l">
                <a:defRPr sz="2000" b="1">
                  <a:solidFill>
                    <a:srgbClr val="000000"/>
                  </a:solidFill>
                  <a:latin typeface="Times New Roman"/>
                  <a:ea typeface="Times New Roman"/>
                  <a:cs typeface="Times New Roman"/>
                </a:defRPr>
              </a:lvl8pPr>
              <a:lvl9pPr algn="l">
                <a:defRPr sz="2000" b="1">
                  <a:solidFill>
                    <a:srgbClr val="000000"/>
                  </a:solidFill>
                  <a:latin typeface="Times New Roman"/>
                  <a:ea typeface="Times New Roman"/>
                  <a:cs typeface="Times New Roman"/>
                </a:defRPr>
              </a:lvl9pPr>
            </a:lstStyle>
            <a:p>
              <a:pPr algn="l">
                <a:lnSpc>
                  <a:spcPct val="110000"/>
                </a:lnSpc>
                <a:buNone/>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Wodurch entsteht Einheit?</a:t>
              </a:r>
            </a:p>
          </p:txBody>
        </p:sp>
        <p:sp>
          <p:nvSpPr>
            <p:cNvPr id="1005" name="question-three">
              <a:extLst>
                <a:ext uri="{FF2B5EF4-FFF2-40B4-BE49-F238E27FC236}">
                  <a16:creationId xmlns="" xmlns:a16="http://schemas.microsoft.com/office/drawing/2014/main" id="{E7E0C528-CA62-4D61-9A89-FC570EAA6B3C}"/>
                </a:ext>
              </a:extLst>
            </p:cNvPr>
            <p:cNvSpPr>
              <a:spLocks noGrp="1"/>
            </p:cNvSpPr>
            <p:nvPr/>
          </p:nvSpPr>
          <p:spPr>
            <a:xfrm>
              <a:off x="419100" y="3848100"/>
              <a:ext cx="4191000" cy="609600"/>
            </a:xfrm>
            <a:prstGeom prst="rect">
              <a:avLst/>
            </a:prstGeom>
            <a:noFill/>
            <a:ln w="0">
              <a:noFill/>
              <a:prstDash val="solid"/>
            </a:ln>
          </p:spPr>
          <p:txBody>
            <a:bodyPr wrap="square" lIns="0" tIns="0" rIns="0" bIns="0" anchor="t">
              <a:noAutofit/>
            </a:bodyPr>
            <a:lstStyle>
              <a:defPPr algn="l">
                <a:defRPr sz="1900">
                  <a:solidFill>
                    <a:srgbClr val="000000"/>
                  </a:solidFill>
                  <a:latin typeface="Times New Roman"/>
                  <a:ea typeface="Times New Roman"/>
                  <a:cs typeface="Times New Roman"/>
                </a:defRPr>
              </a:defPPr>
              <a:lvl1pPr algn="l">
                <a:defRPr sz="1900">
                  <a:solidFill>
                    <a:srgbClr val="000000"/>
                  </a:solidFill>
                  <a:latin typeface="Times New Roman"/>
                  <a:ea typeface="Times New Roman"/>
                  <a:cs typeface="Times New Roman"/>
                </a:defRPr>
              </a:lvl1pPr>
              <a:lvl2pPr algn="l">
                <a:defRPr sz="1900">
                  <a:solidFill>
                    <a:srgbClr val="000000"/>
                  </a:solidFill>
                  <a:latin typeface="Times New Roman"/>
                  <a:ea typeface="Times New Roman"/>
                  <a:cs typeface="Times New Roman"/>
                </a:defRPr>
              </a:lvl2pPr>
              <a:lvl3pPr algn="l">
                <a:defRPr sz="1900">
                  <a:solidFill>
                    <a:srgbClr val="000000"/>
                  </a:solidFill>
                  <a:latin typeface="Times New Roman"/>
                  <a:ea typeface="Times New Roman"/>
                  <a:cs typeface="Times New Roman"/>
                </a:defRPr>
              </a:lvl3pPr>
              <a:lvl4pPr algn="l">
                <a:defRPr sz="1900">
                  <a:solidFill>
                    <a:srgbClr val="000000"/>
                  </a:solidFill>
                  <a:latin typeface="Times New Roman"/>
                  <a:ea typeface="Times New Roman"/>
                  <a:cs typeface="Times New Roman"/>
                </a:defRPr>
              </a:lvl4pPr>
              <a:lvl5pPr algn="l">
                <a:defRPr sz="1900">
                  <a:solidFill>
                    <a:srgbClr val="000000"/>
                  </a:solidFill>
                  <a:latin typeface="Times New Roman"/>
                  <a:ea typeface="Times New Roman"/>
                  <a:cs typeface="Times New Roman"/>
                </a:defRPr>
              </a:lvl5pPr>
              <a:lvl6pPr algn="l">
                <a:defRPr sz="1900">
                  <a:solidFill>
                    <a:srgbClr val="000000"/>
                  </a:solidFill>
                  <a:latin typeface="Times New Roman"/>
                  <a:ea typeface="Times New Roman"/>
                  <a:cs typeface="Times New Roman"/>
                </a:defRPr>
              </a:lvl6pPr>
              <a:lvl7pPr algn="l">
                <a:defRPr sz="1900">
                  <a:solidFill>
                    <a:srgbClr val="000000"/>
                  </a:solidFill>
                  <a:latin typeface="Times New Roman"/>
                  <a:ea typeface="Times New Roman"/>
                  <a:cs typeface="Times New Roman"/>
                </a:defRPr>
              </a:lvl7pPr>
              <a:lvl8pPr algn="l">
                <a:defRPr sz="1900">
                  <a:solidFill>
                    <a:srgbClr val="000000"/>
                  </a:solidFill>
                  <a:latin typeface="Times New Roman"/>
                  <a:ea typeface="Times New Roman"/>
                  <a:cs typeface="Times New Roman"/>
                </a:defRPr>
              </a:lvl8pPr>
              <a:lvl9pPr algn="l">
                <a:defRPr sz="1900">
                  <a:solidFill>
                    <a:srgbClr val="000000"/>
                  </a:solidFill>
                  <a:latin typeface="Times New Roman"/>
                  <a:ea typeface="Times New Roman"/>
                  <a:cs typeface="Times New Roman"/>
                </a:defRPr>
              </a:lvl9pPr>
            </a:lstStyle>
            <a:p>
              <a:pPr algn="l">
                <a:lnSpc>
                  <a:spcPct val="110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Was macht aus vielen Teilen</a:t>
              </a:r>
            </a:p>
            <a:p>
              <a:pPr algn="l">
                <a:lnSpc>
                  <a:spcPct val="110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ein zusammenhängendes Ganzes?</a:t>
              </a:r>
            </a:p>
          </p:txBody>
        </p:sp>
        <p:sp>
          <p:nvSpPr>
            <p:cNvPr id="1014" name="composition-arrow">
              <a:extLst>
                <a:ext uri="{FF2B5EF4-FFF2-40B4-BE49-F238E27FC236}">
                  <a16:creationId xmlns="" xmlns:a16="http://schemas.microsoft.com/office/drawing/2014/main" id="{F84EE701-EF25-4B19-9F08-3E01E282787A}"/>
                </a:ext>
              </a:extLst>
            </p:cNvPr>
            <p:cNvSpPr>
              <a:spLocks noGrp="1"/>
            </p:cNvSpPr>
            <p:nvPr/>
          </p:nvSpPr>
          <p:spPr>
            <a:xfrm>
              <a:off x="7791450" y="2438400"/>
              <a:ext cx="209550" cy="533400"/>
            </a:xfrm>
            <a:prstGeom prst="upArrow">
              <a:avLst/>
            </a:prstGeom>
            <a:solidFill>
              <a:srgbClr val="000000"/>
            </a:solidFill>
            <a:ln w="0">
              <a:noFill/>
              <a:prstDash val="solid"/>
            </a:ln>
          </p:spPr>
        </p:sp>
        <p:sp>
          <p:nvSpPr>
            <p:cNvPr id="1015" name="composition-label">
              <a:extLst>
                <a:ext uri="{FF2B5EF4-FFF2-40B4-BE49-F238E27FC236}">
                  <a16:creationId xmlns="" xmlns:a16="http://schemas.microsoft.com/office/drawing/2014/main" id="{423748D2-8DF4-4269-83DC-CA9B0E92886E}"/>
                </a:ext>
              </a:extLst>
            </p:cNvPr>
            <p:cNvSpPr>
              <a:spLocks noGrp="1"/>
            </p:cNvSpPr>
            <p:nvPr/>
          </p:nvSpPr>
          <p:spPr>
            <a:xfrm>
              <a:off x="6781800" y="3124200"/>
              <a:ext cx="2000250" cy="304800"/>
            </a:xfrm>
            <a:prstGeom prst="rect">
              <a:avLst/>
            </a:prstGeom>
            <a:noFill/>
            <a:ln w="0">
              <a:noFill/>
              <a:prstDash val="solid"/>
            </a:ln>
          </p:spPr>
          <p:txBody>
            <a:bodyPr wrap="square" lIns="0" tIns="0" rIns="0" bIns="0" anchor="ctr">
              <a:noAutofit/>
            </a:bodyPr>
            <a:lstStyle>
              <a:defPPr algn="ctr">
                <a:defRPr sz="1700">
                  <a:solidFill>
                    <a:srgbClr val="000000"/>
                  </a:solidFill>
                  <a:latin typeface="Times New Roman"/>
                  <a:ea typeface="Times New Roman"/>
                  <a:cs typeface="Times New Roman"/>
                </a:defRPr>
              </a:defPPr>
              <a:lvl1pPr algn="ctr">
                <a:defRPr sz="1700">
                  <a:solidFill>
                    <a:srgbClr val="000000"/>
                  </a:solidFill>
                  <a:latin typeface="Times New Roman"/>
                  <a:ea typeface="Times New Roman"/>
                  <a:cs typeface="Times New Roman"/>
                </a:defRPr>
              </a:lvl1pPr>
              <a:lvl2pPr algn="ctr">
                <a:defRPr sz="1700">
                  <a:solidFill>
                    <a:srgbClr val="000000"/>
                  </a:solidFill>
                  <a:latin typeface="Times New Roman"/>
                  <a:ea typeface="Times New Roman"/>
                  <a:cs typeface="Times New Roman"/>
                </a:defRPr>
              </a:lvl2pPr>
              <a:lvl3pPr algn="ctr">
                <a:defRPr sz="1700">
                  <a:solidFill>
                    <a:srgbClr val="000000"/>
                  </a:solidFill>
                  <a:latin typeface="Times New Roman"/>
                  <a:ea typeface="Times New Roman"/>
                  <a:cs typeface="Times New Roman"/>
                </a:defRPr>
              </a:lvl3pPr>
              <a:lvl4pPr algn="ctr">
                <a:defRPr sz="1700">
                  <a:solidFill>
                    <a:srgbClr val="000000"/>
                  </a:solidFill>
                  <a:latin typeface="Times New Roman"/>
                  <a:ea typeface="Times New Roman"/>
                  <a:cs typeface="Times New Roman"/>
                </a:defRPr>
              </a:lvl4pPr>
              <a:lvl5pPr algn="ctr">
                <a:defRPr sz="1700">
                  <a:solidFill>
                    <a:srgbClr val="000000"/>
                  </a:solidFill>
                  <a:latin typeface="Times New Roman"/>
                  <a:ea typeface="Times New Roman"/>
                  <a:cs typeface="Times New Roman"/>
                </a:defRPr>
              </a:lvl5pPr>
              <a:lvl6pPr algn="ctr">
                <a:defRPr sz="1700">
                  <a:solidFill>
                    <a:srgbClr val="000000"/>
                  </a:solidFill>
                  <a:latin typeface="Times New Roman"/>
                  <a:ea typeface="Times New Roman"/>
                  <a:cs typeface="Times New Roman"/>
                </a:defRPr>
              </a:lvl6pPr>
              <a:lvl7pPr algn="ctr">
                <a:defRPr sz="1700">
                  <a:solidFill>
                    <a:srgbClr val="000000"/>
                  </a:solidFill>
                  <a:latin typeface="Times New Roman"/>
                  <a:ea typeface="Times New Roman"/>
                  <a:cs typeface="Times New Roman"/>
                </a:defRPr>
              </a:lvl7pPr>
              <a:lvl8pPr algn="ctr">
                <a:defRPr sz="1700">
                  <a:solidFill>
                    <a:srgbClr val="000000"/>
                  </a:solidFill>
                  <a:latin typeface="Times New Roman"/>
                  <a:ea typeface="Times New Roman"/>
                  <a:cs typeface="Times New Roman"/>
                </a:defRPr>
              </a:lvl8pPr>
              <a:lvl9pPr algn="ctr">
                <a:defRPr sz="1700">
                  <a:solidFill>
                    <a:srgbClr val="000000"/>
                  </a:solidFill>
                  <a:latin typeface="Times New Roman"/>
                  <a:ea typeface="Times New Roman"/>
                  <a:cs typeface="Times New Roman"/>
                </a:defRPr>
              </a:lvl9pPr>
            </a:lstStyle>
            <a:p>
              <a:pPr algn="ctr">
                <a:lnSpc>
                  <a:spcPct val="110000"/>
                </a:lnSpc>
                <a:buNone/>
                <a:defRPr sz="1700">
                  <a:solidFill>
                    <a:srgbClr val="000000"/>
                  </a:solidFill>
                  <a:latin typeface="Times New Roman"/>
                  <a:ea typeface="Times New Roman"/>
                  <a:cs typeface="Times New Roman"/>
                </a:defRPr>
              </a:pPr>
              <a:r>
                <a:rPr sz="1700">
                  <a:solidFill>
                    <a:srgbClr val="000000"/>
                  </a:solidFill>
                  <a:latin typeface="Times New Roman"/>
                  <a:ea typeface="Times New Roman"/>
                  <a:cs typeface="Times New Roman"/>
                </a:rPr>
                <a:t>Zusammensetzung</a:t>
              </a:r>
            </a:p>
          </p:txBody>
        </p:sp>
      </p:grpSp>
    </p:spTree>
    <p:extLst>
      <p:ext uri="{BB962C8B-B14F-4D97-AF65-F5344CB8AC3E}">
        <p14:creationId xmlns:p14="http://schemas.microsoft.com/office/powerpoint/2010/main" val="385795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0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0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Arithmetisierung des Kontinuums</a:t>
            </a:r>
            <a:endParaRPr lang="en-CA" sz="3200" dirty="0">
              <a:solidFill>
                <a:schemeClr val="bg1"/>
              </a:solidFill>
              <a:effectLst>
                <a:outerShdw blurRad="38100" dist="38100" dir="2700000" algn="tl">
                  <a:srgbClr val="000000">
                    <a:alpha val="43137"/>
                  </a:srgbClr>
                </a:outerShdw>
              </a:effectLst>
            </a:endParaRPr>
          </a:p>
        </p:txBody>
      </p:sp>
      <p:sp>
        <p:nvSpPr>
          <p:cNvPr id="1000" name="geometric-heading">
            <a:extLst>
              <a:ext uri="{FF2B5EF4-FFF2-40B4-BE49-F238E27FC236}">
                <a16:creationId xmlns="" xmlns:a16="http://schemas.microsoft.com/office/drawing/2014/main" id="{209E549B-A196-4700-AAC3-0B94870EC13E}"/>
              </a:ext>
            </a:extLst>
          </p:cNvPr>
          <p:cNvSpPr>
            <a:spLocks noGrp="1"/>
          </p:cNvSpPr>
          <p:nvPr/>
        </p:nvSpPr>
        <p:spPr>
          <a:xfrm>
            <a:off x="419100" y="1000125"/>
            <a:ext cx="3810000" cy="400050"/>
          </a:xfrm>
          <a:prstGeom prst="rect">
            <a:avLst/>
          </a:prstGeom>
          <a:noFill/>
          <a:ln w="0">
            <a:noFill/>
            <a:prstDash val="solid"/>
          </a:ln>
        </p:spPr>
        <p:txBody>
          <a:bodyPr wrap="square" lIns="0" tIns="0" rIns="0" bIns="0" anchor="ctr">
            <a:noAutofit/>
          </a:bodyPr>
          <a:lstStyle>
            <a:defPPr algn="ctr">
              <a:defRPr sz="2100" b="1">
                <a:solidFill>
                  <a:srgbClr val="000000"/>
                </a:solidFill>
                <a:latin typeface="Times New Roman"/>
                <a:ea typeface="Times New Roman"/>
                <a:cs typeface="Times New Roman"/>
              </a:defRPr>
            </a:defPPr>
            <a:lvl1pPr algn="ctr">
              <a:defRPr sz="2100" b="1">
                <a:solidFill>
                  <a:srgbClr val="000000"/>
                </a:solidFill>
                <a:latin typeface="Times New Roman"/>
                <a:ea typeface="Times New Roman"/>
                <a:cs typeface="Times New Roman"/>
              </a:defRPr>
            </a:lvl1pPr>
            <a:lvl2pPr algn="ctr">
              <a:defRPr sz="2100" b="1">
                <a:solidFill>
                  <a:srgbClr val="000000"/>
                </a:solidFill>
                <a:latin typeface="Times New Roman"/>
                <a:ea typeface="Times New Roman"/>
                <a:cs typeface="Times New Roman"/>
              </a:defRPr>
            </a:lvl2pPr>
            <a:lvl3pPr algn="ctr">
              <a:defRPr sz="2100" b="1">
                <a:solidFill>
                  <a:srgbClr val="000000"/>
                </a:solidFill>
                <a:latin typeface="Times New Roman"/>
                <a:ea typeface="Times New Roman"/>
                <a:cs typeface="Times New Roman"/>
              </a:defRPr>
            </a:lvl3pPr>
            <a:lvl4pPr algn="ctr">
              <a:defRPr sz="2100" b="1">
                <a:solidFill>
                  <a:srgbClr val="000000"/>
                </a:solidFill>
                <a:latin typeface="Times New Roman"/>
                <a:ea typeface="Times New Roman"/>
                <a:cs typeface="Times New Roman"/>
              </a:defRPr>
            </a:lvl4pPr>
            <a:lvl5pPr algn="ctr">
              <a:defRPr sz="2100" b="1">
                <a:solidFill>
                  <a:srgbClr val="000000"/>
                </a:solidFill>
                <a:latin typeface="Times New Roman"/>
                <a:ea typeface="Times New Roman"/>
                <a:cs typeface="Times New Roman"/>
              </a:defRPr>
            </a:lvl5pPr>
            <a:lvl6pPr algn="ctr">
              <a:defRPr sz="2100" b="1">
                <a:solidFill>
                  <a:srgbClr val="000000"/>
                </a:solidFill>
                <a:latin typeface="Times New Roman"/>
                <a:ea typeface="Times New Roman"/>
                <a:cs typeface="Times New Roman"/>
              </a:defRPr>
            </a:lvl6pPr>
            <a:lvl7pPr algn="ctr">
              <a:defRPr sz="2100" b="1">
                <a:solidFill>
                  <a:srgbClr val="000000"/>
                </a:solidFill>
                <a:latin typeface="Times New Roman"/>
                <a:ea typeface="Times New Roman"/>
                <a:cs typeface="Times New Roman"/>
              </a:defRPr>
            </a:lvl7pPr>
            <a:lvl8pPr algn="ctr">
              <a:defRPr sz="2100" b="1">
                <a:solidFill>
                  <a:srgbClr val="000000"/>
                </a:solidFill>
                <a:latin typeface="Times New Roman"/>
                <a:ea typeface="Times New Roman"/>
                <a:cs typeface="Times New Roman"/>
              </a:defRPr>
            </a:lvl8pPr>
            <a:lvl9pPr algn="ctr">
              <a:defRPr sz="2100" b="1">
                <a:solidFill>
                  <a:srgbClr val="000000"/>
                </a:solidFill>
                <a:latin typeface="Times New Roman"/>
                <a:ea typeface="Times New Roman"/>
                <a:cs typeface="Times New Roman"/>
              </a:defRPr>
            </a:lvl9pPr>
          </a:lstStyle>
          <a:p>
            <a:pPr algn="ctr">
              <a:lnSpc>
                <a:spcPct val="110000"/>
              </a:lnSpc>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Geometrischer Begriff</a:t>
            </a:r>
          </a:p>
        </p:txBody>
      </p:sp>
      <p:sp>
        <p:nvSpPr>
          <p:cNvPr id="1001" name="geometric-line">
            <a:extLst>
              <a:ext uri="{FF2B5EF4-FFF2-40B4-BE49-F238E27FC236}">
                <a16:creationId xmlns="" xmlns:a16="http://schemas.microsoft.com/office/drawing/2014/main" id="{A2E04893-57EB-4BBE-8130-3B5287E289F9}"/>
              </a:ext>
            </a:extLst>
          </p:cNvPr>
          <p:cNvSpPr>
            <a:spLocks noGrp="1"/>
          </p:cNvSpPr>
          <p:nvPr/>
        </p:nvSpPr>
        <p:spPr>
          <a:xfrm>
            <a:off x="762000" y="1943100"/>
            <a:ext cx="3143250" cy="0"/>
          </a:xfrm>
          <a:prstGeom prst="line">
            <a:avLst/>
          </a:prstGeom>
          <a:noFill/>
          <a:ln w="21908">
            <a:solidFill>
              <a:srgbClr val="4F81BD"/>
            </a:solidFill>
            <a:prstDash val="solid"/>
          </a:ln>
        </p:spPr>
      </p:sp>
      <p:sp>
        <p:nvSpPr>
          <p:cNvPr id="1002" name="geometric-division">
            <a:extLst>
              <a:ext uri="{FF2B5EF4-FFF2-40B4-BE49-F238E27FC236}">
                <a16:creationId xmlns="" xmlns:a16="http://schemas.microsoft.com/office/drawing/2014/main" id="{EA7C9CE0-BAFD-4BBA-B949-C78D7EB45E05}"/>
              </a:ext>
            </a:extLst>
          </p:cNvPr>
          <p:cNvSpPr>
            <a:spLocks noGrp="1"/>
          </p:cNvSpPr>
          <p:nvPr/>
        </p:nvSpPr>
        <p:spPr>
          <a:xfrm>
            <a:off x="2333625" y="1771650"/>
            <a:ext cx="0" cy="342900"/>
          </a:xfrm>
          <a:prstGeom prst="line">
            <a:avLst/>
          </a:prstGeom>
          <a:noFill/>
          <a:ln w="14288">
            <a:solidFill>
              <a:srgbClr val="000000"/>
            </a:solidFill>
            <a:prstDash val="solid"/>
          </a:ln>
        </p:spPr>
      </p:sp>
      <p:sp>
        <p:nvSpPr>
          <p:cNvPr id="1003" name="geometric-caption">
            <a:extLst>
              <a:ext uri="{FF2B5EF4-FFF2-40B4-BE49-F238E27FC236}">
                <a16:creationId xmlns="" xmlns:a16="http://schemas.microsoft.com/office/drawing/2014/main" id="{64ACADEA-C1FB-4255-8142-8D9696CD210D}"/>
              </a:ext>
            </a:extLst>
          </p:cNvPr>
          <p:cNvSpPr>
            <a:spLocks noGrp="1"/>
          </p:cNvSpPr>
          <p:nvPr/>
        </p:nvSpPr>
        <p:spPr>
          <a:xfrm>
            <a:off x="419100" y="2571750"/>
            <a:ext cx="3810000" cy="666750"/>
          </a:xfrm>
          <a:prstGeom prst="rect">
            <a:avLst/>
          </a:prstGeom>
          <a:noFill/>
          <a:ln w="0">
            <a:noFill/>
            <a:prstDash val="solid"/>
          </a:ln>
        </p:spPr>
        <p:txBody>
          <a:bodyPr wrap="square" lIns="0" tIns="0" rIns="0" bIns="0" anchor="ctr">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lnSpc>
                <a:spcPct val="110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Die Linie als Ganzes.</a:t>
            </a:r>
          </a:p>
          <a:p>
            <a:pPr algn="ctr">
              <a:lnSpc>
                <a:spcPct val="110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Punkte markieren Teilungsgrenzen.</a:t>
            </a:r>
          </a:p>
        </p:txBody>
      </p:sp>
      <p:sp>
        <p:nvSpPr>
          <p:cNvPr id="1020" name="sources">
            <a:extLst>
              <a:ext uri="{FF2B5EF4-FFF2-40B4-BE49-F238E27FC236}">
                <a16:creationId xmlns="" xmlns:a16="http://schemas.microsoft.com/office/drawing/2014/main" id="{07C1CDB0-27D2-47E3-B1BD-47EBCECB8BE2}"/>
              </a:ext>
            </a:extLst>
          </p:cNvPr>
          <p:cNvSpPr>
            <a:spLocks noGrp="1"/>
          </p:cNvSpPr>
          <p:nvPr/>
        </p:nvSpPr>
        <p:spPr>
          <a:xfrm>
            <a:off x="419100" y="4914900"/>
            <a:ext cx="8305800" cy="171450"/>
          </a:xfrm>
          <a:prstGeom prst="rect">
            <a:avLst/>
          </a:prstGeom>
          <a:noFill/>
          <a:ln w="0">
            <a:noFill/>
            <a:prstDash val="solid"/>
          </a:ln>
        </p:spPr>
        <p:txBody>
          <a:bodyPr wrap="square" lIns="0" tIns="0" rIns="0" bIns="0" anchor="t">
            <a:noAutofit/>
          </a:bodyPr>
          <a:lstStyle>
            <a:defPPr algn="l">
              <a:defRPr sz="950">
                <a:solidFill>
                  <a:srgbClr val="000000"/>
                </a:solidFill>
                <a:latin typeface="Times New Roman"/>
                <a:ea typeface="Times New Roman"/>
                <a:cs typeface="Times New Roman"/>
              </a:defRPr>
            </a:defPPr>
            <a:lvl1pPr algn="l">
              <a:defRPr sz="950">
                <a:solidFill>
                  <a:srgbClr val="000000"/>
                </a:solidFill>
                <a:latin typeface="Times New Roman"/>
                <a:ea typeface="Times New Roman"/>
                <a:cs typeface="Times New Roman"/>
              </a:defRPr>
            </a:lvl1pPr>
            <a:lvl2pPr algn="l">
              <a:defRPr sz="950">
                <a:solidFill>
                  <a:srgbClr val="000000"/>
                </a:solidFill>
                <a:latin typeface="Times New Roman"/>
                <a:ea typeface="Times New Roman"/>
                <a:cs typeface="Times New Roman"/>
              </a:defRPr>
            </a:lvl2pPr>
            <a:lvl3pPr algn="l">
              <a:defRPr sz="950">
                <a:solidFill>
                  <a:srgbClr val="000000"/>
                </a:solidFill>
                <a:latin typeface="Times New Roman"/>
                <a:ea typeface="Times New Roman"/>
                <a:cs typeface="Times New Roman"/>
              </a:defRPr>
            </a:lvl3pPr>
            <a:lvl4pPr algn="l">
              <a:defRPr sz="950">
                <a:solidFill>
                  <a:srgbClr val="000000"/>
                </a:solidFill>
                <a:latin typeface="Times New Roman"/>
                <a:ea typeface="Times New Roman"/>
                <a:cs typeface="Times New Roman"/>
              </a:defRPr>
            </a:lvl4pPr>
            <a:lvl5pPr algn="l">
              <a:defRPr sz="950">
                <a:solidFill>
                  <a:srgbClr val="000000"/>
                </a:solidFill>
                <a:latin typeface="Times New Roman"/>
                <a:ea typeface="Times New Roman"/>
                <a:cs typeface="Times New Roman"/>
              </a:defRPr>
            </a:lvl5pPr>
            <a:lvl6pPr algn="l">
              <a:defRPr sz="950">
                <a:solidFill>
                  <a:srgbClr val="000000"/>
                </a:solidFill>
                <a:latin typeface="Times New Roman"/>
                <a:ea typeface="Times New Roman"/>
                <a:cs typeface="Times New Roman"/>
              </a:defRPr>
            </a:lvl6pPr>
            <a:lvl7pPr algn="l">
              <a:defRPr sz="950">
                <a:solidFill>
                  <a:srgbClr val="000000"/>
                </a:solidFill>
                <a:latin typeface="Times New Roman"/>
                <a:ea typeface="Times New Roman"/>
                <a:cs typeface="Times New Roman"/>
              </a:defRPr>
            </a:lvl7pPr>
            <a:lvl8pPr algn="l">
              <a:defRPr sz="950">
                <a:solidFill>
                  <a:srgbClr val="000000"/>
                </a:solidFill>
                <a:latin typeface="Times New Roman"/>
                <a:ea typeface="Times New Roman"/>
                <a:cs typeface="Times New Roman"/>
              </a:defRPr>
            </a:lvl8pPr>
            <a:lvl9pPr algn="l">
              <a:defRPr sz="950">
                <a:solidFill>
                  <a:srgbClr val="000000"/>
                </a:solidFill>
                <a:latin typeface="Times New Roman"/>
                <a:ea typeface="Times New Roman"/>
                <a:cs typeface="Times New Roman"/>
              </a:defRPr>
            </a:lvl9pPr>
          </a:lstStyle>
          <a:p>
            <a:pPr algn="l">
              <a:lnSpc>
                <a:spcPct val="100000"/>
              </a:lnSpc>
              <a:buNone/>
              <a:defRPr sz="950">
                <a:solidFill>
                  <a:srgbClr val="000000"/>
                </a:solidFill>
                <a:latin typeface="Times New Roman"/>
                <a:ea typeface="Times New Roman"/>
                <a:cs typeface="Times New Roman"/>
              </a:defRPr>
            </a:pPr>
            <a:r>
              <a:rPr sz="950">
                <a:solidFill>
                  <a:srgbClr val="000000"/>
                </a:solidFill>
                <a:latin typeface="Times New Roman"/>
                <a:ea typeface="Times New Roman"/>
                <a:cs typeface="Times New Roman"/>
              </a:rPr>
              <a:t>Bedürftig / Murawski (2019), § 3.3.3, S. 206–207, und § 3.3.6, S. 216–217.</a:t>
            </a:r>
          </a:p>
        </p:txBody>
      </p:sp>
      <p:grpSp>
        <p:nvGrpSpPr>
          <p:cNvPr id="2001" name="Schritt 1"/>
          <p:cNvGrpSpPr/>
          <p:nvPr/>
        </p:nvGrpSpPr>
        <p:grpSpPr>
          <a:xfrm>
            <a:off x="419100" y="1000125"/>
            <a:ext cx="8486420" cy="2952750"/>
            <a:chOff x="419100" y="1000125"/>
            <a:chExt cx="8486420" cy="2952750"/>
          </a:xfrm>
        </p:grpSpPr>
        <p:sp>
          <p:nvSpPr>
            <p:cNvPr id="1004" name="transition-arrow">
              <a:extLst>
                <a:ext uri="{FF2B5EF4-FFF2-40B4-BE49-F238E27FC236}">
                  <a16:creationId xmlns="" xmlns:a16="http://schemas.microsoft.com/office/drawing/2014/main" id="{8B962F18-A4BB-4439-84DE-A21487B52E3C}"/>
                </a:ext>
              </a:extLst>
            </p:cNvPr>
            <p:cNvSpPr>
              <a:spLocks noGrp="1"/>
            </p:cNvSpPr>
            <p:nvPr/>
          </p:nvSpPr>
          <p:spPr>
            <a:xfrm>
              <a:off x="4295775" y="1800225"/>
              <a:ext cx="552450" cy="285750"/>
            </a:xfrm>
            <a:prstGeom prst="rightArrow">
              <a:avLst/>
            </a:prstGeom>
            <a:solidFill>
              <a:srgbClr val="000000"/>
            </a:solidFill>
            <a:ln w="0">
              <a:noFill/>
              <a:prstDash val="solid"/>
            </a:ln>
          </p:spPr>
        </p:sp>
        <p:sp>
          <p:nvSpPr>
            <p:cNvPr id="1005" name="arithmetic-heading">
              <a:extLst>
                <a:ext uri="{FF2B5EF4-FFF2-40B4-BE49-F238E27FC236}">
                  <a16:creationId xmlns="" xmlns:a16="http://schemas.microsoft.com/office/drawing/2014/main" id="{E667415D-D501-4290-A7E0-EA0E4A8F634C}"/>
                </a:ext>
              </a:extLst>
            </p:cNvPr>
            <p:cNvSpPr>
              <a:spLocks noGrp="1"/>
            </p:cNvSpPr>
            <p:nvPr/>
          </p:nvSpPr>
          <p:spPr>
            <a:xfrm>
              <a:off x="4914900" y="1000125"/>
              <a:ext cx="3810000" cy="400050"/>
            </a:xfrm>
            <a:prstGeom prst="rect">
              <a:avLst/>
            </a:prstGeom>
            <a:noFill/>
            <a:ln w="0">
              <a:noFill/>
              <a:prstDash val="solid"/>
            </a:ln>
          </p:spPr>
          <p:txBody>
            <a:bodyPr wrap="square" lIns="0" tIns="0" rIns="0" bIns="0" anchor="ctr">
              <a:noAutofit/>
            </a:bodyPr>
            <a:lstStyle>
              <a:defPPr algn="ctr">
                <a:defRPr sz="2100" b="1">
                  <a:solidFill>
                    <a:srgbClr val="000000"/>
                  </a:solidFill>
                  <a:latin typeface="Times New Roman"/>
                  <a:ea typeface="Times New Roman"/>
                  <a:cs typeface="Times New Roman"/>
                </a:defRPr>
              </a:defPPr>
              <a:lvl1pPr algn="ctr">
                <a:defRPr sz="2100" b="1">
                  <a:solidFill>
                    <a:srgbClr val="000000"/>
                  </a:solidFill>
                  <a:latin typeface="Times New Roman"/>
                  <a:ea typeface="Times New Roman"/>
                  <a:cs typeface="Times New Roman"/>
                </a:defRPr>
              </a:lvl1pPr>
              <a:lvl2pPr algn="ctr">
                <a:defRPr sz="2100" b="1">
                  <a:solidFill>
                    <a:srgbClr val="000000"/>
                  </a:solidFill>
                  <a:latin typeface="Times New Roman"/>
                  <a:ea typeface="Times New Roman"/>
                  <a:cs typeface="Times New Roman"/>
                </a:defRPr>
              </a:lvl2pPr>
              <a:lvl3pPr algn="ctr">
                <a:defRPr sz="2100" b="1">
                  <a:solidFill>
                    <a:srgbClr val="000000"/>
                  </a:solidFill>
                  <a:latin typeface="Times New Roman"/>
                  <a:ea typeface="Times New Roman"/>
                  <a:cs typeface="Times New Roman"/>
                </a:defRPr>
              </a:lvl3pPr>
              <a:lvl4pPr algn="ctr">
                <a:defRPr sz="2100" b="1">
                  <a:solidFill>
                    <a:srgbClr val="000000"/>
                  </a:solidFill>
                  <a:latin typeface="Times New Roman"/>
                  <a:ea typeface="Times New Roman"/>
                  <a:cs typeface="Times New Roman"/>
                </a:defRPr>
              </a:lvl4pPr>
              <a:lvl5pPr algn="ctr">
                <a:defRPr sz="2100" b="1">
                  <a:solidFill>
                    <a:srgbClr val="000000"/>
                  </a:solidFill>
                  <a:latin typeface="Times New Roman"/>
                  <a:ea typeface="Times New Roman"/>
                  <a:cs typeface="Times New Roman"/>
                </a:defRPr>
              </a:lvl5pPr>
              <a:lvl6pPr algn="ctr">
                <a:defRPr sz="2100" b="1">
                  <a:solidFill>
                    <a:srgbClr val="000000"/>
                  </a:solidFill>
                  <a:latin typeface="Times New Roman"/>
                  <a:ea typeface="Times New Roman"/>
                  <a:cs typeface="Times New Roman"/>
                </a:defRPr>
              </a:lvl6pPr>
              <a:lvl7pPr algn="ctr">
                <a:defRPr sz="2100" b="1">
                  <a:solidFill>
                    <a:srgbClr val="000000"/>
                  </a:solidFill>
                  <a:latin typeface="Times New Roman"/>
                  <a:ea typeface="Times New Roman"/>
                  <a:cs typeface="Times New Roman"/>
                </a:defRPr>
              </a:lvl7pPr>
              <a:lvl8pPr algn="ctr">
                <a:defRPr sz="2100" b="1">
                  <a:solidFill>
                    <a:srgbClr val="000000"/>
                  </a:solidFill>
                  <a:latin typeface="Times New Roman"/>
                  <a:ea typeface="Times New Roman"/>
                  <a:cs typeface="Times New Roman"/>
                </a:defRPr>
              </a:lvl8pPr>
              <a:lvl9pPr algn="ctr">
                <a:defRPr sz="2100" b="1">
                  <a:solidFill>
                    <a:srgbClr val="000000"/>
                  </a:solidFill>
                  <a:latin typeface="Times New Roman"/>
                  <a:ea typeface="Times New Roman"/>
                  <a:cs typeface="Times New Roman"/>
                </a:defRPr>
              </a:lvl9pPr>
            </a:lstStyle>
            <a:p>
              <a:pPr algn="ctr">
                <a:lnSpc>
                  <a:spcPct val="110000"/>
                </a:lnSpc>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Arithmetischer Begriff</a:t>
              </a:r>
            </a:p>
          </p:txBody>
        </p:sp>
        <p:sp>
          <p:nvSpPr>
            <p:cNvPr id="1006" name="real-line">
              <a:extLst>
                <a:ext uri="{FF2B5EF4-FFF2-40B4-BE49-F238E27FC236}">
                  <a16:creationId xmlns="" xmlns:a16="http://schemas.microsoft.com/office/drawing/2014/main" id="{793C2E1F-C801-4D39-8398-B782386CF616}"/>
                </a:ext>
              </a:extLst>
            </p:cNvPr>
            <p:cNvSpPr>
              <a:spLocks noGrp="1"/>
            </p:cNvSpPr>
            <p:nvPr/>
          </p:nvSpPr>
          <p:spPr>
            <a:xfrm>
              <a:off x="5334000" y="1943100"/>
              <a:ext cx="3238500" cy="0"/>
            </a:xfrm>
            <a:prstGeom prst="line">
              <a:avLst/>
            </a:prstGeom>
            <a:noFill/>
            <a:ln w="21908">
              <a:solidFill>
                <a:srgbClr val="4F81BD"/>
              </a:solidFill>
              <a:prstDash val="solid"/>
            </a:ln>
          </p:spPr>
        </p:sp>
        <p:sp>
          <p:nvSpPr>
            <p:cNvPr id="1007" name="real-tick-0">
              <a:extLst>
                <a:ext uri="{FF2B5EF4-FFF2-40B4-BE49-F238E27FC236}">
                  <a16:creationId xmlns="" xmlns:a16="http://schemas.microsoft.com/office/drawing/2014/main" id="{BC7B7A12-A474-47F2-8B44-3E765038B348}"/>
                </a:ext>
              </a:extLst>
            </p:cNvPr>
            <p:cNvSpPr>
              <a:spLocks noGrp="1"/>
            </p:cNvSpPr>
            <p:nvPr/>
          </p:nvSpPr>
          <p:spPr>
            <a:xfrm>
              <a:off x="5524500" y="1895475"/>
              <a:ext cx="0" cy="95250"/>
            </a:xfrm>
            <a:prstGeom prst="line">
              <a:avLst/>
            </a:prstGeom>
            <a:noFill/>
            <a:ln w="13335">
              <a:solidFill>
                <a:srgbClr val="000000"/>
              </a:solidFill>
              <a:prstDash val="solid"/>
            </a:ln>
          </p:spPr>
        </p:sp>
        <p:sp>
          <p:nvSpPr>
            <p:cNvPr id="1008" name="real-point-0">
              <a:extLst>
                <a:ext uri="{FF2B5EF4-FFF2-40B4-BE49-F238E27FC236}">
                  <a16:creationId xmlns="" xmlns:a16="http://schemas.microsoft.com/office/drawing/2014/main" id="{647234E3-3FFD-4408-B68E-8CE210300A5A}"/>
                </a:ext>
              </a:extLst>
            </p:cNvPr>
            <p:cNvSpPr>
              <a:spLocks noGrp="1"/>
            </p:cNvSpPr>
            <p:nvPr/>
          </p:nvSpPr>
          <p:spPr>
            <a:xfrm>
              <a:off x="5498783" y="1917383"/>
              <a:ext cx="51435" cy="51435"/>
            </a:xfrm>
            <a:prstGeom prst="ellipse">
              <a:avLst/>
            </a:prstGeom>
            <a:solidFill>
              <a:srgbClr val="000000"/>
            </a:solidFill>
            <a:ln w="0">
              <a:noFill/>
              <a:prstDash val="solid"/>
            </a:ln>
          </p:spPr>
        </p:sp>
        <p:sp>
          <p:nvSpPr>
            <p:cNvPr id="1009" name="real-tick-1">
              <a:extLst>
                <a:ext uri="{FF2B5EF4-FFF2-40B4-BE49-F238E27FC236}">
                  <a16:creationId xmlns="" xmlns:a16="http://schemas.microsoft.com/office/drawing/2014/main" id="{5A1AF3F2-426B-4908-823C-69159A8E5715}"/>
                </a:ext>
              </a:extLst>
            </p:cNvPr>
            <p:cNvSpPr>
              <a:spLocks noGrp="1"/>
            </p:cNvSpPr>
            <p:nvPr/>
          </p:nvSpPr>
          <p:spPr>
            <a:xfrm>
              <a:off x="7429500" y="1895475"/>
              <a:ext cx="0" cy="95250"/>
            </a:xfrm>
            <a:prstGeom prst="line">
              <a:avLst/>
            </a:prstGeom>
            <a:noFill/>
            <a:ln w="13335">
              <a:solidFill>
                <a:srgbClr val="000000"/>
              </a:solidFill>
              <a:prstDash val="solid"/>
            </a:ln>
          </p:spPr>
        </p:sp>
        <p:sp>
          <p:nvSpPr>
            <p:cNvPr id="1010" name="real-point-1">
              <a:extLst>
                <a:ext uri="{FF2B5EF4-FFF2-40B4-BE49-F238E27FC236}">
                  <a16:creationId xmlns="" xmlns:a16="http://schemas.microsoft.com/office/drawing/2014/main" id="{B13051AC-19A2-4846-8738-78D35B954E8A}"/>
                </a:ext>
              </a:extLst>
            </p:cNvPr>
            <p:cNvSpPr>
              <a:spLocks noGrp="1"/>
            </p:cNvSpPr>
            <p:nvPr/>
          </p:nvSpPr>
          <p:spPr>
            <a:xfrm>
              <a:off x="7403783" y="1917383"/>
              <a:ext cx="51435" cy="51435"/>
            </a:xfrm>
            <a:prstGeom prst="ellipse">
              <a:avLst/>
            </a:prstGeom>
            <a:solidFill>
              <a:srgbClr val="000000"/>
            </a:solidFill>
            <a:ln w="0">
              <a:noFill/>
              <a:prstDash val="solid"/>
            </a:ln>
          </p:spPr>
        </p:sp>
        <p:sp>
          <p:nvSpPr>
            <p:cNvPr id="1011" name="real-tick-2">
              <a:extLst>
                <a:ext uri="{FF2B5EF4-FFF2-40B4-BE49-F238E27FC236}">
                  <a16:creationId xmlns="" xmlns:a16="http://schemas.microsoft.com/office/drawing/2014/main" id="{C9470ACA-49D7-4E25-8085-B7F19832BE4B}"/>
                </a:ext>
              </a:extLst>
            </p:cNvPr>
            <p:cNvSpPr>
              <a:spLocks noGrp="1"/>
            </p:cNvSpPr>
            <p:nvPr/>
          </p:nvSpPr>
          <p:spPr>
            <a:xfrm>
              <a:off x="8218577" y="1895475"/>
              <a:ext cx="0" cy="95250"/>
            </a:xfrm>
            <a:prstGeom prst="line">
              <a:avLst/>
            </a:prstGeom>
            <a:noFill/>
            <a:ln w="13335">
              <a:solidFill>
                <a:srgbClr val="000000"/>
              </a:solidFill>
              <a:prstDash val="solid"/>
            </a:ln>
          </p:spPr>
        </p:sp>
        <p:sp>
          <p:nvSpPr>
            <p:cNvPr id="1012" name="real-point-2">
              <a:extLst>
                <a:ext uri="{FF2B5EF4-FFF2-40B4-BE49-F238E27FC236}">
                  <a16:creationId xmlns="" xmlns:a16="http://schemas.microsoft.com/office/drawing/2014/main" id="{A320DF8A-D25C-4B2F-BB57-BAB6A137D122}"/>
                </a:ext>
              </a:extLst>
            </p:cNvPr>
            <p:cNvSpPr>
              <a:spLocks noGrp="1"/>
            </p:cNvSpPr>
            <p:nvPr/>
          </p:nvSpPr>
          <p:spPr>
            <a:xfrm>
              <a:off x="8192859" y="1917383"/>
              <a:ext cx="51435" cy="51435"/>
            </a:xfrm>
            <a:prstGeom prst="ellipse">
              <a:avLst/>
            </a:prstGeom>
            <a:solidFill>
              <a:srgbClr val="4F81BD"/>
            </a:solidFill>
            <a:ln w="0">
              <a:noFill/>
              <a:prstDash val="solid"/>
            </a:ln>
          </p:spPr>
        </p:sp>
        <p:pic>
          <p:nvPicPr>
            <p:cNvPr id="1013" name="formula-zero">
              <a:extLst>
                <a:ext uri="{FF2B5EF4-FFF2-40B4-BE49-F238E27FC236}">
                  <a16:creationId xmlns="" xmlns:a16="http://schemas.microsoft.com/office/drawing/2014/main" id="{77098AC3-5C2C-488E-A296-33A772DAE08B}"/>
                </a:ext>
              </a:extLst>
            </p:cNvPr>
            <p:cNvPicPr>
              <a:picLocks noChangeAspect="1"/>
            </p:cNvPicPr>
            <p:nvPr/>
          </p:nvPicPr>
          <p:blipFill>
            <a:blip r:embed="rId3">
              <a:extLst>
                <a:ext uri="{96DAC541-7B7A-43D3-8B79-37D633B846F1}">
                  <asvg:svgBlip xmlns="" xmlns:asvg="http://schemas.microsoft.com/office/drawing/2016/SVG/main" r:embed="rIdRevision12Asset2"/>
                </a:ext>
              </a:extLst>
            </a:blip>
            <a:stretch/>
          </p:blipFill>
          <p:spPr>
            <a:xfrm>
              <a:off x="5454910" y="2152650"/>
              <a:ext cx="139179" cy="181191"/>
            </a:xfrm>
            <a:prstGeom prst="rect">
              <a:avLst/>
            </a:prstGeom>
          </p:spPr>
        </p:pic>
        <p:pic>
          <p:nvPicPr>
            <p:cNvPr id="1014" name="formula-one">
              <a:extLst>
                <a:ext uri="{FF2B5EF4-FFF2-40B4-BE49-F238E27FC236}">
                  <a16:creationId xmlns="" xmlns:a16="http://schemas.microsoft.com/office/drawing/2014/main" id="{9C8B28FE-90FC-4F6F-A83B-90EDA93AD0B1}"/>
                </a:ext>
              </a:extLst>
            </p:cNvPr>
            <p:cNvPicPr>
              <a:picLocks noChangeAspect="1"/>
            </p:cNvPicPr>
            <p:nvPr/>
          </p:nvPicPr>
          <p:blipFill>
            <a:blip r:embed="rId3">
              <a:extLst>
                <a:ext uri="{96DAC541-7B7A-43D3-8B79-37D633B846F1}">
                  <asvg:svgBlip xmlns="" xmlns:asvg="http://schemas.microsoft.com/office/drawing/2016/SVG/main" r:embed="rIdRevision12Asset4"/>
                </a:ext>
              </a:extLst>
            </a:blip>
            <a:stretch/>
          </p:blipFill>
          <p:spPr>
            <a:xfrm>
              <a:off x="7359910" y="2152650"/>
              <a:ext cx="139179" cy="177660"/>
            </a:xfrm>
            <a:prstGeom prst="rect">
              <a:avLst/>
            </a:prstGeom>
          </p:spPr>
        </p:pic>
        <p:pic>
          <p:nvPicPr>
            <p:cNvPr id="1015" name="formula-root-two">
              <a:extLst>
                <a:ext uri="{FF2B5EF4-FFF2-40B4-BE49-F238E27FC236}">
                  <a16:creationId xmlns="" xmlns:a16="http://schemas.microsoft.com/office/drawing/2014/main" id="{1477B609-BFD4-43EA-81D7-D0389DB06E8E}"/>
                </a:ext>
              </a:extLst>
            </p:cNvPr>
            <p:cNvPicPr>
              <a:picLocks noChangeAspect="1"/>
            </p:cNvPicPr>
            <p:nvPr/>
          </p:nvPicPr>
          <p:blipFill>
            <a:blip r:embed="rId3">
              <a:extLst>
                <a:ext uri="{96DAC541-7B7A-43D3-8B79-37D633B846F1}">
                  <asvg:svgBlip xmlns="" xmlns:asvg="http://schemas.microsoft.com/office/drawing/2016/SVG/main" r:embed="rIdRevision12Asset6"/>
                </a:ext>
              </a:extLst>
            </a:blip>
            <a:stretch/>
          </p:blipFill>
          <p:spPr>
            <a:xfrm>
              <a:off x="8054131" y="2152650"/>
              <a:ext cx="328892" cy="261696"/>
            </a:xfrm>
            <a:prstGeom prst="rect">
              <a:avLst/>
            </a:prstGeom>
          </p:spPr>
        </p:pic>
        <p:pic>
          <p:nvPicPr>
            <p:cNvPr id="1016" name="formula-reals">
              <a:extLst>
                <a:ext uri="{FF2B5EF4-FFF2-40B4-BE49-F238E27FC236}">
                  <a16:creationId xmlns="" xmlns:a16="http://schemas.microsoft.com/office/drawing/2014/main" id="{BDE7D993-FE34-42AA-B6C9-6F62CFFCEFB6}"/>
                </a:ext>
              </a:extLst>
            </p:cNvPr>
            <p:cNvPicPr>
              <a:picLocks noChangeAspect="1"/>
            </p:cNvPicPr>
            <p:nvPr/>
          </p:nvPicPr>
          <p:blipFill>
            <a:blip r:embed="rId3">
              <a:extLst>
                <a:ext uri="{96DAC541-7B7A-43D3-8B79-37D633B846F1}">
                  <asvg:svgBlip xmlns="" xmlns:asvg="http://schemas.microsoft.com/office/drawing/2016/SVG/main" r:embed="rIdRevision12Asset8"/>
                </a:ext>
              </a:extLst>
            </a:blip>
            <a:stretch/>
          </p:blipFill>
          <p:spPr>
            <a:xfrm>
              <a:off x="8715731" y="1819275"/>
              <a:ext cx="189789" cy="182194"/>
            </a:xfrm>
            <a:prstGeom prst="rect">
              <a:avLst/>
            </a:prstGeom>
          </p:spPr>
        </p:pic>
        <p:sp>
          <p:nvSpPr>
            <p:cNvPr id="1018" name="coordinate-history">
              <a:extLst>
                <a:ext uri="{FF2B5EF4-FFF2-40B4-BE49-F238E27FC236}">
                  <a16:creationId xmlns="" xmlns:a16="http://schemas.microsoft.com/office/drawing/2014/main" id="{8667AB59-B2AD-497F-90C2-E1AE89CB4E58}"/>
                </a:ext>
              </a:extLst>
            </p:cNvPr>
            <p:cNvSpPr>
              <a:spLocks noGrp="1"/>
            </p:cNvSpPr>
            <p:nvPr/>
          </p:nvSpPr>
          <p:spPr>
            <a:xfrm>
              <a:off x="419100" y="3562350"/>
              <a:ext cx="8305800" cy="390525"/>
            </a:xfrm>
            <a:prstGeom prst="rect">
              <a:avLst/>
            </a:prstGeom>
            <a:noFill/>
            <a:ln w="0">
              <a:noFill/>
              <a:prstDash val="solid"/>
            </a:ln>
          </p:spPr>
          <p:txBody>
            <a:bodyPr wrap="square" lIns="0" tIns="0" rIns="0" bIns="0" anchor="t">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10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Seit Descartes: Zahlen beschreiben die Lage geometrischer Punkte.</a:t>
              </a:r>
            </a:p>
          </p:txBody>
        </p:sp>
      </p:grpSp>
      <p:grpSp>
        <p:nvGrpSpPr>
          <p:cNvPr id="2002" name="Schritt 2"/>
          <p:cNvGrpSpPr/>
          <p:nvPr/>
        </p:nvGrpSpPr>
        <p:grpSpPr>
          <a:xfrm>
            <a:off x="419100" y="2571750"/>
            <a:ext cx="8305800" cy="1962150"/>
            <a:chOff x="419100" y="2571750"/>
            <a:chExt cx="8305800" cy="1962150"/>
          </a:xfrm>
        </p:grpSpPr>
        <p:sp>
          <p:nvSpPr>
            <p:cNvPr id="1017" name="arithmetic-caption">
              <a:extLst>
                <a:ext uri="{FF2B5EF4-FFF2-40B4-BE49-F238E27FC236}">
                  <a16:creationId xmlns="" xmlns:a16="http://schemas.microsoft.com/office/drawing/2014/main" id="{549A3846-C920-4A8A-816B-FC0CABCD1B17}"/>
                </a:ext>
              </a:extLst>
            </p:cNvPr>
            <p:cNvSpPr>
              <a:spLocks noGrp="1"/>
            </p:cNvSpPr>
            <p:nvPr/>
          </p:nvSpPr>
          <p:spPr>
            <a:xfrm>
              <a:off x="4914900" y="2571750"/>
              <a:ext cx="3810000" cy="666750"/>
            </a:xfrm>
            <a:prstGeom prst="rect">
              <a:avLst/>
            </a:prstGeom>
            <a:noFill/>
            <a:ln w="0">
              <a:noFill/>
              <a:prstDash val="solid"/>
            </a:ln>
          </p:spPr>
          <p:txBody>
            <a:bodyPr wrap="square" lIns="0" tIns="0" rIns="0" bIns="0" anchor="ctr">
              <a:noAutofit/>
            </a:bodyPr>
            <a:lstStyle>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a:pPr algn="ctr">
                <a:lnSpc>
                  <a:spcPct val="110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Die Gerade als Menge reeller Zahlen.</a:t>
              </a:r>
            </a:p>
            <a:p>
              <a:pPr algn="ctr">
                <a:lnSpc>
                  <a:spcPct val="110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Ordnung und Vollständigkeit.</a:t>
              </a:r>
            </a:p>
          </p:txBody>
        </p:sp>
        <p:sp>
          <p:nvSpPr>
            <p:cNvPr id="1019" name="arithmetic-history">
              <a:extLst>
                <a:ext uri="{FF2B5EF4-FFF2-40B4-BE49-F238E27FC236}">
                  <a16:creationId xmlns="" xmlns:a16="http://schemas.microsoft.com/office/drawing/2014/main" id="{F144D9ED-9A35-4C47-B07E-7059EDDD777B}"/>
                </a:ext>
              </a:extLst>
            </p:cNvPr>
            <p:cNvSpPr>
              <a:spLocks noGrp="1"/>
            </p:cNvSpPr>
            <p:nvPr/>
          </p:nvSpPr>
          <p:spPr>
            <a:xfrm>
              <a:off x="419100" y="4143375"/>
              <a:ext cx="8305800" cy="390525"/>
            </a:xfrm>
            <a:prstGeom prst="rect">
              <a:avLst/>
            </a:prstGeom>
            <a:noFill/>
            <a:ln w="0">
              <a:noFill/>
              <a:prstDash val="solid"/>
            </a:ln>
          </p:spPr>
          <p:txBody>
            <a:bodyPr wrap="square" lIns="0" tIns="0" rIns="0" bIns="0" anchor="t">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10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19. Jahrhundert: Dedekind und Cantor konstruieren die reellen Zahlen.</a:t>
              </a:r>
            </a:p>
          </p:txBody>
        </p:sp>
      </p:grpSp>
    </p:spTree>
    <p:extLst>
      <p:ext uri="{BB962C8B-B14F-4D97-AF65-F5344CB8AC3E}">
        <p14:creationId xmlns:p14="http://schemas.microsoft.com/office/powerpoint/2010/main" val="385795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0001" name="Vorlage: Titelband"/>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00002" name="Vorlage: Folientitel"/>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Akzeptanz des aktual Unendlichen</a:t>
            </a:r>
          </a:p>
        </p:txBody>
      </p:sp>
      <p:pic>
        <p:nvPicPr>
          <p:cNvPr id="5" name="accept_intro">
            <a:extLst>
              <a:ext uri="{FF2B5EF4-FFF2-40B4-BE49-F238E27FC236}">
                <a16:creationId xmlns="" xmlns:a16="http://schemas.microsoft.com/office/drawing/2014/main" id="{A7F2814B-1A27-4065-9067-C1ADE6E9DFE8}"/>
              </a:ext>
            </a:extLst>
          </p:cNvPr>
          <p:cNvPicPr>
            <a:picLocks noChangeAspect="1"/>
          </p:cNvPicPr>
          <p:nvPr/>
        </p:nvPicPr>
        <p:blipFill>
          <a:blip r:embed="rId3"/>
          <a:stretch/>
        </p:blipFill>
        <p:spPr>
          <a:xfrm>
            <a:off x="247650" y="809625"/>
            <a:ext cx="8686800" cy="553589"/>
          </a:xfrm>
          <a:prstGeom prst="rect">
            <a:avLst/>
          </a:prstGeom>
        </p:spPr>
      </p:pic>
      <p:pic>
        <p:nvPicPr>
          <p:cNvPr id="2" name="accept_sets: Einblendung 1"/>
          <p:cNvPicPr>
            <a:picLocks noChangeAspect="1"/>
          </p:cNvPicPr>
          <p:nvPr/>
        </p:nvPicPr>
        <p:blipFill>
          <a:blip r:embed="rId4"/>
          <a:stretch/>
        </p:blipFill>
        <p:spPr>
          <a:xfrm>
            <a:off x="247650" y="1809750"/>
            <a:ext cx="4143375" cy="324823"/>
          </a:xfrm>
          <a:prstGeom prst="rect">
            <a:avLst/>
          </a:prstGeom>
        </p:spPr>
      </p:pic>
      <p:pic>
        <p:nvPicPr>
          <p:cNvPr id="900003" name="accept_sets: Einblendung 2"/>
          <p:cNvPicPr>
            <a:picLocks noChangeAspect="1"/>
          </p:cNvPicPr>
          <p:nvPr/>
        </p:nvPicPr>
        <p:blipFill>
          <a:blip r:embed="rId5"/>
          <a:stretch/>
        </p:blipFill>
        <p:spPr>
          <a:xfrm>
            <a:off x="247650" y="2134573"/>
            <a:ext cx="4143375" cy="430578"/>
          </a:xfrm>
          <a:prstGeom prst="rect">
            <a:avLst/>
          </a:prstGeom>
        </p:spPr>
      </p:pic>
      <p:pic>
        <p:nvPicPr>
          <p:cNvPr id="900004" name="accept_sets: Einblendung 3"/>
          <p:cNvPicPr>
            <a:picLocks noChangeAspect="1"/>
          </p:cNvPicPr>
          <p:nvPr/>
        </p:nvPicPr>
        <p:blipFill>
          <a:blip r:embed="rId6"/>
          <a:stretch/>
        </p:blipFill>
        <p:spPr>
          <a:xfrm>
            <a:off x="247650" y="2565151"/>
            <a:ext cx="4143375" cy="687415"/>
          </a:xfrm>
          <a:prstGeom prst="rect">
            <a:avLst/>
          </a:prstGeom>
        </p:spPr>
      </p:pic>
      <p:pic>
        <p:nvPicPr>
          <p:cNvPr id="900005" name="accept_sets: Einblendung 4"/>
          <p:cNvPicPr>
            <a:picLocks noChangeAspect="1"/>
          </p:cNvPicPr>
          <p:nvPr/>
        </p:nvPicPr>
        <p:blipFill>
          <a:blip r:embed="rId7"/>
          <a:stretch/>
        </p:blipFill>
        <p:spPr>
          <a:xfrm>
            <a:off x="247650" y="3252566"/>
            <a:ext cx="4143375" cy="415471"/>
          </a:xfrm>
          <a:prstGeom prst="rect">
            <a:avLst/>
          </a:prstGeom>
        </p:spPr>
      </p:pic>
      <p:pic>
        <p:nvPicPr>
          <p:cNvPr id="3" name="accept_numbers: Einblendung 1"/>
          <p:cNvPicPr>
            <a:picLocks noChangeAspect="1"/>
          </p:cNvPicPr>
          <p:nvPr/>
        </p:nvPicPr>
        <p:blipFill>
          <a:blip r:embed="rId8"/>
          <a:stretch/>
        </p:blipFill>
        <p:spPr>
          <a:xfrm>
            <a:off x="4762500" y="1809750"/>
            <a:ext cx="4143375" cy="317269"/>
          </a:xfrm>
          <a:prstGeom prst="rect">
            <a:avLst/>
          </a:prstGeom>
        </p:spPr>
      </p:pic>
      <p:pic>
        <p:nvPicPr>
          <p:cNvPr id="900006" name="accept_numbers: Einblendung 2"/>
          <p:cNvPicPr>
            <a:picLocks noChangeAspect="1"/>
          </p:cNvPicPr>
          <p:nvPr/>
        </p:nvPicPr>
        <p:blipFill>
          <a:blip r:embed="rId9"/>
          <a:stretch/>
        </p:blipFill>
        <p:spPr>
          <a:xfrm>
            <a:off x="4762500" y="2127019"/>
            <a:ext cx="4143375" cy="1522133"/>
          </a:xfrm>
          <a:prstGeom prst="rect">
            <a:avLst/>
          </a:prstGeom>
        </p:spPr>
      </p:pic>
      <p:pic>
        <p:nvPicPr>
          <p:cNvPr id="4" name="accept_comment">
            <a:extLst>
              <a:ext uri="{FF2B5EF4-FFF2-40B4-BE49-F238E27FC236}">
                <a16:creationId xmlns="" xmlns:a16="http://schemas.microsoft.com/office/drawing/2014/main" id="{C1CDC3A3-1F4A-449D-9998-C2D9AC6D3ACF}"/>
              </a:ext>
            </a:extLst>
          </p:cNvPr>
          <p:cNvPicPr>
            <a:picLocks noChangeAspect="1"/>
          </p:cNvPicPr>
          <p:nvPr/>
        </p:nvPicPr>
        <p:blipFill>
          <a:blip r:embed="rId10"/>
          <a:stretch/>
        </p:blipFill>
        <p:spPr>
          <a:xfrm>
            <a:off x="247650" y="4276725"/>
            <a:ext cx="8686800" cy="553589"/>
          </a:xfrm>
          <a:prstGeom prst="rect">
            <a:avLst/>
          </a:prstGeom>
        </p:spPr>
      </p:pic>
    </p:spTree>
    <p:extLst>
      <p:ext uri="{BB962C8B-B14F-4D97-AF65-F5344CB8AC3E}">
        <p14:creationId xmlns:p14="http://schemas.microsoft.com/office/powerpoint/2010/main" val="807157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00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000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0000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0000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Kontinuumsauffassungen</a:t>
            </a:r>
            <a:endParaRPr lang="en-CA" sz="3200" dirty="0">
              <a:solidFill>
                <a:schemeClr val="bg1"/>
              </a:solidFill>
              <a:effectLst>
                <a:outerShdw blurRad="38100" dist="38100" dir="2700000" algn="tl">
                  <a:srgbClr val="000000">
                    <a:alpha val="43137"/>
                  </a:srgbClr>
                </a:outerShdw>
              </a:effectLst>
            </a:endParaRPr>
          </a:p>
        </p:txBody>
      </p:sp>
      <p:sp>
        <p:nvSpPr>
          <p:cNvPr id="1000" name="root">
            <a:extLst>
              <a:ext uri="{FF2B5EF4-FFF2-40B4-BE49-F238E27FC236}">
                <a16:creationId xmlns="" xmlns:a16="http://schemas.microsoft.com/office/drawing/2014/main" id="{748B55A1-DAB1-4BB9-BC49-C5EECA8C83BD}"/>
              </a:ext>
            </a:extLst>
          </p:cNvPr>
          <p:cNvSpPr>
            <a:spLocks noGrp="1"/>
          </p:cNvSpPr>
          <p:nvPr/>
        </p:nvSpPr>
        <p:spPr>
          <a:xfrm>
            <a:off x="3333750" y="781050"/>
            <a:ext cx="2476500" cy="476250"/>
          </a:xfrm>
          <a:prstGeom prst="rect">
            <a:avLst/>
          </a:prstGeom>
          <a:noFill/>
          <a:ln w="0">
            <a:noFill/>
            <a:prstDash val="solid"/>
          </a:ln>
        </p:spPr>
        <p:txBody>
          <a:bodyPr wrap="square" lIns="0" tIns="0" rIns="0" bIns="0" anchor="ctr">
            <a:noAutofit/>
          </a:bodyPr>
          <a:lstStyle>
            <a:defPPr algn="ctr">
              <a:defRPr sz="2500" b="1">
                <a:solidFill>
                  <a:srgbClr val="000000"/>
                </a:solidFill>
                <a:latin typeface="Times New Roman"/>
                <a:ea typeface="Times New Roman"/>
                <a:cs typeface="Times New Roman"/>
              </a:defRPr>
            </a:defPPr>
            <a:lvl1pPr algn="ctr">
              <a:defRPr sz="2500" b="1">
                <a:solidFill>
                  <a:srgbClr val="000000"/>
                </a:solidFill>
                <a:latin typeface="Times New Roman"/>
                <a:ea typeface="Times New Roman"/>
                <a:cs typeface="Times New Roman"/>
              </a:defRPr>
            </a:lvl1pPr>
            <a:lvl2pPr algn="ctr">
              <a:defRPr sz="2500" b="1">
                <a:solidFill>
                  <a:srgbClr val="000000"/>
                </a:solidFill>
                <a:latin typeface="Times New Roman"/>
                <a:ea typeface="Times New Roman"/>
                <a:cs typeface="Times New Roman"/>
              </a:defRPr>
            </a:lvl2pPr>
            <a:lvl3pPr algn="ctr">
              <a:defRPr sz="2500" b="1">
                <a:solidFill>
                  <a:srgbClr val="000000"/>
                </a:solidFill>
                <a:latin typeface="Times New Roman"/>
                <a:ea typeface="Times New Roman"/>
                <a:cs typeface="Times New Roman"/>
              </a:defRPr>
            </a:lvl3pPr>
            <a:lvl4pPr algn="ctr">
              <a:defRPr sz="2500" b="1">
                <a:solidFill>
                  <a:srgbClr val="000000"/>
                </a:solidFill>
                <a:latin typeface="Times New Roman"/>
                <a:ea typeface="Times New Roman"/>
                <a:cs typeface="Times New Roman"/>
              </a:defRPr>
            </a:lvl4pPr>
            <a:lvl5pPr algn="ctr">
              <a:defRPr sz="2500" b="1">
                <a:solidFill>
                  <a:srgbClr val="000000"/>
                </a:solidFill>
                <a:latin typeface="Times New Roman"/>
                <a:ea typeface="Times New Roman"/>
                <a:cs typeface="Times New Roman"/>
              </a:defRPr>
            </a:lvl5pPr>
            <a:lvl6pPr algn="ctr">
              <a:defRPr sz="2500" b="1">
                <a:solidFill>
                  <a:srgbClr val="000000"/>
                </a:solidFill>
                <a:latin typeface="Times New Roman"/>
                <a:ea typeface="Times New Roman"/>
                <a:cs typeface="Times New Roman"/>
              </a:defRPr>
            </a:lvl6pPr>
            <a:lvl7pPr algn="ctr">
              <a:defRPr sz="2500" b="1">
                <a:solidFill>
                  <a:srgbClr val="000000"/>
                </a:solidFill>
                <a:latin typeface="Times New Roman"/>
                <a:ea typeface="Times New Roman"/>
                <a:cs typeface="Times New Roman"/>
              </a:defRPr>
            </a:lvl7pPr>
            <a:lvl8pPr algn="ctr">
              <a:defRPr sz="2500" b="1">
                <a:solidFill>
                  <a:srgbClr val="000000"/>
                </a:solidFill>
                <a:latin typeface="Times New Roman"/>
                <a:ea typeface="Times New Roman"/>
                <a:cs typeface="Times New Roman"/>
              </a:defRPr>
            </a:lvl8pPr>
            <a:lvl9pPr algn="ctr">
              <a:defRPr sz="2500" b="1">
                <a:solidFill>
                  <a:srgbClr val="000000"/>
                </a:solidFill>
                <a:latin typeface="Times New Roman"/>
                <a:ea typeface="Times New Roman"/>
                <a:cs typeface="Times New Roman"/>
              </a:defRPr>
            </a:lvl9pPr>
          </a:lstStyle>
          <a:p>
            <a:pPr algn="ctr">
              <a:lnSpc>
                <a:spcPct val="104000"/>
              </a:lnSpc>
              <a:buNone/>
              <a:defRPr sz="2500" b="1">
                <a:solidFill>
                  <a:srgbClr val="000000"/>
                </a:solidFill>
                <a:latin typeface="Times New Roman"/>
                <a:ea typeface="Times New Roman"/>
                <a:cs typeface="Times New Roman"/>
              </a:defRPr>
            </a:pPr>
            <a:r>
              <a:rPr sz="2500" b="1">
                <a:solidFill>
                  <a:srgbClr val="000000"/>
                </a:solidFill>
                <a:latin typeface="Times New Roman"/>
                <a:ea typeface="Times New Roman"/>
                <a:cs typeface="Times New Roman"/>
              </a:rPr>
              <a:t>Kontinuum</a:t>
            </a:r>
          </a:p>
        </p:txBody>
      </p:sp>
      <p:grpSp>
        <p:nvGrpSpPr>
          <p:cNvPr id="2001" name="Schritt 1: Grundgliederung"/>
          <p:cNvGrpSpPr/>
          <p:nvPr/>
        </p:nvGrpSpPr>
        <p:grpSpPr>
          <a:xfrm>
            <a:off x="304800" y="1304925"/>
            <a:ext cx="8534400" cy="714375"/>
            <a:chOff x="304800" y="1304925"/>
            <a:chExt cx="8534400" cy="714375"/>
          </a:xfrm>
        </p:grpSpPr>
        <p:sp>
          <p:nvSpPr>
            <p:cNvPr id="1001" name="root-stem">
              <a:extLst>
                <a:ext uri="{FF2B5EF4-FFF2-40B4-BE49-F238E27FC236}">
                  <a16:creationId xmlns="" xmlns:a16="http://schemas.microsoft.com/office/drawing/2014/main" id="{46995038-94A0-4A9D-BDEF-434180217905}"/>
                </a:ext>
              </a:extLst>
            </p:cNvPr>
            <p:cNvSpPr>
              <a:spLocks noGrp="1"/>
            </p:cNvSpPr>
            <p:nvPr/>
          </p:nvSpPr>
          <p:spPr>
            <a:xfrm>
              <a:off x="4572000" y="1304925"/>
              <a:ext cx="0" cy="142875"/>
            </a:xfrm>
            <a:prstGeom prst="line">
              <a:avLst/>
            </a:prstGeom>
            <a:noFill/>
            <a:ln w="12383">
              <a:solidFill>
                <a:srgbClr val="000000"/>
              </a:solidFill>
              <a:prstDash val="solid"/>
            </a:ln>
          </p:spPr>
        </p:sp>
        <p:sp>
          <p:nvSpPr>
            <p:cNvPr id="1002" name="family-fork">
              <a:extLst>
                <a:ext uri="{FF2B5EF4-FFF2-40B4-BE49-F238E27FC236}">
                  <a16:creationId xmlns="" xmlns:a16="http://schemas.microsoft.com/office/drawing/2014/main" id="{3C58C053-8BB7-497D-BF84-869D7729F099}"/>
                </a:ext>
              </a:extLst>
            </p:cNvPr>
            <p:cNvSpPr>
              <a:spLocks noGrp="1"/>
            </p:cNvSpPr>
            <p:nvPr/>
          </p:nvSpPr>
          <p:spPr>
            <a:xfrm>
              <a:off x="2286000" y="1447800"/>
              <a:ext cx="4572000" cy="0"/>
            </a:xfrm>
            <a:prstGeom prst="line">
              <a:avLst/>
            </a:prstGeom>
            <a:noFill/>
            <a:ln w="12383">
              <a:solidFill>
                <a:srgbClr val="000000"/>
              </a:solidFill>
              <a:prstDash val="solid"/>
            </a:ln>
          </p:spPr>
        </p:sp>
        <p:sp>
          <p:nvSpPr>
            <p:cNvPr id="1003" name="left-family-stem">
              <a:extLst>
                <a:ext uri="{FF2B5EF4-FFF2-40B4-BE49-F238E27FC236}">
                  <a16:creationId xmlns="" xmlns:a16="http://schemas.microsoft.com/office/drawing/2014/main" id="{8D4ED3E3-1E28-4FA2-AC91-53F660BF84C1}"/>
                </a:ext>
              </a:extLst>
            </p:cNvPr>
            <p:cNvSpPr>
              <a:spLocks noGrp="1"/>
            </p:cNvSpPr>
            <p:nvPr/>
          </p:nvSpPr>
          <p:spPr>
            <a:xfrm>
              <a:off x="2286000" y="1447800"/>
              <a:ext cx="0" cy="123825"/>
            </a:xfrm>
            <a:prstGeom prst="line">
              <a:avLst/>
            </a:prstGeom>
            <a:noFill/>
            <a:ln w="12383">
              <a:solidFill>
                <a:srgbClr val="000000"/>
              </a:solidFill>
              <a:prstDash val="solid"/>
            </a:ln>
          </p:spPr>
        </p:sp>
        <p:sp>
          <p:nvSpPr>
            <p:cNvPr id="1004" name="right-family-stem">
              <a:extLst>
                <a:ext uri="{FF2B5EF4-FFF2-40B4-BE49-F238E27FC236}">
                  <a16:creationId xmlns="" xmlns:a16="http://schemas.microsoft.com/office/drawing/2014/main" id="{10E81879-532D-4DA5-8277-01577890A15C}"/>
                </a:ext>
              </a:extLst>
            </p:cNvPr>
            <p:cNvSpPr>
              <a:spLocks noGrp="1"/>
            </p:cNvSpPr>
            <p:nvPr/>
          </p:nvSpPr>
          <p:spPr>
            <a:xfrm>
              <a:off x="6858000" y="1447800"/>
              <a:ext cx="0" cy="123825"/>
            </a:xfrm>
            <a:prstGeom prst="line">
              <a:avLst/>
            </a:prstGeom>
            <a:noFill/>
            <a:ln w="12383">
              <a:solidFill>
                <a:srgbClr val="000000"/>
              </a:solidFill>
              <a:prstDash val="solid"/>
            </a:ln>
          </p:spPr>
        </p:sp>
        <p:sp>
          <p:nvSpPr>
            <p:cNvPr id="1005" name="atomism">
              <a:extLst>
                <a:ext uri="{FF2B5EF4-FFF2-40B4-BE49-F238E27FC236}">
                  <a16:creationId xmlns="" xmlns:a16="http://schemas.microsoft.com/office/drawing/2014/main" id="{EA37FE4A-23A5-497F-9F4D-F80605D73BAB}"/>
                </a:ext>
              </a:extLst>
            </p:cNvPr>
            <p:cNvSpPr>
              <a:spLocks noGrp="1"/>
            </p:cNvSpPr>
            <p:nvPr/>
          </p:nvSpPr>
          <p:spPr>
            <a:xfrm>
              <a:off x="304800" y="1609725"/>
              <a:ext cx="3962400" cy="409575"/>
            </a:xfrm>
            <a:prstGeom prst="rect">
              <a:avLst/>
            </a:prstGeom>
            <a:noFill/>
            <a:ln w="0">
              <a:noFill/>
              <a:prstDash val="solid"/>
            </a:ln>
          </p:spPr>
          <p:txBody>
            <a:bodyPr wrap="square" lIns="0" tIns="0" rIns="0" bIns="0" anchor="ctr">
              <a:noAutofit/>
            </a:bodyPr>
            <a:lstStyle>
              <a:defPPr algn="ctr">
                <a:defRPr sz="1900" b="1">
                  <a:solidFill>
                    <a:srgbClr val="000000"/>
                  </a:solidFill>
                  <a:latin typeface="Times New Roman"/>
                  <a:ea typeface="Times New Roman"/>
                  <a:cs typeface="Times New Roman"/>
                </a:defRPr>
              </a:defPPr>
              <a:lvl1pPr algn="ctr">
                <a:defRPr sz="1900" b="1">
                  <a:solidFill>
                    <a:srgbClr val="000000"/>
                  </a:solidFill>
                  <a:latin typeface="Times New Roman"/>
                  <a:ea typeface="Times New Roman"/>
                  <a:cs typeface="Times New Roman"/>
                </a:defRPr>
              </a:lvl1pPr>
              <a:lvl2pPr algn="ctr">
                <a:defRPr sz="1900" b="1">
                  <a:solidFill>
                    <a:srgbClr val="000000"/>
                  </a:solidFill>
                  <a:latin typeface="Times New Roman"/>
                  <a:ea typeface="Times New Roman"/>
                  <a:cs typeface="Times New Roman"/>
                </a:defRPr>
              </a:lvl2pPr>
              <a:lvl3pPr algn="ctr">
                <a:defRPr sz="1900" b="1">
                  <a:solidFill>
                    <a:srgbClr val="000000"/>
                  </a:solidFill>
                  <a:latin typeface="Times New Roman"/>
                  <a:ea typeface="Times New Roman"/>
                  <a:cs typeface="Times New Roman"/>
                </a:defRPr>
              </a:lvl3pPr>
              <a:lvl4pPr algn="ctr">
                <a:defRPr sz="1900" b="1">
                  <a:solidFill>
                    <a:srgbClr val="000000"/>
                  </a:solidFill>
                  <a:latin typeface="Times New Roman"/>
                  <a:ea typeface="Times New Roman"/>
                  <a:cs typeface="Times New Roman"/>
                </a:defRPr>
              </a:lvl4pPr>
              <a:lvl5pPr algn="ctr">
                <a:defRPr sz="1900" b="1">
                  <a:solidFill>
                    <a:srgbClr val="000000"/>
                  </a:solidFill>
                  <a:latin typeface="Times New Roman"/>
                  <a:ea typeface="Times New Roman"/>
                  <a:cs typeface="Times New Roman"/>
                </a:defRPr>
              </a:lvl5pPr>
              <a:lvl6pPr algn="ctr">
                <a:defRPr sz="1900" b="1">
                  <a:solidFill>
                    <a:srgbClr val="000000"/>
                  </a:solidFill>
                  <a:latin typeface="Times New Roman"/>
                  <a:ea typeface="Times New Roman"/>
                  <a:cs typeface="Times New Roman"/>
                </a:defRPr>
              </a:lvl6pPr>
              <a:lvl7pPr algn="ctr">
                <a:defRPr sz="1900" b="1">
                  <a:solidFill>
                    <a:srgbClr val="000000"/>
                  </a:solidFill>
                  <a:latin typeface="Times New Roman"/>
                  <a:ea typeface="Times New Roman"/>
                  <a:cs typeface="Times New Roman"/>
                </a:defRPr>
              </a:lvl7pPr>
              <a:lvl8pPr algn="ctr">
                <a:defRPr sz="1900" b="1">
                  <a:solidFill>
                    <a:srgbClr val="000000"/>
                  </a:solidFill>
                  <a:latin typeface="Times New Roman"/>
                  <a:ea typeface="Times New Roman"/>
                  <a:cs typeface="Times New Roman"/>
                </a:defRPr>
              </a:lvl8pPr>
              <a:lvl9pPr algn="ctr">
                <a:defRPr sz="1900" b="1">
                  <a:solidFill>
                    <a:srgbClr val="000000"/>
                  </a:solidFill>
                  <a:latin typeface="Times New Roman"/>
                  <a:ea typeface="Times New Roman"/>
                  <a:cs typeface="Times New Roman"/>
                </a:defRPr>
              </a:lvl9pPr>
            </a:lstStyle>
            <a:p>
              <a:pPr algn="ctr">
                <a:lnSpc>
                  <a:spcPct val="104000"/>
                </a:lnSpc>
                <a:buNone/>
                <a:defRPr sz="1900" b="1">
                  <a:solidFill>
                    <a:srgbClr val="000000"/>
                  </a:solidFill>
                  <a:latin typeface="Times New Roman"/>
                  <a:ea typeface="Times New Roman"/>
                  <a:cs typeface="Times New Roman"/>
                </a:defRPr>
              </a:pPr>
              <a:r>
                <a:rPr sz="1900" b="1">
                  <a:solidFill>
                    <a:srgbClr val="000000"/>
                  </a:solidFill>
                  <a:latin typeface="Times New Roman"/>
                  <a:ea typeface="Times New Roman"/>
                  <a:cs typeface="Times New Roman"/>
                </a:rPr>
                <a:t>Atomistische Auffassungen</a:t>
              </a:r>
            </a:p>
          </p:txBody>
        </p:sp>
        <p:sp>
          <p:nvSpPr>
            <p:cNvPr id="1006" name="non-atomism">
              <a:extLst>
                <a:ext uri="{FF2B5EF4-FFF2-40B4-BE49-F238E27FC236}">
                  <a16:creationId xmlns="" xmlns:a16="http://schemas.microsoft.com/office/drawing/2014/main" id="{421FCC37-1B0F-49DD-9C74-6308D54592E3}"/>
                </a:ext>
              </a:extLst>
            </p:cNvPr>
            <p:cNvSpPr>
              <a:spLocks noGrp="1"/>
            </p:cNvSpPr>
            <p:nvPr/>
          </p:nvSpPr>
          <p:spPr>
            <a:xfrm>
              <a:off x="4876800" y="1609725"/>
              <a:ext cx="3962400" cy="409575"/>
            </a:xfrm>
            <a:prstGeom prst="rect">
              <a:avLst/>
            </a:prstGeom>
            <a:noFill/>
            <a:ln w="0">
              <a:noFill/>
              <a:prstDash val="solid"/>
            </a:ln>
          </p:spPr>
          <p:txBody>
            <a:bodyPr wrap="square" lIns="0" tIns="0" rIns="0" bIns="0" anchor="ctr">
              <a:noAutofit/>
            </a:bodyPr>
            <a:lstStyle>
              <a:defPPr algn="ctr">
                <a:defRPr sz="1900" b="1">
                  <a:solidFill>
                    <a:srgbClr val="000000"/>
                  </a:solidFill>
                  <a:latin typeface="Times New Roman"/>
                  <a:ea typeface="Times New Roman"/>
                  <a:cs typeface="Times New Roman"/>
                </a:defRPr>
              </a:defPPr>
              <a:lvl1pPr algn="ctr">
                <a:defRPr sz="1900" b="1">
                  <a:solidFill>
                    <a:srgbClr val="000000"/>
                  </a:solidFill>
                  <a:latin typeface="Times New Roman"/>
                  <a:ea typeface="Times New Roman"/>
                  <a:cs typeface="Times New Roman"/>
                </a:defRPr>
              </a:lvl1pPr>
              <a:lvl2pPr algn="ctr">
                <a:defRPr sz="1900" b="1">
                  <a:solidFill>
                    <a:srgbClr val="000000"/>
                  </a:solidFill>
                  <a:latin typeface="Times New Roman"/>
                  <a:ea typeface="Times New Roman"/>
                  <a:cs typeface="Times New Roman"/>
                </a:defRPr>
              </a:lvl2pPr>
              <a:lvl3pPr algn="ctr">
                <a:defRPr sz="1900" b="1">
                  <a:solidFill>
                    <a:srgbClr val="000000"/>
                  </a:solidFill>
                  <a:latin typeface="Times New Roman"/>
                  <a:ea typeface="Times New Roman"/>
                  <a:cs typeface="Times New Roman"/>
                </a:defRPr>
              </a:lvl3pPr>
              <a:lvl4pPr algn="ctr">
                <a:defRPr sz="1900" b="1">
                  <a:solidFill>
                    <a:srgbClr val="000000"/>
                  </a:solidFill>
                  <a:latin typeface="Times New Roman"/>
                  <a:ea typeface="Times New Roman"/>
                  <a:cs typeface="Times New Roman"/>
                </a:defRPr>
              </a:lvl4pPr>
              <a:lvl5pPr algn="ctr">
                <a:defRPr sz="1900" b="1">
                  <a:solidFill>
                    <a:srgbClr val="000000"/>
                  </a:solidFill>
                  <a:latin typeface="Times New Roman"/>
                  <a:ea typeface="Times New Roman"/>
                  <a:cs typeface="Times New Roman"/>
                </a:defRPr>
              </a:lvl5pPr>
              <a:lvl6pPr algn="ctr">
                <a:defRPr sz="1900" b="1">
                  <a:solidFill>
                    <a:srgbClr val="000000"/>
                  </a:solidFill>
                  <a:latin typeface="Times New Roman"/>
                  <a:ea typeface="Times New Roman"/>
                  <a:cs typeface="Times New Roman"/>
                </a:defRPr>
              </a:lvl6pPr>
              <a:lvl7pPr algn="ctr">
                <a:defRPr sz="1900" b="1">
                  <a:solidFill>
                    <a:srgbClr val="000000"/>
                  </a:solidFill>
                  <a:latin typeface="Times New Roman"/>
                  <a:ea typeface="Times New Roman"/>
                  <a:cs typeface="Times New Roman"/>
                </a:defRPr>
              </a:lvl7pPr>
              <a:lvl8pPr algn="ctr">
                <a:defRPr sz="1900" b="1">
                  <a:solidFill>
                    <a:srgbClr val="000000"/>
                  </a:solidFill>
                  <a:latin typeface="Times New Roman"/>
                  <a:ea typeface="Times New Roman"/>
                  <a:cs typeface="Times New Roman"/>
                </a:defRPr>
              </a:lvl8pPr>
              <a:lvl9pPr algn="ctr">
                <a:defRPr sz="1900" b="1">
                  <a:solidFill>
                    <a:srgbClr val="000000"/>
                  </a:solidFill>
                  <a:latin typeface="Times New Roman"/>
                  <a:ea typeface="Times New Roman"/>
                  <a:cs typeface="Times New Roman"/>
                </a:defRPr>
              </a:lvl9pPr>
            </a:lstStyle>
            <a:p>
              <a:pPr algn="ctr">
                <a:lnSpc>
                  <a:spcPct val="104000"/>
                </a:lnSpc>
                <a:buNone/>
                <a:defRPr sz="1900" b="1">
                  <a:solidFill>
                    <a:srgbClr val="000000"/>
                  </a:solidFill>
                  <a:latin typeface="Times New Roman"/>
                  <a:ea typeface="Times New Roman"/>
                  <a:cs typeface="Times New Roman"/>
                </a:defRPr>
              </a:pPr>
              <a:r>
                <a:rPr sz="1900" b="1">
                  <a:solidFill>
                    <a:srgbClr val="000000"/>
                  </a:solidFill>
                  <a:latin typeface="Times New Roman"/>
                  <a:ea typeface="Times New Roman"/>
                  <a:cs typeface="Times New Roman"/>
                </a:rPr>
                <a:t>Nichtatomistische Auffassungen</a:t>
              </a:r>
            </a:p>
          </p:txBody>
        </p:sp>
      </p:grpSp>
      <p:grpSp>
        <p:nvGrpSpPr>
          <p:cNvPr id="2002" name="Schritt 2: Finiter und transfiniter Atomismus"/>
          <p:cNvGrpSpPr/>
          <p:nvPr/>
        </p:nvGrpSpPr>
        <p:grpSpPr>
          <a:xfrm>
            <a:off x="457200" y="2076450"/>
            <a:ext cx="3810000" cy="1200150"/>
            <a:chOff x="457200" y="2076450"/>
            <a:chExt cx="3810000" cy="1200150"/>
          </a:xfrm>
        </p:grpSpPr>
        <p:sp>
          <p:nvSpPr>
            <p:cNvPr id="1007" name="atomic-parent-stem">
              <a:extLst>
                <a:ext uri="{FF2B5EF4-FFF2-40B4-BE49-F238E27FC236}">
                  <a16:creationId xmlns="" xmlns:a16="http://schemas.microsoft.com/office/drawing/2014/main" id="{B06919AD-98F5-4BD7-9080-6BA2214AE839}"/>
                </a:ext>
              </a:extLst>
            </p:cNvPr>
            <p:cNvSpPr>
              <a:spLocks noGrp="1"/>
            </p:cNvSpPr>
            <p:nvPr/>
          </p:nvSpPr>
          <p:spPr>
            <a:xfrm>
              <a:off x="2286000" y="2076450"/>
              <a:ext cx="0" cy="114300"/>
            </a:xfrm>
            <a:prstGeom prst="line">
              <a:avLst/>
            </a:prstGeom>
            <a:noFill/>
            <a:ln w="12383">
              <a:solidFill>
                <a:srgbClr val="000000"/>
              </a:solidFill>
              <a:prstDash val="solid"/>
            </a:ln>
          </p:spPr>
        </p:sp>
        <p:sp>
          <p:nvSpPr>
            <p:cNvPr id="1008" name="atomic-header-elbow">
              <a:extLst>
                <a:ext uri="{FF2B5EF4-FFF2-40B4-BE49-F238E27FC236}">
                  <a16:creationId xmlns="" xmlns:a16="http://schemas.microsoft.com/office/drawing/2014/main" id="{1AD91660-5B18-4C90-B071-D206128B4340}"/>
                </a:ext>
              </a:extLst>
            </p:cNvPr>
            <p:cNvSpPr>
              <a:spLocks noGrp="1"/>
            </p:cNvSpPr>
            <p:nvPr/>
          </p:nvSpPr>
          <p:spPr>
            <a:xfrm>
              <a:off x="457200" y="2190750"/>
              <a:ext cx="1828800" cy="0"/>
            </a:xfrm>
            <a:prstGeom prst="line">
              <a:avLst/>
            </a:prstGeom>
            <a:noFill/>
            <a:ln w="12383">
              <a:solidFill>
                <a:srgbClr val="000000"/>
              </a:solidFill>
              <a:prstDash val="solid"/>
            </a:ln>
          </p:spPr>
        </p:sp>
        <p:sp>
          <p:nvSpPr>
            <p:cNvPr id="1009" name="atomic-upper-spine">
              <a:extLst>
                <a:ext uri="{FF2B5EF4-FFF2-40B4-BE49-F238E27FC236}">
                  <a16:creationId xmlns="" xmlns:a16="http://schemas.microsoft.com/office/drawing/2014/main" id="{9C32251C-B229-4497-A229-CFF37AB36C52}"/>
                </a:ext>
              </a:extLst>
            </p:cNvPr>
            <p:cNvSpPr>
              <a:spLocks noGrp="1"/>
            </p:cNvSpPr>
            <p:nvPr/>
          </p:nvSpPr>
          <p:spPr>
            <a:xfrm>
              <a:off x="457200" y="2190750"/>
              <a:ext cx="0" cy="914400"/>
            </a:xfrm>
            <a:prstGeom prst="line">
              <a:avLst/>
            </a:prstGeom>
            <a:noFill/>
            <a:ln w="12383">
              <a:solidFill>
                <a:srgbClr val="000000"/>
              </a:solidFill>
              <a:prstDash val="solid"/>
            </a:ln>
          </p:spPr>
        </p:sp>
        <p:sp>
          <p:nvSpPr>
            <p:cNvPr id="1010" name="finite-branch">
              <a:extLst>
                <a:ext uri="{FF2B5EF4-FFF2-40B4-BE49-F238E27FC236}">
                  <a16:creationId xmlns="" xmlns:a16="http://schemas.microsoft.com/office/drawing/2014/main" id="{A59E2D86-F645-4E2C-8864-E7E0E94F600E}"/>
                </a:ext>
              </a:extLst>
            </p:cNvPr>
            <p:cNvSpPr>
              <a:spLocks noGrp="1"/>
            </p:cNvSpPr>
            <p:nvPr/>
          </p:nvSpPr>
          <p:spPr>
            <a:xfrm>
              <a:off x="457200" y="2381250"/>
              <a:ext cx="228600" cy="0"/>
            </a:xfrm>
            <a:prstGeom prst="line">
              <a:avLst/>
            </a:prstGeom>
            <a:noFill/>
            <a:ln w="12383">
              <a:solidFill>
                <a:srgbClr val="000000"/>
              </a:solidFill>
              <a:prstDash val="solid"/>
            </a:ln>
          </p:spPr>
        </p:sp>
        <p:sp>
          <p:nvSpPr>
            <p:cNvPr id="1011" name="transfinite-branch">
              <a:extLst>
                <a:ext uri="{FF2B5EF4-FFF2-40B4-BE49-F238E27FC236}">
                  <a16:creationId xmlns="" xmlns:a16="http://schemas.microsoft.com/office/drawing/2014/main" id="{4818878F-3B78-40CC-B4EE-C5339CFA6442}"/>
                </a:ext>
              </a:extLst>
            </p:cNvPr>
            <p:cNvSpPr>
              <a:spLocks noGrp="1"/>
            </p:cNvSpPr>
            <p:nvPr/>
          </p:nvSpPr>
          <p:spPr>
            <a:xfrm>
              <a:off x="457200" y="3105150"/>
              <a:ext cx="228600" cy="0"/>
            </a:xfrm>
            <a:prstGeom prst="line">
              <a:avLst/>
            </a:prstGeom>
            <a:noFill/>
            <a:ln w="12383">
              <a:solidFill>
                <a:srgbClr val="000000"/>
              </a:solidFill>
              <a:prstDash val="solid"/>
            </a:ln>
          </p:spPr>
        </p:sp>
        <p:sp>
          <p:nvSpPr>
            <p:cNvPr id="1012" name="finite">
              <a:extLst>
                <a:ext uri="{FF2B5EF4-FFF2-40B4-BE49-F238E27FC236}">
                  <a16:creationId xmlns="" xmlns:a16="http://schemas.microsoft.com/office/drawing/2014/main" id="{C4572B9C-EE49-4252-91AD-4A705FE6D4D2}"/>
                </a:ext>
              </a:extLst>
            </p:cNvPr>
            <p:cNvSpPr>
              <a:spLocks noGrp="1"/>
            </p:cNvSpPr>
            <p:nvPr/>
          </p:nvSpPr>
          <p:spPr>
            <a:xfrm>
              <a:off x="762000" y="2209800"/>
              <a:ext cx="3505200" cy="342900"/>
            </a:xfrm>
            <a:prstGeom prst="rect">
              <a:avLst/>
            </a:prstGeom>
            <a:noFill/>
            <a:ln w="0">
              <a:noFill/>
              <a:prstDash val="solid"/>
            </a:ln>
          </p:spPr>
          <p:txBody>
            <a:bodyPr wrap="square" lIns="0" tIns="0" rIns="0" bIns="0" anchor="ctr">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04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Finiter Atomismus</a:t>
              </a:r>
            </a:p>
          </p:txBody>
        </p:sp>
        <p:sp>
          <p:nvSpPr>
            <p:cNvPr id="1013" name="transfinite">
              <a:extLst>
                <a:ext uri="{FF2B5EF4-FFF2-40B4-BE49-F238E27FC236}">
                  <a16:creationId xmlns="" xmlns:a16="http://schemas.microsoft.com/office/drawing/2014/main" id="{4AEF7394-BF80-4816-9771-211CC5713D0F}"/>
                </a:ext>
              </a:extLst>
            </p:cNvPr>
            <p:cNvSpPr>
              <a:spLocks noGrp="1"/>
            </p:cNvSpPr>
            <p:nvPr/>
          </p:nvSpPr>
          <p:spPr>
            <a:xfrm>
              <a:off x="762000" y="2933700"/>
              <a:ext cx="3505200" cy="342900"/>
            </a:xfrm>
            <a:prstGeom prst="rect">
              <a:avLst/>
            </a:prstGeom>
            <a:noFill/>
            <a:ln w="0">
              <a:noFill/>
              <a:prstDash val="solid"/>
            </a:ln>
          </p:spPr>
          <p:txBody>
            <a:bodyPr wrap="square" lIns="0" tIns="0" rIns="0" bIns="0" anchor="ctr">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04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Transfiniter Atomismus</a:t>
              </a:r>
            </a:p>
          </p:txBody>
        </p:sp>
      </p:grpSp>
      <p:grpSp>
        <p:nvGrpSpPr>
          <p:cNvPr id="2003" name="Schritt 3: Varianten und Punktmengenkontinuum"/>
          <p:cNvGrpSpPr/>
          <p:nvPr/>
        </p:nvGrpSpPr>
        <p:grpSpPr>
          <a:xfrm>
            <a:off x="457200" y="3105150"/>
            <a:ext cx="3810000" cy="1619250"/>
            <a:chOff x="457200" y="3105150"/>
            <a:chExt cx="3810000" cy="1619250"/>
          </a:xfrm>
        </p:grpSpPr>
        <p:sp>
          <p:nvSpPr>
            <p:cNvPr id="1014" name="variant-stem">
              <a:extLst>
                <a:ext uri="{FF2B5EF4-FFF2-40B4-BE49-F238E27FC236}">
                  <a16:creationId xmlns="" xmlns:a16="http://schemas.microsoft.com/office/drawing/2014/main" id="{7C5948C3-5A63-4F38-968A-03E440BFA237}"/>
                </a:ext>
              </a:extLst>
            </p:cNvPr>
            <p:cNvSpPr>
              <a:spLocks noGrp="1"/>
            </p:cNvSpPr>
            <p:nvPr/>
          </p:nvSpPr>
          <p:spPr>
            <a:xfrm>
              <a:off x="2476500" y="3362325"/>
              <a:ext cx="0" cy="161925"/>
            </a:xfrm>
            <a:prstGeom prst="line">
              <a:avLst/>
            </a:prstGeom>
            <a:noFill/>
            <a:ln w="12383">
              <a:solidFill>
                <a:srgbClr val="000000"/>
              </a:solidFill>
              <a:prstDash val="solid"/>
            </a:ln>
          </p:spPr>
        </p:sp>
        <p:sp>
          <p:nvSpPr>
            <p:cNvPr id="1015" name="variant-fork">
              <a:extLst>
                <a:ext uri="{FF2B5EF4-FFF2-40B4-BE49-F238E27FC236}">
                  <a16:creationId xmlns="" xmlns:a16="http://schemas.microsoft.com/office/drawing/2014/main" id="{DD3C1372-F18B-4DC0-8F87-1EEEEA1DF18C}"/>
                </a:ext>
              </a:extLst>
            </p:cNvPr>
            <p:cNvSpPr>
              <a:spLocks noGrp="1"/>
            </p:cNvSpPr>
            <p:nvPr/>
          </p:nvSpPr>
          <p:spPr>
            <a:xfrm>
              <a:off x="1619250" y="3524250"/>
              <a:ext cx="1714500" cy="0"/>
            </a:xfrm>
            <a:prstGeom prst="line">
              <a:avLst/>
            </a:prstGeom>
            <a:noFill/>
            <a:ln w="12383">
              <a:solidFill>
                <a:srgbClr val="000000"/>
              </a:solidFill>
              <a:prstDash val="solid"/>
            </a:ln>
          </p:spPr>
        </p:sp>
        <p:sp>
          <p:nvSpPr>
            <p:cNvPr id="1016" name="variant-a-stem">
              <a:extLst>
                <a:ext uri="{FF2B5EF4-FFF2-40B4-BE49-F238E27FC236}">
                  <a16:creationId xmlns="" xmlns:a16="http://schemas.microsoft.com/office/drawing/2014/main" id="{0283420B-7540-4780-93CA-744C4B25E6AD}"/>
                </a:ext>
              </a:extLst>
            </p:cNvPr>
            <p:cNvSpPr>
              <a:spLocks noGrp="1"/>
            </p:cNvSpPr>
            <p:nvPr/>
          </p:nvSpPr>
          <p:spPr>
            <a:xfrm>
              <a:off x="1619250" y="3524250"/>
              <a:ext cx="0" cy="76200"/>
            </a:xfrm>
            <a:prstGeom prst="line">
              <a:avLst/>
            </a:prstGeom>
            <a:noFill/>
            <a:ln w="12383">
              <a:solidFill>
                <a:srgbClr val="000000"/>
              </a:solidFill>
              <a:prstDash val="solid"/>
            </a:ln>
          </p:spPr>
        </p:sp>
        <p:sp>
          <p:nvSpPr>
            <p:cNvPr id="1017" name="variant-b-stem">
              <a:extLst>
                <a:ext uri="{FF2B5EF4-FFF2-40B4-BE49-F238E27FC236}">
                  <a16:creationId xmlns="" xmlns:a16="http://schemas.microsoft.com/office/drawing/2014/main" id="{26D96FE1-A876-4CFC-BC75-13085D23E216}"/>
                </a:ext>
              </a:extLst>
            </p:cNvPr>
            <p:cNvSpPr>
              <a:spLocks noGrp="1"/>
            </p:cNvSpPr>
            <p:nvPr/>
          </p:nvSpPr>
          <p:spPr>
            <a:xfrm>
              <a:off x="3333750" y="3524250"/>
              <a:ext cx="0" cy="76200"/>
            </a:xfrm>
            <a:prstGeom prst="line">
              <a:avLst/>
            </a:prstGeom>
            <a:noFill/>
            <a:ln w="12383">
              <a:solidFill>
                <a:srgbClr val="000000"/>
              </a:solidFill>
              <a:prstDash val="solid"/>
            </a:ln>
          </p:spPr>
        </p:sp>
        <p:sp>
          <p:nvSpPr>
            <p:cNvPr id="1018" name="variant-a">
              <a:extLst>
                <a:ext uri="{FF2B5EF4-FFF2-40B4-BE49-F238E27FC236}">
                  <a16:creationId xmlns="" xmlns:a16="http://schemas.microsoft.com/office/drawing/2014/main" id="{FDE2464D-3F76-4008-AE9A-F33745BCBEE1}"/>
                </a:ext>
              </a:extLst>
            </p:cNvPr>
            <p:cNvSpPr>
              <a:spLocks noGrp="1"/>
            </p:cNvSpPr>
            <p:nvPr/>
          </p:nvSpPr>
          <p:spPr>
            <a:xfrm>
              <a:off x="762000" y="3619500"/>
              <a:ext cx="1714500" cy="495300"/>
            </a:xfrm>
            <a:prstGeom prst="rect">
              <a:avLst/>
            </a:prstGeom>
            <a:noFill/>
            <a:ln w="0">
              <a:noFill/>
              <a:prstDash val="solid"/>
            </a:ln>
          </p:spPr>
          <p:txBody>
            <a:bodyPr wrap="square" lIns="0" tIns="0" rIns="0" bIns="0" anchor="ctr">
              <a:noAutofit/>
            </a:bodyPr>
            <a:lstStyle>
              <a:defPPr algn="ctr">
                <a:defRPr sz="1450">
                  <a:solidFill>
                    <a:srgbClr val="000000"/>
                  </a:solidFill>
                  <a:latin typeface="Times New Roman"/>
                  <a:ea typeface="Times New Roman"/>
                  <a:cs typeface="Times New Roman"/>
                </a:defRPr>
              </a:defPPr>
              <a:lvl1pPr algn="ctr">
                <a:defRPr sz="1450">
                  <a:solidFill>
                    <a:srgbClr val="000000"/>
                  </a:solidFill>
                  <a:latin typeface="Times New Roman"/>
                  <a:ea typeface="Times New Roman"/>
                  <a:cs typeface="Times New Roman"/>
                </a:defRPr>
              </a:lvl1pPr>
              <a:lvl2pPr algn="ctr">
                <a:defRPr sz="1450">
                  <a:solidFill>
                    <a:srgbClr val="000000"/>
                  </a:solidFill>
                  <a:latin typeface="Times New Roman"/>
                  <a:ea typeface="Times New Roman"/>
                  <a:cs typeface="Times New Roman"/>
                </a:defRPr>
              </a:lvl2pPr>
              <a:lvl3pPr algn="ctr">
                <a:defRPr sz="1450">
                  <a:solidFill>
                    <a:srgbClr val="000000"/>
                  </a:solidFill>
                  <a:latin typeface="Times New Roman"/>
                  <a:ea typeface="Times New Roman"/>
                  <a:cs typeface="Times New Roman"/>
                </a:defRPr>
              </a:lvl3pPr>
              <a:lvl4pPr algn="ctr">
                <a:defRPr sz="1450">
                  <a:solidFill>
                    <a:srgbClr val="000000"/>
                  </a:solidFill>
                  <a:latin typeface="Times New Roman"/>
                  <a:ea typeface="Times New Roman"/>
                  <a:cs typeface="Times New Roman"/>
                </a:defRPr>
              </a:lvl4pPr>
              <a:lvl5pPr algn="ctr">
                <a:defRPr sz="1450">
                  <a:solidFill>
                    <a:srgbClr val="000000"/>
                  </a:solidFill>
                  <a:latin typeface="Times New Roman"/>
                  <a:ea typeface="Times New Roman"/>
                  <a:cs typeface="Times New Roman"/>
                </a:defRPr>
              </a:lvl5pPr>
              <a:lvl6pPr algn="ctr">
                <a:defRPr sz="1450">
                  <a:solidFill>
                    <a:srgbClr val="000000"/>
                  </a:solidFill>
                  <a:latin typeface="Times New Roman"/>
                  <a:ea typeface="Times New Roman"/>
                  <a:cs typeface="Times New Roman"/>
                </a:defRPr>
              </a:lvl6pPr>
              <a:lvl7pPr algn="ctr">
                <a:defRPr sz="1450">
                  <a:solidFill>
                    <a:srgbClr val="000000"/>
                  </a:solidFill>
                  <a:latin typeface="Times New Roman"/>
                  <a:ea typeface="Times New Roman"/>
                  <a:cs typeface="Times New Roman"/>
                </a:defRPr>
              </a:lvl7pPr>
              <a:lvl8pPr algn="ctr">
                <a:defRPr sz="1450">
                  <a:solidFill>
                    <a:srgbClr val="000000"/>
                  </a:solidFill>
                  <a:latin typeface="Times New Roman"/>
                  <a:ea typeface="Times New Roman"/>
                  <a:cs typeface="Times New Roman"/>
                </a:defRPr>
              </a:lvl8pPr>
              <a:lvl9pPr algn="ctr">
                <a:defRPr sz="1450">
                  <a:solidFill>
                    <a:srgbClr val="000000"/>
                  </a:solidFill>
                  <a:latin typeface="Times New Roman"/>
                  <a:ea typeface="Times New Roman"/>
                  <a:cs typeface="Times New Roman"/>
                </a:defRPr>
              </a:lvl9pPr>
            </a:lstStyle>
            <a:p>
              <a:pPr algn="ctr">
                <a:lnSpc>
                  <a:spcPct val="104000"/>
                </a:lnSpc>
                <a:buNone/>
                <a:defRPr sz="1450">
                  <a:solidFill>
                    <a:srgbClr val="000000"/>
                  </a:solidFill>
                  <a:latin typeface="Times New Roman"/>
                  <a:ea typeface="Times New Roman"/>
                  <a:cs typeface="Times New Roman"/>
                </a:defRPr>
              </a:pPr>
              <a:r>
                <a:rPr sz="1450">
                  <a:solidFill>
                    <a:srgbClr val="000000"/>
                  </a:solidFill>
                  <a:latin typeface="Times New Roman"/>
                  <a:ea typeface="Times New Roman"/>
                  <a:cs typeface="Times New Roman"/>
                </a:rPr>
                <a:t>Grundform</a:t>
              </a:r>
            </a:p>
            <a:p>
              <a:pPr algn="ctr">
                <a:lnSpc>
                  <a:spcPct val="104000"/>
                </a:lnSpc>
                <a:buNone/>
                <a:defRPr sz="1450">
                  <a:solidFill>
                    <a:srgbClr val="000000"/>
                  </a:solidFill>
                  <a:latin typeface="Times New Roman"/>
                  <a:ea typeface="Times New Roman"/>
                  <a:cs typeface="Times New Roman"/>
                </a:defRPr>
              </a:pPr>
              <a:r>
                <a:rPr sz="1450">
                  <a:solidFill>
                    <a:srgbClr val="000000"/>
                  </a:solidFill>
                  <a:latin typeface="Times New Roman"/>
                  <a:ea typeface="Times New Roman"/>
                  <a:cs typeface="Times New Roman"/>
                </a:rPr>
                <a:t>Archimedes, Cavalieri</a:t>
              </a:r>
            </a:p>
          </p:txBody>
        </p:sp>
        <p:sp>
          <p:nvSpPr>
            <p:cNvPr id="1019" name="variant-b">
              <a:extLst>
                <a:ext uri="{FF2B5EF4-FFF2-40B4-BE49-F238E27FC236}">
                  <a16:creationId xmlns="" xmlns:a16="http://schemas.microsoft.com/office/drawing/2014/main" id="{DBCD444E-CF7F-453A-8EF4-63B635485880}"/>
                </a:ext>
              </a:extLst>
            </p:cNvPr>
            <p:cNvSpPr>
              <a:spLocks noGrp="1"/>
            </p:cNvSpPr>
            <p:nvPr/>
          </p:nvSpPr>
          <p:spPr>
            <a:xfrm>
              <a:off x="2476500" y="3619500"/>
              <a:ext cx="1714500" cy="495300"/>
            </a:xfrm>
            <a:prstGeom prst="rect">
              <a:avLst/>
            </a:prstGeom>
            <a:noFill/>
            <a:ln w="0">
              <a:noFill/>
              <a:prstDash val="solid"/>
            </a:ln>
          </p:spPr>
          <p:txBody>
            <a:bodyPr wrap="square" lIns="0" tIns="0" rIns="0" bIns="0" anchor="ctr">
              <a:noAutofit/>
            </a:bodyPr>
            <a:lstStyle>
              <a:defPPr algn="ctr">
                <a:defRPr sz="1450">
                  <a:solidFill>
                    <a:srgbClr val="000000"/>
                  </a:solidFill>
                  <a:latin typeface="Times New Roman"/>
                  <a:ea typeface="Times New Roman"/>
                  <a:cs typeface="Times New Roman"/>
                </a:defRPr>
              </a:defPPr>
              <a:lvl1pPr algn="ctr">
                <a:defRPr sz="1450">
                  <a:solidFill>
                    <a:srgbClr val="000000"/>
                  </a:solidFill>
                  <a:latin typeface="Times New Roman"/>
                  <a:ea typeface="Times New Roman"/>
                  <a:cs typeface="Times New Roman"/>
                </a:defRPr>
              </a:lvl1pPr>
              <a:lvl2pPr algn="ctr">
                <a:defRPr sz="1450">
                  <a:solidFill>
                    <a:srgbClr val="000000"/>
                  </a:solidFill>
                  <a:latin typeface="Times New Roman"/>
                  <a:ea typeface="Times New Roman"/>
                  <a:cs typeface="Times New Roman"/>
                </a:defRPr>
              </a:lvl2pPr>
              <a:lvl3pPr algn="ctr">
                <a:defRPr sz="1450">
                  <a:solidFill>
                    <a:srgbClr val="000000"/>
                  </a:solidFill>
                  <a:latin typeface="Times New Roman"/>
                  <a:ea typeface="Times New Roman"/>
                  <a:cs typeface="Times New Roman"/>
                </a:defRPr>
              </a:lvl3pPr>
              <a:lvl4pPr algn="ctr">
                <a:defRPr sz="1450">
                  <a:solidFill>
                    <a:srgbClr val="000000"/>
                  </a:solidFill>
                  <a:latin typeface="Times New Roman"/>
                  <a:ea typeface="Times New Roman"/>
                  <a:cs typeface="Times New Roman"/>
                </a:defRPr>
              </a:lvl4pPr>
              <a:lvl5pPr algn="ctr">
                <a:defRPr sz="1450">
                  <a:solidFill>
                    <a:srgbClr val="000000"/>
                  </a:solidFill>
                  <a:latin typeface="Times New Roman"/>
                  <a:ea typeface="Times New Roman"/>
                  <a:cs typeface="Times New Roman"/>
                </a:defRPr>
              </a:lvl5pPr>
              <a:lvl6pPr algn="ctr">
                <a:defRPr sz="1450">
                  <a:solidFill>
                    <a:srgbClr val="000000"/>
                  </a:solidFill>
                  <a:latin typeface="Times New Roman"/>
                  <a:ea typeface="Times New Roman"/>
                  <a:cs typeface="Times New Roman"/>
                </a:defRPr>
              </a:lvl6pPr>
              <a:lvl7pPr algn="ctr">
                <a:defRPr sz="1450">
                  <a:solidFill>
                    <a:srgbClr val="000000"/>
                  </a:solidFill>
                  <a:latin typeface="Times New Roman"/>
                  <a:ea typeface="Times New Roman"/>
                  <a:cs typeface="Times New Roman"/>
                </a:defRPr>
              </a:lvl7pPr>
              <a:lvl8pPr algn="ctr">
                <a:defRPr sz="1450">
                  <a:solidFill>
                    <a:srgbClr val="000000"/>
                  </a:solidFill>
                  <a:latin typeface="Times New Roman"/>
                  <a:ea typeface="Times New Roman"/>
                  <a:cs typeface="Times New Roman"/>
                </a:defRPr>
              </a:lvl8pPr>
              <a:lvl9pPr algn="ctr">
                <a:defRPr sz="1450">
                  <a:solidFill>
                    <a:srgbClr val="000000"/>
                  </a:solidFill>
                  <a:latin typeface="Times New Roman"/>
                  <a:ea typeface="Times New Roman"/>
                  <a:cs typeface="Times New Roman"/>
                </a:defRPr>
              </a:lvl9pPr>
            </a:lstStyle>
            <a:p>
              <a:pPr algn="ctr">
                <a:lnSpc>
                  <a:spcPct val="104000"/>
                </a:lnSpc>
                <a:buNone/>
                <a:defRPr sz="1450">
                  <a:solidFill>
                    <a:srgbClr val="000000"/>
                  </a:solidFill>
                  <a:latin typeface="Times New Roman"/>
                  <a:ea typeface="Times New Roman"/>
                  <a:cs typeface="Times New Roman"/>
                </a:defRPr>
              </a:pPr>
              <a:r>
                <a:rPr sz="1450">
                  <a:solidFill>
                    <a:srgbClr val="000000"/>
                  </a:solidFill>
                  <a:latin typeface="Times New Roman"/>
                  <a:ea typeface="Times New Roman"/>
                  <a:cs typeface="Times New Roman"/>
                </a:rPr>
                <a:t>Variante</a:t>
              </a:r>
            </a:p>
            <a:p>
              <a:pPr algn="ctr">
                <a:lnSpc>
                  <a:spcPct val="104000"/>
                </a:lnSpc>
                <a:buNone/>
                <a:defRPr sz="1450">
                  <a:solidFill>
                    <a:srgbClr val="000000"/>
                  </a:solidFill>
                  <a:latin typeface="Times New Roman"/>
                  <a:ea typeface="Times New Roman"/>
                  <a:cs typeface="Times New Roman"/>
                </a:defRPr>
              </a:pPr>
              <a:r>
                <a:rPr sz="1450">
                  <a:solidFill>
                    <a:srgbClr val="000000"/>
                  </a:solidFill>
                  <a:latin typeface="Times New Roman"/>
                  <a:ea typeface="Times New Roman"/>
                  <a:cs typeface="Times New Roman"/>
                </a:rPr>
                <a:t>Pascal (?)</a:t>
              </a:r>
            </a:p>
          </p:txBody>
        </p:sp>
        <p:sp>
          <p:nvSpPr>
            <p:cNvPr id="1020" name="atomic-lower-spine">
              <a:extLst>
                <a:ext uri="{FF2B5EF4-FFF2-40B4-BE49-F238E27FC236}">
                  <a16:creationId xmlns="" xmlns:a16="http://schemas.microsoft.com/office/drawing/2014/main" id="{200D508A-ADDD-4407-BA5E-DC6D471111CA}"/>
                </a:ext>
              </a:extLst>
            </p:cNvPr>
            <p:cNvSpPr>
              <a:spLocks noGrp="1"/>
            </p:cNvSpPr>
            <p:nvPr/>
          </p:nvSpPr>
          <p:spPr>
            <a:xfrm>
              <a:off x="457200" y="3105150"/>
              <a:ext cx="0" cy="1447800"/>
            </a:xfrm>
            <a:prstGeom prst="line">
              <a:avLst/>
            </a:prstGeom>
            <a:noFill/>
            <a:ln w="12383">
              <a:solidFill>
                <a:srgbClr val="000000"/>
              </a:solidFill>
              <a:prstDash val="solid"/>
            </a:ln>
          </p:spPr>
        </p:sp>
        <p:sp>
          <p:nvSpPr>
            <p:cNvPr id="1021" name="point-set-branch">
              <a:extLst>
                <a:ext uri="{FF2B5EF4-FFF2-40B4-BE49-F238E27FC236}">
                  <a16:creationId xmlns="" xmlns:a16="http://schemas.microsoft.com/office/drawing/2014/main" id="{1D5C2EA6-B886-43A0-98CE-A2A00C143565}"/>
                </a:ext>
              </a:extLst>
            </p:cNvPr>
            <p:cNvSpPr>
              <a:spLocks noGrp="1"/>
            </p:cNvSpPr>
            <p:nvPr/>
          </p:nvSpPr>
          <p:spPr>
            <a:xfrm>
              <a:off x="457200" y="4552950"/>
              <a:ext cx="228600" cy="0"/>
            </a:xfrm>
            <a:prstGeom prst="line">
              <a:avLst/>
            </a:prstGeom>
            <a:noFill/>
            <a:ln w="12383">
              <a:solidFill>
                <a:srgbClr val="000000"/>
              </a:solidFill>
              <a:prstDash val="solid"/>
            </a:ln>
          </p:spPr>
        </p:sp>
        <p:sp>
          <p:nvSpPr>
            <p:cNvPr id="1022" name="point-set">
              <a:extLst>
                <a:ext uri="{FF2B5EF4-FFF2-40B4-BE49-F238E27FC236}">
                  <a16:creationId xmlns="" xmlns:a16="http://schemas.microsoft.com/office/drawing/2014/main" id="{09A36B6E-0BFE-4B20-9312-C9AEB5A69771}"/>
                </a:ext>
              </a:extLst>
            </p:cNvPr>
            <p:cNvSpPr>
              <a:spLocks noGrp="1"/>
            </p:cNvSpPr>
            <p:nvPr/>
          </p:nvSpPr>
          <p:spPr>
            <a:xfrm>
              <a:off x="762000" y="4381500"/>
              <a:ext cx="3505200" cy="342900"/>
            </a:xfrm>
            <a:prstGeom prst="rect">
              <a:avLst/>
            </a:prstGeom>
            <a:noFill/>
            <a:ln w="0">
              <a:noFill/>
              <a:prstDash val="solid"/>
            </a:ln>
          </p:spPr>
          <p:txBody>
            <a:bodyPr wrap="square" lIns="0" tIns="0" rIns="0" bIns="0" anchor="ctr">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04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Trans-transfiniter Atomismus</a:t>
              </a:r>
            </a:p>
          </p:txBody>
        </p:sp>
      </p:grpSp>
      <p:grpSp>
        <p:nvGrpSpPr>
          <p:cNvPr id="2004" name="Schritt 4: Visualismus und Infinitesimalismus"/>
          <p:cNvGrpSpPr/>
          <p:nvPr/>
        </p:nvGrpSpPr>
        <p:grpSpPr>
          <a:xfrm>
            <a:off x="5029200" y="2076450"/>
            <a:ext cx="3810000" cy="1200150"/>
            <a:chOff x="5029200" y="2076450"/>
            <a:chExt cx="3810000" cy="1200150"/>
          </a:xfrm>
        </p:grpSpPr>
        <p:sp>
          <p:nvSpPr>
            <p:cNvPr id="1023" name="non-atomic-parent-stem">
              <a:extLst>
                <a:ext uri="{FF2B5EF4-FFF2-40B4-BE49-F238E27FC236}">
                  <a16:creationId xmlns="" xmlns:a16="http://schemas.microsoft.com/office/drawing/2014/main" id="{1E3942F9-F3F4-4EB2-89C2-09373BC13468}"/>
                </a:ext>
              </a:extLst>
            </p:cNvPr>
            <p:cNvSpPr>
              <a:spLocks noGrp="1"/>
            </p:cNvSpPr>
            <p:nvPr/>
          </p:nvSpPr>
          <p:spPr>
            <a:xfrm>
              <a:off x="6858000" y="2076450"/>
              <a:ext cx="0" cy="114300"/>
            </a:xfrm>
            <a:prstGeom prst="line">
              <a:avLst/>
            </a:prstGeom>
            <a:noFill/>
            <a:ln w="12383">
              <a:solidFill>
                <a:srgbClr val="000000"/>
              </a:solidFill>
              <a:prstDash val="solid"/>
            </a:ln>
          </p:spPr>
        </p:sp>
        <p:sp>
          <p:nvSpPr>
            <p:cNvPr id="1024" name="non-atomic-header-elbow">
              <a:extLst>
                <a:ext uri="{FF2B5EF4-FFF2-40B4-BE49-F238E27FC236}">
                  <a16:creationId xmlns="" xmlns:a16="http://schemas.microsoft.com/office/drawing/2014/main" id="{5EE627D5-A54F-427C-9D2F-0D47CD920C08}"/>
                </a:ext>
              </a:extLst>
            </p:cNvPr>
            <p:cNvSpPr>
              <a:spLocks noGrp="1"/>
            </p:cNvSpPr>
            <p:nvPr/>
          </p:nvSpPr>
          <p:spPr>
            <a:xfrm>
              <a:off x="5029200" y="2190750"/>
              <a:ext cx="1828800" cy="0"/>
            </a:xfrm>
            <a:prstGeom prst="line">
              <a:avLst/>
            </a:prstGeom>
            <a:noFill/>
            <a:ln w="12383">
              <a:solidFill>
                <a:srgbClr val="000000"/>
              </a:solidFill>
              <a:prstDash val="solid"/>
            </a:ln>
          </p:spPr>
        </p:sp>
        <p:sp>
          <p:nvSpPr>
            <p:cNvPr id="1025" name="non-atomic-upper-spine">
              <a:extLst>
                <a:ext uri="{FF2B5EF4-FFF2-40B4-BE49-F238E27FC236}">
                  <a16:creationId xmlns="" xmlns:a16="http://schemas.microsoft.com/office/drawing/2014/main" id="{5172029B-FE17-47D4-AEBF-66D2B03207DD}"/>
                </a:ext>
              </a:extLst>
            </p:cNvPr>
            <p:cNvSpPr>
              <a:spLocks noGrp="1"/>
            </p:cNvSpPr>
            <p:nvPr/>
          </p:nvSpPr>
          <p:spPr>
            <a:xfrm>
              <a:off x="5029200" y="2190750"/>
              <a:ext cx="0" cy="914400"/>
            </a:xfrm>
            <a:prstGeom prst="line">
              <a:avLst/>
            </a:prstGeom>
            <a:noFill/>
            <a:ln w="12383">
              <a:solidFill>
                <a:srgbClr val="000000"/>
              </a:solidFill>
              <a:prstDash val="solid"/>
            </a:ln>
          </p:spPr>
        </p:sp>
        <p:sp>
          <p:nvSpPr>
            <p:cNvPr id="1026" name="visualism-branch">
              <a:extLst>
                <a:ext uri="{FF2B5EF4-FFF2-40B4-BE49-F238E27FC236}">
                  <a16:creationId xmlns="" xmlns:a16="http://schemas.microsoft.com/office/drawing/2014/main" id="{3874AB4D-7373-45B6-866F-FDED1A6BAA98}"/>
                </a:ext>
              </a:extLst>
            </p:cNvPr>
            <p:cNvSpPr>
              <a:spLocks noGrp="1"/>
            </p:cNvSpPr>
            <p:nvPr/>
          </p:nvSpPr>
          <p:spPr>
            <a:xfrm>
              <a:off x="5029200" y="2381250"/>
              <a:ext cx="228600" cy="0"/>
            </a:xfrm>
            <a:prstGeom prst="line">
              <a:avLst/>
            </a:prstGeom>
            <a:noFill/>
            <a:ln w="12383">
              <a:solidFill>
                <a:srgbClr val="000000"/>
              </a:solidFill>
              <a:prstDash val="solid"/>
            </a:ln>
          </p:spPr>
        </p:sp>
        <p:sp>
          <p:nvSpPr>
            <p:cNvPr id="1027" name="infinitesimalism-branch">
              <a:extLst>
                <a:ext uri="{FF2B5EF4-FFF2-40B4-BE49-F238E27FC236}">
                  <a16:creationId xmlns="" xmlns:a16="http://schemas.microsoft.com/office/drawing/2014/main" id="{82553F88-3742-44BE-8FD4-CC149963FD85}"/>
                </a:ext>
              </a:extLst>
            </p:cNvPr>
            <p:cNvSpPr>
              <a:spLocks noGrp="1"/>
            </p:cNvSpPr>
            <p:nvPr/>
          </p:nvSpPr>
          <p:spPr>
            <a:xfrm>
              <a:off x="5029200" y="3105150"/>
              <a:ext cx="228600" cy="0"/>
            </a:xfrm>
            <a:prstGeom prst="line">
              <a:avLst/>
            </a:prstGeom>
            <a:noFill/>
            <a:ln w="12383">
              <a:solidFill>
                <a:srgbClr val="000000"/>
              </a:solidFill>
              <a:prstDash val="solid"/>
            </a:ln>
          </p:spPr>
        </p:sp>
        <p:sp>
          <p:nvSpPr>
            <p:cNvPr id="1028" name="visualism">
              <a:extLst>
                <a:ext uri="{FF2B5EF4-FFF2-40B4-BE49-F238E27FC236}">
                  <a16:creationId xmlns="" xmlns:a16="http://schemas.microsoft.com/office/drawing/2014/main" id="{318CF6F3-8521-4C1C-ABFB-521779C8BEE8}"/>
                </a:ext>
              </a:extLst>
            </p:cNvPr>
            <p:cNvSpPr>
              <a:spLocks noGrp="1"/>
            </p:cNvSpPr>
            <p:nvPr/>
          </p:nvSpPr>
          <p:spPr>
            <a:xfrm>
              <a:off x="5334000" y="2209800"/>
              <a:ext cx="3505200" cy="342900"/>
            </a:xfrm>
            <a:prstGeom prst="rect">
              <a:avLst/>
            </a:prstGeom>
            <a:noFill/>
            <a:ln w="0">
              <a:noFill/>
              <a:prstDash val="solid"/>
            </a:ln>
          </p:spPr>
          <p:txBody>
            <a:bodyPr wrap="square" lIns="0" tIns="0" rIns="0" bIns="0" anchor="ctr">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04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Visualismus</a:t>
              </a:r>
            </a:p>
          </p:txBody>
        </p:sp>
        <p:sp>
          <p:nvSpPr>
            <p:cNvPr id="1029" name="infinitesimalism">
              <a:extLst>
                <a:ext uri="{FF2B5EF4-FFF2-40B4-BE49-F238E27FC236}">
                  <a16:creationId xmlns="" xmlns:a16="http://schemas.microsoft.com/office/drawing/2014/main" id="{5FF2CD2B-B05B-4E31-9323-FED6003BA907}"/>
                </a:ext>
              </a:extLst>
            </p:cNvPr>
            <p:cNvSpPr>
              <a:spLocks noGrp="1"/>
            </p:cNvSpPr>
            <p:nvPr/>
          </p:nvSpPr>
          <p:spPr>
            <a:xfrm>
              <a:off x="5334000" y="2933700"/>
              <a:ext cx="3505200" cy="342900"/>
            </a:xfrm>
            <a:prstGeom prst="rect">
              <a:avLst/>
            </a:prstGeom>
            <a:noFill/>
            <a:ln w="0">
              <a:noFill/>
              <a:prstDash val="solid"/>
            </a:ln>
          </p:spPr>
          <p:txBody>
            <a:bodyPr wrap="square" lIns="0" tIns="0" rIns="0" bIns="0" anchor="ctr">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04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Infinitesimalismus</a:t>
              </a:r>
            </a:p>
          </p:txBody>
        </p:sp>
      </p:grpSp>
      <p:grpSp>
        <p:nvGrpSpPr>
          <p:cNvPr id="2005" name="Schritt 5: Peirce und Nichtstandardauffassung"/>
          <p:cNvGrpSpPr/>
          <p:nvPr/>
        </p:nvGrpSpPr>
        <p:grpSpPr>
          <a:xfrm>
            <a:off x="5029200" y="3105150"/>
            <a:ext cx="3810000" cy="1619250"/>
            <a:chOff x="5029200" y="3105150"/>
            <a:chExt cx="3810000" cy="1619250"/>
          </a:xfrm>
        </p:grpSpPr>
        <p:sp>
          <p:nvSpPr>
            <p:cNvPr id="1030" name="non-atomic-lower-spine">
              <a:extLst>
                <a:ext uri="{FF2B5EF4-FFF2-40B4-BE49-F238E27FC236}">
                  <a16:creationId xmlns="" xmlns:a16="http://schemas.microsoft.com/office/drawing/2014/main" id="{D00E83A5-191A-40DA-8079-6E8FBEEDA5C5}"/>
                </a:ext>
              </a:extLst>
            </p:cNvPr>
            <p:cNvSpPr>
              <a:spLocks noGrp="1"/>
            </p:cNvSpPr>
            <p:nvPr/>
          </p:nvSpPr>
          <p:spPr>
            <a:xfrm>
              <a:off x="5029200" y="3105150"/>
              <a:ext cx="0" cy="1447800"/>
            </a:xfrm>
            <a:prstGeom prst="line">
              <a:avLst/>
            </a:prstGeom>
            <a:noFill/>
            <a:ln w="12383">
              <a:solidFill>
                <a:srgbClr val="000000"/>
              </a:solidFill>
              <a:prstDash val="solid"/>
            </a:ln>
          </p:spPr>
        </p:sp>
        <p:sp>
          <p:nvSpPr>
            <p:cNvPr id="1031" name="peirce-branch">
              <a:extLst>
                <a:ext uri="{FF2B5EF4-FFF2-40B4-BE49-F238E27FC236}">
                  <a16:creationId xmlns="" xmlns:a16="http://schemas.microsoft.com/office/drawing/2014/main" id="{05A8B307-7D81-4975-9495-6DB942338967}"/>
                </a:ext>
              </a:extLst>
            </p:cNvPr>
            <p:cNvSpPr>
              <a:spLocks noGrp="1"/>
            </p:cNvSpPr>
            <p:nvPr/>
          </p:nvSpPr>
          <p:spPr>
            <a:xfrm>
              <a:off x="5029200" y="3829050"/>
              <a:ext cx="228600" cy="0"/>
            </a:xfrm>
            <a:prstGeom prst="line">
              <a:avLst/>
            </a:prstGeom>
            <a:noFill/>
            <a:ln w="12383">
              <a:solidFill>
                <a:srgbClr val="000000"/>
              </a:solidFill>
              <a:prstDash val="solid"/>
            </a:ln>
          </p:spPr>
        </p:sp>
        <p:sp>
          <p:nvSpPr>
            <p:cNvPr id="1032" name="nonstandard-branch">
              <a:extLst>
                <a:ext uri="{FF2B5EF4-FFF2-40B4-BE49-F238E27FC236}">
                  <a16:creationId xmlns="" xmlns:a16="http://schemas.microsoft.com/office/drawing/2014/main" id="{00AE7FF0-B47F-45AC-B0BA-04E0EAD5CF03}"/>
                </a:ext>
              </a:extLst>
            </p:cNvPr>
            <p:cNvSpPr>
              <a:spLocks noGrp="1"/>
            </p:cNvSpPr>
            <p:nvPr/>
          </p:nvSpPr>
          <p:spPr>
            <a:xfrm>
              <a:off x="5029200" y="4552950"/>
              <a:ext cx="228600" cy="0"/>
            </a:xfrm>
            <a:prstGeom prst="line">
              <a:avLst/>
            </a:prstGeom>
            <a:noFill/>
            <a:ln w="12383">
              <a:solidFill>
                <a:srgbClr val="000000"/>
              </a:solidFill>
              <a:prstDash val="solid"/>
            </a:ln>
          </p:spPr>
        </p:sp>
        <p:sp>
          <p:nvSpPr>
            <p:cNvPr id="1033" name="peirce">
              <a:extLst>
                <a:ext uri="{FF2B5EF4-FFF2-40B4-BE49-F238E27FC236}">
                  <a16:creationId xmlns="" xmlns:a16="http://schemas.microsoft.com/office/drawing/2014/main" id="{10FF2EA3-84EF-44B7-93FC-ABABD2B45D2E}"/>
                </a:ext>
              </a:extLst>
            </p:cNvPr>
            <p:cNvSpPr>
              <a:spLocks noGrp="1"/>
            </p:cNvSpPr>
            <p:nvPr/>
          </p:nvSpPr>
          <p:spPr>
            <a:xfrm>
              <a:off x="5334000" y="3657600"/>
              <a:ext cx="3505200" cy="342900"/>
            </a:xfrm>
            <a:prstGeom prst="rect">
              <a:avLst/>
            </a:prstGeom>
            <a:noFill/>
            <a:ln w="0">
              <a:noFill/>
              <a:prstDash val="solid"/>
            </a:ln>
          </p:spPr>
          <p:txBody>
            <a:bodyPr wrap="square" lIns="0" tIns="0" rIns="0" bIns="0" anchor="ctr">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04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Peirces Synechismus</a:t>
              </a:r>
            </a:p>
          </p:txBody>
        </p:sp>
        <p:sp>
          <p:nvSpPr>
            <p:cNvPr id="1034" name="nonstandard">
              <a:extLst>
                <a:ext uri="{FF2B5EF4-FFF2-40B4-BE49-F238E27FC236}">
                  <a16:creationId xmlns="" xmlns:a16="http://schemas.microsoft.com/office/drawing/2014/main" id="{9F3E2DD6-F646-4A02-B413-4A60831ABBC1}"/>
                </a:ext>
              </a:extLst>
            </p:cNvPr>
            <p:cNvSpPr>
              <a:spLocks noGrp="1"/>
            </p:cNvSpPr>
            <p:nvPr/>
          </p:nvSpPr>
          <p:spPr>
            <a:xfrm>
              <a:off x="5334000" y="4381500"/>
              <a:ext cx="3505200" cy="342900"/>
            </a:xfrm>
            <a:prstGeom prst="rect">
              <a:avLst/>
            </a:prstGeom>
            <a:noFill/>
            <a:ln w="0">
              <a:noFill/>
              <a:prstDash val="solid"/>
            </a:ln>
          </p:spPr>
          <p:txBody>
            <a:bodyPr wrap="square" lIns="0" tIns="0" rIns="0" bIns="0" anchor="ctr">
              <a:noAutofit/>
            </a:bodyPr>
            <a:lstStyle>
              <a:defPPr algn="l">
                <a:defRPr sz="1800">
                  <a:solidFill>
                    <a:srgbClr val="000000"/>
                  </a:solidFill>
                  <a:latin typeface="Times New Roman"/>
                  <a:ea typeface="Times New Roman"/>
                  <a:cs typeface="Times New Roman"/>
                </a:defRPr>
              </a:defPPr>
              <a:lvl1pPr algn="l">
                <a:defRPr sz="1800">
                  <a:solidFill>
                    <a:srgbClr val="000000"/>
                  </a:solidFill>
                  <a:latin typeface="Times New Roman"/>
                  <a:ea typeface="Times New Roman"/>
                  <a:cs typeface="Times New Roman"/>
                </a:defRPr>
              </a:lvl1pPr>
              <a:lvl2pPr algn="l">
                <a:defRPr sz="1800">
                  <a:solidFill>
                    <a:srgbClr val="000000"/>
                  </a:solidFill>
                  <a:latin typeface="Times New Roman"/>
                  <a:ea typeface="Times New Roman"/>
                  <a:cs typeface="Times New Roman"/>
                </a:defRPr>
              </a:lvl2pPr>
              <a:lvl3pPr algn="l">
                <a:defRPr sz="1800">
                  <a:solidFill>
                    <a:srgbClr val="000000"/>
                  </a:solidFill>
                  <a:latin typeface="Times New Roman"/>
                  <a:ea typeface="Times New Roman"/>
                  <a:cs typeface="Times New Roman"/>
                </a:defRPr>
              </a:lvl3pPr>
              <a:lvl4pPr algn="l">
                <a:defRPr sz="1800">
                  <a:solidFill>
                    <a:srgbClr val="000000"/>
                  </a:solidFill>
                  <a:latin typeface="Times New Roman"/>
                  <a:ea typeface="Times New Roman"/>
                  <a:cs typeface="Times New Roman"/>
                </a:defRPr>
              </a:lvl4pPr>
              <a:lvl5pPr algn="l">
                <a:defRPr sz="1800">
                  <a:solidFill>
                    <a:srgbClr val="000000"/>
                  </a:solidFill>
                  <a:latin typeface="Times New Roman"/>
                  <a:ea typeface="Times New Roman"/>
                  <a:cs typeface="Times New Roman"/>
                </a:defRPr>
              </a:lvl5pPr>
              <a:lvl6pPr algn="l">
                <a:defRPr sz="1800">
                  <a:solidFill>
                    <a:srgbClr val="000000"/>
                  </a:solidFill>
                  <a:latin typeface="Times New Roman"/>
                  <a:ea typeface="Times New Roman"/>
                  <a:cs typeface="Times New Roman"/>
                </a:defRPr>
              </a:lvl6pPr>
              <a:lvl7pPr algn="l">
                <a:defRPr sz="1800">
                  <a:solidFill>
                    <a:srgbClr val="000000"/>
                  </a:solidFill>
                  <a:latin typeface="Times New Roman"/>
                  <a:ea typeface="Times New Roman"/>
                  <a:cs typeface="Times New Roman"/>
                </a:defRPr>
              </a:lvl7pPr>
              <a:lvl8pPr algn="l">
                <a:defRPr sz="1800">
                  <a:solidFill>
                    <a:srgbClr val="000000"/>
                  </a:solidFill>
                  <a:latin typeface="Times New Roman"/>
                  <a:ea typeface="Times New Roman"/>
                  <a:cs typeface="Times New Roman"/>
                </a:defRPr>
              </a:lvl8pPr>
              <a:lvl9pPr algn="l">
                <a:defRPr sz="1800">
                  <a:solidFill>
                    <a:srgbClr val="000000"/>
                  </a:solidFill>
                  <a:latin typeface="Times New Roman"/>
                  <a:ea typeface="Times New Roman"/>
                  <a:cs typeface="Times New Roman"/>
                </a:defRPr>
              </a:lvl9pPr>
            </a:lstStyle>
            <a:p>
              <a:pPr algn="l">
                <a:lnSpc>
                  <a:spcPct val="104000"/>
                </a:lnSpc>
                <a:buNone/>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Nichtstandardauffassung</a:t>
              </a:r>
            </a:p>
          </p:txBody>
        </p:sp>
      </p:grpSp>
    </p:spTree>
    <p:extLst>
      <p:ext uri="{BB962C8B-B14F-4D97-AF65-F5344CB8AC3E}">
        <p14:creationId xmlns:p14="http://schemas.microsoft.com/office/powerpoint/2010/main" val="385795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Finiter Atomismus</a:t>
            </a:r>
            <a:endParaRPr lang="en-CA" sz="3200" dirty="0">
              <a:solidFill>
                <a:schemeClr val="bg1"/>
              </a:solidFill>
              <a:effectLst>
                <a:outerShdw blurRad="38100" dist="38100" dir="2700000" algn="tl">
                  <a:srgbClr val="000000">
                    <a:alpha val="43137"/>
                  </a:srgbClr>
                </a:outerShdw>
              </a:effectLst>
            </a:endParaRPr>
          </a:p>
        </p:txBody>
      </p:sp>
      <p:pic>
        <p:nvPicPr>
          <p:cNvPr id="100" name="Grafik 99">
            <a:extLst>
              <a:ext uri="{FF2B5EF4-FFF2-40B4-BE49-F238E27FC236}">
                <a16:creationId xmlns:a16="http://schemas.microsoft.com/office/drawing/2014/main" xmlns="" id="{C47564D4-1797-43D2-8B6B-18F3F9C1C61A}"/>
              </a:ext>
            </a:extLst>
          </p:cNvPr>
          <p:cNvPicPr>
            <a:picLocks noChangeAspect="1"/>
          </p:cNvPicPr>
          <p:nvPr/>
        </p:nvPicPr>
        <p:blipFill>
          <a:blip r:embed="rId3"/>
          <a:srcRect b="15905"/>
          <a:stretch/>
        </p:blipFill>
        <p:spPr>
          <a:xfrm>
            <a:off x="1190625" y="800100"/>
            <a:ext cx="1314450" cy="1638300"/>
          </a:xfrm>
          <a:prstGeom prst="rect">
            <a:avLst/>
          </a:prstGeom>
        </p:spPr>
      </p:pic>
      <p:sp>
        <p:nvSpPr>
          <p:cNvPr id="101" name="portrait-name-democritus">
            <a:extLst>
              <a:ext uri="{FF2B5EF4-FFF2-40B4-BE49-F238E27FC236}">
                <a16:creationId xmlns:a16="http://schemas.microsoft.com/office/drawing/2014/main" xmlns="" id="{8249F253-0CB7-49DD-9FDC-64D6687F75E5}"/>
              </a:ext>
            </a:extLst>
          </p:cNvPr>
          <p:cNvSpPr>
            <a:spLocks noGrp="1"/>
          </p:cNvSpPr>
          <p:nvPr/>
        </p:nvSpPr>
        <p:spPr>
          <a:xfrm>
            <a:off x="390525" y="2505075"/>
            <a:ext cx="2914650" cy="276225"/>
          </a:xfrm>
          <a:prstGeom prst="rect">
            <a:avLst/>
          </a:prstGeom>
          <a:noFill/>
          <a:ln w="0">
            <a:noFill/>
            <a:prstDash val="solid"/>
          </a:ln>
        </p:spPr>
        <p:txBody>
          <a:bodyPr wrap="square" lIns="0" tIns="0" rIns="0" bIns="0" anchor="ctr">
            <a:noAutofit/>
          </a:bodyPr>
          <a:lstStyle>
            <a:defPPr algn="ctr">
              <a:defRPr sz="1600" b="1">
                <a:solidFill>
                  <a:srgbClr val="000000"/>
                </a:solidFill>
                <a:latin typeface="Times New Roman"/>
                <a:ea typeface="Times New Roman"/>
                <a:cs typeface="Times New Roman"/>
              </a:defRPr>
            </a:defPPr>
            <a:lvl1pPr algn="ctr">
              <a:defRPr sz="1600" b="1">
                <a:solidFill>
                  <a:srgbClr val="000000"/>
                </a:solidFill>
                <a:latin typeface="Times New Roman"/>
                <a:ea typeface="Times New Roman"/>
                <a:cs typeface="Times New Roman"/>
              </a:defRPr>
            </a:lvl1pPr>
            <a:lvl2pPr algn="ctr">
              <a:defRPr sz="1600" b="1">
                <a:solidFill>
                  <a:srgbClr val="000000"/>
                </a:solidFill>
                <a:latin typeface="Times New Roman"/>
                <a:ea typeface="Times New Roman"/>
                <a:cs typeface="Times New Roman"/>
              </a:defRPr>
            </a:lvl2pPr>
            <a:lvl3pPr algn="ctr">
              <a:defRPr sz="1600" b="1">
                <a:solidFill>
                  <a:srgbClr val="000000"/>
                </a:solidFill>
                <a:latin typeface="Times New Roman"/>
                <a:ea typeface="Times New Roman"/>
                <a:cs typeface="Times New Roman"/>
              </a:defRPr>
            </a:lvl3pPr>
            <a:lvl4pPr algn="ctr">
              <a:defRPr sz="1600" b="1">
                <a:solidFill>
                  <a:srgbClr val="000000"/>
                </a:solidFill>
                <a:latin typeface="Times New Roman"/>
                <a:ea typeface="Times New Roman"/>
                <a:cs typeface="Times New Roman"/>
              </a:defRPr>
            </a:lvl4pPr>
            <a:lvl5pPr algn="ctr">
              <a:defRPr sz="1600" b="1">
                <a:solidFill>
                  <a:srgbClr val="000000"/>
                </a:solidFill>
                <a:latin typeface="Times New Roman"/>
                <a:ea typeface="Times New Roman"/>
                <a:cs typeface="Times New Roman"/>
              </a:defRPr>
            </a:lvl5pPr>
            <a:lvl6pPr algn="ctr">
              <a:defRPr sz="1600" b="1">
                <a:solidFill>
                  <a:srgbClr val="000000"/>
                </a:solidFill>
                <a:latin typeface="Times New Roman"/>
                <a:ea typeface="Times New Roman"/>
                <a:cs typeface="Times New Roman"/>
              </a:defRPr>
            </a:lvl6pPr>
            <a:lvl7pPr algn="ctr">
              <a:defRPr sz="1600" b="1">
                <a:solidFill>
                  <a:srgbClr val="000000"/>
                </a:solidFill>
                <a:latin typeface="Times New Roman"/>
                <a:ea typeface="Times New Roman"/>
                <a:cs typeface="Times New Roman"/>
              </a:defRPr>
            </a:lvl7pPr>
            <a:lvl8pPr algn="ctr">
              <a:defRPr sz="1600" b="1">
                <a:solidFill>
                  <a:srgbClr val="000000"/>
                </a:solidFill>
                <a:latin typeface="Times New Roman"/>
                <a:ea typeface="Times New Roman"/>
                <a:cs typeface="Times New Roman"/>
              </a:defRPr>
            </a:lvl8pPr>
            <a:lvl9pPr algn="ctr">
              <a:defRPr sz="1600" b="1">
                <a:solidFill>
                  <a:srgbClr val="000000"/>
                </a:solidFill>
                <a:latin typeface="Times New Roman"/>
                <a:ea typeface="Times New Roman"/>
                <a:cs typeface="Times New Roman"/>
              </a:defRPr>
            </a:lvl9pPr>
          </a:lstStyle>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Demokrit</a:t>
            </a:r>
          </a:p>
        </p:txBody>
      </p:sp>
      <p:sp>
        <p:nvSpPr>
          <p:cNvPr id="102" name="portrait-years-democritus">
            <a:extLst>
              <a:ext uri="{FF2B5EF4-FFF2-40B4-BE49-F238E27FC236}">
                <a16:creationId xmlns:a16="http://schemas.microsoft.com/office/drawing/2014/main" xmlns="" id="{2CFFE7AA-80EF-4897-95AA-A50F6AE27EC8}"/>
              </a:ext>
            </a:extLst>
          </p:cNvPr>
          <p:cNvSpPr>
            <a:spLocks noGrp="1"/>
          </p:cNvSpPr>
          <p:nvPr/>
        </p:nvSpPr>
        <p:spPr>
          <a:xfrm>
            <a:off x="390525" y="2809875"/>
            <a:ext cx="2914650" cy="238125"/>
          </a:xfrm>
          <a:prstGeom prst="rect">
            <a:avLst/>
          </a:prstGeom>
          <a:noFill/>
          <a:ln w="0">
            <a:noFill/>
            <a:prstDash val="solid"/>
          </a:ln>
        </p:spPr>
        <p:txBody>
          <a:bodyPr wrap="square" lIns="0" tIns="0" rIns="0" bIns="0" anchor="t">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0000"/>
              </a:lnSpc>
              <a:buNone/>
              <a:defRPr sz="1400">
                <a:solidFill>
                  <a:srgbClr val="000000"/>
                </a:solidFill>
                <a:latin typeface="Times New Roman"/>
                <a:ea typeface="Times New Roman"/>
                <a:cs typeface="Times New Roman"/>
              </a:defRPr>
            </a:pPr>
            <a:r>
              <a:rPr sz="1400">
                <a:solidFill>
                  <a:srgbClr val="000000"/>
                </a:solidFill>
                <a:latin typeface="Times New Roman"/>
                <a:ea typeface="Times New Roman"/>
                <a:cs typeface="Times New Roman"/>
              </a:rPr>
              <a:t>um 460–370 v. Chr.</a:t>
            </a:r>
          </a:p>
        </p:txBody>
      </p:sp>
      <p:sp>
        <p:nvSpPr>
          <p:cNvPr id="103" name="position-explanation">
            <a:extLst>
              <a:ext uri="{FF2B5EF4-FFF2-40B4-BE49-F238E27FC236}">
                <a16:creationId xmlns:a16="http://schemas.microsoft.com/office/drawing/2014/main" xmlns="" id="{2E1B673C-6729-43B7-8DBC-60793C86ED58}"/>
              </a:ext>
            </a:extLst>
          </p:cNvPr>
          <p:cNvSpPr>
            <a:spLocks noGrp="1"/>
          </p:cNvSpPr>
          <p:nvPr/>
        </p:nvSpPr>
        <p:spPr>
          <a:xfrm>
            <a:off x="3771900" y="942975"/>
            <a:ext cx="4991100" cy="2095500"/>
          </a:xfrm>
          <a:prstGeom prst="rect">
            <a:avLst/>
          </a:prstGeom>
          <a:noFill/>
          <a:ln w="0">
            <a:noFill/>
            <a:prstDash val="solid"/>
          </a:ln>
        </p:spPr>
        <p:txBody>
          <a:bodyPr wrap="square" lIns="0" tIns="0" rIns="0" bIns="0" anchor="t">
            <a:noAutofit/>
          </a:bodyPr>
          <a:lstStyle>
            <a:defPPr algn="l">
              <a:defRPr sz="1900">
                <a:solidFill>
                  <a:srgbClr val="000000"/>
                </a:solidFill>
                <a:latin typeface="Times New Roman"/>
                <a:ea typeface="Times New Roman"/>
                <a:cs typeface="Times New Roman"/>
              </a:defRPr>
            </a:defPPr>
            <a:lvl1pPr algn="l">
              <a:defRPr sz="1900">
                <a:solidFill>
                  <a:srgbClr val="000000"/>
                </a:solidFill>
                <a:latin typeface="Times New Roman"/>
                <a:ea typeface="Times New Roman"/>
                <a:cs typeface="Times New Roman"/>
              </a:defRPr>
            </a:lvl1pPr>
            <a:lvl2pPr algn="l">
              <a:defRPr sz="1900">
                <a:solidFill>
                  <a:srgbClr val="000000"/>
                </a:solidFill>
                <a:latin typeface="Times New Roman"/>
                <a:ea typeface="Times New Roman"/>
                <a:cs typeface="Times New Roman"/>
              </a:defRPr>
            </a:lvl2pPr>
            <a:lvl3pPr algn="l">
              <a:defRPr sz="1900">
                <a:solidFill>
                  <a:srgbClr val="000000"/>
                </a:solidFill>
                <a:latin typeface="Times New Roman"/>
                <a:ea typeface="Times New Roman"/>
                <a:cs typeface="Times New Roman"/>
              </a:defRPr>
            </a:lvl3pPr>
            <a:lvl4pPr algn="l">
              <a:defRPr sz="1900">
                <a:solidFill>
                  <a:srgbClr val="000000"/>
                </a:solidFill>
                <a:latin typeface="Times New Roman"/>
                <a:ea typeface="Times New Roman"/>
                <a:cs typeface="Times New Roman"/>
              </a:defRPr>
            </a:lvl4pPr>
            <a:lvl5pPr algn="l">
              <a:defRPr sz="1900">
                <a:solidFill>
                  <a:srgbClr val="000000"/>
                </a:solidFill>
                <a:latin typeface="Times New Roman"/>
                <a:ea typeface="Times New Roman"/>
                <a:cs typeface="Times New Roman"/>
              </a:defRPr>
            </a:lvl5pPr>
            <a:lvl6pPr algn="l">
              <a:defRPr sz="1900">
                <a:solidFill>
                  <a:srgbClr val="000000"/>
                </a:solidFill>
                <a:latin typeface="Times New Roman"/>
                <a:ea typeface="Times New Roman"/>
                <a:cs typeface="Times New Roman"/>
              </a:defRPr>
            </a:lvl6pPr>
            <a:lvl7pPr algn="l">
              <a:defRPr sz="1900">
                <a:solidFill>
                  <a:srgbClr val="000000"/>
                </a:solidFill>
                <a:latin typeface="Times New Roman"/>
                <a:ea typeface="Times New Roman"/>
                <a:cs typeface="Times New Roman"/>
              </a:defRPr>
            </a:lvl7pPr>
            <a:lvl8pPr algn="l">
              <a:defRPr sz="1900">
                <a:solidFill>
                  <a:srgbClr val="000000"/>
                </a:solidFill>
                <a:latin typeface="Times New Roman"/>
                <a:ea typeface="Times New Roman"/>
                <a:cs typeface="Times New Roman"/>
              </a:defRPr>
            </a:lvl8pPr>
            <a:lvl9pPr algn="l">
              <a:defRPr sz="1900">
                <a:solidFill>
                  <a:srgbClr val="000000"/>
                </a:solidFill>
                <a:latin typeface="Times New Roman"/>
                <a:ea typeface="Times New Roman"/>
                <a:cs typeface="Times New Roman"/>
              </a:defRPr>
            </a:lvl9pPr>
          </a:lstStyle>
          <a:p>
            <a:pPr algn="l">
              <a:lnSpc>
                <a:spcPct val="112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Die Linie besteht aus endlich vielen sehr kleinen, unteilbaren Linienstücken.</a:t>
            </a:r>
          </a:p>
          <a:p>
            <a:pPr>
              <a:defRPr>
                <a:latin typeface="Times New Roman"/>
                <a:ea typeface="Times New Roman"/>
                <a:cs typeface="Times New Roman"/>
              </a:defRPr>
            </a:pPr>
            <a:endParaRPr sz="1900">
              <a:solidFill>
                <a:srgbClr val="000000"/>
              </a:solidFill>
              <a:latin typeface="Times New Roman"/>
              <a:ea typeface="Times New Roman"/>
              <a:cs typeface="Times New Roman"/>
            </a:endParaRPr>
          </a:p>
          <a:p>
            <a:pPr algn="l">
              <a:lnSpc>
                <a:spcPct val="112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Diese Bausteine selbst gelten als Punkte.</a:t>
            </a:r>
          </a:p>
        </p:txBody>
      </p:sp>
      <p:sp>
        <p:nvSpPr>
          <p:cNvPr id="115" name="visible-citation-continuum-31">
            <a:extLst>
              <a:ext uri="{FF2B5EF4-FFF2-40B4-BE49-F238E27FC236}">
                <a16:creationId xmlns:a16="http://schemas.microsoft.com/office/drawing/2014/main" xmlns="" id="{78EF9FF3-1EAE-4698-97E3-5D5EC2AFFB4A}"/>
              </a:ext>
            </a:extLst>
          </p:cNvPr>
          <p:cNvSpPr>
            <a:spLocks noGrp="1"/>
          </p:cNvSpPr>
          <p:nvPr/>
        </p:nvSpPr>
        <p:spPr>
          <a:xfrm>
            <a:off x="3771900" y="2794248"/>
            <a:ext cx="4991100" cy="2095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dirty="0" err="1">
                <a:solidFill>
                  <a:srgbClr val="000000"/>
                </a:solidFill>
                <a:latin typeface="Times New Roman"/>
                <a:ea typeface="Times New Roman"/>
                <a:cs typeface="Times New Roman"/>
              </a:rPr>
              <a:t>Bedürftig</a:t>
            </a:r>
            <a:r>
              <a:rPr sz="1050" dirty="0">
                <a:solidFill>
                  <a:srgbClr val="000000"/>
                </a:solidFill>
                <a:latin typeface="Times New Roman"/>
                <a:ea typeface="Times New Roman"/>
                <a:cs typeface="Times New Roman"/>
              </a:rPr>
              <a:t> / </a:t>
            </a:r>
            <a:r>
              <a:rPr sz="1050" dirty="0" err="1">
                <a:solidFill>
                  <a:srgbClr val="000000"/>
                </a:solidFill>
                <a:latin typeface="Times New Roman"/>
                <a:ea typeface="Times New Roman"/>
                <a:cs typeface="Times New Roman"/>
              </a:rPr>
              <a:t>Murawski</a:t>
            </a:r>
            <a:r>
              <a:rPr sz="1050" dirty="0">
                <a:solidFill>
                  <a:srgbClr val="000000"/>
                </a:solidFill>
                <a:latin typeface="Times New Roman"/>
                <a:ea typeface="Times New Roman"/>
                <a:cs typeface="Times New Roman"/>
              </a:rPr>
              <a:t> (2019), § 3.3.5, S. 213–215.</a:t>
            </a:r>
          </a:p>
        </p:txBody>
      </p:sp>
      <p:grpSp>
        <p:nvGrpSpPr>
          <p:cNvPr id="116" name="Schritt 1: Linie aus Atomen"/>
          <p:cNvGrpSpPr/>
          <p:nvPr/>
        </p:nvGrpSpPr>
        <p:grpSpPr>
          <a:xfrm>
            <a:off x="419100" y="3314700"/>
            <a:ext cx="8305800" cy="647700"/>
            <a:chOff x="419100" y="3314700"/>
            <a:chExt cx="8305800" cy="647700"/>
          </a:xfrm>
        </p:grpSpPr>
        <p:sp>
          <p:nvSpPr>
            <p:cNvPr id="104" name="finite-diagram-title">
              <a:extLst>
                <a:ext uri="{FF2B5EF4-FFF2-40B4-BE49-F238E27FC236}">
                  <a16:creationId xmlns:a16="http://schemas.microsoft.com/office/drawing/2014/main" xmlns="" id="{595AB18E-39AB-455B-AA9C-BC552CC1A30D}"/>
                </a:ext>
              </a:extLst>
            </p:cNvPr>
            <p:cNvSpPr>
              <a:spLocks noGrp="1"/>
            </p:cNvSpPr>
            <p:nvPr/>
          </p:nvSpPr>
          <p:spPr>
            <a:xfrm>
              <a:off x="419100" y="3314700"/>
              <a:ext cx="8305800" cy="285750"/>
            </a:xfrm>
            <a:prstGeom prst="rect">
              <a:avLst/>
            </a:prstGeom>
            <a:noFill/>
            <a:ln w="0">
              <a:noFill/>
              <a:prstDash val="solid"/>
            </a:ln>
          </p:spPr>
          <p:txBody>
            <a:bodyPr wrap="square" lIns="0" tIns="0" rIns="0" bIns="0" anchor="t">
              <a:noAutofit/>
            </a:bodyPr>
            <a:lstStyle>
              <a:defPPr algn="ctr">
                <a:defRPr sz="1700">
                  <a:solidFill>
                    <a:srgbClr val="000000"/>
                  </a:solidFill>
                  <a:latin typeface="Times New Roman"/>
                  <a:ea typeface="Times New Roman"/>
                  <a:cs typeface="Times New Roman"/>
                </a:defRPr>
              </a:defPPr>
              <a:lvl1pPr algn="ctr">
                <a:defRPr sz="1700">
                  <a:solidFill>
                    <a:srgbClr val="000000"/>
                  </a:solidFill>
                  <a:latin typeface="Times New Roman"/>
                  <a:ea typeface="Times New Roman"/>
                  <a:cs typeface="Times New Roman"/>
                </a:defRPr>
              </a:lvl1pPr>
              <a:lvl2pPr algn="ctr">
                <a:defRPr sz="1700">
                  <a:solidFill>
                    <a:srgbClr val="000000"/>
                  </a:solidFill>
                  <a:latin typeface="Times New Roman"/>
                  <a:ea typeface="Times New Roman"/>
                  <a:cs typeface="Times New Roman"/>
                </a:defRPr>
              </a:lvl2pPr>
              <a:lvl3pPr algn="ctr">
                <a:defRPr sz="1700">
                  <a:solidFill>
                    <a:srgbClr val="000000"/>
                  </a:solidFill>
                  <a:latin typeface="Times New Roman"/>
                  <a:ea typeface="Times New Roman"/>
                  <a:cs typeface="Times New Roman"/>
                </a:defRPr>
              </a:lvl3pPr>
              <a:lvl4pPr algn="ctr">
                <a:defRPr sz="1700">
                  <a:solidFill>
                    <a:srgbClr val="000000"/>
                  </a:solidFill>
                  <a:latin typeface="Times New Roman"/>
                  <a:ea typeface="Times New Roman"/>
                  <a:cs typeface="Times New Roman"/>
                </a:defRPr>
              </a:lvl4pPr>
              <a:lvl5pPr algn="ctr">
                <a:defRPr sz="1700">
                  <a:solidFill>
                    <a:srgbClr val="000000"/>
                  </a:solidFill>
                  <a:latin typeface="Times New Roman"/>
                  <a:ea typeface="Times New Roman"/>
                  <a:cs typeface="Times New Roman"/>
                </a:defRPr>
              </a:lvl5pPr>
              <a:lvl6pPr algn="ctr">
                <a:defRPr sz="1700">
                  <a:solidFill>
                    <a:srgbClr val="000000"/>
                  </a:solidFill>
                  <a:latin typeface="Times New Roman"/>
                  <a:ea typeface="Times New Roman"/>
                  <a:cs typeface="Times New Roman"/>
                </a:defRPr>
              </a:lvl6pPr>
              <a:lvl7pPr algn="ctr">
                <a:defRPr sz="1700">
                  <a:solidFill>
                    <a:srgbClr val="000000"/>
                  </a:solidFill>
                  <a:latin typeface="Times New Roman"/>
                  <a:ea typeface="Times New Roman"/>
                  <a:cs typeface="Times New Roman"/>
                </a:defRPr>
              </a:lvl7pPr>
              <a:lvl8pPr algn="ctr">
                <a:defRPr sz="1700">
                  <a:solidFill>
                    <a:srgbClr val="000000"/>
                  </a:solidFill>
                  <a:latin typeface="Times New Roman"/>
                  <a:ea typeface="Times New Roman"/>
                  <a:cs typeface="Times New Roman"/>
                </a:defRPr>
              </a:lvl8pPr>
              <a:lvl9pPr algn="ctr">
                <a:defRPr sz="1700">
                  <a:solidFill>
                    <a:srgbClr val="000000"/>
                  </a:solidFill>
                  <a:latin typeface="Times New Roman"/>
                  <a:ea typeface="Times New Roman"/>
                  <a:cs typeface="Times New Roman"/>
                </a:defRPr>
              </a:lvl9pPr>
            </a:lstStyle>
            <a:p>
              <a:pPr algn="ctr">
                <a:defRPr sz="1700">
                  <a:solidFill>
                    <a:srgbClr val="000000"/>
                  </a:solidFill>
                  <a:latin typeface="Times New Roman"/>
                  <a:ea typeface="Times New Roman"/>
                  <a:cs typeface="Times New Roman"/>
                </a:defRPr>
              </a:pPr>
              <a:r>
                <a:rPr sz="1700">
                  <a:solidFill>
                    <a:srgbClr val="000000"/>
                  </a:solidFill>
                  <a:latin typeface="Times New Roman"/>
                  <a:ea typeface="Times New Roman"/>
                  <a:cs typeface="Times New Roman"/>
                </a:rPr>
                <a:t>Endlich viele unteilbare Linienstücke</a:t>
              </a:r>
            </a:p>
          </p:txBody>
        </p:sp>
        <p:sp>
          <p:nvSpPr>
            <p:cNvPr id="105" name="finite-atom-0">
              <a:extLst>
                <a:ext uri="{FF2B5EF4-FFF2-40B4-BE49-F238E27FC236}">
                  <a16:creationId xmlns:a16="http://schemas.microsoft.com/office/drawing/2014/main" xmlns="" id="{195A1D1F-B79C-484A-ABAF-2ED3BFCC4943}"/>
                </a:ext>
              </a:extLst>
            </p:cNvPr>
            <p:cNvSpPr>
              <a:spLocks noGrp="1"/>
            </p:cNvSpPr>
            <p:nvPr/>
          </p:nvSpPr>
          <p:spPr>
            <a:xfrm>
              <a:off x="762000" y="3810000"/>
              <a:ext cx="952500" cy="152400"/>
            </a:xfrm>
            <a:prstGeom prst="rect">
              <a:avLst/>
            </a:prstGeom>
            <a:solidFill>
              <a:srgbClr val="DCE6F1"/>
            </a:solidFill>
            <a:ln w="7620">
              <a:solidFill>
                <a:srgbClr val="000000"/>
              </a:solidFill>
              <a:prstDash val="solid"/>
            </a:ln>
          </p:spPr>
        </p:sp>
        <p:sp>
          <p:nvSpPr>
            <p:cNvPr id="106" name="finite-atom-1">
              <a:extLst>
                <a:ext uri="{FF2B5EF4-FFF2-40B4-BE49-F238E27FC236}">
                  <a16:creationId xmlns:a16="http://schemas.microsoft.com/office/drawing/2014/main" xmlns="" id="{1E1D9BE3-9CCB-4E98-B25A-88058D573CFF}"/>
                </a:ext>
              </a:extLst>
            </p:cNvPr>
            <p:cNvSpPr>
              <a:spLocks noGrp="1"/>
            </p:cNvSpPr>
            <p:nvPr/>
          </p:nvSpPr>
          <p:spPr>
            <a:xfrm>
              <a:off x="1714500" y="3810000"/>
              <a:ext cx="952500" cy="152400"/>
            </a:xfrm>
            <a:prstGeom prst="rect">
              <a:avLst/>
            </a:prstGeom>
            <a:solidFill>
              <a:srgbClr val="DCE6F1"/>
            </a:solidFill>
            <a:ln w="7620">
              <a:solidFill>
                <a:srgbClr val="000000"/>
              </a:solidFill>
              <a:prstDash val="solid"/>
            </a:ln>
          </p:spPr>
        </p:sp>
        <p:sp>
          <p:nvSpPr>
            <p:cNvPr id="107" name="finite-atom-2">
              <a:extLst>
                <a:ext uri="{FF2B5EF4-FFF2-40B4-BE49-F238E27FC236}">
                  <a16:creationId xmlns:a16="http://schemas.microsoft.com/office/drawing/2014/main" xmlns="" id="{68870C48-048B-4337-B08A-480ADA333FBC}"/>
                </a:ext>
              </a:extLst>
            </p:cNvPr>
            <p:cNvSpPr>
              <a:spLocks noGrp="1"/>
            </p:cNvSpPr>
            <p:nvPr/>
          </p:nvSpPr>
          <p:spPr>
            <a:xfrm>
              <a:off x="2667000" y="3810000"/>
              <a:ext cx="952500" cy="152400"/>
            </a:xfrm>
            <a:prstGeom prst="rect">
              <a:avLst/>
            </a:prstGeom>
            <a:solidFill>
              <a:srgbClr val="DCE6F1"/>
            </a:solidFill>
            <a:ln w="7620">
              <a:solidFill>
                <a:srgbClr val="000000"/>
              </a:solidFill>
              <a:prstDash val="solid"/>
            </a:ln>
          </p:spPr>
        </p:sp>
        <p:sp>
          <p:nvSpPr>
            <p:cNvPr id="108" name="finite-atom-3">
              <a:extLst>
                <a:ext uri="{FF2B5EF4-FFF2-40B4-BE49-F238E27FC236}">
                  <a16:creationId xmlns:a16="http://schemas.microsoft.com/office/drawing/2014/main" xmlns="" id="{BBC9AB7E-CEFB-4424-9F56-FD3BE4DDFD77}"/>
                </a:ext>
              </a:extLst>
            </p:cNvPr>
            <p:cNvSpPr>
              <a:spLocks noGrp="1"/>
            </p:cNvSpPr>
            <p:nvPr/>
          </p:nvSpPr>
          <p:spPr>
            <a:xfrm>
              <a:off x="3619500" y="3810000"/>
              <a:ext cx="952500" cy="152400"/>
            </a:xfrm>
            <a:prstGeom prst="rect">
              <a:avLst/>
            </a:prstGeom>
            <a:solidFill>
              <a:srgbClr val="4F81BD"/>
            </a:solidFill>
            <a:ln w="7620">
              <a:solidFill>
                <a:srgbClr val="000000"/>
              </a:solidFill>
              <a:prstDash val="solid"/>
            </a:ln>
          </p:spPr>
        </p:sp>
        <p:sp>
          <p:nvSpPr>
            <p:cNvPr id="109" name="finite-atom-4">
              <a:extLst>
                <a:ext uri="{FF2B5EF4-FFF2-40B4-BE49-F238E27FC236}">
                  <a16:creationId xmlns:a16="http://schemas.microsoft.com/office/drawing/2014/main" xmlns="" id="{A1734031-2F55-45A8-9041-2397CC87E3C4}"/>
                </a:ext>
              </a:extLst>
            </p:cNvPr>
            <p:cNvSpPr>
              <a:spLocks noGrp="1"/>
            </p:cNvSpPr>
            <p:nvPr/>
          </p:nvSpPr>
          <p:spPr>
            <a:xfrm>
              <a:off x="4572000" y="3810000"/>
              <a:ext cx="952500" cy="152400"/>
            </a:xfrm>
            <a:prstGeom prst="rect">
              <a:avLst/>
            </a:prstGeom>
            <a:solidFill>
              <a:srgbClr val="DCE6F1"/>
            </a:solidFill>
            <a:ln w="7620">
              <a:solidFill>
                <a:srgbClr val="000000"/>
              </a:solidFill>
              <a:prstDash val="solid"/>
            </a:ln>
          </p:spPr>
        </p:sp>
        <p:sp>
          <p:nvSpPr>
            <p:cNvPr id="110" name="finite-atom-5">
              <a:extLst>
                <a:ext uri="{FF2B5EF4-FFF2-40B4-BE49-F238E27FC236}">
                  <a16:creationId xmlns:a16="http://schemas.microsoft.com/office/drawing/2014/main" xmlns="" id="{8879BA45-AC00-446A-9AE5-892B3C33AFCB}"/>
                </a:ext>
              </a:extLst>
            </p:cNvPr>
            <p:cNvSpPr>
              <a:spLocks noGrp="1"/>
            </p:cNvSpPr>
            <p:nvPr/>
          </p:nvSpPr>
          <p:spPr>
            <a:xfrm>
              <a:off x="5524500" y="3810000"/>
              <a:ext cx="952500" cy="152400"/>
            </a:xfrm>
            <a:prstGeom prst="rect">
              <a:avLst/>
            </a:prstGeom>
            <a:solidFill>
              <a:srgbClr val="DCE6F1"/>
            </a:solidFill>
            <a:ln w="7620">
              <a:solidFill>
                <a:srgbClr val="000000"/>
              </a:solidFill>
              <a:prstDash val="solid"/>
            </a:ln>
          </p:spPr>
        </p:sp>
        <p:sp>
          <p:nvSpPr>
            <p:cNvPr id="111" name="finite-atom-6">
              <a:extLst>
                <a:ext uri="{FF2B5EF4-FFF2-40B4-BE49-F238E27FC236}">
                  <a16:creationId xmlns:a16="http://schemas.microsoft.com/office/drawing/2014/main" xmlns="" id="{92D093A2-9BD5-46B3-9DFC-F36CFFFC6A77}"/>
                </a:ext>
              </a:extLst>
            </p:cNvPr>
            <p:cNvSpPr>
              <a:spLocks noGrp="1"/>
            </p:cNvSpPr>
            <p:nvPr/>
          </p:nvSpPr>
          <p:spPr>
            <a:xfrm>
              <a:off x="6477000" y="3810000"/>
              <a:ext cx="952500" cy="152400"/>
            </a:xfrm>
            <a:prstGeom prst="rect">
              <a:avLst/>
            </a:prstGeom>
            <a:solidFill>
              <a:srgbClr val="DCE6F1"/>
            </a:solidFill>
            <a:ln w="7620">
              <a:solidFill>
                <a:srgbClr val="000000"/>
              </a:solidFill>
              <a:prstDash val="solid"/>
            </a:ln>
          </p:spPr>
        </p:sp>
        <p:sp>
          <p:nvSpPr>
            <p:cNvPr id="112" name="finite-atom-7">
              <a:extLst>
                <a:ext uri="{FF2B5EF4-FFF2-40B4-BE49-F238E27FC236}">
                  <a16:creationId xmlns:a16="http://schemas.microsoft.com/office/drawing/2014/main" xmlns="" id="{73DCF231-9ABC-4489-805F-9C52FE9ED58C}"/>
                </a:ext>
              </a:extLst>
            </p:cNvPr>
            <p:cNvSpPr>
              <a:spLocks noGrp="1"/>
            </p:cNvSpPr>
            <p:nvPr/>
          </p:nvSpPr>
          <p:spPr>
            <a:xfrm>
              <a:off x="7429500" y="3810000"/>
              <a:ext cx="952500" cy="152400"/>
            </a:xfrm>
            <a:prstGeom prst="rect">
              <a:avLst/>
            </a:prstGeom>
            <a:solidFill>
              <a:srgbClr val="DCE6F1"/>
            </a:solidFill>
            <a:ln w="7620">
              <a:solidFill>
                <a:srgbClr val="000000"/>
              </a:solidFill>
              <a:prstDash val="solid"/>
            </a:ln>
          </p:spPr>
        </p:sp>
      </p:grpSp>
      <p:grpSp>
        <p:nvGrpSpPr>
          <p:cNvPr id="117" name="Schritt 2: Ein Atom"/>
          <p:cNvGrpSpPr/>
          <p:nvPr/>
        </p:nvGrpSpPr>
        <p:grpSpPr>
          <a:xfrm>
            <a:off x="2343150" y="3971925"/>
            <a:ext cx="3505200" cy="714375"/>
            <a:chOff x="2343150" y="3971925"/>
            <a:chExt cx="3505200" cy="714375"/>
          </a:xfrm>
        </p:grpSpPr>
        <p:sp>
          <p:nvSpPr>
            <p:cNvPr id="113" name="atom-leader">
              <a:extLst>
                <a:ext uri="{FF2B5EF4-FFF2-40B4-BE49-F238E27FC236}">
                  <a16:creationId xmlns:a16="http://schemas.microsoft.com/office/drawing/2014/main" xmlns="" id="{66969A10-15A5-4A11-8381-E3DFE4F929C2}"/>
                </a:ext>
              </a:extLst>
            </p:cNvPr>
            <p:cNvSpPr>
              <a:spLocks noGrp="1"/>
            </p:cNvSpPr>
            <p:nvPr/>
          </p:nvSpPr>
          <p:spPr>
            <a:xfrm>
              <a:off x="4095750" y="3971925"/>
              <a:ext cx="0" cy="304800"/>
            </a:xfrm>
            <a:prstGeom prst="line">
              <a:avLst/>
            </a:prstGeom>
            <a:noFill/>
            <a:ln w="11430">
              <a:solidFill>
                <a:srgbClr val="999999"/>
              </a:solidFill>
              <a:prstDash val="solid"/>
            </a:ln>
          </p:spPr>
        </p:sp>
        <p:sp>
          <p:nvSpPr>
            <p:cNvPr id="114" name="atom-label">
              <a:extLst>
                <a:ext uri="{FF2B5EF4-FFF2-40B4-BE49-F238E27FC236}">
                  <a16:creationId xmlns:a16="http://schemas.microsoft.com/office/drawing/2014/main" xmlns="" id="{E205DA31-DBFB-4378-89DA-93E5707BC746}"/>
                </a:ext>
              </a:extLst>
            </p:cNvPr>
            <p:cNvSpPr>
              <a:spLocks noGrp="1"/>
            </p:cNvSpPr>
            <p:nvPr/>
          </p:nvSpPr>
          <p:spPr>
            <a:xfrm>
              <a:off x="2343150" y="4362450"/>
              <a:ext cx="3505200" cy="323850"/>
            </a:xfrm>
            <a:prstGeom prst="rect">
              <a:avLst/>
            </a:prstGeom>
            <a:noFill/>
            <a:ln w="0">
              <a:noFill/>
              <a:prstDash val="solid"/>
            </a:ln>
          </p:spPr>
          <p:txBody>
            <a:bodyPr wrap="square" lIns="0" tIns="0" rIns="0" bIns="0" anchor="t">
              <a:noAutofit/>
            </a:bodyPr>
            <a:lstStyle>
              <a:defPPr algn="ctr">
                <a:defRPr sz="1700">
                  <a:solidFill>
                    <a:srgbClr val="000000"/>
                  </a:solidFill>
                  <a:latin typeface="Times New Roman"/>
                  <a:ea typeface="Times New Roman"/>
                  <a:cs typeface="Times New Roman"/>
                </a:defRPr>
              </a:defPPr>
              <a:lvl1pPr algn="ctr">
                <a:defRPr sz="1700">
                  <a:solidFill>
                    <a:srgbClr val="000000"/>
                  </a:solidFill>
                  <a:latin typeface="Times New Roman"/>
                  <a:ea typeface="Times New Roman"/>
                  <a:cs typeface="Times New Roman"/>
                </a:defRPr>
              </a:lvl1pPr>
              <a:lvl2pPr algn="ctr">
                <a:defRPr sz="1700">
                  <a:solidFill>
                    <a:srgbClr val="000000"/>
                  </a:solidFill>
                  <a:latin typeface="Times New Roman"/>
                  <a:ea typeface="Times New Roman"/>
                  <a:cs typeface="Times New Roman"/>
                </a:defRPr>
              </a:lvl2pPr>
              <a:lvl3pPr algn="ctr">
                <a:defRPr sz="1700">
                  <a:solidFill>
                    <a:srgbClr val="000000"/>
                  </a:solidFill>
                  <a:latin typeface="Times New Roman"/>
                  <a:ea typeface="Times New Roman"/>
                  <a:cs typeface="Times New Roman"/>
                </a:defRPr>
              </a:lvl3pPr>
              <a:lvl4pPr algn="ctr">
                <a:defRPr sz="1700">
                  <a:solidFill>
                    <a:srgbClr val="000000"/>
                  </a:solidFill>
                  <a:latin typeface="Times New Roman"/>
                  <a:ea typeface="Times New Roman"/>
                  <a:cs typeface="Times New Roman"/>
                </a:defRPr>
              </a:lvl4pPr>
              <a:lvl5pPr algn="ctr">
                <a:defRPr sz="1700">
                  <a:solidFill>
                    <a:srgbClr val="000000"/>
                  </a:solidFill>
                  <a:latin typeface="Times New Roman"/>
                  <a:ea typeface="Times New Roman"/>
                  <a:cs typeface="Times New Roman"/>
                </a:defRPr>
              </a:lvl5pPr>
              <a:lvl6pPr algn="ctr">
                <a:defRPr sz="1700">
                  <a:solidFill>
                    <a:srgbClr val="000000"/>
                  </a:solidFill>
                  <a:latin typeface="Times New Roman"/>
                  <a:ea typeface="Times New Roman"/>
                  <a:cs typeface="Times New Roman"/>
                </a:defRPr>
              </a:lvl6pPr>
              <a:lvl7pPr algn="ctr">
                <a:defRPr sz="1700">
                  <a:solidFill>
                    <a:srgbClr val="000000"/>
                  </a:solidFill>
                  <a:latin typeface="Times New Roman"/>
                  <a:ea typeface="Times New Roman"/>
                  <a:cs typeface="Times New Roman"/>
                </a:defRPr>
              </a:lvl7pPr>
              <a:lvl8pPr algn="ctr">
                <a:defRPr sz="1700">
                  <a:solidFill>
                    <a:srgbClr val="000000"/>
                  </a:solidFill>
                  <a:latin typeface="Times New Roman"/>
                  <a:ea typeface="Times New Roman"/>
                  <a:cs typeface="Times New Roman"/>
                </a:defRPr>
              </a:lvl8pPr>
              <a:lvl9pPr algn="ctr">
                <a:defRPr sz="1700">
                  <a:solidFill>
                    <a:srgbClr val="000000"/>
                  </a:solidFill>
                  <a:latin typeface="Times New Roman"/>
                  <a:ea typeface="Times New Roman"/>
                  <a:cs typeface="Times New Roman"/>
                </a:defRPr>
              </a:lvl9pPr>
            </a:lstStyle>
            <a:p>
              <a:pPr algn="ctr">
                <a:defRPr sz="1700">
                  <a:solidFill>
                    <a:srgbClr val="000000"/>
                  </a:solidFill>
                  <a:latin typeface="Times New Roman"/>
                  <a:ea typeface="Times New Roman"/>
                  <a:cs typeface="Times New Roman"/>
                </a:defRPr>
              </a:pPr>
              <a:r>
                <a:rPr sz="1700">
                  <a:solidFill>
                    <a:srgbClr val="000000"/>
                  </a:solidFill>
                  <a:latin typeface="Times New Roman"/>
                  <a:ea typeface="Times New Roman"/>
                  <a:cs typeface="Times New Roman"/>
                </a:rPr>
                <a:t>Punkt als atomarer Linienteil</a:t>
              </a:r>
            </a:p>
          </p:txBody>
        </p:sp>
      </p:grpSp>
    </p:spTree>
    <p:extLst>
      <p:ext uri="{BB962C8B-B14F-4D97-AF65-F5344CB8AC3E}">
        <p14:creationId xmlns:p14="http://schemas.microsoft.com/office/powerpoint/2010/main" val="1424433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Transfiniter Atomismus</a:t>
            </a:r>
            <a:endParaRPr lang="en-CA" sz="3200" dirty="0">
              <a:solidFill>
                <a:schemeClr val="bg1"/>
              </a:solidFill>
              <a:effectLst>
                <a:outerShdw blurRad="38100" dist="38100" dir="2700000" algn="tl">
                  <a:srgbClr val="000000">
                    <a:alpha val="43137"/>
                  </a:srgbClr>
                </a:outerShdw>
              </a:effectLst>
            </a:endParaRPr>
          </a:p>
        </p:txBody>
      </p:sp>
      <p:pic>
        <p:nvPicPr>
          <p:cNvPr id="100" name="Grafik 99">
            <a:extLst>
              <a:ext uri="{FF2B5EF4-FFF2-40B4-BE49-F238E27FC236}">
                <a16:creationId xmlns:a16="http://schemas.microsoft.com/office/drawing/2014/main" xmlns="" id="{1A1B6A02-95BB-40D1-8416-E2191C9FEFB8}"/>
              </a:ext>
            </a:extLst>
          </p:cNvPr>
          <p:cNvPicPr>
            <a:picLocks noChangeAspect="1"/>
          </p:cNvPicPr>
          <p:nvPr/>
        </p:nvPicPr>
        <p:blipFill>
          <a:blip r:embed="rId3"/>
          <a:srcRect l="1202" r="1202"/>
          <a:stretch/>
        </p:blipFill>
        <p:spPr>
          <a:xfrm>
            <a:off x="409575" y="800100"/>
            <a:ext cx="1314450" cy="1638300"/>
          </a:xfrm>
          <a:prstGeom prst="rect">
            <a:avLst/>
          </a:prstGeom>
        </p:spPr>
      </p:pic>
      <p:sp>
        <p:nvSpPr>
          <p:cNvPr id="101" name="portrait-name-archimedes">
            <a:extLst>
              <a:ext uri="{FF2B5EF4-FFF2-40B4-BE49-F238E27FC236}">
                <a16:creationId xmlns:a16="http://schemas.microsoft.com/office/drawing/2014/main" xmlns="" id="{9BCDB9E8-F082-4880-8D30-626DE9A07098}"/>
              </a:ext>
            </a:extLst>
          </p:cNvPr>
          <p:cNvSpPr>
            <a:spLocks noGrp="1"/>
          </p:cNvSpPr>
          <p:nvPr/>
        </p:nvSpPr>
        <p:spPr>
          <a:xfrm>
            <a:off x="266700" y="2505075"/>
            <a:ext cx="1600200" cy="476250"/>
          </a:xfrm>
          <a:prstGeom prst="rect">
            <a:avLst/>
          </a:prstGeom>
          <a:noFill/>
          <a:ln w="0">
            <a:noFill/>
            <a:prstDash val="solid"/>
          </a:ln>
        </p:spPr>
        <p:txBody>
          <a:bodyPr wrap="square" lIns="0" tIns="0" rIns="0" bIns="0" anchor="ctr">
            <a:noAutofit/>
          </a:bodyPr>
          <a:lstStyle>
            <a:defPPr algn="ctr">
              <a:defRPr sz="1600" b="1">
                <a:solidFill>
                  <a:srgbClr val="000000"/>
                </a:solidFill>
                <a:latin typeface="Times New Roman"/>
                <a:ea typeface="Times New Roman"/>
                <a:cs typeface="Times New Roman"/>
              </a:defRPr>
            </a:defPPr>
            <a:lvl1pPr algn="ctr">
              <a:defRPr sz="1600" b="1">
                <a:solidFill>
                  <a:srgbClr val="000000"/>
                </a:solidFill>
                <a:latin typeface="Times New Roman"/>
                <a:ea typeface="Times New Roman"/>
                <a:cs typeface="Times New Roman"/>
              </a:defRPr>
            </a:lvl1pPr>
            <a:lvl2pPr algn="ctr">
              <a:defRPr sz="1600" b="1">
                <a:solidFill>
                  <a:srgbClr val="000000"/>
                </a:solidFill>
                <a:latin typeface="Times New Roman"/>
                <a:ea typeface="Times New Roman"/>
                <a:cs typeface="Times New Roman"/>
              </a:defRPr>
            </a:lvl2pPr>
            <a:lvl3pPr algn="ctr">
              <a:defRPr sz="1600" b="1">
                <a:solidFill>
                  <a:srgbClr val="000000"/>
                </a:solidFill>
                <a:latin typeface="Times New Roman"/>
                <a:ea typeface="Times New Roman"/>
                <a:cs typeface="Times New Roman"/>
              </a:defRPr>
            </a:lvl3pPr>
            <a:lvl4pPr algn="ctr">
              <a:defRPr sz="1600" b="1">
                <a:solidFill>
                  <a:srgbClr val="000000"/>
                </a:solidFill>
                <a:latin typeface="Times New Roman"/>
                <a:ea typeface="Times New Roman"/>
                <a:cs typeface="Times New Roman"/>
              </a:defRPr>
            </a:lvl4pPr>
            <a:lvl5pPr algn="ctr">
              <a:defRPr sz="1600" b="1">
                <a:solidFill>
                  <a:srgbClr val="000000"/>
                </a:solidFill>
                <a:latin typeface="Times New Roman"/>
                <a:ea typeface="Times New Roman"/>
                <a:cs typeface="Times New Roman"/>
              </a:defRPr>
            </a:lvl5pPr>
            <a:lvl6pPr algn="ctr">
              <a:defRPr sz="1600" b="1">
                <a:solidFill>
                  <a:srgbClr val="000000"/>
                </a:solidFill>
                <a:latin typeface="Times New Roman"/>
                <a:ea typeface="Times New Roman"/>
                <a:cs typeface="Times New Roman"/>
              </a:defRPr>
            </a:lvl6pPr>
            <a:lvl7pPr algn="ctr">
              <a:defRPr sz="1600" b="1">
                <a:solidFill>
                  <a:srgbClr val="000000"/>
                </a:solidFill>
                <a:latin typeface="Times New Roman"/>
                <a:ea typeface="Times New Roman"/>
                <a:cs typeface="Times New Roman"/>
              </a:defRPr>
            </a:lvl7pPr>
            <a:lvl8pPr algn="ctr">
              <a:defRPr sz="1600" b="1">
                <a:solidFill>
                  <a:srgbClr val="000000"/>
                </a:solidFill>
                <a:latin typeface="Times New Roman"/>
                <a:ea typeface="Times New Roman"/>
                <a:cs typeface="Times New Roman"/>
              </a:defRPr>
            </a:lvl8pPr>
            <a:lvl9pPr algn="ctr">
              <a:defRPr sz="1600" b="1">
                <a:solidFill>
                  <a:srgbClr val="000000"/>
                </a:solidFill>
                <a:latin typeface="Times New Roman"/>
                <a:ea typeface="Times New Roman"/>
                <a:cs typeface="Times New Roman"/>
              </a:defRPr>
            </a:lvl9pPr>
          </a:lstStyle>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Archimedes</a:t>
            </a:r>
          </a:p>
        </p:txBody>
      </p:sp>
      <p:sp>
        <p:nvSpPr>
          <p:cNvPr id="102" name="portrait-years-archimedes">
            <a:extLst>
              <a:ext uri="{FF2B5EF4-FFF2-40B4-BE49-F238E27FC236}">
                <a16:creationId xmlns:a16="http://schemas.microsoft.com/office/drawing/2014/main" xmlns="" id="{F866EFE9-BDBE-42B7-B609-F504E56B661A}"/>
              </a:ext>
            </a:extLst>
          </p:cNvPr>
          <p:cNvSpPr>
            <a:spLocks noGrp="1"/>
          </p:cNvSpPr>
          <p:nvPr/>
        </p:nvSpPr>
        <p:spPr>
          <a:xfrm>
            <a:off x="266700" y="3009900"/>
            <a:ext cx="1600200" cy="238125"/>
          </a:xfrm>
          <a:prstGeom prst="rect">
            <a:avLst/>
          </a:prstGeom>
          <a:noFill/>
          <a:ln w="0">
            <a:noFill/>
            <a:prstDash val="solid"/>
          </a:ln>
        </p:spPr>
        <p:txBody>
          <a:bodyPr wrap="square" lIns="0" tIns="0" rIns="0" bIns="0" anchor="t">
            <a:noAutofit/>
          </a:bodyPr>
          <a:lstStyle>
            <a:defPPr algn="ctr">
              <a:defRPr sz="1200">
                <a:solidFill>
                  <a:srgbClr val="000000"/>
                </a:solidFill>
                <a:latin typeface="Times New Roman"/>
                <a:ea typeface="Times New Roman"/>
                <a:cs typeface="Times New Roman"/>
              </a:defRPr>
            </a:defPPr>
            <a:lvl1pPr algn="ctr">
              <a:defRPr sz="1200">
                <a:solidFill>
                  <a:srgbClr val="000000"/>
                </a:solidFill>
                <a:latin typeface="Times New Roman"/>
                <a:ea typeface="Times New Roman"/>
                <a:cs typeface="Times New Roman"/>
              </a:defRPr>
            </a:lvl1pPr>
            <a:lvl2pPr algn="ctr">
              <a:defRPr sz="1200">
                <a:solidFill>
                  <a:srgbClr val="000000"/>
                </a:solidFill>
                <a:latin typeface="Times New Roman"/>
                <a:ea typeface="Times New Roman"/>
                <a:cs typeface="Times New Roman"/>
              </a:defRPr>
            </a:lvl2pPr>
            <a:lvl3pPr algn="ctr">
              <a:defRPr sz="1200">
                <a:solidFill>
                  <a:srgbClr val="000000"/>
                </a:solidFill>
                <a:latin typeface="Times New Roman"/>
                <a:ea typeface="Times New Roman"/>
                <a:cs typeface="Times New Roman"/>
              </a:defRPr>
            </a:lvl3pPr>
            <a:lvl4pPr algn="ctr">
              <a:defRPr sz="1200">
                <a:solidFill>
                  <a:srgbClr val="000000"/>
                </a:solidFill>
                <a:latin typeface="Times New Roman"/>
                <a:ea typeface="Times New Roman"/>
                <a:cs typeface="Times New Roman"/>
              </a:defRPr>
            </a:lvl4pPr>
            <a:lvl5pPr algn="ctr">
              <a:defRPr sz="1200">
                <a:solidFill>
                  <a:srgbClr val="000000"/>
                </a:solidFill>
                <a:latin typeface="Times New Roman"/>
                <a:ea typeface="Times New Roman"/>
                <a:cs typeface="Times New Roman"/>
              </a:defRPr>
            </a:lvl5pPr>
            <a:lvl6pPr algn="ctr">
              <a:defRPr sz="1200">
                <a:solidFill>
                  <a:srgbClr val="000000"/>
                </a:solidFill>
                <a:latin typeface="Times New Roman"/>
                <a:ea typeface="Times New Roman"/>
                <a:cs typeface="Times New Roman"/>
              </a:defRPr>
            </a:lvl6pPr>
            <a:lvl7pPr algn="ctr">
              <a:defRPr sz="1200">
                <a:solidFill>
                  <a:srgbClr val="000000"/>
                </a:solidFill>
                <a:latin typeface="Times New Roman"/>
                <a:ea typeface="Times New Roman"/>
                <a:cs typeface="Times New Roman"/>
              </a:defRPr>
            </a:lvl7pPr>
            <a:lvl8pPr algn="ctr">
              <a:defRPr sz="1200">
                <a:solidFill>
                  <a:srgbClr val="000000"/>
                </a:solidFill>
                <a:latin typeface="Times New Roman"/>
                <a:ea typeface="Times New Roman"/>
                <a:cs typeface="Times New Roman"/>
              </a:defRPr>
            </a:lvl8pPr>
            <a:lvl9pPr algn="ctr">
              <a:defRPr sz="1200">
                <a:solidFill>
                  <a:srgbClr val="000000"/>
                </a:solidFill>
                <a:latin typeface="Times New Roman"/>
                <a:ea typeface="Times New Roman"/>
                <a:cs typeface="Times New Roman"/>
              </a:defRPr>
            </a:lvl9pPr>
          </a:lstStyle>
          <a:p>
            <a:pPr algn="ctr">
              <a:lnSpc>
                <a:spcPct val="100000"/>
              </a:lnSpc>
              <a:buNone/>
              <a:defRPr sz="1200">
                <a:solidFill>
                  <a:srgbClr val="000000"/>
                </a:solidFill>
                <a:latin typeface="Times New Roman"/>
                <a:ea typeface="Times New Roman"/>
                <a:cs typeface="Times New Roman"/>
              </a:defRPr>
            </a:pPr>
            <a:r>
              <a:rPr sz="1200">
                <a:solidFill>
                  <a:srgbClr val="000000"/>
                </a:solidFill>
                <a:latin typeface="Times New Roman"/>
                <a:ea typeface="Times New Roman"/>
                <a:cs typeface="Times New Roman"/>
              </a:rPr>
              <a:t>um 287–212 v. Chr.</a:t>
            </a:r>
          </a:p>
        </p:txBody>
      </p:sp>
      <p:pic>
        <p:nvPicPr>
          <p:cNvPr id="103" name="Grafik 102">
            <a:extLst>
              <a:ext uri="{FF2B5EF4-FFF2-40B4-BE49-F238E27FC236}">
                <a16:creationId xmlns:a16="http://schemas.microsoft.com/office/drawing/2014/main" xmlns="" id="{C4188E8B-7529-457B-B0F2-9F671C2B1794}"/>
              </a:ext>
            </a:extLst>
          </p:cNvPr>
          <p:cNvPicPr>
            <a:picLocks noChangeAspect="1"/>
          </p:cNvPicPr>
          <p:nvPr/>
        </p:nvPicPr>
        <p:blipFill>
          <a:blip r:embed="rId4"/>
          <a:srcRect l="6473" r="6473"/>
          <a:stretch/>
        </p:blipFill>
        <p:spPr>
          <a:xfrm>
            <a:off x="2028825" y="800100"/>
            <a:ext cx="1314450" cy="1638300"/>
          </a:xfrm>
          <a:prstGeom prst="rect">
            <a:avLst/>
          </a:prstGeom>
        </p:spPr>
      </p:pic>
      <p:sp>
        <p:nvSpPr>
          <p:cNvPr id="104" name="portrait-name-cavalieri">
            <a:extLst>
              <a:ext uri="{FF2B5EF4-FFF2-40B4-BE49-F238E27FC236}">
                <a16:creationId xmlns:a16="http://schemas.microsoft.com/office/drawing/2014/main" xmlns="" id="{84C81C06-8398-429F-8061-1EBBD5E9D7B3}"/>
              </a:ext>
            </a:extLst>
          </p:cNvPr>
          <p:cNvSpPr>
            <a:spLocks noGrp="1"/>
          </p:cNvSpPr>
          <p:nvPr/>
        </p:nvSpPr>
        <p:spPr>
          <a:xfrm>
            <a:off x="1885950" y="2505075"/>
            <a:ext cx="1600200" cy="476250"/>
          </a:xfrm>
          <a:prstGeom prst="rect">
            <a:avLst/>
          </a:prstGeom>
          <a:noFill/>
          <a:ln w="0">
            <a:noFill/>
            <a:prstDash val="solid"/>
          </a:ln>
        </p:spPr>
        <p:txBody>
          <a:bodyPr wrap="square" lIns="0" tIns="0" rIns="0" bIns="0" anchor="ctr">
            <a:noAutofit/>
          </a:bodyPr>
          <a:lstStyle>
            <a:defPPr algn="ctr">
              <a:defRPr sz="1600" b="1">
                <a:solidFill>
                  <a:srgbClr val="000000"/>
                </a:solidFill>
                <a:latin typeface="Times New Roman"/>
                <a:ea typeface="Times New Roman"/>
                <a:cs typeface="Times New Roman"/>
              </a:defRPr>
            </a:defPPr>
            <a:lvl1pPr algn="ctr">
              <a:defRPr sz="1600" b="1">
                <a:solidFill>
                  <a:srgbClr val="000000"/>
                </a:solidFill>
                <a:latin typeface="Times New Roman"/>
                <a:ea typeface="Times New Roman"/>
                <a:cs typeface="Times New Roman"/>
              </a:defRPr>
            </a:lvl1pPr>
            <a:lvl2pPr algn="ctr">
              <a:defRPr sz="1600" b="1">
                <a:solidFill>
                  <a:srgbClr val="000000"/>
                </a:solidFill>
                <a:latin typeface="Times New Roman"/>
                <a:ea typeface="Times New Roman"/>
                <a:cs typeface="Times New Roman"/>
              </a:defRPr>
            </a:lvl2pPr>
            <a:lvl3pPr algn="ctr">
              <a:defRPr sz="1600" b="1">
                <a:solidFill>
                  <a:srgbClr val="000000"/>
                </a:solidFill>
                <a:latin typeface="Times New Roman"/>
                <a:ea typeface="Times New Roman"/>
                <a:cs typeface="Times New Roman"/>
              </a:defRPr>
            </a:lvl3pPr>
            <a:lvl4pPr algn="ctr">
              <a:defRPr sz="1600" b="1">
                <a:solidFill>
                  <a:srgbClr val="000000"/>
                </a:solidFill>
                <a:latin typeface="Times New Roman"/>
                <a:ea typeface="Times New Roman"/>
                <a:cs typeface="Times New Roman"/>
              </a:defRPr>
            </a:lvl4pPr>
            <a:lvl5pPr algn="ctr">
              <a:defRPr sz="1600" b="1">
                <a:solidFill>
                  <a:srgbClr val="000000"/>
                </a:solidFill>
                <a:latin typeface="Times New Roman"/>
                <a:ea typeface="Times New Roman"/>
                <a:cs typeface="Times New Roman"/>
              </a:defRPr>
            </a:lvl5pPr>
            <a:lvl6pPr algn="ctr">
              <a:defRPr sz="1600" b="1">
                <a:solidFill>
                  <a:srgbClr val="000000"/>
                </a:solidFill>
                <a:latin typeface="Times New Roman"/>
                <a:ea typeface="Times New Roman"/>
                <a:cs typeface="Times New Roman"/>
              </a:defRPr>
            </a:lvl6pPr>
            <a:lvl7pPr algn="ctr">
              <a:defRPr sz="1600" b="1">
                <a:solidFill>
                  <a:srgbClr val="000000"/>
                </a:solidFill>
                <a:latin typeface="Times New Roman"/>
                <a:ea typeface="Times New Roman"/>
                <a:cs typeface="Times New Roman"/>
              </a:defRPr>
            </a:lvl7pPr>
            <a:lvl8pPr algn="ctr">
              <a:defRPr sz="1600" b="1">
                <a:solidFill>
                  <a:srgbClr val="000000"/>
                </a:solidFill>
                <a:latin typeface="Times New Roman"/>
                <a:ea typeface="Times New Roman"/>
                <a:cs typeface="Times New Roman"/>
              </a:defRPr>
            </a:lvl8pPr>
            <a:lvl9pPr algn="ctr">
              <a:defRPr sz="1600" b="1">
                <a:solidFill>
                  <a:srgbClr val="000000"/>
                </a:solidFill>
                <a:latin typeface="Times New Roman"/>
                <a:ea typeface="Times New Roman"/>
                <a:cs typeface="Times New Roman"/>
              </a:defRPr>
            </a:lvl9pPr>
          </a:lstStyle>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Bonaventura</a:t>
            </a:r>
          </a:p>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Cavalieri</a:t>
            </a:r>
          </a:p>
        </p:txBody>
      </p:sp>
      <p:sp>
        <p:nvSpPr>
          <p:cNvPr id="105" name="portrait-years-cavalieri">
            <a:extLst>
              <a:ext uri="{FF2B5EF4-FFF2-40B4-BE49-F238E27FC236}">
                <a16:creationId xmlns:a16="http://schemas.microsoft.com/office/drawing/2014/main" xmlns="" id="{0E0D5D47-97A1-4A52-898E-9A9670AD4A03}"/>
              </a:ext>
            </a:extLst>
          </p:cNvPr>
          <p:cNvSpPr>
            <a:spLocks noGrp="1"/>
          </p:cNvSpPr>
          <p:nvPr/>
        </p:nvSpPr>
        <p:spPr>
          <a:xfrm>
            <a:off x="1885950" y="3009900"/>
            <a:ext cx="1600200" cy="238125"/>
          </a:xfrm>
          <a:prstGeom prst="rect">
            <a:avLst/>
          </a:prstGeom>
          <a:noFill/>
          <a:ln w="0">
            <a:noFill/>
            <a:prstDash val="solid"/>
          </a:ln>
        </p:spPr>
        <p:txBody>
          <a:bodyPr wrap="square" lIns="0" tIns="0" rIns="0" bIns="0" anchor="t">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0000"/>
              </a:lnSpc>
              <a:buNone/>
              <a:defRPr sz="1400">
                <a:solidFill>
                  <a:srgbClr val="000000"/>
                </a:solidFill>
                <a:latin typeface="Times New Roman"/>
                <a:ea typeface="Times New Roman"/>
                <a:cs typeface="Times New Roman"/>
              </a:defRPr>
            </a:pPr>
            <a:r>
              <a:rPr sz="1400">
                <a:solidFill>
                  <a:srgbClr val="000000"/>
                </a:solidFill>
                <a:latin typeface="Times New Roman"/>
                <a:ea typeface="Times New Roman"/>
                <a:cs typeface="Times New Roman"/>
              </a:rPr>
              <a:t>1598–1647</a:t>
            </a:r>
          </a:p>
        </p:txBody>
      </p:sp>
      <p:sp>
        <p:nvSpPr>
          <p:cNvPr id="106" name="position-explanation">
            <a:extLst>
              <a:ext uri="{FF2B5EF4-FFF2-40B4-BE49-F238E27FC236}">
                <a16:creationId xmlns:a16="http://schemas.microsoft.com/office/drawing/2014/main" xmlns="" id="{43F4593F-A6C3-4C6D-8568-38AEF6B3B96B}"/>
              </a:ext>
            </a:extLst>
          </p:cNvPr>
          <p:cNvSpPr>
            <a:spLocks noGrp="1"/>
          </p:cNvSpPr>
          <p:nvPr/>
        </p:nvSpPr>
        <p:spPr>
          <a:xfrm>
            <a:off x="3771900" y="942975"/>
            <a:ext cx="4991100" cy="2095500"/>
          </a:xfrm>
          <a:prstGeom prst="rect">
            <a:avLst/>
          </a:prstGeom>
          <a:noFill/>
          <a:ln w="0">
            <a:noFill/>
            <a:prstDash val="solid"/>
          </a:ln>
        </p:spPr>
        <p:txBody>
          <a:bodyPr wrap="square" lIns="0" tIns="0" rIns="0" bIns="0" anchor="t">
            <a:noAutofit/>
          </a:bodyPr>
          <a:lstStyle>
            <a:defPPr algn="l">
              <a:defRPr sz="1900">
                <a:solidFill>
                  <a:srgbClr val="000000"/>
                </a:solidFill>
                <a:latin typeface="Times New Roman"/>
                <a:ea typeface="Times New Roman"/>
                <a:cs typeface="Times New Roman"/>
              </a:defRPr>
            </a:defPPr>
            <a:lvl1pPr algn="l">
              <a:defRPr sz="1900">
                <a:solidFill>
                  <a:srgbClr val="000000"/>
                </a:solidFill>
                <a:latin typeface="Times New Roman"/>
                <a:ea typeface="Times New Roman"/>
                <a:cs typeface="Times New Roman"/>
              </a:defRPr>
            </a:lvl1pPr>
            <a:lvl2pPr algn="l">
              <a:defRPr sz="1900">
                <a:solidFill>
                  <a:srgbClr val="000000"/>
                </a:solidFill>
                <a:latin typeface="Times New Roman"/>
                <a:ea typeface="Times New Roman"/>
                <a:cs typeface="Times New Roman"/>
              </a:defRPr>
            </a:lvl2pPr>
            <a:lvl3pPr algn="l">
              <a:defRPr sz="1900">
                <a:solidFill>
                  <a:srgbClr val="000000"/>
                </a:solidFill>
                <a:latin typeface="Times New Roman"/>
                <a:ea typeface="Times New Roman"/>
                <a:cs typeface="Times New Roman"/>
              </a:defRPr>
            </a:lvl3pPr>
            <a:lvl4pPr algn="l">
              <a:defRPr sz="1900">
                <a:solidFill>
                  <a:srgbClr val="000000"/>
                </a:solidFill>
                <a:latin typeface="Times New Roman"/>
                <a:ea typeface="Times New Roman"/>
                <a:cs typeface="Times New Roman"/>
              </a:defRPr>
            </a:lvl4pPr>
            <a:lvl5pPr algn="l">
              <a:defRPr sz="1900">
                <a:solidFill>
                  <a:srgbClr val="000000"/>
                </a:solidFill>
                <a:latin typeface="Times New Roman"/>
                <a:ea typeface="Times New Roman"/>
                <a:cs typeface="Times New Roman"/>
              </a:defRPr>
            </a:lvl5pPr>
            <a:lvl6pPr algn="l">
              <a:defRPr sz="1900">
                <a:solidFill>
                  <a:srgbClr val="000000"/>
                </a:solidFill>
                <a:latin typeface="Times New Roman"/>
                <a:ea typeface="Times New Roman"/>
                <a:cs typeface="Times New Roman"/>
              </a:defRPr>
            </a:lvl6pPr>
            <a:lvl7pPr algn="l">
              <a:defRPr sz="1900">
                <a:solidFill>
                  <a:srgbClr val="000000"/>
                </a:solidFill>
                <a:latin typeface="Times New Roman"/>
                <a:ea typeface="Times New Roman"/>
                <a:cs typeface="Times New Roman"/>
              </a:defRPr>
            </a:lvl7pPr>
            <a:lvl8pPr algn="l">
              <a:defRPr sz="1900">
                <a:solidFill>
                  <a:srgbClr val="000000"/>
                </a:solidFill>
                <a:latin typeface="Times New Roman"/>
                <a:ea typeface="Times New Roman"/>
                <a:cs typeface="Times New Roman"/>
              </a:defRPr>
            </a:lvl8pPr>
            <a:lvl9pPr algn="l">
              <a:defRPr sz="1900">
                <a:solidFill>
                  <a:srgbClr val="000000"/>
                </a:solidFill>
                <a:latin typeface="Times New Roman"/>
                <a:ea typeface="Times New Roman"/>
                <a:cs typeface="Times New Roman"/>
              </a:defRPr>
            </a:lvl9pPr>
          </a:lstStyle>
          <a:p>
            <a:pPr algn="l">
              <a:lnSpc>
                <a:spcPct val="112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Unendlich viele unendlich kleine, unteilbare Linienstücke bilden die Linie.</a:t>
            </a:r>
          </a:p>
          <a:p>
            <a:pPr>
              <a:defRPr>
                <a:latin typeface="Times New Roman"/>
                <a:ea typeface="Times New Roman"/>
                <a:cs typeface="Times New Roman"/>
              </a:defRPr>
            </a:pPr>
            <a:endParaRPr sz="1900">
              <a:solidFill>
                <a:srgbClr val="000000"/>
              </a:solidFill>
              <a:latin typeface="Times New Roman"/>
              <a:ea typeface="Times New Roman"/>
              <a:cs typeface="Times New Roman"/>
            </a:endParaRPr>
          </a:p>
          <a:p>
            <a:pPr algn="l">
              <a:lnSpc>
                <a:spcPct val="112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Die Punkte sind diese Indivisiblen.</a:t>
            </a:r>
          </a:p>
        </p:txBody>
      </p:sp>
      <p:sp>
        <p:nvSpPr>
          <p:cNvPr id="143" name="visible-citation-continuum-32">
            <a:extLst>
              <a:ext uri="{FF2B5EF4-FFF2-40B4-BE49-F238E27FC236}">
                <a16:creationId xmlns:a16="http://schemas.microsoft.com/office/drawing/2014/main" xmlns="" id="{228DED50-A3FD-4CD2-AA1C-91325EBAC009}"/>
              </a:ext>
            </a:extLst>
          </p:cNvPr>
          <p:cNvSpPr>
            <a:spLocks noGrp="1"/>
          </p:cNvSpPr>
          <p:nvPr/>
        </p:nvSpPr>
        <p:spPr>
          <a:xfrm>
            <a:off x="3771900" y="2933700"/>
            <a:ext cx="4991100" cy="2095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a:solidFill>
                  <a:srgbClr val="000000"/>
                </a:solidFill>
                <a:latin typeface="Times New Roman"/>
                <a:ea typeface="Times New Roman"/>
                <a:cs typeface="Times New Roman"/>
              </a:rPr>
              <a:t>Bedürftig / Murawski (2019), § 3.3.5, S. 213–215.</a:t>
            </a:r>
          </a:p>
        </p:txBody>
      </p:sp>
      <p:grpSp>
        <p:nvGrpSpPr>
          <p:cNvPr id="144" name="Schritt 1: Unendlich viele Atome"/>
          <p:cNvGrpSpPr/>
          <p:nvPr/>
        </p:nvGrpSpPr>
        <p:grpSpPr>
          <a:xfrm>
            <a:off x="419100" y="3314700"/>
            <a:ext cx="8305800" cy="655578"/>
            <a:chOff x="419100" y="3314700"/>
            <a:chExt cx="8305800" cy="655578"/>
          </a:xfrm>
        </p:grpSpPr>
        <p:sp>
          <p:nvSpPr>
            <p:cNvPr id="107" name="transfinite-diagram-title">
              <a:extLst>
                <a:ext uri="{FF2B5EF4-FFF2-40B4-BE49-F238E27FC236}">
                  <a16:creationId xmlns:a16="http://schemas.microsoft.com/office/drawing/2014/main" xmlns="" id="{EF20C2F4-6582-41CC-8314-02C0182B5BCD}"/>
                </a:ext>
              </a:extLst>
            </p:cNvPr>
            <p:cNvSpPr>
              <a:spLocks noGrp="1"/>
            </p:cNvSpPr>
            <p:nvPr/>
          </p:nvSpPr>
          <p:spPr>
            <a:xfrm>
              <a:off x="419100" y="3314700"/>
              <a:ext cx="8305800" cy="285750"/>
            </a:xfrm>
            <a:prstGeom prst="rect">
              <a:avLst/>
            </a:prstGeom>
            <a:noFill/>
            <a:ln w="0">
              <a:noFill/>
              <a:prstDash val="solid"/>
            </a:ln>
          </p:spPr>
          <p:txBody>
            <a:bodyPr wrap="square" lIns="0" tIns="0" rIns="0" bIns="0" anchor="t">
              <a:noAutofit/>
            </a:bodyPr>
            <a:lstStyle>
              <a:defPPr algn="ctr">
                <a:defRPr sz="1700">
                  <a:solidFill>
                    <a:srgbClr val="000000"/>
                  </a:solidFill>
                  <a:latin typeface="Times New Roman"/>
                  <a:ea typeface="Times New Roman"/>
                  <a:cs typeface="Times New Roman"/>
                </a:defRPr>
              </a:defPPr>
              <a:lvl1pPr algn="ctr">
                <a:defRPr sz="1700">
                  <a:solidFill>
                    <a:srgbClr val="000000"/>
                  </a:solidFill>
                  <a:latin typeface="Times New Roman"/>
                  <a:ea typeface="Times New Roman"/>
                  <a:cs typeface="Times New Roman"/>
                </a:defRPr>
              </a:lvl1pPr>
              <a:lvl2pPr algn="ctr">
                <a:defRPr sz="1700">
                  <a:solidFill>
                    <a:srgbClr val="000000"/>
                  </a:solidFill>
                  <a:latin typeface="Times New Roman"/>
                  <a:ea typeface="Times New Roman"/>
                  <a:cs typeface="Times New Roman"/>
                </a:defRPr>
              </a:lvl2pPr>
              <a:lvl3pPr algn="ctr">
                <a:defRPr sz="1700">
                  <a:solidFill>
                    <a:srgbClr val="000000"/>
                  </a:solidFill>
                  <a:latin typeface="Times New Roman"/>
                  <a:ea typeface="Times New Roman"/>
                  <a:cs typeface="Times New Roman"/>
                </a:defRPr>
              </a:lvl3pPr>
              <a:lvl4pPr algn="ctr">
                <a:defRPr sz="1700">
                  <a:solidFill>
                    <a:srgbClr val="000000"/>
                  </a:solidFill>
                  <a:latin typeface="Times New Roman"/>
                  <a:ea typeface="Times New Roman"/>
                  <a:cs typeface="Times New Roman"/>
                </a:defRPr>
              </a:lvl4pPr>
              <a:lvl5pPr algn="ctr">
                <a:defRPr sz="1700">
                  <a:solidFill>
                    <a:srgbClr val="000000"/>
                  </a:solidFill>
                  <a:latin typeface="Times New Roman"/>
                  <a:ea typeface="Times New Roman"/>
                  <a:cs typeface="Times New Roman"/>
                </a:defRPr>
              </a:lvl5pPr>
              <a:lvl6pPr algn="ctr">
                <a:defRPr sz="1700">
                  <a:solidFill>
                    <a:srgbClr val="000000"/>
                  </a:solidFill>
                  <a:latin typeface="Times New Roman"/>
                  <a:ea typeface="Times New Roman"/>
                  <a:cs typeface="Times New Roman"/>
                </a:defRPr>
              </a:lvl6pPr>
              <a:lvl7pPr algn="ctr">
                <a:defRPr sz="1700">
                  <a:solidFill>
                    <a:srgbClr val="000000"/>
                  </a:solidFill>
                  <a:latin typeface="Times New Roman"/>
                  <a:ea typeface="Times New Roman"/>
                  <a:cs typeface="Times New Roman"/>
                </a:defRPr>
              </a:lvl7pPr>
              <a:lvl8pPr algn="ctr">
                <a:defRPr sz="1700">
                  <a:solidFill>
                    <a:srgbClr val="000000"/>
                  </a:solidFill>
                  <a:latin typeface="Times New Roman"/>
                  <a:ea typeface="Times New Roman"/>
                  <a:cs typeface="Times New Roman"/>
                </a:defRPr>
              </a:lvl8pPr>
              <a:lvl9pPr algn="ctr">
                <a:defRPr sz="1700">
                  <a:solidFill>
                    <a:srgbClr val="000000"/>
                  </a:solidFill>
                  <a:latin typeface="Times New Roman"/>
                  <a:ea typeface="Times New Roman"/>
                  <a:cs typeface="Times New Roman"/>
                </a:defRPr>
              </a:lvl9pPr>
            </a:lstStyle>
            <a:p>
              <a:pPr algn="ctr">
                <a:defRPr sz="1700">
                  <a:solidFill>
                    <a:srgbClr val="000000"/>
                  </a:solidFill>
                  <a:latin typeface="Times New Roman"/>
                  <a:ea typeface="Times New Roman"/>
                  <a:cs typeface="Times New Roman"/>
                </a:defRPr>
              </a:pPr>
              <a:r>
                <a:rPr sz="1700">
                  <a:solidFill>
                    <a:srgbClr val="000000"/>
                  </a:solidFill>
                  <a:latin typeface="Times New Roman"/>
                  <a:ea typeface="Times New Roman"/>
                  <a:cs typeface="Times New Roman"/>
                </a:rPr>
                <a:t>Unendlich viele Indivisiblen</a:t>
              </a:r>
            </a:p>
          </p:txBody>
        </p:sp>
        <p:sp>
          <p:nvSpPr>
            <p:cNvPr id="108" name="left-indivisible-0">
              <a:extLst>
                <a:ext uri="{FF2B5EF4-FFF2-40B4-BE49-F238E27FC236}">
                  <a16:creationId xmlns:a16="http://schemas.microsoft.com/office/drawing/2014/main" xmlns="" id="{46BF73E6-9F65-4F78-9E34-92CB8FA0CB51}"/>
                </a:ext>
              </a:extLst>
            </p:cNvPr>
            <p:cNvSpPr>
              <a:spLocks noGrp="1"/>
            </p:cNvSpPr>
            <p:nvPr/>
          </p:nvSpPr>
          <p:spPr>
            <a:xfrm>
              <a:off x="762000" y="3781425"/>
              <a:ext cx="209550" cy="114300"/>
            </a:xfrm>
            <a:prstGeom prst="rect">
              <a:avLst/>
            </a:prstGeom>
            <a:solidFill>
              <a:srgbClr val="DCE6F1"/>
            </a:solidFill>
            <a:ln w="7620">
              <a:solidFill>
                <a:srgbClr val="000000"/>
              </a:solidFill>
              <a:prstDash val="solid"/>
            </a:ln>
          </p:spPr>
        </p:sp>
        <p:sp>
          <p:nvSpPr>
            <p:cNvPr id="109" name="right-indivisible-0">
              <a:extLst>
                <a:ext uri="{FF2B5EF4-FFF2-40B4-BE49-F238E27FC236}">
                  <a16:creationId xmlns:a16="http://schemas.microsoft.com/office/drawing/2014/main" xmlns="" id="{BB730778-F2A0-46B1-874E-CE0BD1CBFF75}"/>
                </a:ext>
              </a:extLst>
            </p:cNvPr>
            <p:cNvSpPr>
              <a:spLocks noGrp="1"/>
            </p:cNvSpPr>
            <p:nvPr/>
          </p:nvSpPr>
          <p:spPr>
            <a:xfrm>
              <a:off x="5238750" y="3781425"/>
              <a:ext cx="209550" cy="114300"/>
            </a:xfrm>
            <a:prstGeom prst="rect">
              <a:avLst/>
            </a:prstGeom>
            <a:solidFill>
              <a:srgbClr val="DCE6F1"/>
            </a:solidFill>
            <a:ln w="7620">
              <a:solidFill>
                <a:srgbClr val="000000"/>
              </a:solidFill>
              <a:prstDash val="solid"/>
            </a:ln>
          </p:spPr>
        </p:sp>
        <p:sp>
          <p:nvSpPr>
            <p:cNvPr id="110" name="left-indivisible-1">
              <a:extLst>
                <a:ext uri="{FF2B5EF4-FFF2-40B4-BE49-F238E27FC236}">
                  <a16:creationId xmlns:a16="http://schemas.microsoft.com/office/drawing/2014/main" xmlns="" id="{A8E5B4E8-3AB2-406C-A95F-CC6B9E169CE0}"/>
                </a:ext>
              </a:extLst>
            </p:cNvPr>
            <p:cNvSpPr>
              <a:spLocks noGrp="1"/>
            </p:cNvSpPr>
            <p:nvPr/>
          </p:nvSpPr>
          <p:spPr>
            <a:xfrm>
              <a:off x="971550" y="3781425"/>
              <a:ext cx="209550" cy="114300"/>
            </a:xfrm>
            <a:prstGeom prst="rect">
              <a:avLst/>
            </a:prstGeom>
            <a:solidFill>
              <a:srgbClr val="DCE6F1"/>
            </a:solidFill>
            <a:ln w="7620">
              <a:solidFill>
                <a:srgbClr val="000000"/>
              </a:solidFill>
              <a:prstDash val="solid"/>
            </a:ln>
          </p:spPr>
        </p:sp>
        <p:sp>
          <p:nvSpPr>
            <p:cNvPr id="111" name="right-indivisible-1">
              <a:extLst>
                <a:ext uri="{FF2B5EF4-FFF2-40B4-BE49-F238E27FC236}">
                  <a16:creationId xmlns:a16="http://schemas.microsoft.com/office/drawing/2014/main" xmlns="" id="{B8259AE6-8B23-4AC6-AC67-0E0861ECA98A}"/>
                </a:ext>
              </a:extLst>
            </p:cNvPr>
            <p:cNvSpPr>
              <a:spLocks noGrp="1"/>
            </p:cNvSpPr>
            <p:nvPr/>
          </p:nvSpPr>
          <p:spPr>
            <a:xfrm>
              <a:off x="5448300" y="3781425"/>
              <a:ext cx="209550" cy="114300"/>
            </a:xfrm>
            <a:prstGeom prst="rect">
              <a:avLst/>
            </a:prstGeom>
            <a:solidFill>
              <a:srgbClr val="DCE6F1"/>
            </a:solidFill>
            <a:ln w="7620">
              <a:solidFill>
                <a:srgbClr val="000000"/>
              </a:solidFill>
              <a:prstDash val="solid"/>
            </a:ln>
          </p:spPr>
        </p:sp>
        <p:sp>
          <p:nvSpPr>
            <p:cNvPr id="112" name="left-indivisible-2">
              <a:extLst>
                <a:ext uri="{FF2B5EF4-FFF2-40B4-BE49-F238E27FC236}">
                  <a16:creationId xmlns:a16="http://schemas.microsoft.com/office/drawing/2014/main" xmlns="" id="{D7FED32C-452C-4CB9-BB91-098ECAEE692F}"/>
                </a:ext>
              </a:extLst>
            </p:cNvPr>
            <p:cNvSpPr>
              <a:spLocks noGrp="1"/>
            </p:cNvSpPr>
            <p:nvPr/>
          </p:nvSpPr>
          <p:spPr>
            <a:xfrm>
              <a:off x="1181100" y="3781425"/>
              <a:ext cx="209550" cy="114300"/>
            </a:xfrm>
            <a:prstGeom prst="rect">
              <a:avLst/>
            </a:prstGeom>
            <a:solidFill>
              <a:srgbClr val="DCE6F1"/>
            </a:solidFill>
            <a:ln w="7620">
              <a:solidFill>
                <a:srgbClr val="000000"/>
              </a:solidFill>
              <a:prstDash val="solid"/>
            </a:ln>
          </p:spPr>
        </p:sp>
        <p:sp>
          <p:nvSpPr>
            <p:cNvPr id="113" name="right-indivisible-2">
              <a:extLst>
                <a:ext uri="{FF2B5EF4-FFF2-40B4-BE49-F238E27FC236}">
                  <a16:creationId xmlns:a16="http://schemas.microsoft.com/office/drawing/2014/main" xmlns="" id="{79D6B0B7-523E-44B1-9D9C-F9ED315B1B41}"/>
                </a:ext>
              </a:extLst>
            </p:cNvPr>
            <p:cNvSpPr>
              <a:spLocks noGrp="1"/>
            </p:cNvSpPr>
            <p:nvPr/>
          </p:nvSpPr>
          <p:spPr>
            <a:xfrm>
              <a:off x="5657850" y="3781425"/>
              <a:ext cx="209550" cy="114300"/>
            </a:xfrm>
            <a:prstGeom prst="rect">
              <a:avLst/>
            </a:prstGeom>
            <a:solidFill>
              <a:srgbClr val="DCE6F1"/>
            </a:solidFill>
            <a:ln w="7620">
              <a:solidFill>
                <a:srgbClr val="000000"/>
              </a:solidFill>
              <a:prstDash val="solid"/>
            </a:ln>
          </p:spPr>
        </p:sp>
        <p:sp>
          <p:nvSpPr>
            <p:cNvPr id="114" name="left-indivisible-3">
              <a:extLst>
                <a:ext uri="{FF2B5EF4-FFF2-40B4-BE49-F238E27FC236}">
                  <a16:creationId xmlns:a16="http://schemas.microsoft.com/office/drawing/2014/main" xmlns="" id="{43DC19DD-79AF-484D-9207-9013BD52780C}"/>
                </a:ext>
              </a:extLst>
            </p:cNvPr>
            <p:cNvSpPr>
              <a:spLocks noGrp="1"/>
            </p:cNvSpPr>
            <p:nvPr/>
          </p:nvSpPr>
          <p:spPr>
            <a:xfrm>
              <a:off x="1390650" y="3781425"/>
              <a:ext cx="209550" cy="114300"/>
            </a:xfrm>
            <a:prstGeom prst="rect">
              <a:avLst/>
            </a:prstGeom>
            <a:solidFill>
              <a:srgbClr val="DCE6F1"/>
            </a:solidFill>
            <a:ln w="7620">
              <a:solidFill>
                <a:srgbClr val="000000"/>
              </a:solidFill>
              <a:prstDash val="solid"/>
            </a:ln>
          </p:spPr>
        </p:sp>
        <p:sp>
          <p:nvSpPr>
            <p:cNvPr id="115" name="right-indivisible-3">
              <a:extLst>
                <a:ext uri="{FF2B5EF4-FFF2-40B4-BE49-F238E27FC236}">
                  <a16:creationId xmlns:a16="http://schemas.microsoft.com/office/drawing/2014/main" xmlns="" id="{1CD3D0E9-9099-436D-B4B1-8E5213EB4DDF}"/>
                </a:ext>
              </a:extLst>
            </p:cNvPr>
            <p:cNvSpPr>
              <a:spLocks noGrp="1"/>
            </p:cNvSpPr>
            <p:nvPr/>
          </p:nvSpPr>
          <p:spPr>
            <a:xfrm>
              <a:off x="5867400" y="3781425"/>
              <a:ext cx="209550" cy="114300"/>
            </a:xfrm>
            <a:prstGeom prst="rect">
              <a:avLst/>
            </a:prstGeom>
            <a:solidFill>
              <a:srgbClr val="DCE6F1"/>
            </a:solidFill>
            <a:ln w="7620">
              <a:solidFill>
                <a:srgbClr val="000000"/>
              </a:solidFill>
              <a:prstDash val="solid"/>
            </a:ln>
          </p:spPr>
        </p:sp>
        <p:sp>
          <p:nvSpPr>
            <p:cNvPr id="116" name="left-indivisible-4">
              <a:extLst>
                <a:ext uri="{FF2B5EF4-FFF2-40B4-BE49-F238E27FC236}">
                  <a16:creationId xmlns:a16="http://schemas.microsoft.com/office/drawing/2014/main" xmlns="" id="{0AB43DAE-B5B8-4CF7-ACFA-3A224A0B133D}"/>
                </a:ext>
              </a:extLst>
            </p:cNvPr>
            <p:cNvSpPr>
              <a:spLocks noGrp="1"/>
            </p:cNvSpPr>
            <p:nvPr/>
          </p:nvSpPr>
          <p:spPr>
            <a:xfrm>
              <a:off x="1600200" y="3781425"/>
              <a:ext cx="209550" cy="114300"/>
            </a:xfrm>
            <a:prstGeom prst="rect">
              <a:avLst/>
            </a:prstGeom>
            <a:solidFill>
              <a:srgbClr val="DCE6F1"/>
            </a:solidFill>
            <a:ln w="7620">
              <a:solidFill>
                <a:srgbClr val="000000"/>
              </a:solidFill>
              <a:prstDash val="solid"/>
            </a:ln>
          </p:spPr>
        </p:sp>
        <p:sp>
          <p:nvSpPr>
            <p:cNvPr id="117" name="right-indivisible-4">
              <a:extLst>
                <a:ext uri="{FF2B5EF4-FFF2-40B4-BE49-F238E27FC236}">
                  <a16:creationId xmlns:a16="http://schemas.microsoft.com/office/drawing/2014/main" xmlns="" id="{11772820-23AF-4E23-A064-E1FFE15EB039}"/>
                </a:ext>
              </a:extLst>
            </p:cNvPr>
            <p:cNvSpPr>
              <a:spLocks noGrp="1"/>
            </p:cNvSpPr>
            <p:nvPr/>
          </p:nvSpPr>
          <p:spPr>
            <a:xfrm>
              <a:off x="6076950" y="3781425"/>
              <a:ext cx="209550" cy="114300"/>
            </a:xfrm>
            <a:prstGeom prst="rect">
              <a:avLst/>
            </a:prstGeom>
            <a:solidFill>
              <a:srgbClr val="DCE6F1"/>
            </a:solidFill>
            <a:ln w="7620">
              <a:solidFill>
                <a:srgbClr val="000000"/>
              </a:solidFill>
              <a:prstDash val="solid"/>
            </a:ln>
          </p:spPr>
        </p:sp>
        <p:sp>
          <p:nvSpPr>
            <p:cNvPr id="118" name="left-indivisible-5">
              <a:extLst>
                <a:ext uri="{FF2B5EF4-FFF2-40B4-BE49-F238E27FC236}">
                  <a16:creationId xmlns:a16="http://schemas.microsoft.com/office/drawing/2014/main" xmlns="" id="{F11EB9EF-2815-4573-85E2-A87189276F9E}"/>
                </a:ext>
              </a:extLst>
            </p:cNvPr>
            <p:cNvSpPr>
              <a:spLocks noGrp="1"/>
            </p:cNvSpPr>
            <p:nvPr/>
          </p:nvSpPr>
          <p:spPr>
            <a:xfrm>
              <a:off x="1809750" y="3781425"/>
              <a:ext cx="209550" cy="114300"/>
            </a:xfrm>
            <a:prstGeom prst="rect">
              <a:avLst/>
            </a:prstGeom>
            <a:solidFill>
              <a:srgbClr val="DCE6F1"/>
            </a:solidFill>
            <a:ln w="7620">
              <a:solidFill>
                <a:srgbClr val="000000"/>
              </a:solidFill>
              <a:prstDash val="solid"/>
            </a:ln>
          </p:spPr>
        </p:sp>
        <p:sp>
          <p:nvSpPr>
            <p:cNvPr id="119" name="right-indivisible-5">
              <a:extLst>
                <a:ext uri="{FF2B5EF4-FFF2-40B4-BE49-F238E27FC236}">
                  <a16:creationId xmlns:a16="http://schemas.microsoft.com/office/drawing/2014/main" xmlns="" id="{12120666-B30B-4E6E-B798-68409851A142}"/>
                </a:ext>
              </a:extLst>
            </p:cNvPr>
            <p:cNvSpPr>
              <a:spLocks noGrp="1"/>
            </p:cNvSpPr>
            <p:nvPr/>
          </p:nvSpPr>
          <p:spPr>
            <a:xfrm>
              <a:off x="6286500" y="3781425"/>
              <a:ext cx="209550" cy="114300"/>
            </a:xfrm>
            <a:prstGeom prst="rect">
              <a:avLst/>
            </a:prstGeom>
            <a:solidFill>
              <a:srgbClr val="DCE6F1"/>
            </a:solidFill>
            <a:ln w="7620">
              <a:solidFill>
                <a:srgbClr val="000000"/>
              </a:solidFill>
              <a:prstDash val="solid"/>
            </a:ln>
          </p:spPr>
        </p:sp>
        <p:sp>
          <p:nvSpPr>
            <p:cNvPr id="120" name="left-indivisible-6">
              <a:extLst>
                <a:ext uri="{FF2B5EF4-FFF2-40B4-BE49-F238E27FC236}">
                  <a16:creationId xmlns:a16="http://schemas.microsoft.com/office/drawing/2014/main" xmlns="" id="{C2ECCB47-22A9-49B3-BCF6-BFD45D4ED411}"/>
                </a:ext>
              </a:extLst>
            </p:cNvPr>
            <p:cNvSpPr>
              <a:spLocks noGrp="1"/>
            </p:cNvSpPr>
            <p:nvPr/>
          </p:nvSpPr>
          <p:spPr>
            <a:xfrm>
              <a:off x="2019300" y="3781425"/>
              <a:ext cx="209550" cy="114300"/>
            </a:xfrm>
            <a:prstGeom prst="rect">
              <a:avLst/>
            </a:prstGeom>
            <a:solidFill>
              <a:srgbClr val="DCE6F1"/>
            </a:solidFill>
            <a:ln w="7620">
              <a:solidFill>
                <a:srgbClr val="000000"/>
              </a:solidFill>
              <a:prstDash val="solid"/>
            </a:ln>
          </p:spPr>
        </p:sp>
        <p:sp>
          <p:nvSpPr>
            <p:cNvPr id="121" name="right-indivisible-6">
              <a:extLst>
                <a:ext uri="{FF2B5EF4-FFF2-40B4-BE49-F238E27FC236}">
                  <a16:creationId xmlns:a16="http://schemas.microsoft.com/office/drawing/2014/main" xmlns="" id="{636B030A-2E7B-4A49-A6BA-BDEB5F5A4043}"/>
                </a:ext>
              </a:extLst>
            </p:cNvPr>
            <p:cNvSpPr>
              <a:spLocks noGrp="1"/>
            </p:cNvSpPr>
            <p:nvPr/>
          </p:nvSpPr>
          <p:spPr>
            <a:xfrm>
              <a:off x="6496050" y="3781425"/>
              <a:ext cx="209550" cy="114300"/>
            </a:xfrm>
            <a:prstGeom prst="rect">
              <a:avLst/>
            </a:prstGeom>
            <a:solidFill>
              <a:srgbClr val="DCE6F1"/>
            </a:solidFill>
            <a:ln w="7620">
              <a:solidFill>
                <a:srgbClr val="000000"/>
              </a:solidFill>
              <a:prstDash val="solid"/>
            </a:ln>
          </p:spPr>
        </p:sp>
        <p:sp>
          <p:nvSpPr>
            <p:cNvPr id="122" name="left-indivisible-7">
              <a:extLst>
                <a:ext uri="{FF2B5EF4-FFF2-40B4-BE49-F238E27FC236}">
                  <a16:creationId xmlns:a16="http://schemas.microsoft.com/office/drawing/2014/main" xmlns="" id="{B77605F3-596C-4029-A946-7940A31A1946}"/>
                </a:ext>
              </a:extLst>
            </p:cNvPr>
            <p:cNvSpPr>
              <a:spLocks noGrp="1"/>
            </p:cNvSpPr>
            <p:nvPr/>
          </p:nvSpPr>
          <p:spPr>
            <a:xfrm>
              <a:off x="2228850" y="3781425"/>
              <a:ext cx="209550" cy="114300"/>
            </a:xfrm>
            <a:prstGeom prst="rect">
              <a:avLst/>
            </a:prstGeom>
            <a:solidFill>
              <a:srgbClr val="DCE6F1"/>
            </a:solidFill>
            <a:ln w="7620">
              <a:solidFill>
                <a:srgbClr val="000000"/>
              </a:solidFill>
              <a:prstDash val="solid"/>
            </a:ln>
          </p:spPr>
        </p:sp>
        <p:sp>
          <p:nvSpPr>
            <p:cNvPr id="123" name="right-indivisible-7">
              <a:extLst>
                <a:ext uri="{FF2B5EF4-FFF2-40B4-BE49-F238E27FC236}">
                  <a16:creationId xmlns:a16="http://schemas.microsoft.com/office/drawing/2014/main" xmlns="" id="{943B7B10-8117-47A0-8431-884E73CCC58B}"/>
                </a:ext>
              </a:extLst>
            </p:cNvPr>
            <p:cNvSpPr>
              <a:spLocks noGrp="1"/>
            </p:cNvSpPr>
            <p:nvPr/>
          </p:nvSpPr>
          <p:spPr>
            <a:xfrm>
              <a:off x="6705600" y="3781425"/>
              <a:ext cx="209550" cy="114300"/>
            </a:xfrm>
            <a:prstGeom prst="rect">
              <a:avLst/>
            </a:prstGeom>
            <a:solidFill>
              <a:srgbClr val="DCE6F1"/>
            </a:solidFill>
            <a:ln w="7620">
              <a:solidFill>
                <a:srgbClr val="000000"/>
              </a:solidFill>
              <a:prstDash val="solid"/>
            </a:ln>
          </p:spPr>
        </p:sp>
        <p:sp>
          <p:nvSpPr>
            <p:cNvPr id="124" name="left-indivisible-8">
              <a:extLst>
                <a:ext uri="{FF2B5EF4-FFF2-40B4-BE49-F238E27FC236}">
                  <a16:creationId xmlns:a16="http://schemas.microsoft.com/office/drawing/2014/main" xmlns="" id="{523F5082-2A19-44DD-8223-187326851AFC}"/>
                </a:ext>
              </a:extLst>
            </p:cNvPr>
            <p:cNvSpPr>
              <a:spLocks noGrp="1"/>
            </p:cNvSpPr>
            <p:nvPr/>
          </p:nvSpPr>
          <p:spPr>
            <a:xfrm>
              <a:off x="2438400" y="3781425"/>
              <a:ext cx="209550" cy="114300"/>
            </a:xfrm>
            <a:prstGeom prst="rect">
              <a:avLst/>
            </a:prstGeom>
            <a:solidFill>
              <a:srgbClr val="DCE6F1"/>
            </a:solidFill>
            <a:ln w="7620">
              <a:solidFill>
                <a:srgbClr val="000000"/>
              </a:solidFill>
              <a:prstDash val="solid"/>
            </a:ln>
          </p:spPr>
        </p:sp>
        <p:sp>
          <p:nvSpPr>
            <p:cNvPr id="125" name="right-indivisible-8">
              <a:extLst>
                <a:ext uri="{FF2B5EF4-FFF2-40B4-BE49-F238E27FC236}">
                  <a16:creationId xmlns:a16="http://schemas.microsoft.com/office/drawing/2014/main" xmlns="" id="{89EA92E6-EC32-4D84-910F-16615E25C663}"/>
                </a:ext>
              </a:extLst>
            </p:cNvPr>
            <p:cNvSpPr>
              <a:spLocks noGrp="1"/>
            </p:cNvSpPr>
            <p:nvPr/>
          </p:nvSpPr>
          <p:spPr>
            <a:xfrm>
              <a:off x="6915150" y="3781425"/>
              <a:ext cx="209550" cy="114300"/>
            </a:xfrm>
            <a:prstGeom prst="rect">
              <a:avLst/>
            </a:prstGeom>
            <a:solidFill>
              <a:srgbClr val="DCE6F1"/>
            </a:solidFill>
            <a:ln w="7620">
              <a:solidFill>
                <a:srgbClr val="000000"/>
              </a:solidFill>
              <a:prstDash val="solid"/>
            </a:ln>
          </p:spPr>
        </p:sp>
        <p:sp>
          <p:nvSpPr>
            <p:cNvPr id="126" name="left-indivisible-9">
              <a:extLst>
                <a:ext uri="{FF2B5EF4-FFF2-40B4-BE49-F238E27FC236}">
                  <a16:creationId xmlns:a16="http://schemas.microsoft.com/office/drawing/2014/main" xmlns="" id="{3C3EF3BE-845B-4AF7-8708-20A7A27EF85B}"/>
                </a:ext>
              </a:extLst>
            </p:cNvPr>
            <p:cNvSpPr>
              <a:spLocks noGrp="1"/>
            </p:cNvSpPr>
            <p:nvPr/>
          </p:nvSpPr>
          <p:spPr>
            <a:xfrm>
              <a:off x="2647950" y="3781425"/>
              <a:ext cx="209550" cy="114300"/>
            </a:xfrm>
            <a:prstGeom prst="rect">
              <a:avLst/>
            </a:prstGeom>
            <a:solidFill>
              <a:srgbClr val="DCE6F1"/>
            </a:solidFill>
            <a:ln w="7620">
              <a:solidFill>
                <a:srgbClr val="000000"/>
              </a:solidFill>
              <a:prstDash val="solid"/>
            </a:ln>
          </p:spPr>
        </p:sp>
        <p:sp>
          <p:nvSpPr>
            <p:cNvPr id="127" name="right-indivisible-9">
              <a:extLst>
                <a:ext uri="{FF2B5EF4-FFF2-40B4-BE49-F238E27FC236}">
                  <a16:creationId xmlns:a16="http://schemas.microsoft.com/office/drawing/2014/main" xmlns="" id="{63B1E293-61BA-4A13-AAA0-9EE8700B31CD}"/>
                </a:ext>
              </a:extLst>
            </p:cNvPr>
            <p:cNvSpPr>
              <a:spLocks noGrp="1"/>
            </p:cNvSpPr>
            <p:nvPr/>
          </p:nvSpPr>
          <p:spPr>
            <a:xfrm>
              <a:off x="7124700" y="3781425"/>
              <a:ext cx="209550" cy="114300"/>
            </a:xfrm>
            <a:prstGeom prst="rect">
              <a:avLst/>
            </a:prstGeom>
            <a:solidFill>
              <a:srgbClr val="DCE6F1"/>
            </a:solidFill>
            <a:ln w="7620">
              <a:solidFill>
                <a:srgbClr val="000000"/>
              </a:solidFill>
              <a:prstDash val="solid"/>
            </a:ln>
          </p:spPr>
        </p:sp>
        <p:sp>
          <p:nvSpPr>
            <p:cNvPr id="128" name="left-indivisible-10">
              <a:extLst>
                <a:ext uri="{FF2B5EF4-FFF2-40B4-BE49-F238E27FC236}">
                  <a16:creationId xmlns:a16="http://schemas.microsoft.com/office/drawing/2014/main" xmlns="" id="{90ADCC7D-17C6-4E6F-AAD7-D10CCBCFA443}"/>
                </a:ext>
              </a:extLst>
            </p:cNvPr>
            <p:cNvSpPr>
              <a:spLocks noGrp="1"/>
            </p:cNvSpPr>
            <p:nvPr/>
          </p:nvSpPr>
          <p:spPr>
            <a:xfrm>
              <a:off x="2857500" y="3781425"/>
              <a:ext cx="209550" cy="114300"/>
            </a:xfrm>
            <a:prstGeom prst="rect">
              <a:avLst/>
            </a:prstGeom>
            <a:solidFill>
              <a:srgbClr val="DCE6F1"/>
            </a:solidFill>
            <a:ln w="7620">
              <a:solidFill>
                <a:srgbClr val="000000"/>
              </a:solidFill>
              <a:prstDash val="solid"/>
            </a:ln>
          </p:spPr>
        </p:sp>
        <p:sp>
          <p:nvSpPr>
            <p:cNvPr id="129" name="right-indivisible-10">
              <a:extLst>
                <a:ext uri="{FF2B5EF4-FFF2-40B4-BE49-F238E27FC236}">
                  <a16:creationId xmlns:a16="http://schemas.microsoft.com/office/drawing/2014/main" xmlns="" id="{C6FDCE95-A522-46FF-940D-52F8B2FD9AAB}"/>
                </a:ext>
              </a:extLst>
            </p:cNvPr>
            <p:cNvSpPr>
              <a:spLocks noGrp="1"/>
            </p:cNvSpPr>
            <p:nvPr/>
          </p:nvSpPr>
          <p:spPr>
            <a:xfrm>
              <a:off x="7334250" y="3781425"/>
              <a:ext cx="209550" cy="114300"/>
            </a:xfrm>
            <a:prstGeom prst="rect">
              <a:avLst/>
            </a:prstGeom>
            <a:solidFill>
              <a:srgbClr val="DCE6F1"/>
            </a:solidFill>
            <a:ln w="7620">
              <a:solidFill>
                <a:srgbClr val="000000"/>
              </a:solidFill>
              <a:prstDash val="solid"/>
            </a:ln>
          </p:spPr>
        </p:sp>
        <p:sp>
          <p:nvSpPr>
            <p:cNvPr id="130" name="left-indivisible-11">
              <a:extLst>
                <a:ext uri="{FF2B5EF4-FFF2-40B4-BE49-F238E27FC236}">
                  <a16:creationId xmlns:a16="http://schemas.microsoft.com/office/drawing/2014/main" xmlns="" id="{78446FB2-34E8-476C-B95C-19EB5E6AC5A2}"/>
                </a:ext>
              </a:extLst>
            </p:cNvPr>
            <p:cNvSpPr>
              <a:spLocks noGrp="1"/>
            </p:cNvSpPr>
            <p:nvPr/>
          </p:nvSpPr>
          <p:spPr>
            <a:xfrm>
              <a:off x="3067050" y="3781425"/>
              <a:ext cx="209550" cy="114300"/>
            </a:xfrm>
            <a:prstGeom prst="rect">
              <a:avLst/>
            </a:prstGeom>
            <a:solidFill>
              <a:srgbClr val="DCE6F1"/>
            </a:solidFill>
            <a:ln w="7620">
              <a:solidFill>
                <a:srgbClr val="000000"/>
              </a:solidFill>
              <a:prstDash val="solid"/>
            </a:ln>
          </p:spPr>
        </p:sp>
        <p:sp>
          <p:nvSpPr>
            <p:cNvPr id="131" name="right-indivisible-11">
              <a:extLst>
                <a:ext uri="{FF2B5EF4-FFF2-40B4-BE49-F238E27FC236}">
                  <a16:creationId xmlns:a16="http://schemas.microsoft.com/office/drawing/2014/main" xmlns="" id="{1211FE3E-9956-4D4E-8F0F-E992B6CBDFA0}"/>
                </a:ext>
              </a:extLst>
            </p:cNvPr>
            <p:cNvSpPr>
              <a:spLocks noGrp="1"/>
            </p:cNvSpPr>
            <p:nvPr/>
          </p:nvSpPr>
          <p:spPr>
            <a:xfrm>
              <a:off x="7543800" y="3781425"/>
              <a:ext cx="209550" cy="114300"/>
            </a:xfrm>
            <a:prstGeom prst="rect">
              <a:avLst/>
            </a:prstGeom>
            <a:solidFill>
              <a:srgbClr val="DCE6F1"/>
            </a:solidFill>
            <a:ln w="7620">
              <a:solidFill>
                <a:srgbClr val="000000"/>
              </a:solidFill>
              <a:prstDash val="solid"/>
            </a:ln>
          </p:spPr>
        </p:sp>
        <p:sp>
          <p:nvSpPr>
            <p:cNvPr id="132" name="left-indivisible-12">
              <a:extLst>
                <a:ext uri="{FF2B5EF4-FFF2-40B4-BE49-F238E27FC236}">
                  <a16:creationId xmlns:a16="http://schemas.microsoft.com/office/drawing/2014/main" xmlns="" id="{B5FB51D8-A329-4127-9319-42983A5571A2}"/>
                </a:ext>
              </a:extLst>
            </p:cNvPr>
            <p:cNvSpPr>
              <a:spLocks noGrp="1"/>
            </p:cNvSpPr>
            <p:nvPr/>
          </p:nvSpPr>
          <p:spPr>
            <a:xfrm>
              <a:off x="3276600" y="3781425"/>
              <a:ext cx="209550" cy="114300"/>
            </a:xfrm>
            <a:prstGeom prst="rect">
              <a:avLst/>
            </a:prstGeom>
            <a:solidFill>
              <a:srgbClr val="DCE6F1"/>
            </a:solidFill>
            <a:ln w="7620">
              <a:solidFill>
                <a:srgbClr val="000000"/>
              </a:solidFill>
              <a:prstDash val="solid"/>
            </a:ln>
          </p:spPr>
        </p:sp>
        <p:sp>
          <p:nvSpPr>
            <p:cNvPr id="133" name="right-indivisible-12">
              <a:extLst>
                <a:ext uri="{FF2B5EF4-FFF2-40B4-BE49-F238E27FC236}">
                  <a16:creationId xmlns:a16="http://schemas.microsoft.com/office/drawing/2014/main" xmlns="" id="{DAC6978A-B8F0-49CB-91B0-06573DF70771}"/>
                </a:ext>
              </a:extLst>
            </p:cNvPr>
            <p:cNvSpPr>
              <a:spLocks noGrp="1"/>
            </p:cNvSpPr>
            <p:nvPr/>
          </p:nvSpPr>
          <p:spPr>
            <a:xfrm>
              <a:off x="7753350" y="3781425"/>
              <a:ext cx="209550" cy="114300"/>
            </a:xfrm>
            <a:prstGeom prst="rect">
              <a:avLst/>
            </a:prstGeom>
            <a:solidFill>
              <a:srgbClr val="DCE6F1"/>
            </a:solidFill>
            <a:ln w="7620">
              <a:solidFill>
                <a:srgbClr val="000000"/>
              </a:solidFill>
              <a:prstDash val="solid"/>
            </a:ln>
          </p:spPr>
        </p:sp>
        <p:sp>
          <p:nvSpPr>
            <p:cNvPr id="134" name="left-indivisible-13">
              <a:extLst>
                <a:ext uri="{FF2B5EF4-FFF2-40B4-BE49-F238E27FC236}">
                  <a16:creationId xmlns:a16="http://schemas.microsoft.com/office/drawing/2014/main" xmlns="" id="{40ED13CC-EAFE-4AF8-B9D9-FF49E516634B}"/>
                </a:ext>
              </a:extLst>
            </p:cNvPr>
            <p:cNvSpPr>
              <a:spLocks noGrp="1"/>
            </p:cNvSpPr>
            <p:nvPr/>
          </p:nvSpPr>
          <p:spPr>
            <a:xfrm>
              <a:off x="3486150" y="3781425"/>
              <a:ext cx="209550" cy="114300"/>
            </a:xfrm>
            <a:prstGeom prst="rect">
              <a:avLst/>
            </a:prstGeom>
            <a:solidFill>
              <a:srgbClr val="DCE6F1"/>
            </a:solidFill>
            <a:ln w="7620">
              <a:solidFill>
                <a:srgbClr val="000000"/>
              </a:solidFill>
              <a:prstDash val="solid"/>
            </a:ln>
          </p:spPr>
        </p:sp>
        <p:sp>
          <p:nvSpPr>
            <p:cNvPr id="135" name="right-indivisible-13">
              <a:extLst>
                <a:ext uri="{FF2B5EF4-FFF2-40B4-BE49-F238E27FC236}">
                  <a16:creationId xmlns:a16="http://schemas.microsoft.com/office/drawing/2014/main" xmlns="" id="{C8E4FEC4-7AE6-4849-8E2B-029E42457E5A}"/>
                </a:ext>
              </a:extLst>
            </p:cNvPr>
            <p:cNvSpPr>
              <a:spLocks noGrp="1"/>
            </p:cNvSpPr>
            <p:nvPr/>
          </p:nvSpPr>
          <p:spPr>
            <a:xfrm>
              <a:off x="7962900" y="3781425"/>
              <a:ext cx="209550" cy="114300"/>
            </a:xfrm>
            <a:prstGeom prst="rect">
              <a:avLst/>
            </a:prstGeom>
            <a:solidFill>
              <a:srgbClr val="DCE6F1"/>
            </a:solidFill>
            <a:ln w="7620">
              <a:solidFill>
                <a:srgbClr val="000000"/>
              </a:solidFill>
              <a:prstDash val="solid"/>
            </a:ln>
          </p:spPr>
        </p:sp>
        <p:sp>
          <p:nvSpPr>
            <p:cNvPr id="136" name="left-indivisible-14">
              <a:extLst>
                <a:ext uri="{FF2B5EF4-FFF2-40B4-BE49-F238E27FC236}">
                  <a16:creationId xmlns:a16="http://schemas.microsoft.com/office/drawing/2014/main" xmlns="" id="{ECDB8D1A-B28A-4BEA-97A1-EEA8798DF25E}"/>
                </a:ext>
              </a:extLst>
            </p:cNvPr>
            <p:cNvSpPr>
              <a:spLocks noGrp="1"/>
            </p:cNvSpPr>
            <p:nvPr/>
          </p:nvSpPr>
          <p:spPr>
            <a:xfrm>
              <a:off x="3695700" y="3781425"/>
              <a:ext cx="209550" cy="114300"/>
            </a:xfrm>
            <a:prstGeom prst="rect">
              <a:avLst/>
            </a:prstGeom>
            <a:solidFill>
              <a:srgbClr val="DCE6F1"/>
            </a:solidFill>
            <a:ln w="7620">
              <a:solidFill>
                <a:srgbClr val="000000"/>
              </a:solidFill>
              <a:prstDash val="solid"/>
            </a:ln>
          </p:spPr>
        </p:sp>
        <p:sp>
          <p:nvSpPr>
            <p:cNvPr id="137" name="right-indivisible-14">
              <a:extLst>
                <a:ext uri="{FF2B5EF4-FFF2-40B4-BE49-F238E27FC236}">
                  <a16:creationId xmlns:a16="http://schemas.microsoft.com/office/drawing/2014/main" xmlns="" id="{07D943BF-C7D9-4278-88CB-3307A4CF91F2}"/>
                </a:ext>
              </a:extLst>
            </p:cNvPr>
            <p:cNvSpPr>
              <a:spLocks noGrp="1"/>
            </p:cNvSpPr>
            <p:nvPr/>
          </p:nvSpPr>
          <p:spPr>
            <a:xfrm>
              <a:off x="8172450" y="3781425"/>
              <a:ext cx="209550" cy="114300"/>
            </a:xfrm>
            <a:prstGeom prst="rect">
              <a:avLst/>
            </a:prstGeom>
            <a:solidFill>
              <a:srgbClr val="DCE6F1"/>
            </a:solidFill>
            <a:ln w="7620">
              <a:solidFill>
                <a:srgbClr val="000000"/>
              </a:solidFill>
              <a:prstDash val="solid"/>
            </a:ln>
          </p:spPr>
        </p:sp>
        <p:pic>
          <p:nvPicPr>
            <p:cNvPr id="138" name="Grafik 137">
              <a:extLst>
                <a:ext uri="{FF2B5EF4-FFF2-40B4-BE49-F238E27FC236}">
                  <a16:creationId xmlns:a16="http://schemas.microsoft.com/office/drawing/2014/main" xmlns="" id="{7BA20962-C6DD-4FE1-8C3F-4962A8C766BF}"/>
                </a:ext>
              </a:extLst>
            </p:cNvPr>
            <p:cNvPicPr>
              <a:picLocks noChangeAspect="1"/>
            </p:cNvPicPr>
            <p:nvPr/>
          </p:nvPicPr>
          <p:blipFill>
            <a:blip r:embed="rId5"/>
            <a:stretch/>
          </p:blipFill>
          <p:spPr>
            <a:xfrm>
              <a:off x="4267200" y="3706871"/>
              <a:ext cx="609600" cy="263407"/>
            </a:xfrm>
            <a:prstGeom prst="rect">
              <a:avLst/>
            </a:prstGeom>
          </p:spPr>
        </p:pic>
      </p:grpSp>
      <p:grpSp>
        <p:nvGrpSpPr>
          <p:cNvPr id="145" name="Schritt 2: Vergrößerung eines Atoms"/>
          <p:cNvGrpSpPr/>
          <p:nvPr/>
        </p:nvGrpSpPr>
        <p:grpSpPr>
          <a:xfrm>
            <a:off x="2914650" y="3905250"/>
            <a:ext cx="3314700" cy="990600"/>
            <a:chOff x="2914650" y="3905250"/>
            <a:chExt cx="3314700" cy="990600"/>
          </a:xfrm>
        </p:grpSpPr>
        <p:sp>
          <p:nvSpPr>
            <p:cNvPr id="139" name="zoom-left">
              <a:extLst>
                <a:ext uri="{FF2B5EF4-FFF2-40B4-BE49-F238E27FC236}">
                  <a16:creationId xmlns:a16="http://schemas.microsoft.com/office/drawing/2014/main" xmlns="" id="{E92F6B5F-993F-42AA-B2C7-3B82F2176FC3}"/>
                </a:ext>
              </a:extLst>
            </p:cNvPr>
            <p:cNvSpPr>
              <a:spLocks noGrp="1"/>
            </p:cNvSpPr>
            <p:nvPr/>
          </p:nvSpPr>
          <p:spPr>
            <a:xfrm flipH="1">
              <a:off x="3429000" y="3905250"/>
              <a:ext cx="1809750" cy="381000"/>
            </a:xfrm>
            <a:prstGeom prst="line">
              <a:avLst/>
            </a:prstGeom>
            <a:noFill/>
            <a:ln w="11430">
              <a:solidFill>
                <a:srgbClr val="999999"/>
              </a:solidFill>
              <a:prstDash val="solid"/>
            </a:ln>
          </p:spPr>
        </p:sp>
        <p:sp>
          <p:nvSpPr>
            <p:cNvPr id="140" name="zoom-right">
              <a:extLst>
                <a:ext uri="{FF2B5EF4-FFF2-40B4-BE49-F238E27FC236}">
                  <a16:creationId xmlns:a16="http://schemas.microsoft.com/office/drawing/2014/main" xmlns="" id="{1E5F99EF-6586-44C6-B285-5A5AAA680A4F}"/>
                </a:ext>
              </a:extLst>
            </p:cNvPr>
            <p:cNvSpPr>
              <a:spLocks noGrp="1"/>
            </p:cNvSpPr>
            <p:nvPr/>
          </p:nvSpPr>
          <p:spPr>
            <a:xfrm>
              <a:off x="5448300" y="3905250"/>
              <a:ext cx="266700" cy="381000"/>
            </a:xfrm>
            <a:prstGeom prst="line">
              <a:avLst/>
            </a:prstGeom>
            <a:noFill/>
            <a:ln w="11430">
              <a:solidFill>
                <a:srgbClr val="999999"/>
              </a:solidFill>
              <a:prstDash val="solid"/>
            </a:ln>
          </p:spPr>
        </p:sp>
        <p:sp>
          <p:nvSpPr>
            <p:cNvPr id="141" name="enlarged-indivisible">
              <a:extLst>
                <a:ext uri="{FF2B5EF4-FFF2-40B4-BE49-F238E27FC236}">
                  <a16:creationId xmlns:a16="http://schemas.microsoft.com/office/drawing/2014/main" xmlns="" id="{C88420DB-3EA8-4D83-8518-E06C6064338E}"/>
                </a:ext>
              </a:extLst>
            </p:cNvPr>
            <p:cNvSpPr>
              <a:spLocks noGrp="1"/>
            </p:cNvSpPr>
            <p:nvPr/>
          </p:nvSpPr>
          <p:spPr>
            <a:xfrm>
              <a:off x="3429000" y="4286250"/>
              <a:ext cx="2286000" cy="133350"/>
            </a:xfrm>
            <a:prstGeom prst="rect">
              <a:avLst/>
            </a:prstGeom>
            <a:solidFill>
              <a:srgbClr val="4F81BD"/>
            </a:solidFill>
            <a:ln w="7620">
              <a:solidFill>
                <a:srgbClr val="000000"/>
              </a:solidFill>
              <a:prstDash val="solid"/>
            </a:ln>
          </p:spPr>
        </p:sp>
        <p:sp>
          <p:nvSpPr>
            <p:cNvPr id="142" name="transfinite-atom-label">
              <a:extLst>
                <a:ext uri="{FF2B5EF4-FFF2-40B4-BE49-F238E27FC236}">
                  <a16:creationId xmlns:a16="http://schemas.microsoft.com/office/drawing/2014/main" xmlns="" id="{B0C263EC-32B5-4782-8588-9CBE6DCEE6C6}"/>
                </a:ext>
              </a:extLst>
            </p:cNvPr>
            <p:cNvSpPr>
              <a:spLocks noGrp="1"/>
            </p:cNvSpPr>
            <p:nvPr/>
          </p:nvSpPr>
          <p:spPr>
            <a:xfrm>
              <a:off x="2914650" y="4591050"/>
              <a:ext cx="3314700" cy="304800"/>
            </a:xfrm>
            <a:prstGeom prst="rect">
              <a:avLst/>
            </a:prstGeom>
            <a:noFill/>
            <a:ln w="0">
              <a:noFill/>
              <a:prstDash val="solid"/>
            </a:ln>
          </p:spPr>
          <p:txBody>
            <a:bodyPr wrap="square" lIns="0" tIns="0" rIns="0" bIns="0" anchor="t">
              <a:noAutofit/>
            </a:bodyPr>
            <a:lstStyle>
              <a:defPPr algn="ctr">
                <a:defRPr sz="1700">
                  <a:solidFill>
                    <a:srgbClr val="000000"/>
                  </a:solidFill>
                  <a:latin typeface="Times New Roman"/>
                  <a:ea typeface="Times New Roman"/>
                  <a:cs typeface="Times New Roman"/>
                </a:defRPr>
              </a:defPPr>
              <a:lvl1pPr algn="ctr">
                <a:defRPr sz="1700">
                  <a:solidFill>
                    <a:srgbClr val="000000"/>
                  </a:solidFill>
                  <a:latin typeface="Times New Roman"/>
                  <a:ea typeface="Times New Roman"/>
                  <a:cs typeface="Times New Roman"/>
                </a:defRPr>
              </a:lvl1pPr>
              <a:lvl2pPr algn="ctr">
                <a:defRPr sz="1700">
                  <a:solidFill>
                    <a:srgbClr val="000000"/>
                  </a:solidFill>
                  <a:latin typeface="Times New Roman"/>
                  <a:ea typeface="Times New Roman"/>
                  <a:cs typeface="Times New Roman"/>
                </a:defRPr>
              </a:lvl2pPr>
              <a:lvl3pPr algn="ctr">
                <a:defRPr sz="1700">
                  <a:solidFill>
                    <a:srgbClr val="000000"/>
                  </a:solidFill>
                  <a:latin typeface="Times New Roman"/>
                  <a:ea typeface="Times New Roman"/>
                  <a:cs typeface="Times New Roman"/>
                </a:defRPr>
              </a:lvl3pPr>
              <a:lvl4pPr algn="ctr">
                <a:defRPr sz="1700">
                  <a:solidFill>
                    <a:srgbClr val="000000"/>
                  </a:solidFill>
                  <a:latin typeface="Times New Roman"/>
                  <a:ea typeface="Times New Roman"/>
                  <a:cs typeface="Times New Roman"/>
                </a:defRPr>
              </a:lvl4pPr>
              <a:lvl5pPr algn="ctr">
                <a:defRPr sz="1700">
                  <a:solidFill>
                    <a:srgbClr val="000000"/>
                  </a:solidFill>
                  <a:latin typeface="Times New Roman"/>
                  <a:ea typeface="Times New Roman"/>
                  <a:cs typeface="Times New Roman"/>
                </a:defRPr>
              </a:lvl5pPr>
              <a:lvl6pPr algn="ctr">
                <a:defRPr sz="1700">
                  <a:solidFill>
                    <a:srgbClr val="000000"/>
                  </a:solidFill>
                  <a:latin typeface="Times New Roman"/>
                  <a:ea typeface="Times New Roman"/>
                  <a:cs typeface="Times New Roman"/>
                </a:defRPr>
              </a:lvl6pPr>
              <a:lvl7pPr algn="ctr">
                <a:defRPr sz="1700">
                  <a:solidFill>
                    <a:srgbClr val="000000"/>
                  </a:solidFill>
                  <a:latin typeface="Times New Roman"/>
                  <a:ea typeface="Times New Roman"/>
                  <a:cs typeface="Times New Roman"/>
                </a:defRPr>
              </a:lvl7pPr>
              <a:lvl8pPr algn="ctr">
                <a:defRPr sz="1700">
                  <a:solidFill>
                    <a:srgbClr val="000000"/>
                  </a:solidFill>
                  <a:latin typeface="Times New Roman"/>
                  <a:ea typeface="Times New Roman"/>
                  <a:cs typeface="Times New Roman"/>
                </a:defRPr>
              </a:lvl8pPr>
              <a:lvl9pPr algn="ctr">
                <a:defRPr sz="1700">
                  <a:solidFill>
                    <a:srgbClr val="000000"/>
                  </a:solidFill>
                  <a:latin typeface="Times New Roman"/>
                  <a:ea typeface="Times New Roman"/>
                  <a:cs typeface="Times New Roman"/>
                </a:defRPr>
              </a:lvl9pPr>
            </a:lstStyle>
            <a:p>
              <a:pPr algn="ctr">
                <a:defRPr sz="1700">
                  <a:solidFill>
                    <a:srgbClr val="000000"/>
                  </a:solidFill>
                  <a:latin typeface="Times New Roman"/>
                  <a:ea typeface="Times New Roman"/>
                  <a:cs typeface="Times New Roman"/>
                </a:defRPr>
              </a:pPr>
              <a:r>
                <a:rPr sz="1700">
                  <a:solidFill>
                    <a:srgbClr val="000000"/>
                  </a:solidFill>
                  <a:latin typeface="Times New Roman"/>
                  <a:ea typeface="Times New Roman"/>
                  <a:cs typeface="Times New Roman"/>
                </a:rPr>
                <a:t>Punkt als Indivisible</a:t>
              </a:r>
            </a:p>
          </p:txBody>
        </p:sp>
      </p:grpSp>
    </p:spTree>
    <p:extLst>
      <p:ext uri="{BB962C8B-B14F-4D97-AF65-F5344CB8AC3E}">
        <p14:creationId xmlns:p14="http://schemas.microsoft.com/office/powerpoint/2010/main" val="385795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Transfiniter Atomismus: Variante</a:t>
            </a:r>
            <a:endParaRPr lang="en-CA" sz="3200" dirty="0">
              <a:solidFill>
                <a:schemeClr val="bg1"/>
              </a:solidFill>
              <a:effectLst>
                <a:outerShdw blurRad="38100" dist="38100" dir="2700000" algn="tl">
                  <a:srgbClr val="000000">
                    <a:alpha val="43137"/>
                  </a:srgbClr>
                </a:outerShdw>
              </a:effectLst>
            </a:endParaRPr>
          </a:p>
        </p:txBody>
      </p:sp>
      <p:pic>
        <p:nvPicPr>
          <p:cNvPr id="100" name="Grafik 99">
            <a:extLst>
              <a:ext uri="{FF2B5EF4-FFF2-40B4-BE49-F238E27FC236}">
                <a16:creationId xmlns:a16="http://schemas.microsoft.com/office/drawing/2014/main" xmlns="" id="{8F898702-8C59-48F4-9950-7D39D724313F}"/>
              </a:ext>
            </a:extLst>
          </p:cNvPr>
          <p:cNvPicPr>
            <a:picLocks noChangeAspect="1"/>
          </p:cNvPicPr>
          <p:nvPr/>
        </p:nvPicPr>
        <p:blipFill>
          <a:blip r:embed="rId3"/>
          <a:srcRect l="2630" r="2630"/>
          <a:stretch/>
        </p:blipFill>
        <p:spPr>
          <a:xfrm>
            <a:off x="1190625" y="800100"/>
            <a:ext cx="1314450" cy="1638300"/>
          </a:xfrm>
          <a:prstGeom prst="rect">
            <a:avLst/>
          </a:prstGeom>
        </p:spPr>
      </p:pic>
      <p:sp>
        <p:nvSpPr>
          <p:cNvPr id="101" name="portrait-name-pascal">
            <a:extLst>
              <a:ext uri="{FF2B5EF4-FFF2-40B4-BE49-F238E27FC236}">
                <a16:creationId xmlns:a16="http://schemas.microsoft.com/office/drawing/2014/main" xmlns="" id="{49B51230-C9B9-4E51-96DD-202A5DDD7E77}"/>
              </a:ext>
            </a:extLst>
          </p:cNvPr>
          <p:cNvSpPr>
            <a:spLocks noGrp="1"/>
          </p:cNvSpPr>
          <p:nvPr/>
        </p:nvSpPr>
        <p:spPr>
          <a:xfrm>
            <a:off x="390525" y="2505075"/>
            <a:ext cx="2914650" cy="276225"/>
          </a:xfrm>
          <a:prstGeom prst="rect">
            <a:avLst/>
          </a:prstGeom>
          <a:noFill/>
          <a:ln w="0">
            <a:noFill/>
            <a:prstDash val="solid"/>
          </a:ln>
        </p:spPr>
        <p:txBody>
          <a:bodyPr wrap="square" lIns="0" tIns="0" rIns="0" bIns="0" anchor="ctr">
            <a:noAutofit/>
          </a:bodyPr>
          <a:lstStyle>
            <a:defPPr algn="ctr">
              <a:defRPr sz="1600" b="1">
                <a:solidFill>
                  <a:srgbClr val="000000"/>
                </a:solidFill>
                <a:latin typeface="Times New Roman"/>
                <a:ea typeface="Times New Roman"/>
                <a:cs typeface="Times New Roman"/>
              </a:defRPr>
            </a:defPPr>
            <a:lvl1pPr algn="ctr">
              <a:defRPr sz="1600" b="1">
                <a:solidFill>
                  <a:srgbClr val="000000"/>
                </a:solidFill>
                <a:latin typeface="Times New Roman"/>
                <a:ea typeface="Times New Roman"/>
                <a:cs typeface="Times New Roman"/>
              </a:defRPr>
            </a:lvl1pPr>
            <a:lvl2pPr algn="ctr">
              <a:defRPr sz="1600" b="1">
                <a:solidFill>
                  <a:srgbClr val="000000"/>
                </a:solidFill>
                <a:latin typeface="Times New Roman"/>
                <a:ea typeface="Times New Roman"/>
                <a:cs typeface="Times New Roman"/>
              </a:defRPr>
            </a:lvl2pPr>
            <a:lvl3pPr algn="ctr">
              <a:defRPr sz="1600" b="1">
                <a:solidFill>
                  <a:srgbClr val="000000"/>
                </a:solidFill>
                <a:latin typeface="Times New Roman"/>
                <a:ea typeface="Times New Roman"/>
                <a:cs typeface="Times New Roman"/>
              </a:defRPr>
            </a:lvl3pPr>
            <a:lvl4pPr algn="ctr">
              <a:defRPr sz="1600" b="1">
                <a:solidFill>
                  <a:srgbClr val="000000"/>
                </a:solidFill>
                <a:latin typeface="Times New Roman"/>
                <a:ea typeface="Times New Roman"/>
                <a:cs typeface="Times New Roman"/>
              </a:defRPr>
            </a:lvl4pPr>
            <a:lvl5pPr algn="ctr">
              <a:defRPr sz="1600" b="1">
                <a:solidFill>
                  <a:srgbClr val="000000"/>
                </a:solidFill>
                <a:latin typeface="Times New Roman"/>
                <a:ea typeface="Times New Roman"/>
                <a:cs typeface="Times New Roman"/>
              </a:defRPr>
            </a:lvl5pPr>
            <a:lvl6pPr algn="ctr">
              <a:defRPr sz="1600" b="1">
                <a:solidFill>
                  <a:srgbClr val="000000"/>
                </a:solidFill>
                <a:latin typeface="Times New Roman"/>
                <a:ea typeface="Times New Roman"/>
                <a:cs typeface="Times New Roman"/>
              </a:defRPr>
            </a:lvl6pPr>
            <a:lvl7pPr algn="ctr">
              <a:defRPr sz="1600" b="1">
                <a:solidFill>
                  <a:srgbClr val="000000"/>
                </a:solidFill>
                <a:latin typeface="Times New Roman"/>
                <a:ea typeface="Times New Roman"/>
                <a:cs typeface="Times New Roman"/>
              </a:defRPr>
            </a:lvl7pPr>
            <a:lvl8pPr algn="ctr">
              <a:defRPr sz="1600" b="1">
                <a:solidFill>
                  <a:srgbClr val="000000"/>
                </a:solidFill>
                <a:latin typeface="Times New Roman"/>
                <a:ea typeface="Times New Roman"/>
                <a:cs typeface="Times New Roman"/>
              </a:defRPr>
            </a:lvl8pPr>
            <a:lvl9pPr algn="ctr">
              <a:defRPr sz="1600" b="1">
                <a:solidFill>
                  <a:srgbClr val="000000"/>
                </a:solidFill>
                <a:latin typeface="Times New Roman"/>
                <a:ea typeface="Times New Roman"/>
                <a:cs typeface="Times New Roman"/>
              </a:defRPr>
            </a:lvl9pPr>
          </a:lstStyle>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Blaise Pascal</a:t>
            </a:r>
          </a:p>
        </p:txBody>
      </p:sp>
      <p:sp>
        <p:nvSpPr>
          <p:cNvPr id="102" name="portrait-years-pascal">
            <a:extLst>
              <a:ext uri="{FF2B5EF4-FFF2-40B4-BE49-F238E27FC236}">
                <a16:creationId xmlns:a16="http://schemas.microsoft.com/office/drawing/2014/main" xmlns="" id="{0CB4ED6C-6365-4913-BB43-4C0104E9A653}"/>
              </a:ext>
            </a:extLst>
          </p:cNvPr>
          <p:cNvSpPr>
            <a:spLocks noGrp="1"/>
          </p:cNvSpPr>
          <p:nvPr/>
        </p:nvSpPr>
        <p:spPr>
          <a:xfrm>
            <a:off x="390525" y="2809875"/>
            <a:ext cx="2914650" cy="238125"/>
          </a:xfrm>
          <a:prstGeom prst="rect">
            <a:avLst/>
          </a:prstGeom>
          <a:noFill/>
          <a:ln w="0">
            <a:noFill/>
            <a:prstDash val="solid"/>
          </a:ln>
        </p:spPr>
        <p:txBody>
          <a:bodyPr wrap="square" lIns="0" tIns="0" rIns="0" bIns="0" anchor="t">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0000"/>
              </a:lnSpc>
              <a:buNone/>
              <a:defRPr sz="1400">
                <a:solidFill>
                  <a:srgbClr val="000000"/>
                </a:solidFill>
                <a:latin typeface="Times New Roman"/>
                <a:ea typeface="Times New Roman"/>
                <a:cs typeface="Times New Roman"/>
              </a:defRPr>
            </a:pPr>
            <a:r>
              <a:rPr sz="1400">
                <a:solidFill>
                  <a:srgbClr val="000000"/>
                </a:solidFill>
                <a:latin typeface="Times New Roman"/>
                <a:ea typeface="Times New Roman"/>
                <a:cs typeface="Times New Roman"/>
              </a:rPr>
              <a:t>1623–1662</a:t>
            </a:r>
          </a:p>
        </p:txBody>
      </p:sp>
      <p:sp>
        <p:nvSpPr>
          <p:cNvPr id="103" name="portrait-qualification-pascal">
            <a:extLst>
              <a:ext uri="{FF2B5EF4-FFF2-40B4-BE49-F238E27FC236}">
                <a16:creationId xmlns:a16="http://schemas.microsoft.com/office/drawing/2014/main" xmlns="" id="{C288AA78-4F87-4723-98F3-758092429DB2}"/>
              </a:ext>
            </a:extLst>
          </p:cNvPr>
          <p:cNvSpPr>
            <a:spLocks noGrp="1"/>
          </p:cNvSpPr>
          <p:nvPr/>
        </p:nvSpPr>
        <p:spPr>
          <a:xfrm>
            <a:off x="390525" y="3067050"/>
            <a:ext cx="2914650" cy="219075"/>
          </a:xfrm>
          <a:prstGeom prst="rect">
            <a:avLst/>
          </a:prstGeom>
          <a:noFill/>
          <a:ln w="0">
            <a:noFill/>
            <a:prstDash val="solid"/>
          </a:ln>
        </p:spPr>
        <p:txBody>
          <a:bodyPr wrap="square" lIns="0" tIns="0" rIns="0" bIns="0" anchor="t">
            <a:noAutofit/>
          </a:bodyPr>
          <a:lstStyle>
            <a:defPPr algn="ctr">
              <a:defRPr sz="1300" i="1">
                <a:solidFill>
                  <a:srgbClr val="000000"/>
                </a:solidFill>
                <a:latin typeface="Times New Roman"/>
                <a:ea typeface="Times New Roman"/>
                <a:cs typeface="Times New Roman"/>
              </a:defRPr>
            </a:defPPr>
            <a:lvl1pPr algn="ctr">
              <a:defRPr sz="1300" i="1">
                <a:solidFill>
                  <a:srgbClr val="000000"/>
                </a:solidFill>
                <a:latin typeface="Times New Roman"/>
                <a:ea typeface="Times New Roman"/>
                <a:cs typeface="Times New Roman"/>
              </a:defRPr>
            </a:lvl1pPr>
            <a:lvl2pPr algn="ctr">
              <a:defRPr sz="1300" i="1">
                <a:solidFill>
                  <a:srgbClr val="000000"/>
                </a:solidFill>
                <a:latin typeface="Times New Roman"/>
                <a:ea typeface="Times New Roman"/>
                <a:cs typeface="Times New Roman"/>
              </a:defRPr>
            </a:lvl2pPr>
            <a:lvl3pPr algn="ctr">
              <a:defRPr sz="1300" i="1">
                <a:solidFill>
                  <a:srgbClr val="000000"/>
                </a:solidFill>
                <a:latin typeface="Times New Roman"/>
                <a:ea typeface="Times New Roman"/>
                <a:cs typeface="Times New Roman"/>
              </a:defRPr>
            </a:lvl3pPr>
            <a:lvl4pPr algn="ctr">
              <a:defRPr sz="1300" i="1">
                <a:solidFill>
                  <a:srgbClr val="000000"/>
                </a:solidFill>
                <a:latin typeface="Times New Roman"/>
                <a:ea typeface="Times New Roman"/>
                <a:cs typeface="Times New Roman"/>
              </a:defRPr>
            </a:lvl4pPr>
            <a:lvl5pPr algn="ctr">
              <a:defRPr sz="1300" i="1">
                <a:solidFill>
                  <a:srgbClr val="000000"/>
                </a:solidFill>
                <a:latin typeface="Times New Roman"/>
                <a:ea typeface="Times New Roman"/>
                <a:cs typeface="Times New Roman"/>
              </a:defRPr>
            </a:lvl5pPr>
            <a:lvl6pPr algn="ctr">
              <a:defRPr sz="1300" i="1">
                <a:solidFill>
                  <a:srgbClr val="000000"/>
                </a:solidFill>
                <a:latin typeface="Times New Roman"/>
                <a:ea typeface="Times New Roman"/>
                <a:cs typeface="Times New Roman"/>
              </a:defRPr>
            </a:lvl6pPr>
            <a:lvl7pPr algn="ctr">
              <a:defRPr sz="1300" i="1">
                <a:solidFill>
                  <a:srgbClr val="000000"/>
                </a:solidFill>
                <a:latin typeface="Times New Roman"/>
                <a:ea typeface="Times New Roman"/>
                <a:cs typeface="Times New Roman"/>
              </a:defRPr>
            </a:lvl7pPr>
            <a:lvl8pPr algn="ctr">
              <a:defRPr sz="1300" i="1">
                <a:solidFill>
                  <a:srgbClr val="000000"/>
                </a:solidFill>
                <a:latin typeface="Times New Roman"/>
                <a:ea typeface="Times New Roman"/>
                <a:cs typeface="Times New Roman"/>
              </a:defRPr>
            </a:lvl8pPr>
            <a:lvl9pPr algn="ctr">
              <a:defRPr sz="1300" i="1">
                <a:solidFill>
                  <a:srgbClr val="000000"/>
                </a:solidFill>
                <a:latin typeface="Times New Roman"/>
                <a:ea typeface="Times New Roman"/>
                <a:cs typeface="Times New Roman"/>
              </a:defRPr>
            </a:lvl9pPr>
          </a:lstStyle>
          <a:p>
            <a:pPr algn="ctr">
              <a:lnSpc>
                <a:spcPct val="100000"/>
              </a:lnSpc>
              <a:buNone/>
              <a:defRPr sz="1300" i="1">
                <a:solidFill>
                  <a:srgbClr val="000000"/>
                </a:solidFill>
                <a:latin typeface="Times New Roman"/>
                <a:ea typeface="Times New Roman"/>
                <a:cs typeface="Times New Roman"/>
              </a:defRPr>
            </a:pPr>
            <a:r>
              <a:rPr sz="1300" i="1">
                <a:solidFill>
                  <a:srgbClr val="000000"/>
                </a:solidFill>
                <a:latin typeface="Times New Roman"/>
                <a:ea typeface="Times New Roman"/>
                <a:cs typeface="Times New Roman"/>
              </a:rPr>
              <a:t>mögliche Zuordnung</a:t>
            </a:r>
          </a:p>
        </p:txBody>
      </p:sp>
      <p:sp>
        <p:nvSpPr>
          <p:cNvPr id="104" name="position-explanation">
            <a:extLst>
              <a:ext uri="{FF2B5EF4-FFF2-40B4-BE49-F238E27FC236}">
                <a16:creationId xmlns:a16="http://schemas.microsoft.com/office/drawing/2014/main" xmlns="" id="{BBFBE232-77CE-4306-95C5-265C9E07FFC0}"/>
              </a:ext>
            </a:extLst>
          </p:cNvPr>
          <p:cNvSpPr>
            <a:spLocks noGrp="1"/>
          </p:cNvSpPr>
          <p:nvPr/>
        </p:nvSpPr>
        <p:spPr>
          <a:xfrm>
            <a:off x="3771900" y="942975"/>
            <a:ext cx="4991100" cy="2095500"/>
          </a:xfrm>
          <a:prstGeom prst="rect">
            <a:avLst/>
          </a:prstGeom>
          <a:noFill/>
          <a:ln w="0">
            <a:noFill/>
            <a:prstDash val="solid"/>
          </a:ln>
        </p:spPr>
        <p:txBody>
          <a:bodyPr wrap="square" lIns="0" tIns="0" rIns="0" bIns="0" anchor="t">
            <a:noAutofit/>
          </a:bodyPr>
          <a:lstStyle>
            <a:defPPr algn="l">
              <a:defRPr sz="1900">
                <a:solidFill>
                  <a:srgbClr val="000000"/>
                </a:solidFill>
                <a:latin typeface="Times New Roman"/>
                <a:ea typeface="Times New Roman"/>
                <a:cs typeface="Times New Roman"/>
              </a:defRPr>
            </a:defPPr>
            <a:lvl1pPr algn="l">
              <a:defRPr sz="1900">
                <a:solidFill>
                  <a:srgbClr val="000000"/>
                </a:solidFill>
                <a:latin typeface="Times New Roman"/>
                <a:ea typeface="Times New Roman"/>
                <a:cs typeface="Times New Roman"/>
              </a:defRPr>
            </a:lvl1pPr>
            <a:lvl2pPr algn="l">
              <a:defRPr sz="1900">
                <a:solidFill>
                  <a:srgbClr val="000000"/>
                </a:solidFill>
                <a:latin typeface="Times New Roman"/>
                <a:ea typeface="Times New Roman"/>
                <a:cs typeface="Times New Roman"/>
              </a:defRPr>
            </a:lvl2pPr>
            <a:lvl3pPr algn="l">
              <a:defRPr sz="1900">
                <a:solidFill>
                  <a:srgbClr val="000000"/>
                </a:solidFill>
                <a:latin typeface="Times New Roman"/>
                <a:ea typeface="Times New Roman"/>
                <a:cs typeface="Times New Roman"/>
              </a:defRPr>
            </a:lvl3pPr>
            <a:lvl4pPr algn="l">
              <a:defRPr sz="1900">
                <a:solidFill>
                  <a:srgbClr val="000000"/>
                </a:solidFill>
                <a:latin typeface="Times New Roman"/>
                <a:ea typeface="Times New Roman"/>
                <a:cs typeface="Times New Roman"/>
              </a:defRPr>
            </a:lvl4pPr>
            <a:lvl5pPr algn="l">
              <a:defRPr sz="1900">
                <a:solidFill>
                  <a:srgbClr val="000000"/>
                </a:solidFill>
                <a:latin typeface="Times New Roman"/>
                <a:ea typeface="Times New Roman"/>
                <a:cs typeface="Times New Roman"/>
              </a:defRPr>
            </a:lvl5pPr>
            <a:lvl6pPr algn="l">
              <a:defRPr sz="1900">
                <a:solidFill>
                  <a:srgbClr val="000000"/>
                </a:solidFill>
                <a:latin typeface="Times New Roman"/>
                <a:ea typeface="Times New Roman"/>
                <a:cs typeface="Times New Roman"/>
              </a:defRPr>
            </a:lvl6pPr>
            <a:lvl7pPr algn="l">
              <a:defRPr sz="1900">
                <a:solidFill>
                  <a:srgbClr val="000000"/>
                </a:solidFill>
                <a:latin typeface="Times New Roman"/>
                <a:ea typeface="Times New Roman"/>
                <a:cs typeface="Times New Roman"/>
              </a:defRPr>
            </a:lvl7pPr>
            <a:lvl8pPr algn="l">
              <a:defRPr sz="1900">
                <a:solidFill>
                  <a:srgbClr val="000000"/>
                </a:solidFill>
                <a:latin typeface="Times New Roman"/>
                <a:ea typeface="Times New Roman"/>
                <a:cs typeface="Times New Roman"/>
              </a:defRPr>
            </a:lvl8pPr>
            <a:lvl9pPr algn="l">
              <a:defRPr sz="1900">
                <a:solidFill>
                  <a:srgbClr val="000000"/>
                </a:solidFill>
                <a:latin typeface="Times New Roman"/>
                <a:ea typeface="Times New Roman"/>
                <a:cs typeface="Times New Roman"/>
              </a:defRPr>
            </a:lvl9pPr>
          </a:lstStyle>
          <a:p>
            <a:pPr algn="l">
              <a:lnSpc>
                <a:spcPct val="112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Unendlich viele unendlich kleine Indivisiblen bilden die Linie.</a:t>
            </a:r>
          </a:p>
          <a:p>
            <a:pPr>
              <a:defRPr>
                <a:latin typeface="Times New Roman"/>
                <a:ea typeface="Times New Roman"/>
                <a:cs typeface="Times New Roman"/>
              </a:defRPr>
            </a:pPr>
            <a:endParaRPr sz="1900">
              <a:solidFill>
                <a:srgbClr val="000000"/>
              </a:solidFill>
              <a:latin typeface="Times New Roman"/>
              <a:ea typeface="Times New Roman"/>
              <a:cs typeface="Times New Roman"/>
            </a:endParaRPr>
          </a:p>
          <a:p>
            <a:pPr algn="l">
              <a:lnSpc>
                <a:spcPct val="112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Punkte und unteilbare Linienstücke sind Gegenstände verschiedener Art.</a:t>
            </a:r>
          </a:p>
        </p:txBody>
      </p:sp>
      <p:sp>
        <p:nvSpPr>
          <p:cNvPr id="143" name="visible-citation-continuum-33">
            <a:extLst>
              <a:ext uri="{FF2B5EF4-FFF2-40B4-BE49-F238E27FC236}">
                <a16:creationId xmlns:a16="http://schemas.microsoft.com/office/drawing/2014/main" xmlns="" id="{72DA8FC0-9FA2-4081-A2C4-81351C6BEA09}"/>
              </a:ext>
            </a:extLst>
          </p:cNvPr>
          <p:cNvSpPr>
            <a:spLocks noGrp="1"/>
          </p:cNvSpPr>
          <p:nvPr/>
        </p:nvSpPr>
        <p:spPr>
          <a:xfrm>
            <a:off x="3771900" y="2933700"/>
            <a:ext cx="4991100" cy="2095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a:solidFill>
                  <a:srgbClr val="000000"/>
                </a:solidFill>
                <a:latin typeface="Times New Roman"/>
                <a:ea typeface="Times New Roman"/>
                <a:cs typeface="Times New Roman"/>
              </a:rPr>
              <a:t>Bedürftig / Murawski (2019), § 3.3.5, S. 213–215.</a:t>
            </a:r>
          </a:p>
        </p:txBody>
      </p:sp>
      <p:grpSp>
        <p:nvGrpSpPr>
          <p:cNvPr id="144" name="Schritt 1: Transfinite Teilung"/>
          <p:cNvGrpSpPr/>
          <p:nvPr/>
        </p:nvGrpSpPr>
        <p:grpSpPr>
          <a:xfrm>
            <a:off x="419100" y="3314700"/>
            <a:ext cx="8305800" cy="627003"/>
            <a:chOff x="419100" y="3314700"/>
            <a:chExt cx="8305800" cy="627003"/>
          </a:xfrm>
        </p:grpSpPr>
        <p:sp>
          <p:nvSpPr>
            <p:cNvPr id="105" name="variant-diagram-title">
              <a:extLst>
                <a:ext uri="{FF2B5EF4-FFF2-40B4-BE49-F238E27FC236}">
                  <a16:creationId xmlns:a16="http://schemas.microsoft.com/office/drawing/2014/main" xmlns="" id="{EB783472-C368-4F93-BB45-B886C09D1C84}"/>
                </a:ext>
              </a:extLst>
            </p:cNvPr>
            <p:cNvSpPr>
              <a:spLocks noGrp="1"/>
            </p:cNvSpPr>
            <p:nvPr/>
          </p:nvSpPr>
          <p:spPr>
            <a:xfrm>
              <a:off x="419100" y="3314700"/>
              <a:ext cx="8305800" cy="285750"/>
            </a:xfrm>
            <a:prstGeom prst="rect">
              <a:avLst/>
            </a:prstGeom>
            <a:noFill/>
            <a:ln w="0">
              <a:noFill/>
              <a:prstDash val="solid"/>
            </a:ln>
          </p:spPr>
          <p:txBody>
            <a:bodyPr wrap="square" lIns="0" tIns="0" rIns="0" bIns="0" anchor="t">
              <a:noAutofit/>
            </a:bodyPr>
            <a:lstStyle>
              <a:defPPr algn="ctr">
                <a:defRPr sz="1700">
                  <a:solidFill>
                    <a:srgbClr val="000000"/>
                  </a:solidFill>
                  <a:latin typeface="Times New Roman"/>
                  <a:ea typeface="Times New Roman"/>
                  <a:cs typeface="Times New Roman"/>
                </a:defRPr>
              </a:defPPr>
              <a:lvl1pPr algn="ctr">
                <a:defRPr sz="1700">
                  <a:solidFill>
                    <a:srgbClr val="000000"/>
                  </a:solidFill>
                  <a:latin typeface="Times New Roman"/>
                  <a:ea typeface="Times New Roman"/>
                  <a:cs typeface="Times New Roman"/>
                </a:defRPr>
              </a:lvl1pPr>
              <a:lvl2pPr algn="ctr">
                <a:defRPr sz="1700">
                  <a:solidFill>
                    <a:srgbClr val="000000"/>
                  </a:solidFill>
                  <a:latin typeface="Times New Roman"/>
                  <a:ea typeface="Times New Roman"/>
                  <a:cs typeface="Times New Roman"/>
                </a:defRPr>
              </a:lvl2pPr>
              <a:lvl3pPr algn="ctr">
                <a:defRPr sz="1700">
                  <a:solidFill>
                    <a:srgbClr val="000000"/>
                  </a:solidFill>
                  <a:latin typeface="Times New Roman"/>
                  <a:ea typeface="Times New Roman"/>
                  <a:cs typeface="Times New Roman"/>
                </a:defRPr>
              </a:lvl3pPr>
              <a:lvl4pPr algn="ctr">
                <a:defRPr sz="1700">
                  <a:solidFill>
                    <a:srgbClr val="000000"/>
                  </a:solidFill>
                  <a:latin typeface="Times New Roman"/>
                  <a:ea typeface="Times New Roman"/>
                  <a:cs typeface="Times New Roman"/>
                </a:defRPr>
              </a:lvl4pPr>
              <a:lvl5pPr algn="ctr">
                <a:defRPr sz="1700">
                  <a:solidFill>
                    <a:srgbClr val="000000"/>
                  </a:solidFill>
                  <a:latin typeface="Times New Roman"/>
                  <a:ea typeface="Times New Roman"/>
                  <a:cs typeface="Times New Roman"/>
                </a:defRPr>
              </a:lvl5pPr>
              <a:lvl6pPr algn="ctr">
                <a:defRPr sz="1700">
                  <a:solidFill>
                    <a:srgbClr val="000000"/>
                  </a:solidFill>
                  <a:latin typeface="Times New Roman"/>
                  <a:ea typeface="Times New Roman"/>
                  <a:cs typeface="Times New Roman"/>
                </a:defRPr>
              </a:lvl6pPr>
              <a:lvl7pPr algn="ctr">
                <a:defRPr sz="1700">
                  <a:solidFill>
                    <a:srgbClr val="000000"/>
                  </a:solidFill>
                  <a:latin typeface="Times New Roman"/>
                  <a:ea typeface="Times New Roman"/>
                  <a:cs typeface="Times New Roman"/>
                </a:defRPr>
              </a:lvl7pPr>
              <a:lvl8pPr algn="ctr">
                <a:defRPr sz="1700">
                  <a:solidFill>
                    <a:srgbClr val="000000"/>
                  </a:solidFill>
                  <a:latin typeface="Times New Roman"/>
                  <a:ea typeface="Times New Roman"/>
                  <a:cs typeface="Times New Roman"/>
                </a:defRPr>
              </a:lvl8pPr>
              <a:lvl9pPr algn="ctr">
                <a:defRPr sz="1700">
                  <a:solidFill>
                    <a:srgbClr val="000000"/>
                  </a:solidFill>
                  <a:latin typeface="Times New Roman"/>
                  <a:ea typeface="Times New Roman"/>
                  <a:cs typeface="Times New Roman"/>
                </a:defRPr>
              </a:lvl9pPr>
            </a:lstStyle>
            <a:p>
              <a:pPr algn="ctr">
                <a:defRPr sz="1700">
                  <a:solidFill>
                    <a:srgbClr val="000000"/>
                  </a:solidFill>
                  <a:latin typeface="Times New Roman"/>
                  <a:ea typeface="Times New Roman"/>
                  <a:cs typeface="Times New Roman"/>
                </a:defRPr>
              </a:pPr>
              <a:r>
                <a:rPr sz="1700">
                  <a:solidFill>
                    <a:srgbClr val="000000"/>
                  </a:solidFill>
                  <a:latin typeface="Times New Roman"/>
                  <a:ea typeface="Times New Roman"/>
                  <a:cs typeface="Times New Roman"/>
                </a:rPr>
                <a:t>Linie aus unteilbaren Linienstücken</a:t>
              </a:r>
            </a:p>
          </p:txBody>
        </p:sp>
        <p:sp>
          <p:nvSpPr>
            <p:cNvPr id="106" name="variant-left-0">
              <a:extLst>
                <a:ext uri="{FF2B5EF4-FFF2-40B4-BE49-F238E27FC236}">
                  <a16:creationId xmlns:a16="http://schemas.microsoft.com/office/drawing/2014/main" xmlns="" id="{17B63B38-CB18-42EE-9283-00057295950D}"/>
                </a:ext>
              </a:extLst>
            </p:cNvPr>
            <p:cNvSpPr>
              <a:spLocks noGrp="1"/>
            </p:cNvSpPr>
            <p:nvPr/>
          </p:nvSpPr>
          <p:spPr>
            <a:xfrm>
              <a:off x="762000" y="3752850"/>
              <a:ext cx="209550" cy="114300"/>
            </a:xfrm>
            <a:prstGeom prst="rect">
              <a:avLst/>
            </a:prstGeom>
            <a:solidFill>
              <a:srgbClr val="DCE6F1"/>
            </a:solidFill>
            <a:ln w="7620">
              <a:solidFill>
                <a:srgbClr val="000000"/>
              </a:solidFill>
              <a:prstDash val="solid"/>
            </a:ln>
          </p:spPr>
        </p:sp>
        <p:sp>
          <p:nvSpPr>
            <p:cNvPr id="107" name="variant-right-0">
              <a:extLst>
                <a:ext uri="{FF2B5EF4-FFF2-40B4-BE49-F238E27FC236}">
                  <a16:creationId xmlns:a16="http://schemas.microsoft.com/office/drawing/2014/main" xmlns="" id="{9209BC6F-8ABD-4873-9468-23ED77F65D4B}"/>
                </a:ext>
              </a:extLst>
            </p:cNvPr>
            <p:cNvSpPr>
              <a:spLocks noGrp="1"/>
            </p:cNvSpPr>
            <p:nvPr/>
          </p:nvSpPr>
          <p:spPr>
            <a:xfrm>
              <a:off x="5238750" y="3752850"/>
              <a:ext cx="209550" cy="114300"/>
            </a:xfrm>
            <a:prstGeom prst="rect">
              <a:avLst/>
            </a:prstGeom>
            <a:solidFill>
              <a:srgbClr val="DCE6F1"/>
            </a:solidFill>
            <a:ln w="7620">
              <a:solidFill>
                <a:srgbClr val="000000"/>
              </a:solidFill>
              <a:prstDash val="solid"/>
            </a:ln>
          </p:spPr>
        </p:sp>
        <p:sp>
          <p:nvSpPr>
            <p:cNvPr id="108" name="variant-left-1">
              <a:extLst>
                <a:ext uri="{FF2B5EF4-FFF2-40B4-BE49-F238E27FC236}">
                  <a16:creationId xmlns:a16="http://schemas.microsoft.com/office/drawing/2014/main" xmlns="" id="{09B13D9F-B2DA-407E-8D07-F2B811334B3D}"/>
                </a:ext>
              </a:extLst>
            </p:cNvPr>
            <p:cNvSpPr>
              <a:spLocks noGrp="1"/>
            </p:cNvSpPr>
            <p:nvPr/>
          </p:nvSpPr>
          <p:spPr>
            <a:xfrm>
              <a:off x="971550" y="3752850"/>
              <a:ext cx="209550" cy="114300"/>
            </a:xfrm>
            <a:prstGeom prst="rect">
              <a:avLst/>
            </a:prstGeom>
            <a:solidFill>
              <a:srgbClr val="DCE6F1"/>
            </a:solidFill>
            <a:ln w="7620">
              <a:solidFill>
                <a:srgbClr val="000000"/>
              </a:solidFill>
              <a:prstDash val="solid"/>
            </a:ln>
          </p:spPr>
        </p:sp>
        <p:sp>
          <p:nvSpPr>
            <p:cNvPr id="109" name="variant-right-1">
              <a:extLst>
                <a:ext uri="{FF2B5EF4-FFF2-40B4-BE49-F238E27FC236}">
                  <a16:creationId xmlns:a16="http://schemas.microsoft.com/office/drawing/2014/main" xmlns="" id="{C4509B54-58E4-4793-837C-D8B46D2C8F74}"/>
                </a:ext>
              </a:extLst>
            </p:cNvPr>
            <p:cNvSpPr>
              <a:spLocks noGrp="1"/>
            </p:cNvSpPr>
            <p:nvPr/>
          </p:nvSpPr>
          <p:spPr>
            <a:xfrm>
              <a:off x="5448300" y="3752850"/>
              <a:ext cx="209550" cy="114300"/>
            </a:xfrm>
            <a:prstGeom prst="rect">
              <a:avLst/>
            </a:prstGeom>
            <a:solidFill>
              <a:srgbClr val="DCE6F1"/>
            </a:solidFill>
            <a:ln w="7620">
              <a:solidFill>
                <a:srgbClr val="000000"/>
              </a:solidFill>
              <a:prstDash val="solid"/>
            </a:ln>
          </p:spPr>
        </p:sp>
        <p:sp>
          <p:nvSpPr>
            <p:cNvPr id="110" name="variant-left-2">
              <a:extLst>
                <a:ext uri="{FF2B5EF4-FFF2-40B4-BE49-F238E27FC236}">
                  <a16:creationId xmlns:a16="http://schemas.microsoft.com/office/drawing/2014/main" xmlns="" id="{FBDC62AB-F1BB-4B4D-8938-168788AC120E}"/>
                </a:ext>
              </a:extLst>
            </p:cNvPr>
            <p:cNvSpPr>
              <a:spLocks noGrp="1"/>
            </p:cNvSpPr>
            <p:nvPr/>
          </p:nvSpPr>
          <p:spPr>
            <a:xfrm>
              <a:off x="1181100" y="3752850"/>
              <a:ext cx="209550" cy="114300"/>
            </a:xfrm>
            <a:prstGeom prst="rect">
              <a:avLst/>
            </a:prstGeom>
            <a:solidFill>
              <a:srgbClr val="DCE6F1"/>
            </a:solidFill>
            <a:ln w="7620">
              <a:solidFill>
                <a:srgbClr val="000000"/>
              </a:solidFill>
              <a:prstDash val="solid"/>
            </a:ln>
          </p:spPr>
        </p:sp>
        <p:sp>
          <p:nvSpPr>
            <p:cNvPr id="111" name="variant-right-2">
              <a:extLst>
                <a:ext uri="{FF2B5EF4-FFF2-40B4-BE49-F238E27FC236}">
                  <a16:creationId xmlns:a16="http://schemas.microsoft.com/office/drawing/2014/main" xmlns="" id="{AE2DCAAC-AB80-4A4D-9CD9-1B56B847D435}"/>
                </a:ext>
              </a:extLst>
            </p:cNvPr>
            <p:cNvSpPr>
              <a:spLocks noGrp="1"/>
            </p:cNvSpPr>
            <p:nvPr/>
          </p:nvSpPr>
          <p:spPr>
            <a:xfrm>
              <a:off x="5657850" y="3752850"/>
              <a:ext cx="209550" cy="114300"/>
            </a:xfrm>
            <a:prstGeom prst="rect">
              <a:avLst/>
            </a:prstGeom>
            <a:solidFill>
              <a:srgbClr val="DCE6F1"/>
            </a:solidFill>
            <a:ln w="7620">
              <a:solidFill>
                <a:srgbClr val="000000"/>
              </a:solidFill>
              <a:prstDash val="solid"/>
            </a:ln>
          </p:spPr>
        </p:sp>
        <p:sp>
          <p:nvSpPr>
            <p:cNvPr id="112" name="variant-left-3">
              <a:extLst>
                <a:ext uri="{FF2B5EF4-FFF2-40B4-BE49-F238E27FC236}">
                  <a16:creationId xmlns:a16="http://schemas.microsoft.com/office/drawing/2014/main" xmlns="" id="{B395E1D3-286A-447D-92BA-B1A0A4DA70A4}"/>
                </a:ext>
              </a:extLst>
            </p:cNvPr>
            <p:cNvSpPr>
              <a:spLocks noGrp="1"/>
            </p:cNvSpPr>
            <p:nvPr/>
          </p:nvSpPr>
          <p:spPr>
            <a:xfrm>
              <a:off x="1390650" y="3752850"/>
              <a:ext cx="209550" cy="114300"/>
            </a:xfrm>
            <a:prstGeom prst="rect">
              <a:avLst/>
            </a:prstGeom>
            <a:solidFill>
              <a:srgbClr val="DCE6F1"/>
            </a:solidFill>
            <a:ln w="7620">
              <a:solidFill>
                <a:srgbClr val="000000"/>
              </a:solidFill>
              <a:prstDash val="solid"/>
            </a:ln>
          </p:spPr>
        </p:sp>
        <p:sp>
          <p:nvSpPr>
            <p:cNvPr id="113" name="variant-right-3">
              <a:extLst>
                <a:ext uri="{FF2B5EF4-FFF2-40B4-BE49-F238E27FC236}">
                  <a16:creationId xmlns:a16="http://schemas.microsoft.com/office/drawing/2014/main" xmlns="" id="{7462E4C4-CFF2-4D59-A5BF-90D378FEBC08}"/>
                </a:ext>
              </a:extLst>
            </p:cNvPr>
            <p:cNvSpPr>
              <a:spLocks noGrp="1"/>
            </p:cNvSpPr>
            <p:nvPr/>
          </p:nvSpPr>
          <p:spPr>
            <a:xfrm>
              <a:off x="5867400" y="3752850"/>
              <a:ext cx="209550" cy="114300"/>
            </a:xfrm>
            <a:prstGeom prst="rect">
              <a:avLst/>
            </a:prstGeom>
            <a:solidFill>
              <a:srgbClr val="DCE6F1"/>
            </a:solidFill>
            <a:ln w="7620">
              <a:solidFill>
                <a:srgbClr val="000000"/>
              </a:solidFill>
              <a:prstDash val="solid"/>
            </a:ln>
          </p:spPr>
        </p:sp>
        <p:sp>
          <p:nvSpPr>
            <p:cNvPr id="114" name="variant-left-4">
              <a:extLst>
                <a:ext uri="{FF2B5EF4-FFF2-40B4-BE49-F238E27FC236}">
                  <a16:creationId xmlns:a16="http://schemas.microsoft.com/office/drawing/2014/main" xmlns="" id="{D0414673-9F9B-48C0-AB96-3230D33E2CE8}"/>
                </a:ext>
              </a:extLst>
            </p:cNvPr>
            <p:cNvSpPr>
              <a:spLocks noGrp="1"/>
            </p:cNvSpPr>
            <p:nvPr/>
          </p:nvSpPr>
          <p:spPr>
            <a:xfrm>
              <a:off x="1600200" y="3752850"/>
              <a:ext cx="209550" cy="114300"/>
            </a:xfrm>
            <a:prstGeom prst="rect">
              <a:avLst/>
            </a:prstGeom>
            <a:solidFill>
              <a:srgbClr val="DCE6F1"/>
            </a:solidFill>
            <a:ln w="7620">
              <a:solidFill>
                <a:srgbClr val="000000"/>
              </a:solidFill>
              <a:prstDash val="solid"/>
            </a:ln>
          </p:spPr>
        </p:sp>
        <p:sp>
          <p:nvSpPr>
            <p:cNvPr id="115" name="variant-right-4">
              <a:extLst>
                <a:ext uri="{FF2B5EF4-FFF2-40B4-BE49-F238E27FC236}">
                  <a16:creationId xmlns:a16="http://schemas.microsoft.com/office/drawing/2014/main" xmlns="" id="{A37F9186-DFEA-4BB1-A36D-8713BFA4D885}"/>
                </a:ext>
              </a:extLst>
            </p:cNvPr>
            <p:cNvSpPr>
              <a:spLocks noGrp="1"/>
            </p:cNvSpPr>
            <p:nvPr/>
          </p:nvSpPr>
          <p:spPr>
            <a:xfrm>
              <a:off x="6076950" y="3752850"/>
              <a:ext cx="209550" cy="114300"/>
            </a:xfrm>
            <a:prstGeom prst="rect">
              <a:avLst/>
            </a:prstGeom>
            <a:solidFill>
              <a:srgbClr val="DCE6F1"/>
            </a:solidFill>
            <a:ln w="7620">
              <a:solidFill>
                <a:srgbClr val="000000"/>
              </a:solidFill>
              <a:prstDash val="solid"/>
            </a:ln>
          </p:spPr>
        </p:sp>
        <p:sp>
          <p:nvSpPr>
            <p:cNvPr id="116" name="variant-left-5">
              <a:extLst>
                <a:ext uri="{FF2B5EF4-FFF2-40B4-BE49-F238E27FC236}">
                  <a16:creationId xmlns:a16="http://schemas.microsoft.com/office/drawing/2014/main" xmlns="" id="{132DE867-85AA-465A-BA52-0A9B1ACC355D}"/>
                </a:ext>
              </a:extLst>
            </p:cNvPr>
            <p:cNvSpPr>
              <a:spLocks noGrp="1"/>
            </p:cNvSpPr>
            <p:nvPr/>
          </p:nvSpPr>
          <p:spPr>
            <a:xfrm>
              <a:off x="1809750" y="3752850"/>
              <a:ext cx="209550" cy="114300"/>
            </a:xfrm>
            <a:prstGeom prst="rect">
              <a:avLst/>
            </a:prstGeom>
            <a:solidFill>
              <a:srgbClr val="DCE6F1"/>
            </a:solidFill>
            <a:ln w="7620">
              <a:solidFill>
                <a:srgbClr val="000000"/>
              </a:solidFill>
              <a:prstDash val="solid"/>
            </a:ln>
          </p:spPr>
        </p:sp>
        <p:sp>
          <p:nvSpPr>
            <p:cNvPr id="117" name="variant-right-5">
              <a:extLst>
                <a:ext uri="{FF2B5EF4-FFF2-40B4-BE49-F238E27FC236}">
                  <a16:creationId xmlns:a16="http://schemas.microsoft.com/office/drawing/2014/main" xmlns="" id="{0434EC8B-0DD0-43E3-B994-332F4A808D76}"/>
                </a:ext>
              </a:extLst>
            </p:cNvPr>
            <p:cNvSpPr>
              <a:spLocks noGrp="1"/>
            </p:cNvSpPr>
            <p:nvPr/>
          </p:nvSpPr>
          <p:spPr>
            <a:xfrm>
              <a:off x="6286500" y="3752850"/>
              <a:ext cx="209550" cy="114300"/>
            </a:xfrm>
            <a:prstGeom prst="rect">
              <a:avLst/>
            </a:prstGeom>
            <a:solidFill>
              <a:srgbClr val="DCE6F1"/>
            </a:solidFill>
            <a:ln w="7620">
              <a:solidFill>
                <a:srgbClr val="000000"/>
              </a:solidFill>
              <a:prstDash val="solid"/>
            </a:ln>
          </p:spPr>
        </p:sp>
        <p:sp>
          <p:nvSpPr>
            <p:cNvPr id="118" name="variant-left-6">
              <a:extLst>
                <a:ext uri="{FF2B5EF4-FFF2-40B4-BE49-F238E27FC236}">
                  <a16:creationId xmlns:a16="http://schemas.microsoft.com/office/drawing/2014/main" xmlns="" id="{03E83AF7-7785-4F40-9E31-C58117720020}"/>
                </a:ext>
              </a:extLst>
            </p:cNvPr>
            <p:cNvSpPr>
              <a:spLocks noGrp="1"/>
            </p:cNvSpPr>
            <p:nvPr/>
          </p:nvSpPr>
          <p:spPr>
            <a:xfrm>
              <a:off x="2019300" y="3752850"/>
              <a:ext cx="209550" cy="114300"/>
            </a:xfrm>
            <a:prstGeom prst="rect">
              <a:avLst/>
            </a:prstGeom>
            <a:solidFill>
              <a:srgbClr val="DCE6F1"/>
            </a:solidFill>
            <a:ln w="7620">
              <a:solidFill>
                <a:srgbClr val="000000"/>
              </a:solidFill>
              <a:prstDash val="solid"/>
            </a:ln>
          </p:spPr>
        </p:sp>
        <p:sp>
          <p:nvSpPr>
            <p:cNvPr id="119" name="variant-right-6">
              <a:extLst>
                <a:ext uri="{FF2B5EF4-FFF2-40B4-BE49-F238E27FC236}">
                  <a16:creationId xmlns:a16="http://schemas.microsoft.com/office/drawing/2014/main" xmlns="" id="{DBEC4206-C36B-4911-A759-74F0DAC732CF}"/>
                </a:ext>
              </a:extLst>
            </p:cNvPr>
            <p:cNvSpPr>
              <a:spLocks noGrp="1"/>
            </p:cNvSpPr>
            <p:nvPr/>
          </p:nvSpPr>
          <p:spPr>
            <a:xfrm>
              <a:off x="6496050" y="3752850"/>
              <a:ext cx="209550" cy="114300"/>
            </a:xfrm>
            <a:prstGeom prst="rect">
              <a:avLst/>
            </a:prstGeom>
            <a:solidFill>
              <a:srgbClr val="DCE6F1"/>
            </a:solidFill>
            <a:ln w="7620">
              <a:solidFill>
                <a:srgbClr val="000000"/>
              </a:solidFill>
              <a:prstDash val="solid"/>
            </a:ln>
          </p:spPr>
        </p:sp>
        <p:sp>
          <p:nvSpPr>
            <p:cNvPr id="120" name="variant-left-7">
              <a:extLst>
                <a:ext uri="{FF2B5EF4-FFF2-40B4-BE49-F238E27FC236}">
                  <a16:creationId xmlns:a16="http://schemas.microsoft.com/office/drawing/2014/main" xmlns="" id="{554DE0D8-C2BC-49DE-8BDE-17945C63903A}"/>
                </a:ext>
              </a:extLst>
            </p:cNvPr>
            <p:cNvSpPr>
              <a:spLocks noGrp="1"/>
            </p:cNvSpPr>
            <p:nvPr/>
          </p:nvSpPr>
          <p:spPr>
            <a:xfrm>
              <a:off x="2228850" y="3752850"/>
              <a:ext cx="209550" cy="114300"/>
            </a:xfrm>
            <a:prstGeom prst="rect">
              <a:avLst/>
            </a:prstGeom>
            <a:solidFill>
              <a:srgbClr val="DCE6F1"/>
            </a:solidFill>
            <a:ln w="7620">
              <a:solidFill>
                <a:srgbClr val="000000"/>
              </a:solidFill>
              <a:prstDash val="solid"/>
            </a:ln>
          </p:spPr>
        </p:sp>
        <p:sp>
          <p:nvSpPr>
            <p:cNvPr id="121" name="variant-right-7">
              <a:extLst>
                <a:ext uri="{FF2B5EF4-FFF2-40B4-BE49-F238E27FC236}">
                  <a16:creationId xmlns:a16="http://schemas.microsoft.com/office/drawing/2014/main" xmlns="" id="{4E9BF02B-3208-409D-84F3-60047A91E6E3}"/>
                </a:ext>
              </a:extLst>
            </p:cNvPr>
            <p:cNvSpPr>
              <a:spLocks noGrp="1"/>
            </p:cNvSpPr>
            <p:nvPr/>
          </p:nvSpPr>
          <p:spPr>
            <a:xfrm>
              <a:off x="6705600" y="3752850"/>
              <a:ext cx="209550" cy="114300"/>
            </a:xfrm>
            <a:prstGeom prst="rect">
              <a:avLst/>
            </a:prstGeom>
            <a:solidFill>
              <a:srgbClr val="DCE6F1"/>
            </a:solidFill>
            <a:ln w="7620">
              <a:solidFill>
                <a:srgbClr val="000000"/>
              </a:solidFill>
              <a:prstDash val="solid"/>
            </a:ln>
          </p:spPr>
        </p:sp>
        <p:sp>
          <p:nvSpPr>
            <p:cNvPr id="122" name="variant-left-8">
              <a:extLst>
                <a:ext uri="{FF2B5EF4-FFF2-40B4-BE49-F238E27FC236}">
                  <a16:creationId xmlns:a16="http://schemas.microsoft.com/office/drawing/2014/main" xmlns="" id="{956DFAE0-78F5-4B41-AED5-52F8071083DE}"/>
                </a:ext>
              </a:extLst>
            </p:cNvPr>
            <p:cNvSpPr>
              <a:spLocks noGrp="1"/>
            </p:cNvSpPr>
            <p:nvPr/>
          </p:nvSpPr>
          <p:spPr>
            <a:xfrm>
              <a:off x="2438400" y="3752850"/>
              <a:ext cx="209550" cy="114300"/>
            </a:xfrm>
            <a:prstGeom prst="rect">
              <a:avLst/>
            </a:prstGeom>
            <a:solidFill>
              <a:srgbClr val="DCE6F1"/>
            </a:solidFill>
            <a:ln w="7620">
              <a:solidFill>
                <a:srgbClr val="000000"/>
              </a:solidFill>
              <a:prstDash val="solid"/>
            </a:ln>
          </p:spPr>
        </p:sp>
        <p:sp>
          <p:nvSpPr>
            <p:cNvPr id="123" name="variant-right-8">
              <a:extLst>
                <a:ext uri="{FF2B5EF4-FFF2-40B4-BE49-F238E27FC236}">
                  <a16:creationId xmlns:a16="http://schemas.microsoft.com/office/drawing/2014/main" xmlns="" id="{8F6B3C8B-B967-4252-B3C9-8856DCCF1BB4}"/>
                </a:ext>
              </a:extLst>
            </p:cNvPr>
            <p:cNvSpPr>
              <a:spLocks noGrp="1"/>
            </p:cNvSpPr>
            <p:nvPr/>
          </p:nvSpPr>
          <p:spPr>
            <a:xfrm>
              <a:off x="6915150" y="3752850"/>
              <a:ext cx="209550" cy="114300"/>
            </a:xfrm>
            <a:prstGeom prst="rect">
              <a:avLst/>
            </a:prstGeom>
            <a:solidFill>
              <a:srgbClr val="DCE6F1"/>
            </a:solidFill>
            <a:ln w="7620">
              <a:solidFill>
                <a:srgbClr val="000000"/>
              </a:solidFill>
              <a:prstDash val="solid"/>
            </a:ln>
          </p:spPr>
        </p:sp>
        <p:sp>
          <p:nvSpPr>
            <p:cNvPr id="124" name="variant-left-9">
              <a:extLst>
                <a:ext uri="{FF2B5EF4-FFF2-40B4-BE49-F238E27FC236}">
                  <a16:creationId xmlns:a16="http://schemas.microsoft.com/office/drawing/2014/main" xmlns="" id="{5D843D6F-1263-4CD0-896D-6DA75D183FCB}"/>
                </a:ext>
              </a:extLst>
            </p:cNvPr>
            <p:cNvSpPr>
              <a:spLocks noGrp="1"/>
            </p:cNvSpPr>
            <p:nvPr/>
          </p:nvSpPr>
          <p:spPr>
            <a:xfrm>
              <a:off x="2647950" y="3752850"/>
              <a:ext cx="209550" cy="114300"/>
            </a:xfrm>
            <a:prstGeom prst="rect">
              <a:avLst/>
            </a:prstGeom>
            <a:solidFill>
              <a:srgbClr val="DCE6F1"/>
            </a:solidFill>
            <a:ln w="7620">
              <a:solidFill>
                <a:srgbClr val="000000"/>
              </a:solidFill>
              <a:prstDash val="solid"/>
            </a:ln>
          </p:spPr>
        </p:sp>
        <p:sp>
          <p:nvSpPr>
            <p:cNvPr id="125" name="variant-right-9">
              <a:extLst>
                <a:ext uri="{FF2B5EF4-FFF2-40B4-BE49-F238E27FC236}">
                  <a16:creationId xmlns:a16="http://schemas.microsoft.com/office/drawing/2014/main" xmlns="" id="{9AC9CAE5-4684-4A00-81B5-532B324DB95B}"/>
                </a:ext>
              </a:extLst>
            </p:cNvPr>
            <p:cNvSpPr>
              <a:spLocks noGrp="1"/>
            </p:cNvSpPr>
            <p:nvPr/>
          </p:nvSpPr>
          <p:spPr>
            <a:xfrm>
              <a:off x="7124700" y="3752850"/>
              <a:ext cx="209550" cy="114300"/>
            </a:xfrm>
            <a:prstGeom prst="rect">
              <a:avLst/>
            </a:prstGeom>
            <a:solidFill>
              <a:srgbClr val="DCE6F1"/>
            </a:solidFill>
            <a:ln w="7620">
              <a:solidFill>
                <a:srgbClr val="000000"/>
              </a:solidFill>
              <a:prstDash val="solid"/>
            </a:ln>
          </p:spPr>
        </p:sp>
        <p:sp>
          <p:nvSpPr>
            <p:cNvPr id="126" name="variant-left-10">
              <a:extLst>
                <a:ext uri="{FF2B5EF4-FFF2-40B4-BE49-F238E27FC236}">
                  <a16:creationId xmlns:a16="http://schemas.microsoft.com/office/drawing/2014/main" xmlns="" id="{1AE915F2-43D4-44B4-9959-C405D1EAFA39}"/>
                </a:ext>
              </a:extLst>
            </p:cNvPr>
            <p:cNvSpPr>
              <a:spLocks noGrp="1"/>
            </p:cNvSpPr>
            <p:nvPr/>
          </p:nvSpPr>
          <p:spPr>
            <a:xfrm>
              <a:off x="2857500" y="3752850"/>
              <a:ext cx="209550" cy="114300"/>
            </a:xfrm>
            <a:prstGeom prst="rect">
              <a:avLst/>
            </a:prstGeom>
            <a:solidFill>
              <a:srgbClr val="DCE6F1"/>
            </a:solidFill>
            <a:ln w="7620">
              <a:solidFill>
                <a:srgbClr val="000000"/>
              </a:solidFill>
              <a:prstDash val="solid"/>
            </a:ln>
          </p:spPr>
        </p:sp>
        <p:sp>
          <p:nvSpPr>
            <p:cNvPr id="127" name="variant-right-10">
              <a:extLst>
                <a:ext uri="{FF2B5EF4-FFF2-40B4-BE49-F238E27FC236}">
                  <a16:creationId xmlns:a16="http://schemas.microsoft.com/office/drawing/2014/main" xmlns="" id="{92D769E7-7B4D-4CB3-9602-DA4B0C131D1A}"/>
                </a:ext>
              </a:extLst>
            </p:cNvPr>
            <p:cNvSpPr>
              <a:spLocks noGrp="1"/>
            </p:cNvSpPr>
            <p:nvPr/>
          </p:nvSpPr>
          <p:spPr>
            <a:xfrm>
              <a:off x="7334250" y="3752850"/>
              <a:ext cx="209550" cy="114300"/>
            </a:xfrm>
            <a:prstGeom prst="rect">
              <a:avLst/>
            </a:prstGeom>
            <a:solidFill>
              <a:srgbClr val="DCE6F1"/>
            </a:solidFill>
            <a:ln w="7620">
              <a:solidFill>
                <a:srgbClr val="000000"/>
              </a:solidFill>
              <a:prstDash val="solid"/>
            </a:ln>
          </p:spPr>
        </p:sp>
        <p:sp>
          <p:nvSpPr>
            <p:cNvPr id="128" name="variant-left-11">
              <a:extLst>
                <a:ext uri="{FF2B5EF4-FFF2-40B4-BE49-F238E27FC236}">
                  <a16:creationId xmlns:a16="http://schemas.microsoft.com/office/drawing/2014/main" xmlns="" id="{3E738624-170E-4E45-A103-68134040559C}"/>
                </a:ext>
              </a:extLst>
            </p:cNvPr>
            <p:cNvSpPr>
              <a:spLocks noGrp="1"/>
            </p:cNvSpPr>
            <p:nvPr/>
          </p:nvSpPr>
          <p:spPr>
            <a:xfrm>
              <a:off x="3067050" y="3752850"/>
              <a:ext cx="209550" cy="114300"/>
            </a:xfrm>
            <a:prstGeom prst="rect">
              <a:avLst/>
            </a:prstGeom>
            <a:solidFill>
              <a:srgbClr val="DCE6F1"/>
            </a:solidFill>
            <a:ln w="7620">
              <a:solidFill>
                <a:srgbClr val="000000"/>
              </a:solidFill>
              <a:prstDash val="solid"/>
            </a:ln>
          </p:spPr>
        </p:sp>
        <p:sp>
          <p:nvSpPr>
            <p:cNvPr id="129" name="variant-right-11">
              <a:extLst>
                <a:ext uri="{FF2B5EF4-FFF2-40B4-BE49-F238E27FC236}">
                  <a16:creationId xmlns:a16="http://schemas.microsoft.com/office/drawing/2014/main" xmlns="" id="{E2899522-211D-4FCB-B732-E63C396F3D15}"/>
                </a:ext>
              </a:extLst>
            </p:cNvPr>
            <p:cNvSpPr>
              <a:spLocks noGrp="1"/>
            </p:cNvSpPr>
            <p:nvPr/>
          </p:nvSpPr>
          <p:spPr>
            <a:xfrm>
              <a:off x="7543800" y="3752850"/>
              <a:ext cx="209550" cy="114300"/>
            </a:xfrm>
            <a:prstGeom prst="rect">
              <a:avLst/>
            </a:prstGeom>
            <a:solidFill>
              <a:srgbClr val="DCE6F1"/>
            </a:solidFill>
            <a:ln w="7620">
              <a:solidFill>
                <a:srgbClr val="000000"/>
              </a:solidFill>
              <a:prstDash val="solid"/>
            </a:ln>
          </p:spPr>
        </p:sp>
        <p:sp>
          <p:nvSpPr>
            <p:cNvPr id="130" name="variant-left-12">
              <a:extLst>
                <a:ext uri="{FF2B5EF4-FFF2-40B4-BE49-F238E27FC236}">
                  <a16:creationId xmlns:a16="http://schemas.microsoft.com/office/drawing/2014/main" xmlns="" id="{9595341B-7158-4A5F-8F7F-4BA3CF09B1D4}"/>
                </a:ext>
              </a:extLst>
            </p:cNvPr>
            <p:cNvSpPr>
              <a:spLocks noGrp="1"/>
            </p:cNvSpPr>
            <p:nvPr/>
          </p:nvSpPr>
          <p:spPr>
            <a:xfrm>
              <a:off x="3276600" y="3752850"/>
              <a:ext cx="209550" cy="114300"/>
            </a:xfrm>
            <a:prstGeom prst="rect">
              <a:avLst/>
            </a:prstGeom>
            <a:solidFill>
              <a:srgbClr val="DCE6F1"/>
            </a:solidFill>
            <a:ln w="7620">
              <a:solidFill>
                <a:srgbClr val="000000"/>
              </a:solidFill>
              <a:prstDash val="solid"/>
            </a:ln>
          </p:spPr>
        </p:sp>
        <p:sp>
          <p:nvSpPr>
            <p:cNvPr id="131" name="variant-right-12">
              <a:extLst>
                <a:ext uri="{FF2B5EF4-FFF2-40B4-BE49-F238E27FC236}">
                  <a16:creationId xmlns:a16="http://schemas.microsoft.com/office/drawing/2014/main" xmlns="" id="{312AAB83-FFE5-4767-B339-812D81521C5C}"/>
                </a:ext>
              </a:extLst>
            </p:cNvPr>
            <p:cNvSpPr>
              <a:spLocks noGrp="1"/>
            </p:cNvSpPr>
            <p:nvPr/>
          </p:nvSpPr>
          <p:spPr>
            <a:xfrm>
              <a:off x="7753350" y="3752850"/>
              <a:ext cx="209550" cy="114300"/>
            </a:xfrm>
            <a:prstGeom prst="rect">
              <a:avLst/>
            </a:prstGeom>
            <a:solidFill>
              <a:srgbClr val="DCE6F1"/>
            </a:solidFill>
            <a:ln w="7620">
              <a:solidFill>
                <a:srgbClr val="000000"/>
              </a:solidFill>
              <a:prstDash val="solid"/>
            </a:ln>
          </p:spPr>
        </p:sp>
        <p:sp>
          <p:nvSpPr>
            <p:cNvPr id="132" name="variant-left-13">
              <a:extLst>
                <a:ext uri="{FF2B5EF4-FFF2-40B4-BE49-F238E27FC236}">
                  <a16:creationId xmlns:a16="http://schemas.microsoft.com/office/drawing/2014/main" xmlns="" id="{D22AE892-61E0-47E0-8814-F6F225F099A4}"/>
                </a:ext>
              </a:extLst>
            </p:cNvPr>
            <p:cNvSpPr>
              <a:spLocks noGrp="1"/>
            </p:cNvSpPr>
            <p:nvPr/>
          </p:nvSpPr>
          <p:spPr>
            <a:xfrm>
              <a:off x="3486150" y="3752850"/>
              <a:ext cx="209550" cy="114300"/>
            </a:xfrm>
            <a:prstGeom prst="rect">
              <a:avLst/>
            </a:prstGeom>
            <a:solidFill>
              <a:srgbClr val="DCE6F1"/>
            </a:solidFill>
            <a:ln w="7620">
              <a:solidFill>
                <a:srgbClr val="000000"/>
              </a:solidFill>
              <a:prstDash val="solid"/>
            </a:ln>
          </p:spPr>
        </p:sp>
        <p:sp>
          <p:nvSpPr>
            <p:cNvPr id="133" name="variant-right-13">
              <a:extLst>
                <a:ext uri="{FF2B5EF4-FFF2-40B4-BE49-F238E27FC236}">
                  <a16:creationId xmlns:a16="http://schemas.microsoft.com/office/drawing/2014/main" xmlns="" id="{9C84C1ED-EDAF-4F9D-9ADC-E629BD2559CE}"/>
                </a:ext>
              </a:extLst>
            </p:cNvPr>
            <p:cNvSpPr>
              <a:spLocks noGrp="1"/>
            </p:cNvSpPr>
            <p:nvPr/>
          </p:nvSpPr>
          <p:spPr>
            <a:xfrm>
              <a:off x="7962900" y="3752850"/>
              <a:ext cx="209550" cy="114300"/>
            </a:xfrm>
            <a:prstGeom prst="rect">
              <a:avLst/>
            </a:prstGeom>
            <a:solidFill>
              <a:srgbClr val="DCE6F1"/>
            </a:solidFill>
            <a:ln w="7620">
              <a:solidFill>
                <a:srgbClr val="000000"/>
              </a:solidFill>
              <a:prstDash val="solid"/>
            </a:ln>
          </p:spPr>
        </p:sp>
        <p:sp>
          <p:nvSpPr>
            <p:cNvPr id="134" name="variant-left-14">
              <a:extLst>
                <a:ext uri="{FF2B5EF4-FFF2-40B4-BE49-F238E27FC236}">
                  <a16:creationId xmlns:a16="http://schemas.microsoft.com/office/drawing/2014/main" xmlns="" id="{B744DE5F-E894-4C36-A5A5-6273921D397F}"/>
                </a:ext>
              </a:extLst>
            </p:cNvPr>
            <p:cNvSpPr>
              <a:spLocks noGrp="1"/>
            </p:cNvSpPr>
            <p:nvPr/>
          </p:nvSpPr>
          <p:spPr>
            <a:xfrm>
              <a:off x="3695700" y="3752850"/>
              <a:ext cx="209550" cy="114300"/>
            </a:xfrm>
            <a:prstGeom prst="rect">
              <a:avLst/>
            </a:prstGeom>
            <a:solidFill>
              <a:srgbClr val="DCE6F1"/>
            </a:solidFill>
            <a:ln w="7620">
              <a:solidFill>
                <a:srgbClr val="000000"/>
              </a:solidFill>
              <a:prstDash val="solid"/>
            </a:ln>
          </p:spPr>
        </p:sp>
        <p:sp>
          <p:nvSpPr>
            <p:cNvPr id="135" name="variant-right-14">
              <a:extLst>
                <a:ext uri="{FF2B5EF4-FFF2-40B4-BE49-F238E27FC236}">
                  <a16:creationId xmlns:a16="http://schemas.microsoft.com/office/drawing/2014/main" xmlns="" id="{568063BD-FA09-4EFE-9AE1-904CAA27AB30}"/>
                </a:ext>
              </a:extLst>
            </p:cNvPr>
            <p:cNvSpPr>
              <a:spLocks noGrp="1"/>
            </p:cNvSpPr>
            <p:nvPr/>
          </p:nvSpPr>
          <p:spPr>
            <a:xfrm>
              <a:off x="8172450" y="3752850"/>
              <a:ext cx="209550" cy="114300"/>
            </a:xfrm>
            <a:prstGeom prst="rect">
              <a:avLst/>
            </a:prstGeom>
            <a:solidFill>
              <a:srgbClr val="DCE6F1"/>
            </a:solidFill>
            <a:ln w="7620">
              <a:solidFill>
                <a:srgbClr val="000000"/>
              </a:solidFill>
              <a:prstDash val="solid"/>
            </a:ln>
          </p:spPr>
        </p:sp>
        <p:pic>
          <p:nvPicPr>
            <p:cNvPr id="136" name="Grafik 135">
              <a:extLst>
                <a:ext uri="{FF2B5EF4-FFF2-40B4-BE49-F238E27FC236}">
                  <a16:creationId xmlns:a16="http://schemas.microsoft.com/office/drawing/2014/main" xmlns="" id="{2751E4D3-9E9B-4BA9-8A5C-B7F678DC19AE}"/>
                </a:ext>
              </a:extLst>
            </p:cNvPr>
            <p:cNvPicPr>
              <a:picLocks noChangeAspect="1"/>
            </p:cNvPicPr>
            <p:nvPr/>
          </p:nvPicPr>
          <p:blipFill>
            <a:blip r:embed="rId4"/>
            <a:stretch/>
          </p:blipFill>
          <p:spPr>
            <a:xfrm>
              <a:off x="4267200" y="3678296"/>
              <a:ext cx="609600" cy="263407"/>
            </a:xfrm>
            <a:prstGeom prst="rect">
              <a:avLst/>
            </a:prstGeom>
          </p:spPr>
        </p:pic>
      </p:grpSp>
      <p:grpSp>
        <p:nvGrpSpPr>
          <p:cNvPr id="145" name="Schritt 2: Indivisibler Teil"/>
          <p:cNvGrpSpPr/>
          <p:nvPr/>
        </p:nvGrpSpPr>
        <p:grpSpPr>
          <a:xfrm>
            <a:off x="1666875" y="3876675"/>
            <a:ext cx="5286375" cy="1000125"/>
            <a:chOff x="1666875" y="3876675"/>
            <a:chExt cx="5286375" cy="1000125"/>
          </a:xfrm>
        </p:grpSpPr>
        <p:sp>
          <p:nvSpPr>
            <p:cNvPr id="137" name="separate-point">
              <a:extLst>
                <a:ext uri="{FF2B5EF4-FFF2-40B4-BE49-F238E27FC236}">
                  <a16:creationId xmlns:a16="http://schemas.microsoft.com/office/drawing/2014/main" xmlns="" id="{CAB02AB0-BA93-44CD-84B6-5747EEAC5E43}"/>
                </a:ext>
              </a:extLst>
            </p:cNvPr>
            <p:cNvSpPr>
              <a:spLocks noGrp="1"/>
            </p:cNvSpPr>
            <p:nvPr/>
          </p:nvSpPr>
          <p:spPr>
            <a:xfrm>
              <a:off x="2347913" y="4338638"/>
              <a:ext cx="66675" cy="66675"/>
            </a:xfrm>
            <a:prstGeom prst="ellipse">
              <a:avLst/>
            </a:prstGeom>
            <a:solidFill>
              <a:srgbClr val="000000"/>
            </a:solidFill>
            <a:ln w="0">
              <a:noFill/>
              <a:prstDash val="solid"/>
            </a:ln>
          </p:spPr>
        </p:sp>
        <p:sp>
          <p:nvSpPr>
            <p:cNvPr id="138" name="separate-point-label">
              <a:extLst>
                <a:ext uri="{FF2B5EF4-FFF2-40B4-BE49-F238E27FC236}">
                  <a16:creationId xmlns:a16="http://schemas.microsoft.com/office/drawing/2014/main" xmlns="" id="{30040457-4CD2-4AD8-AF04-C98A25632C08}"/>
                </a:ext>
              </a:extLst>
            </p:cNvPr>
            <p:cNvSpPr>
              <a:spLocks noGrp="1"/>
            </p:cNvSpPr>
            <p:nvPr/>
          </p:nvSpPr>
          <p:spPr>
            <a:xfrm>
              <a:off x="1666875" y="4591050"/>
              <a:ext cx="1428750" cy="285750"/>
            </a:xfrm>
            <a:prstGeom prst="rect">
              <a:avLst/>
            </a:prstGeom>
            <a:noFill/>
            <a:ln w="0">
              <a:noFill/>
              <a:prstDash val="solid"/>
            </a:ln>
          </p:spPr>
          <p:txBody>
            <a:bodyPr wrap="square" lIns="0" tIns="0" rIns="0" bIns="0" anchor="t">
              <a:noAutofit/>
            </a:bodyPr>
            <a:lstStyle>
              <a:defPPr algn="ctr">
                <a:defRPr sz="1700">
                  <a:solidFill>
                    <a:srgbClr val="000000"/>
                  </a:solidFill>
                  <a:latin typeface="Times New Roman"/>
                  <a:ea typeface="Times New Roman"/>
                  <a:cs typeface="Times New Roman"/>
                </a:defRPr>
              </a:defPPr>
              <a:lvl1pPr algn="ctr">
                <a:defRPr sz="1700">
                  <a:solidFill>
                    <a:srgbClr val="000000"/>
                  </a:solidFill>
                  <a:latin typeface="Times New Roman"/>
                  <a:ea typeface="Times New Roman"/>
                  <a:cs typeface="Times New Roman"/>
                </a:defRPr>
              </a:lvl1pPr>
              <a:lvl2pPr algn="ctr">
                <a:defRPr sz="1700">
                  <a:solidFill>
                    <a:srgbClr val="000000"/>
                  </a:solidFill>
                  <a:latin typeface="Times New Roman"/>
                  <a:ea typeface="Times New Roman"/>
                  <a:cs typeface="Times New Roman"/>
                </a:defRPr>
              </a:lvl2pPr>
              <a:lvl3pPr algn="ctr">
                <a:defRPr sz="1700">
                  <a:solidFill>
                    <a:srgbClr val="000000"/>
                  </a:solidFill>
                  <a:latin typeface="Times New Roman"/>
                  <a:ea typeface="Times New Roman"/>
                  <a:cs typeface="Times New Roman"/>
                </a:defRPr>
              </a:lvl3pPr>
              <a:lvl4pPr algn="ctr">
                <a:defRPr sz="1700">
                  <a:solidFill>
                    <a:srgbClr val="000000"/>
                  </a:solidFill>
                  <a:latin typeface="Times New Roman"/>
                  <a:ea typeface="Times New Roman"/>
                  <a:cs typeface="Times New Roman"/>
                </a:defRPr>
              </a:lvl4pPr>
              <a:lvl5pPr algn="ctr">
                <a:defRPr sz="1700">
                  <a:solidFill>
                    <a:srgbClr val="000000"/>
                  </a:solidFill>
                  <a:latin typeface="Times New Roman"/>
                  <a:ea typeface="Times New Roman"/>
                  <a:cs typeface="Times New Roman"/>
                </a:defRPr>
              </a:lvl5pPr>
              <a:lvl6pPr algn="ctr">
                <a:defRPr sz="1700">
                  <a:solidFill>
                    <a:srgbClr val="000000"/>
                  </a:solidFill>
                  <a:latin typeface="Times New Roman"/>
                  <a:ea typeface="Times New Roman"/>
                  <a:cs typeface="Times New Roman"/>
                </a:defRPr>
              </a:lvl6pPr>
              <a:lvl7pPr algn="ctr">
                <a:defRPr sz="1700">
                  <a:solidFill>
                    <a:srgbClr val="000000"/>
                  </a:solidFill>
                  <a:latin typeface="Times New Roman"/>
                  <a:ea typeface="Times New Roman"/>
                  <a:cs typeface="Times New Roman"/>
                </a:defRPr>
              </a:lvl7pPr>
              <a:lvl8pPr algn="ctr">
                <a:defRPr sz="1700">
                  <a:solidFill>
                    <a:srgbClr val="000000"/>
                  </a:solidFill>
                  <a:latin typeface="Times New Roman"/>
                  <a:ea typeface="Times New Roman"/>
                  <a:cs typeface="Times New Roman"/>
                </a:defRPr>
              </a:lvl8pPr>
              <a:lvl9pPr algn="ctr">
                <a:defRPr sz="1700">
                  <a:solidFill>
                    <a:srgbClr val="000000"/>
                  </a:solidFill>
                  <a:latin typeface="Times New Roman"/>
                  <a:ea typeface="Times New Roman"/>
                  <a:cs typeface="Times New Roman"/>
                </a:defRPr>
              </a:lvl9pPr>
            </a:lstStyle>
            <a:p>
              <a:pPr algn="ctr">
                <a:defRPr sz="1700">
                  <a:solidFill>
                    <a:srgbClr val="000000"/>
                  </a:solidFill>
                  <a:latin typeface="Times New Roman"/>
                  <a:ea typeface="Times New Roman"/>
                  <a:cs typeface="Times New Roman"/>
                </a:defRPr>
              </a:pPr>
              <a:r>
                <a:rPr sz="1700">
                  <a:solidFill>
                    <a:srgbClr val="000000"/>
                  </a:solidFill>
                  <a:latin typeface="Times New Roman"/>
                  <a:ea typeface="Times New Roman"/>
                  <a:cs typeface="Times New Roman"/>
                </a:rPr>
                <a:t>Punkt</a:t>
              </a:r>
            </a:p>
          </p:txBody>
        </p:sp>
        <p:sp>
          <p:nvSpPr>
            <p:cNvPr id="139" name="variant-zoom-left">
              <a:extLst>
                <a:ext uri="{FF2B5EF4-FFF2-40B4-BE49-F238E27FC236}">
                  <a16:creationId xmlns:a16="http://schemas.microsoft.com/office/drawing/2014/main" xmlns="" id="{67FE23DA-6A37-4686-AEC0-9C6F04312F8A}"/>
                </a:ext>
              </a:extLst>
            </p:cNvPr>
            <p:cNvSpPr>
              <a:spLocks noGrp="1"/>
            </p:cNvSpPr>
            <p:nvPr/>
          </p:nvSpPr>
          <p:spPr>
            <a:xfrm flipH="1">
              <a:off x="4572000" y="3876675"/>
              <a:ext cx="666750" cy="419100"/>
            </a:xfrm>
            <a:prstGeom prst="line">
              <a:avLst/>
            </a:prstGeom>
            <a:noFill/>
            <a:ln w="11430">
              <a:solidFill>
                <a:srgbClr val="999999"/>
              </a:solidFill>
              <a:prstDash val="solid"/>
            </a:ln>
          </p:spPr>
        </p:sp>
        <p:sp>
          <p:nvSpPr>
            <p:cNvPr id="140" name="variant-zoom-right">
              <a:extLst>
                <a:ext uri="{FF2B5EF4-FFF2-40B4-BE49-F238E27FC236}">
                  <a16:creationId xmlns:a16="http://schemas.microsoft.com/office/drawing/2014/main" xmlns="" id="{D95F60F7-F90F-4071-9092-03D7A4E6B5C3}"/>
                </a:ext>
              </a:extLst>
            </p:cNvPr>
            <p:cNvSpPr>
              <a:spLocks noGrp="1"/>
            </p:cNvSpPr>
            <p:nvPr/>
          </p:nvSpPr>
          <p:spPr>
            <a:xfrm>
              <a:off x="5448300" y="3876675"/>
              <a:ext cx="838200" cy="419100"/>
            </a:xfrm>
            <a:prstGeom prst="line">
              <a:avLst/>
            </a:prstGeom>
            <a:noFill/>
            <a:ln w="11430">
              <a:solidFill>
                <a:srgbClr val="999999"/>
              </a:solidFill>
              <a:prstDash val="solid"/>
            </a:ln>
          </p:spPr>
        </p:sp>
        <p:sp>
          <p:nvSpPr>
            <p:cNvPr id="141" name="variant-indivisible">
              <a:extLst>
                <a:ext uri="{FF2B5EF4-FFF2-40B4-BE49-F238E27FC236}">
                  <a16:creationId xmlns:a16="http://schemas.microsoft.com/office/drawing/2014/main" xmlns="" id="{7FE15A9C-8A25-430C-A65E-28DA7F9E35D1}"/>
                </a:ext>
              </a:extLst>
            </p:cNvPr>
            <p:cNvSpPr>
              <a:spLocks noGrp="1"/>
            </p:cNvSpPr>
            <p:nvPr/>
          </p:nvSpPr>
          <p:spPr>
            <a:xfrm>
              <a:off x="4572000" y="4295775"/>
              <a:ext cx="1714500" cy="133350"/>
            </a:xfrm>
            <a:prstGeom prst="rect">
              <a:avLst/>
            </a:prstGeom>
            <a:solidFill>
              <a:srgbClr val="4F81BD"/>
            </a:solidFill>
            <a:ln w="7620">
              <a:solidFill>
                <a:srgbClr val="000000"/>
              </a:solidFill>
              <a:prstDash val="solid"/>
            </a:ln>
          </p:spPr>
        </p:sp>
        <p:sp>
          <p:nvSpPr>
            <p:cNvPr id="142" name="variant-indivisible-label">
              <a:extLst>
                <a:ext uri="{FF2B5EF4-FFF2-40B4-BE49-F238E27FC236}">
                  <a16:creationId xmlns:a16="http://schemas.microsoft.com/office/drawing/2014/main" xmlns="" id="{5F058FD2-B6A4-474F-BB3D-96DE6974F583}"/>
                </a:ext>
              </a:extLst>
            </p:cNvPr>
            <p:cNvSpPr>
              <a:spLocks noGrp="1"/>
            </p:cNvSpPr>
            <p:nvPr/>
          </p:nvSpPr>
          <p:spPr>
            <a:xfrm>
              <a:off x="3905250" y="4591050"/>
              <a:ext cx="3048000" cy="285750"/>
            </a:xfrm>
            <a:prstGeom prst="rect">
              <a:avLst/>
            </a:prstGeom>
            <a:noFill/>
            <a:ln w="0">
              <a:noFill/>
              <a:prstDash val="solid"/>
            </a:ln>
          </p:spPr>
          <p:txBody>
            <a:bodyPr wrap="square" lIns="0" tIns="0" rIns="0" bIns="0" anchor="t">
              <a:noAutofit/>
            </a:bodyPr>
            <a:lstStyle>
              <a:defPPr algn="ctr">
                <a:defRPr sz="1700">
                  <a:solidFill>
                    <a:srgbClr val="000000"/>
                  </a:solidFill>
                  <a:latin typeface="Times New Roman"/>
                  <a:ea typeface="Times New Roman"/>
                  <a:cs typeface="Times New Roman"/>
                </a:defRPr>
              </a:defPPr>
              <a:lvl1pPr algn="ctr">
                <a:defRPr sz="1700">
                  <a:solidFill>
                    <a:srgbClr val="000000"/>
                  </a:solidFill>
                  <a:latin typeface="Times New Roman"/>
                  <a:ea typeface="Times New Roman"/>
                  <a:cs typeface="Times New Roman"/>
                </a:defRPr>
              </a:lvl1pPr>
              <a:lvl2pPr algn="ctr">
                <a:defRPr sz="1700">
                  <a:solidFill>
                    <a:srgbClr val="000000"/>
                  </a:solidFill>
                  <a:latin typeface="Times New Roman"/>
                  <a:ea typeface="Times New Roman"/>
                  <a:cs typeface="Times New Roman"/>
                </a:defRPr>
              </a:lvl2pPr>
              <a:lvl3pPr algn="ctr">
                <a:defRPr sz="1700">
                  <a:solidFill>
                    <a:srgbClr val="000000"/>
                  </a:solidFill>
                  <a:latin typeface="Times New Roman"/>
                  <a:ea typeface="Times New Roman"/>
                  <a:cs typeface="Times New Roman"/>
                </a:defRPr>
              </a:lvl3pPr>
              <a:lvl4pPr algn="ctr">
                <a:defRPr sz="1700">
                  <a:solidFill>
                    <a:srgbClr val="000000"/>
                  </a:solidFill>
                  <a:latin typeface="Times New Roman"/>
                  <a:ea typeface="Times New Roman"/>
                  <a:cs typeface="Times New Roman"/>
                </a:defRPr>
              </a:lvl4pPr>
              <a:lvl5pPr algn="ctr">
                <a:defRPr sz="1700">
                  <a:solidFill>
                    <a:srgbClr val="000000"/>
                  </a:solidFill>
                  <a:latin typeface="Times New Roman"/>
                  <a:ea typeface="Times New Roman"/>
                  <a:cs typeface="Times New Roman"/>
                </a:defRPr>
              </a:lvl5pPr>
              <a:lvl6pPr algn="ctr">
                <a:defRPr sz="1700">
                  <a:solidFill>
                    <a:srgbClr val="000000"/>
                  </a:solidFill>
                  <a:latin typeface="Times New Roman"/>
                  <a:ea typeface="Times New Roman"/>
                  <a:cs typeface="Times New Roman"/>
                </a:defRPr>
              </a:lvl6pPr>
              <a:lvl7pPr algn="ctr">
                <a:defRPr sz="1700">
                  <a:solidFill>
                    <a:srgbClr val="000000"/>
                  </a:solidFill>
                  <a:latin typeface="Times New Roman"/>
                  <a:ea typeface="Times New Roman"/>
                  <a:cs typeface="Times New Roman"/>
                </a:defRPr>
              </a:lvl7pPr>
              <a:lvl8pPr algn="ctr">
                <a:defRPr sz="1700">
                  <a:solidFill>
                    <a:srgbClr val="000000"/>
                  </a:solidFill>
                  <a:latin typeface="Times New Roman"/>
                  <a:ea typeface="Times New Roman"/>
                  <a:cs typeface="Times New Roman"/>
                </a:defRPr>
              </a:lvl8pPr>
              <a:lvl9pPr algn="ctr">
                <a:defRPr sz="1700">
                  <a:solidFill>
                    <a:srgbClr val="000000"/>
                  </a:solidFill>
                  <a:latin typeface="Times New Roman"/>
                  <a:ea typeface="Times New Roman"/>
                  <a:cs typeface="Times New Roman"/>
                </a:defRPr>
              </a:lvl9pPr>
            </a:lstStyle>
            <a:p>
              <a:pPr algn="ctr">
                <a:defRPr sz="1700">
                  <a:solidFill>
                    <a:srgbClr val="000000"/>
                  </a:solidFill>
                  <a:latin typeface="Times New Roman"/>
                  <a:ea typeface="Times New Roman"/>
                  <a:cs typeface="Times New Roman"/>
                </a:defRPr>
              </a:pPr>
              <a:r>
                <a:rPr sz="1700">
                  <a:solidFill>
                    <a:srgbClr val="000000"/>
                  </a:solidFill>
                  <a:latin typeface="Times New Roman"/>
                  <a:ea typeface="Times New Roman"/>
                  <a:cs typeface="Times New Roman"/>
                </a:rPr>
                <a:t>unteilbarer Linienteil</a:t>
              </a:r>
            </a:p>
          </p:txBody>
        </p:sp>
      </p:grpSp>
    </p:spTree>
    <p:extLst>
      <p:ext uri="{BB962C8B-B14F-4D97-AF65-F5344CB8AC3E}">
        <p14:creationId xmlns:p14="http://schemas.microsoft.com/office/powerpoint/2010/main" val="385795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2" descr="undefin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1164109"/>
            <a:ext cx="2664296" cy="2494157"/>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93742" y="1139319"/>
            <a:ext cx="2662634" cy="2518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 name="Textfeld 52"/>
          <p:cNvSpPr txBox="1"/>
          <p:nvPr/>
        </p:nvSpPr>
        <p:spPr>
          <a:xfrm>
            <a:off x="1187624" y="3684389"/>
            <a:ext cx="2520280" cy="615553"/>
          </a:xfrm>
          <a:prstGeom prst="rect">
            <a:avLst/>
          </a:prstGeom>
          <a:noFill/>
        </p:spPr>
        <p:txBody>
          <a:bodyPr wrap="square" rtlCol="0">
            <a:spAutoFit/>
          </a:bodyPr>
          <a:lstStyle/>
          <a:p>
            <a:pPr algn="ctr"/>
            <a:r>
              <a:rPr lang="de-DE" sz="2000" dirty="0" smtClean="0"/>
              <a:t>Al-</a:t>
            </a:r>
            <a:r>
              <a:rPr lang="de-DE" sz="2000" dirty="0" err="1" smtClean="0"/>
              <a:t>Ghazali</a:t>
            </a:r>
            <a:r>
              <a:rPr lang="de-DE" sz="2000" dirty="0" smtClean="0"/>
              <a:t> </a:t>
            </a:r>
          </a:p>
          <a:p>
            <a:pPr algn="ctr"/>
            <a:r>
              <a:rPr lang="de-DE" sz="1400" dirty="0" smtClean="0"/>
              <a:t>(1055-1111)</a:t>
            </a:r>
            <a:endParaRPr lang="de-DE" sz="1400" dirty="0"/>
          </a:p>
        </p:txBody>
      </p:sp>
      <p:sp>
        <p:nvSpPr>
          <p:cNvPr id="54" name="Rechteck 53"/>
          <p:cNvSpPr/>
          <p:nvPr/>
        </p:nvSpPr>
        <p:spPr>
          <a:xfrm>
            <a:off x="5907565" y="3684389"/>
            <a:ext cx="1619354" cy="615553"/>
          </a:xfrm>
          <a:prstGeom prst="rect">
            <a:avLst/>
          </a:prstGeom>
        </p:spPr>
        <p:txBody>
          <a:bodyPr wrap="none">
            <a:spAutoFit/>
          </a:bodyPr>
          <a:lstStyle/>
          <a:p>
            <a:pPr algn="ctr"/>
            <a:r>
              <a:rPr lang="de-DE" sz="2000" dirty="0"/>
              <a:t>Galileo </a:t>
            </a:r>
            <a:r>
              <a:rPr lang="de-DE" sz="2000" dirty="0" smtClean="0"/>
              <a:t>Galilei</a:t>
            </a:r>
          </a:p>
          <a:p>
            <a:pPr algn="ctr"/>
            <a:r>
              <a:rPr lang="de-DE" sz="1400" dirty="0" smtClean="0"/>
              <a:t>(1564-1642)</a:t>
            </a:r>
            <a:endParaRPr lang="de-DE" sz="1400" dirty="0"/>
          </a:p>
        </p:txBody>
      </p:sp>
      <p:sp>
        <p:nvSpPr>
          <p:cNvPr id="55" name="Rechteck 5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6" name="Textfeld 55"/>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Argumente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gegen</a:t>
            </a:r>
            <a:r>
              <a:rPr lang="en-CA" sz="3200" dirty="0" smtClean="0">
                <a:solidFill>
                  <a:schemeClr val="bg1"/>
                </a:solidFill>
                <a:effectLst>
                  <a:outerShdw blurRad="38100" dist="38100" dir="2700000" algn="tl">
                    <a:srgbClr val="000000">
                      <a:alpha val="43137"/>
                    </a:srgbClr>
                  </a:outerShdw>
                </a:effectLst>
              </a:rPr>
              <a:t> “den” </a:t>
            </a:r>
            <a:r>
              <a:rPr lang="en-CA" sz="3200" dirty="0" err="1" smtClean="0">
                <a:solidFill>
                  <a:schemeClr val="bg1"/>
                </a:solidFill>
                <a:effectLst>
                  <a:outerShdw blurRad="38100" dist="38100" dir="2700000" algn="tl">
                    <a:srgbClr val="000000">
                      <a:alpha val="43137"/>
                    </a:srgbClr>
                  </a:outerShdw>
                </a:effectLst>
              </a:rPr>
              <a:t>Atomismus</a:t>
            </a:r>
            <a:endParaRPr lang="en-CA" sz="3200"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5079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Visualismus</a:t>
            </a:r>
            <a:endParaRPr lang="en-CA" sz="3200" dirty="0">
              <a:solidFill>
                <a:schemeClr val="bg1"/>
              </a:solidFill>
              <a:effectLst>
                <a:outerShdw blurRad="38100" dist="38100" dir="2700000" algn="tl">
                  <a:srgbClr val="000000">
                    <a:alpha val="43137"/>
                  </a:srgbClr>
                </a:outerShdw>
              </a:effectLst>
            </a:endParaRPr>
          </a:p>
        </p:txBody>
      </p:sp>
      <p:pic>
        <p:nvPicPr>
          <p:cNvPr id="100" name="Grafik 99">
            <a:extLst>
              <a:ext uri="{FF2B5EF4-FFF2-40B4-BE49-F238E27FC236}">
                <a16:creationId xmlns:a16="http://schemas.microsoft.com/office/drawing/2014/main" xmlns="" id="{8D1D3118-C5FE-46A8-8E6D-FE64E3A3BE98}"/>
              </a:ext>
            </a:extLst>
          </p:cNvPr>
          <p:cNvPicPr>
            <a:picLocks noChangeAspect="1"/>
          </p:cNvPicPr>
          <p:nvPr/>
        </p:nvPicPr>
        <p:blipFill>
          <a:blip r:embed="rId3"/>
          <a:srcRect t="3432" b="3432"/>
          <a:stretch/>
        </p:blipFill>
        <p:spPr>
          <a:xfrm>
            <a:off x="1190625" y="800100"/>
            <a:ext cx="1314450" cy="1638300"/>
          </a:xfrm>
          <a:prstGeom prst="rect">
            <a:avLst/>
          </a:prstGeom>
        </p:spPr>
      </p:pic>
      <p:sp>
        <p:nvSpPr>
          <p:cNvPr id="101" name="portrait-name-aristotle">
            <a:extLst>
              <a:ext uri="{FF2B5EF4-FFF2-40B4-BE49-F238E27FC236}">
                <a16:creationId xmlns:a16="http://schemas.microsoft.com/office/drawing/2014/main" xmlns="" id="{14EEEA2C-274B-4479-916B-723F8149F6B1}"/>
              </a:ext>
            </a:extLst>
          </p:cNvPr>
          <p:cNvSpPr>
            <a:spLocks noGrp="1"/>
          </p:cNvSpPr>
          <p:nvPr/>
        </p:nvSpPr>
        <p:spPr>
          <a:xfrm>
            <a:off x="390525" y="2505075"/>
            <a:ext cx="2914650" cy="276225"/>
          </a:xfrm>
          <a:prstGeom prst="rect">
            <a:avLst/>
          </a:prstGeom>
          <a:noFill/>
          <a:ln w="0">
            <a:noFill/>
            <a:prstDash val="solid"/>
          </a:ln>
        </p:spPr>
        <p:txBody>
          <a:bodyPr wrap="square" lIns="0" tIns="0" rIns="0" bIns="0" anchor="ctr">
            <a:noAutofit/>
          </a:bodyPr>
          <a:lstStyle>
            <a:defPPr algn="ctr">
              <a:defRPr sz="1600" b="1">
                <a:solidFill>
                  <a:srgbClr val="000000"/>
                </a:solidFill>
                <a:latin typeface="Times New Roman"/>
                <a:ea typeface="Times New Roman"/>
                <a:cs typeface="Times New Roman"/>
              </a:defRPr>
            </a:defPPr>
            <a:lvl1pPr algn="ctr">
              <a:defRPr sz="1600" b="1">
                <a:solidFill>
                  <a:srgbClr val="000000"/>
                </a:solidFill>
                <a:latin typeface="Times New Roman"/>
                <a:ea typeface="Times New Roman"/>
                <a:cs typeface="Times New Roman"/>
              </a:defRPr>
            </a:lvl1pPr>
            <a:lvl2pPr algn="ctr">
              <a:defRPr sz="1600" b="1">
                <a:solidFill>
                  <a:srgbClr val="000000"/>
                </a:solidFill>
                <a:latin typeface="Times New Roman"/>
                <a:ea typeface="Times New Roman"/>
                <a:cs typeface="Times New Roman"/>
              </a:defRPr>
            </a:lvl2pPr>
            <a:lvl3pPr algn="ctr">
              <a:defRPr sz="1600" b="1">
                <a:solidFill>
                  <a:srgbClr val="000000"/>
                </a:solidFill>
                <a:latin typeface="Times New Roman"/>
                <a:ea typeface="Times New Roman"/>
                <a:cs typeface="Times New Roman"/>
              </a:defRPr>
            </a:lvl3pPr>
            <a:lvl4pPr algn="ctr">
              <a:defRPr sz="1600" b="1">
                <a:solidFill>
                  <a:srgbClr val="000000"/>
                </a:solidFill>
                <a:latin typeface="Times New Roman"/>
                <a:ea typeface="Times New Roman"/>
                <a:cs typeface="Times New Roman"/>
              </a:defRPr>
            </a:lvl4pPr>
            <a:lvl5pPr algn="ctr">
              <a:defRPr sz="1600" b="1">
                <a:solidFill>
                  <a:srgbClr val="000000"/>
                </a:solidFill>
                <a:latin typeface="Times New Roman"/>
                <a:ea typeface="Times New Roman"/>
                <a:cs typeface="Times New Roman"/>
              </a:defRPr>
            </a:lvl5pPr>
            <a:lvl6pPr algn="ctr">
              <a:defRPr sz="1600" b="1">
                <a:solidFill>
                  <a:srgbClr val="000000"/>
                </a:solidFill>
                <a:latin typeface="Times New Roman"/>
                <a:ea typeface="Times New Roman"/>
                <a:cs typeface="Times New Roman"/>
              </a:defRPr>
            </a:lvl6pPr>
            <a:lvl7pPr algn="ctr">
              <a:defRPr sz="1600" b="1">
                <a:solidFill>
                  <a:srgbClr val="000000"/>
                </a:solidFill>
                <a:latin typeface="Times New Roman"/>
                <a:ea typeface="Times New Roman"/>
                <a:cs typeface="Times New Roman"/>
              </a:defRPr>
            </a:lvl7pPr>
            <a:lvl8pPr algn="ctr">
              <a:defRPr sz="1600" b="1">
                <a:solidFill>
                  <a:srgbClr val="000000"/>
                </a:solidFill>
                <a:latin typeface="Times New Roman"/>
                <a:ea typeface="Times New Roman"/>
                <a:cs typeface="Times New Roman"/>
              </a:defRPr>
            </a:lvl8pPr>
            <a:lvl9pPr algn="ctr">
              <a:defRPr sz="1600" b="1">
                <a:solidFill>
                  <a:srgbClr val="000000"/>
                </a:solidFill>
                <a:latin typeface="Times New Roman"/>
                <a:ea typeface="Times New Roman"/>
                <a:cs typeface="Times New Roman"/>
              </a:defRPr>
            </a:lvl9pPr>
          </a:lstStyle>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Aristoteles</a:t>
            </a:r>
          </a:p>
        </p:txBody>
      </p:sp>
      <p:sp>
        <p:nvSpPr>
          <p:cNvPr id="102" name="portrait-years-aristotle">
            <a:extLst>
              <a:ext uri="{FF2B5EF4-FFF2-40B4-BE49-F238E27FC236}">
                <a16:creationId xmlns:a16="http://schemas.microsoft.com/office/drawing/2014/main" xmlns="" id="{59CEBE0B-2096-4F1F-8470-2A26AFBAB0AD}"/>
              </a:ext>
            </a:extLst>
          </p:cNvPr>
          <p:cNvSpPr>
            <a:spLocks noGrp="1"/>
          </p:cNvSpPr>
          <p:nvPr/>
        </p:nvSpPr>
        <p:spPr>
          <a:xfrm>
            <a:off x="390525" y="2809875"/>
            <a:ext cx="2914650" cy="238125"/>
          </a:xfrm>
          <a:prstGeom prst="rect">
            <a:avLst/>
          </a:prstGeom>
          <a:noFill/>
          <a:ln w="0">
            <a:noFill/>
            <a:prstDash val="solid"/>
          </a:ln>
        </p:spPr>
        <p:txBody>
          <a:bodyPr wrap="square" lIns="0" tIns="0" rIns="0" bIns="0" anchor="t">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0000"/>
              </a:lnSpc>
              <a:buNone/>
              <a:defRPr sz="1400">
                <a:solidFill>
                  <a:srgbClr val="000000"/>
                </a:solidFill>
                <a:latin typeface="Times New Roman"/>
                <a:ea typeface="Times New Roman"/>
                <a:cs typeface="Times New Roman"/>
              </a:defRPr>
            </a:pPr>
            <a:r>
              <a:rPr sz="1400">
                <a:solidFill>
                  <a:srgbClr val="000000"/>
                </a:solidFill>
                <a:latin typeface="Times New Roman"/>
                <a:ea typeface="Times New Roman"/>
                <a:cs typeface="Times New Roman"/>
              </a:rPr>
              <a:t>384–322 v. Chr.</a:t>
            </a:r>
          </a:p>
        </p:txBody>
      </p:sp>
      <p:sp>
        <p:nvSpPr>
          <p:cNvPr id="103" name="position-explanation">
            <a:extLst>
              <a:ext uri="{FF2B5EF4-FFF2-40B4-BE49-F238E27FC236}">
                <a16:creationId xmlns:a16="http://schemas.microsoft.com/office/drawing/2014/main" xmlns="" id="{3DDFC04A-8483-4E58-8ACF-86D5EF83ADBF}"/>
              </a:ext>
            </a:extLst>
          </p:cNvPr>
          <p:cNvSpPr>
            <a:spLocks noGrp="1"/>
          </p:cNvSpPr>
          <p:nvPr/>
        </p:nvSpPr>
        <p:spPr>
          <a:xfrm>
            <a:off x="3771900" y="942975"/>
            <a:ext cx="4991100" cy="2095500"/>
          </a:xfrm>
          <a:prstGeom prst="rect">
            <a:avLst/>
          </a:prstGeom>
          <a:noFill/>
          <a:ln w="0">
            <a:noFill/>
            <a:prstDash val="solid"/>
          </a:ln>
        </p:spPr>
        <p:txBody>
          <a:bodyPr wrap="square" lIns="0" tIns="0" rIns="0" bIns="0" anchor="t">
            <a:noAutofit/>
          </a:bodyPr>
          <a:lstStyle>
            <a:defPPr algn="l">
              <a:defRPr sz="1900">
                <a:solidFill>
                  <a:srgbClr val="000000"/>
                </a:solidFill>
                <a:latin typeface="Times New Roman"/>
                <a:ea typeface="Times New Roman"/>
                <a:cs typeface="Times New Roman"/>
              </a:defRPr>
            </a:defPPr>
            <a:lvl1pPr algn="l">
              <a:defRPr sz="1900">
                <a:solidFill>
                  <a:srgbClr val="000000"/>
                </a:solidFill>
                <a:latin typeface="Times New Roman"/>
                <a:ea typeface="Times New Roman"/>
                <a:cs typeface="Times New Roman"/>
              </a:defRPr>
            </a:lvl1pPr>
            <a:lvl2pPr algn="l">
              <a:defRPr sz="1900">
                <a:solidFill>
                  <a:srgbClr val="000000"/>
                </a:solidFill>
                <a:latin typeface="Times New Roman"/>
                <a:ea typeface="Times New Roman"/>
                <a:cs typeface="Times New Roman"/>
              </a:defRPr>
            </a:lvl2pPr>
            <a:lvl3pPr algn="l">
              <a:defRPr sz="1900">
                <a:solidFill>
                  <a:srgbClr val="000000"/>
                </a:solidFill>
                <a:latin typeface="Times New Roman"/>
                <a:ea typeface="Times New Roman"/>
                <a:cs typeface="Times New Roman"/>
              </a:defRPr>
            </a:lvl3pPr>
            <a:lvl4pPr algn="l">
              <a:defRPr sz="1900">
                <a:solidFill>
                  <a:srgbClr val="000000"/>
                </a:solidFill>
                <a:latin typeface="Times New Roman"/>
                <a:ea typeface="Times New Roman"/>
                <a:cs typeface="Times New Roman"/>
              </a:defRPr>
            </a:lvl4pPr>
            <a:lvl5pPr algn="l">
              <a:defRPr sz="1900">
                <a:solidFill>
                  <a:srgbClr val="000000"/>
                </a:solidFill>
                <a:latin typeface="Times New Roman"/>
                <a:ea typeface="Times New Roman"/>
                <a:cs typeface="Times New Roman"/>
              </a:defRPr>
            </a:lvl5pPr>
            <a:lvl6pPr algn="l">
              <a:defRPr sz="1900">
                <a:solidFill>
                  <a:srgbClr val="000000"/>
                </a:solidFill>
                <a:latin typeface="Times New Roman"/>
                <a:ea typeface="Times New Roman"/>
                <a:cs typeface="Times New Roman"/>
              </a:defRPr>
            </a:lvl6pPr>
            <a:lvl7pPr algn="l">
              <a:defRPr sz="1900">
                <a:solidFill>
                  <a:srgbClr val="000000"/>
                </a:solidFill>
                <a:latin typeface="Times New Roman"/>
                <a:ea typeface="Times New Roman"/>
                <a:cs typeface="Times New Roman"/>
              </a:defRPr>
            </a:lvl7pPr>
            <a:lvl8pPr algn="l">
              <a:defRPr sz="1900">
                <a:solidFill>
                  <a:srgbClr val="000000"/>
                </a:solidFill>
                <a:latin typeface="Times New Roman"/>
                <a:ea typeface="Times New Roman"/>
                <a:cs typeface="Times New Roman"/>
              </a:defRPr>
            </a:lvl8pPr>
            <a:lvl9pPr algn="l">
              <a:defRPr sz="1900">
                <a:solidFill>
                  <a:srgbClr val="000000"/>
                </a:solidFill>
                <a:latin typeface="Times New Roman"/>
                <a:ea typeface="Times New Roman"/>
                <a:cs typeface="Times New Roman"/>
              </a:defRPr>
            </a:lvl9pPr>
          </a:lstStyle>
          <a:p>
            <a:pPr algn="l">
              <a:lnSpc>
                <a:spcPct val="112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Die Linie ist als Ganzes gegeben und unbegrenzt teilbar.</a:t>
            </a:r>
          </a:p>
          <a:p>
            <a:pPr>
              <a:defRPr>
                <a:latin typeface="Times New Roman"/>
                <a:ea typeface="Times New Roman"/>
                <a:cs typeface="Times New Roman"/>
              </a:defRPr>
            </a:pPr>
            <a:endParaRPr sz="1900">
              <a:solidFill>
                <a:srgbClr val="000000"/>
              </a:solidFill>
              <a:latin typeface="Times New Roman"/>
              <a:ea typeface="Times New Roman"/>
              <a:cs typeface="Times New Roman"/>
            </a:endParaRPr>
          </a:p>
          <a:p>
            <a:pPr algn="l">
              <a:lnSpc>
                <a:spcPct val="112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Jeder Linienteil ist wieder ein Kontinuum. Punkte begrenzen die Teile.</a:t>
            </a:r>
          </a:p>
        </p:txBody>
      </p:sp>
      <p:sp>
        <p:nvSpPr>
          <p:cNvPr id="117" name="visible-citation-continuum-34">
            <a:extLst>
              <a:ext uri="{FF2B5EF4-FFF2-40B4-BE49-F238E27FC236}">
                <a16:creationId xmlns:a16="http://schemas.microsoft.com/office/drawing/2014/main" xmlns="" id="{3DEB00A0-29D0-4771-8B74-D823CE0C342F}"/>
              </a:ext>
            </a:extLst>
          </p:cNvPr>
          <p:cNvSpPr>
            <a:spLocks noGrp="1"/>
          </p:cNvSpPr>
          <p:nvPr/>
        </p:nvSpPr>
        <p:spPr>
          <a:xfrm>
            <a:off x="3771900" y="2866256"/>
            <a:ext cx="4991100" cy="2095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dirty="0" err="1">
                <a:solidFill>
                  <a:srgbClr val="000000"/>
                </a:solidFill>
                <a:latin typeface="Times New Roman"/>
                <a:ea typeface="Times New Roman"/>
                <a:cs typeface="Times New Roman"/>
              </a:rPr>
              <a:t>Bedürftig</a:t>
            </a:r>
            <a:r>
              <a:rPr sz="1050" dirty="0">
                <a:solidFill>
                  <a:srgbClr val="000000"/>
                </a:solidFill>
                <a:latin typeface="Times New Roman"/>
                <a:ea typeface="Times New Roman"/>
                <a:cs typeface="Times New Roman"/>
              </a:rPr>
              <a:t> / </a:t>
            </a:r>
            <a:r>
              <a:rPr sz="1050" dirty="0" err="1">
                <a:solidFill>
                  <a:srgbClr val="000000"/>
                </a:solidFill>
                <a:latin typeface="Times New Roman"/>
                <a:ea typeface="Times New Roman"/>
                <a:cs typeface="Times New Roman"/>
              </a:rPr>
              <a:t>Murawski</a:t>
            </a:r>
            <a:r>
              <a:rPr sz="1050" dirty="0">
                <a:solidFill>
                  <a:srgbClr val="000000"/>
                </a:solidFill>
                <a:latin typeface="Times New Roman"/>
                <a:ea typeface="Times New Roman"/>
                <a:cs typeface="Times New Roman"/>
              </a:rPr>
              <a:t> (2019), § 3.3.5, S. 213–215.</a:t>
            </a:r>
          </a:p>
        </p:txBody>
      </p:sp>
      <p:grpSp>
        <p:nvGrpSpPr>
          <p:cNvPr id="118" name="Schritt 1: Die ganze Linie"/>
          <p:cNvGrpSpPr/>
          <p:nvPr/>
        </p:nvGrpSpPr>
        <p:grpSpPr>
          <a:xfrm>
            <a:off x="419100" y="3286125"/>
            <a:ext cx="8305800" cy="438150"/>
            <a:chOff x="419100" y="3286125"/>
            <a:chExt cx="8305800" cy="438150"/>
          </a:xfrm>
        </p:grpSpPr>
        <p:sp>
          <p:nvSpPr>
            <p:cNvPr id="104" name="visualism-diagram-title">
              <a:extLst>
                <a:ext uri="{FF2B5EF4-FFF2-40B4-BE49-F238E27FC236}">
                  <a16:creationId xmlns:a16="http://schemas.microsoft.com/office/drawing/2014/main" xmlns="" id="{0540364C-CFEE-4833-A6BC-527361BD162D}"/>
                </a:ext>
              </a:extLst>
            </p:cNvPr>
            <p:cNvSpPr>
              <a:spLocks noGrp="1"/>
            </p:cNvSpPr>
            <p:nvPr/>
          </p:nvSpPr>
          <p:spPr>
            <a:xfrm>
              <a:off x="419100" y="3286125"/>
              <a:ext cx="8305800" cy="285750"/>
            </a:xfrm>
            <a:prstGeom prst="rect">
              <a:avLst/>
            </a:prstGeom>
            <a:noFill/>
            <a:ln w="0">
              <a:noFill/>
              <a:prstDash val="solid"/>
            </a:ln>
          </p:spPr>
          <p:txBody>
            <a:bodyPr wrap="square" lIns="0" tIns="0" rIns="0" bIns="0" anchor="t">
              <a:noAutofit/>
            </a:bodyPr>
            <a:lstStyle>
              <a:defPPr algn="ctr">
                <a:defRPr sz="1700">
                  <a:solidFill>
                    <a:srgbClr val="000000"/>
                  </a:solidFill>
                  <a:latin typeface="Times New Roman"/>
                  <a:ea typeface="Times New Roman"/>
                  <a:cs typeface="Times New Roman"/>
                </a:defRPr>
              </a:defPPr>
              <a:lvl1pPr algn="ctr">
                <a:defRPr sz="1700">
                  <a:solidFill>
                    <a:srgbClr val="000000"/>
                  </a:solidFill>
                  <a:latin typeface="Times New Roman"/>
                  <a:ea typeface="Times New Roman"/>
                  <a:cs typeface="Times New Roman"/>
                </a:defRPr>
              </a:lvl1pPr>
              <a:lvl2pPr algn="ctr">
                <a:defRPr sz="1700">
                  <a:solidFill>
                    <a:srgbClr val="000000"/>
                  </a:solidFill>
                  <a:latin typeface="Times New Roman"/>
                  <a:ea typeface="Times New Roman"/>
                  <a:cs typeface="Times New Roman"/>
                </a:defRPr>
              </a:lvl2pPr>
              <a:lvl3pPr algn="ctr">
                <a:defRPr sz="1700">
                  <a:solidFill>
                    <a:srgbClr val="000000"/>
                  </a:solidFill>
                  <a:latin typeface="Times New Roman"/>
                  <a:ea typeface="Times New Roman"/>
                  <a:cs typeface="Times New Roman"/>
                </a:defRPr>
              </a:lvl3pPr>
              <a:lvl4pPr algn="ctr">
                <a:defRPr sz="1700">
                  <a:solidFill>
                    <a:srgbClr val="000000"/>
                  </a:solidFill>
                  <a:latin typeface="Times New Roman"/>
                  <a:ea typeface="Times New Roman"/>
                  <a:cs typeface="Times New Roman"/>
                </a:defRPr>
              </a:lvl4pPr>
              <a:lvl5pPr algn="ctr">
                <a:defRPr sz="1700">
                  <a:solidFill>
                    <a:srgbClr val="000000"/>
                  </a:solidFill>
                  <a:latin typeface="Times New Roman"/>
                  <a:ea typeface="Times New Roman"/>
                  <a:cs typeface="Times New Roman"/>
                </a:defRPr>
              </a:lvl5pPr>
              <a:lvl6pPr algn="ctr">
                <a:defRPr sz="1700">
                  <a:solidFill>
                    <a:srgbClr val="000000"/>
                  </a:solidFill>
                  <a:latin typeface="Times New Roman"/>
                  <a:ea typeface="Times New Roman"/>
                  <a:cs typeface="Times New Roman"/>
                </a:defRPr>
              </a:lvl6pPr>
              <a:lvl7pPr algn="ctr">
                <a:defRPr sz="1700">
                  <a:solidFill>
                    <a:srgbClr val="000000"/>
                  </a:solidFill>
                  <a:latin typeface="Times New Roman"/>
                  <a:ea typeface="Times New Roman"/>
                  <a:cs typeface="Times New Roman"/>
                </a:defRPr>
              </a:lvl7pPr>
              <a:lvl8pPr algn="ctr">
                <a:defRPr sz="1700">
                  <a:solidFill>
                    <a:srgbClr val="000000"/>
                  </a:solidFill>
                  <a:latin typeface="Times New Roman"/>
                  <a:ea typeface="Times New Roman"/>
                  <a:cs typeface="Times New Roman"/>
                </a:defRPr>
              </a:lvl8pPr>
              <a:lvl9pPr algn="ctr">
                <a:defRPr sz="1700">
                  <a:solidFill>
                    <a:srgbClr val="000000"/>
                  </a:solidFill>
                  <a:latin typeface="Times New Roman"/>
                  <a:ea typeface="Times New Roman"/>
                  <a:cs typeface="Times New Roman"/>
                </a:defRPr>
              </a:lvl9pPr>
            </a:lstStyle>
            <a:p>
              <a:pPr algn="ctr">
                <a:defRPr sz="1700">
                  <a:solidFill>
                    <a:srgbClr val="000000"/>
                  </a:solidFill>
                  <a:latin typeface="Times New Roman"/>
                  <a:ea typeface="Times New Roman"/>
                  <a:cs typeface="Times New Roman"/>
                </a:defRPr>
              </a:pPr>
              <a:r>
                <a:rPr sz="1700">
                  <a:solidFill>
                    <a:srgbClr val="000000"/>
                  </a:solidFill>
                  <a:latin typeface="Times New Roman"/>
                  <a:ea typeface="Times New Roman"/>
                  <a:cs typeface="Times New Roman"/>
                </a:rPr>
                <a:t>Teilung liefert stets wieder Linienteile</a:t>
              </a:r>
            </a:p>
          </p:txBody>
        </p:sp>
        <p:sp>
          <p:nvSpPr>
            <p:cNvPr id="105" name="continuous-line-0">
              <a:extLst>
                <a:ext uri="{FF2B5EF4-FFF2-40B4-BE49-F238E27FC236}">
                  <a16:creationId xmlns:a16="http://schemas.microsoft.com/office/drawing/2014/main" xmlns="" id="{731C43CC-6EB2-47E1-A8E6-69C00B44C17A}"/>
                </a:ext>
              </a:extLst>
            </p:cNvPr>
            <p:cNvSpPr>
              <a:spLocks noGrp="1"/>
            </p:cNvSpPr>
            <p:nvPr/>
          </p:nvSpPr>
          <p:spPr>
            <a:xfrm>
              <a:off x="857250" y="3724275"/>
              <a:ext cx="7429500" cy="0"/>
            </a:xfrm>
            <a:prstGeom prst="line">
              <a:avLst/>
            </a:prstGeom>
            <a:noFill/>
            <a:ln w="38100">
              <a:solidFill>
                <a:srgbClr val="4F81BD"/>
              </a:solidFill>
              <a:prstDash val="solid"/>
            </a:ln>
          </p:spPr>
        </p:sp>
      </p:grpSp>
      <p:grpSp>
        <p:nvGrpSpPr>
          <p:cNvPr id="119" name="Schritt 2: Erste Teilung"/>
          <p:cNvGrpSpPr/>
          <p:nvPr/>
        </p:nvGrpSpPr>
        <p:grpSpPr>
          <a:xfrm>
            <a:off x="857250" y="4143375"/>
            <a:ext cx="7429500" cy="171450"/>
            <a:chOff x="857250" y="4143375"/>
            <a:chExt cx="7429500" cy="171450"/>
          </a:xfrm>
        </p:grpSpPr>
        <p:sp>
          <p:nvSpPr>
            <p:cNvPr id="106" name="continuous-line-1">
              <a:extLst>
                <a:ext uri="{FF2B5EF4-FFF2-40B4-BE49-F238E27FC236}">
                  <a16:creationId xmlns:a16="http://schemas.microsoft.com/office/drawing/2014/main" xmlns="" id="{96EC7891-B492-439F-8628-D46420D740FE}"/>
                </a:ext>
              </a:extLst>
            </p:cNvPr>
            <p:cNvSpPr>
              <a:spLocks noGrp="1"/>
            </p:cNvSpPr>
            <p:nvPr/>
          </p:nvSpPr>
          <p:spPr>
            <a:xfrm>
              <a:off x="857250" y="4229100"/>
              <a:ext cx="7429500" cy="0"/>
            </a:xfrm>
            <a:prstGeom prst="line">
              <a:avLst/>
            </a:prstGeom>
            <a:noFill/>
            <a:ln w="38100">
              <a:solidFill>
                <a:srgbClr val="4F81BD"/>
              </a:solidFill>
              <a:prstDash val="solid"/>
            </a:ln>
          </p:spPr>
        </p:sp>
        <p:sp>
          <p:nvSpPr>
            <p:cNvPr id="107" name="boundary-1-480">
              <a:extLst>
                <a:ext uri="{FF2B5EF4-FFF2-40B4-BE49-F238E27FC236}">
                  <a16:creationId xmlns:a16="http://schemas.microsoft.com/office/drawing/2014/main" xmlns="" id="{6F428591-4A60-4460-974C-AC88EAF126CA}"/>
                </a:ext>
              </a:extLst>
            </p:cNvPr>
            <p:cNvSpPr>
              <a:spLocks noGrp="1"/>
            </p:cNvSpPr>
            <p:nvPr/>
          </p:nvSpPr>
          <p:spPr>
            <a:xfrm>
              <a:off x="4572000" y="4143375"/>
              <a:ext cx="0" cy="171450"/>
            </a:xfrm>
            <a:prstGeom prst="line">
              <a:avLst/>
            </a:prstGeom>
            <a:noFill/>
            <a:ln w="11430">
              <a:solidFill>
                <a:srgbClr val="000000"/>
              </a:solidFill>
              <a:prstDash val="solid"/>
            </a:ln>
          </p:spPr>
        </p:sp>
        <p:sp>
          <p:nvSpPr>
            <p:cNvPr id="108" name="boundary-point-1-480">
              <a:extLst>
                <a:ext uri="{FF2B5EF4-FFF2-40B4-BE49-F238E27FC236}">
                  <a16:creationId xmlns:a16="http://schemas.microsoft.com/office/drawing/2014/main" xmlns="" id="{6748D792-0955-4F24-B97B-2C4E9B4EAA4E}"/>
                </a:ext>
              </a:extLst>
            </p:cNvPr>
            <p:cNvSpPr>
              <a:spLocks noGrp="1"/>
            </p:cNvSpPr>
            <p:nvPr/>
          </p:nvSpPr>
          <p:spPr>
            <a:xfrm>
              <a:off x="4548188" y="4205288"/>
              <a:ext cx="47625" cy="47625"/>
            </a:xfrm>
            <a:prstGeom prst="ellipse">
              <a:avLst/>
            </a:prstGeom>
            <a:solidFill>
              <a:srgbClr val="000000"/>
            </a:solidFill>
            <a:ln w="0">
              <a:noFill/>
              <a:prstDash val="solid"/>
            </a:ln>
          </p:spPr>
        </p:sp>
      </p:grpSp>
      <p:grpSp>
        <p:nvGrpSpPr>
          <p:cNvPr id="120" name="Schritt 3: Weitere Teilungen"/>
          <p:cNvGrpSpPr/>
          <p:nvPr/>
        </p:nvGrpSpPr>
        <p:grpSpPr>
          <a:xfrm>
            <a:off x="857250" y="4448175"/>
            <a:ext cx="7828178" cy="447675"/>
            <a:chOff x="857250" y="4448175"/>
            <a:chExt cx="7828178" cy="447675"/>
          </a:xfrm>
        </p:grpSpPr>
        <p:sp>
          <p:nvSpPr>
            <p:cNvPr id="109" name="continuous-line-2">
              <a:extLst>
                <a:ext uri="{FF2B5EF4-FFF2-40B4-BE49-F238E27FC236}">
                  <a16:creationId xmlns:a16="http://schemas.microsoft.com/office/drawing/2014/main" xmlns="" id="{70844F22-EE17-4B41-B4C4-FDC314301ED6}"/>
                </a:ext>
              </a:extLst>
            </p:cNvPr>
            <p:cNvSpPr>
              <a:spLocks noGrp="1"/>
            </p:cNvSpPr>
            <p:nvPr/>
          </p:nvSpPr>
          <p:spPr>
            <a:xfrm>
              <a:off x="857250" y="4733925"/>
              <a:ext cx="7429500" cy="0"/>
            </a:xfrm>
            <a:prstGeom prst="line">
              <a:avLst/>
            </a:prstGeom>
            <a:noFill/>
            <a:ln w="38100">
              <a:solidFill>
                <a:srgbClr val="4F81BD"/>
              </a:solidFill>
              <a:prstDash val="solid"/>
            </a:ln>
          </p:spPr>
        </p:sp>
        <p:sp>
          <p:nvSpPr>
            <p:cNvPr id="110" name="boundary-2-285">
              <a:extLst>
                <a:ext uri="{FF2B5EF4-FFF2-40B4-BE49-F238E27FC236}">
                  <a16:creationId xmlns:a16="http://schemas.microsoft.com/office/drawing/2014/main" xmlns="" id="{D3725608-AB80-45E7-931D-345D9796588C}"/>
                </a:ext>
              </a:extLst>
            </p:cNvPr>
            <p:cNvSpPr>
              <a:spLocks noGrp="1"/>
            </p:cNvSpPr>
            <p:nvPr/>
          </p:nvSpPr>
          <p:spPr>
            <a:xfrm>
              <a:off x="2714625" y="4648200"/>
              <a:ext cx="0" cy="171450"/>
            </a:xfrm>
            <a:prstGeom prst="line">
              <a:avLst/>
            </a:prstGeom>
            <a:noFill/>
            <a:ln w="11430">
              <a:solidFill>
                <a:srgbClr val="000000"/>
              </a:solidFill>
              <a:prstDash val="solid"/>
            </a:ln>
          </p:spPr>
        </p:sp>
        <p:sp>
          <p:nvSpPr>
            <p:cNvPr id="111" name="boundary-point-2-285">
              <a:extLst>
                <a:ext uri="{FF2B5EF4-FFF2-40B4-BE49-F238E27FC236}">
                  <a16:creationId xmlns:a16="http://schemas.microsoft.com/office/drawing/2014/main" xmlns="" id="{A1D84193-FB55-4A9E-BFC1-4557F24553E4}"/>
                </a:ext>
              </a:extLst>
            </p:cNvPr>
            <p:cNvSpPr>
              <a:spLocks noGrp="1"/>
            </p:cNvSpPr>
            <p:nvPr/>
          </p:nvSpPr>
          <p:spPr>
            <a:xfrm>
              <a:off x="2690813" y="4710113"/>
              <a:ext cx="47625" cy="47625"/>
            </a:xfrm>
            <a:prstGeom prst="ellipse">
              <a:avLst/>
            </a:prstGeom>
            <a:solidFill>
              <a:srgbClr val="000000"/>
            </a:solidFill>
            <a:ln w="0">
              <a:noFill/>
              <a:prstDash val="solid"/>
            </a:ln>
          </p:spPr>
        </p:sp>
        <p:sp>
          <p:nvSpPr>
            <p:cNvPr id="112" name="boundary-2-480">
              <a:extLst>
                <a:ext uri="{FF2B5EF4-FFF2-40B4-BE49-F238E27FC236}">
                  <a16:creationId xmlns:a16="http://schemas.microsoft.com/office/drawing/2014/main" xmlns="" id="{3ECC6F66-302B-4183-B6F3-061954A1730C}"/>
                </a:ext>
              </a:extLst>
            </p:cNvPr>
            <p:cNvSpPr>
              <a:spLocks noGrp="1"/>
            </p:cNvSpPr>
            <p:nvPr/>
          </p:nvSpPr>
          <p:spPr>
            <a:xfrm>
              <a:off x="4572000" y="4648200"/>
              <a:ext cx="0" cy="171450"/>
            </a:xfrm>
            <a:prstGeom prst="line">
              <a:avLst/>
            </a:prstGeom>
            <a:noFill/>
            <a:ln w="11430">
              <a:solidFill>
                <a:srgbClr val="000000"/>
              </a:solidFill>
              <a:prstDash val="solid"/>
            </a:ln>
          </p:spPr>
        </p:sp>
        <p:sp>
          <p:nvSpPr>
            <p:cNvPr id="113" name="boundary-point-2-480">
              <a:extLst>
                <a:ext uri="{FF2B5EF4-FFF2-40B4-BE49-F238E27FC236}">
                  <a16:creationId xmlns:a16="http://schemas.microsoft.com/office/drawing/2014/main" xmlns="" id="{EBC3C33C-17C1-44D7-9A3F-44EFD3AD7A6B}"/>
                </a:ext>
              </a:extLst>
            </p:cNvPr>
            <p:cNvSpPr>
              <a:spLocks noGrp="1"/>
            </p:cNvSpPr>
            <p:nvPr/>
          </p:nvSpPr>
          <p:spPr>
            <a:xfrm>
              <a:off x="4548188" y="4710113"/>
              <a:ext cx="47625" cy="47625"/>
            </a:xfrm>
            <a:prstGeom prst="ellipse">
              <a:avLst/>
            </a:prstGeom>
            <a:solidFill>
              <a:srgbClr val="000000"/>
            </a:solidFill>
            <a:ln w="0">
              <a:noFill/>
              <a:prstDash val="solid"/>
            </a:ln>
          </p:spPr>
        </p:sp>
        <p:sp>
          <p:nvSpPr>
            <p:cNvPr id="114" name="boundary-2-675">
              <a:extLst>
                <a:ext uri="{FF2B5EF4-FFF2-40B4-BE49-F238E27FC236}">
                  <a16:creationId xmlns:a16="http://schemas.microsoft.com/office/drawing/2014/main" xmlns="" id="{55A8B8F5-DBC5-414E-9068-4FF60E3D9653}"/>
                </a:ext>
              </a:extLst>
            </p:cNvPr>
            <p:cNvSpPr>
              <a:spLocks noGrp="1"/>
            </p:cNvSpPr>
            <p:nvPr/>
          </p:nvSpPr>
          <p:spPr>
            <a:xfrm>
              <a:off x="6429375" y="4648200"/>
              <a:ext cx="0" cy="171450"/>
            </a:xfrm>
            <a:prstGeom prst="line">
              <a:avLst/>
            </a:prstGeom>
            <a:noFill/>
            <a:ln w="11430">
              <a:solidFill>
                <a:srgbClr val="000000"/>
              </a:solidFill>
              <a:prstDash val="solid"/>
            </a:ln>
          </p:spPr>
        </p:sp>
        <p:sp>
          <p:nvSpPr>
            <p:cNvPr id="115" name="boundary-point-2-675">
              <a:extLst>
                <a:ext uri="{FF2B5EF4-FFF2-40B4-BE49-F238E27FC236}">
                  <a16:creationId xmlns:a16="http://schemas.microsoft.com/office/drawing/2014/main" xmlns="" id="{FD23C0B5-1990-4D79-B3EE-E8593D52FA69}"/>
                </a:ext>
              </a:extLst>
            </p:cNvPr>
            <p:cNvSpPr>
              <a:spLocks noGrp="1"/>
            </p:cNvSpPr>
            <p:nvPr/>
          </p:nvSpPr>
          <p:spPr>
            <a:xfrm>
              <a:off x="6405563" y="4710113"/>
              <a:ext cx="47625" cy="47625"/>
            </a:xfrm>
            <a:prstGeom prst="ellipse">
              <a:avLst/>
            </a:prstGeom>
            <a:solidFill>
              <a:srgbClr val="000000"/>
            </a:solidFill>
            <a:ln w="0">
              <a:noFill/>
              <a:prstDash val="solid"/>
            </a:ln>
          </p:spPr>
        </p:sp>
        <p:pic>
          <p:nvPicPr>
            <p:cNvPr id="116" name="Grafik 115">
              <a:extLst>
                <a:ext uri="{FF2B5EF4-FFF2-40B4-BE49-F238E27FC236}">
                  <a16:creationId xmlns:a16="http://schemas.microsoft.com/office/drawing/2014/main" xmlns="" id="{930E0126-688A-4600-BCA9-BE12A14FAED7}"/>
                </a:ext>
              </a:extLst>
            </p:cNvPr>
            <p:cNvPicPr>
              <a:picLocks noChangeAspect="1"/>
            </p:cNvPicPr>
            <p:nvPr/>
          </p:nvPicPr>
          <p:blipFill>
            <a:blip r:embed="rId4"/>
            <a:stretch/>
          </p:blipFill>
          <p:spPr>
            <a:xfrm>
              <a:off x="8488147" y="4448175"/>
              <a:ext cx="197281" cy="447675"/>
            </a:xfrm>
            <a:prstGeom prst="rect">
              <a:avLst/>
            </a:prstGeom>
          </p:spPr>
        </p:pic>
      </p:grpSp>
    </p:spTree>
    <p:extLst>
      <p:ext uri="{BB962C8B-B14F-4D97-AF65-F5344CB8AC3E}">
        <p14:creationId xmlns:p14="http://schemas.microsoft.com/office/powerpoint/2010/main" val="385795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Infinitesimalismus</a:t>
            </a:r>
            <a:endParaRPr lang="en-CA" sz="3200" dirty="0">
              <a:solidFill>
                <a:schemeClr val="bg1"/>
              </a:solidFill>
              <a:effectLst>
                <a:outerShdw blurRad="38100" dist="38100" dir="2700000" algn="tl">
                  <a:srgbClr val="000000">
                    <a:alpha val="43137"/>
                  </a:srgbClr>
                </a:outerShdw>
              </a:effectLst>
            </a:endParaRPr>
          </a:p>
        </p:txBody>
      </p:sp>
      <p:pic>
        <p:nvPicPr>
          <p:cNvPr id="100" name="Grafik 99">
            <a:extLst>
              <a:ext uri="{FF2B5EF4-FFF2-40B4-BE49-F238E27FC236}">
                <a16:creationId xmlns:a16="http://schemas.microsoft.com/office/drawing/2014/main" xmlns="" id="{720A58EF-65E2-4231-8B82-CECE7FA4C0A6}"/>
              </a:ext>
            </a:extLst>
          </p:cNvPr>
          <p:cNvPicPr>
            <a:picLocks noChangeAspect="1"/>
          </p:cNvPicPr>
          <p:nvPr/>
        </p:nvPicPr>
        <p:blipFill>
          <a:blip r:embed="rId3"/>
          <a:srcRect l="6454" r="6454"/>
          <a:stretch/>
        </p:blipFill>
        <p:spPr>
          <a:xfrm>
            <a:off x="1190625" y="800100"/>
            <a:ext cx="1314450" cy="1638300"/>
          </a:xfrm>
          <a:prstGeom prst="rect">
            <a:avLst/>
          </a:prstGeom>
        </p:spPr>
      </p:pic>
      <p:sp>
        <p:nvSpPr>
          <p:cNvPr id="101" name="portrait-name-leibniz">
            <a:extLst>
              <a:ext uri="{FF2B5EF4-FFF2-40B4-BE49-F238E27FC236}">
                <a16:creationId xmlns:a16="http://schemas.microsoft.com/office/drawing/2014/main" xmlns="" id="{701AC09D-55E0-4E22-B8D7-BC62A398B5E8}"/>
              </a:ext>
            </a:extLst>
          </p:cNvPr>
          <p:cNvSpPr>
            <a:spLocks noGrp="1"/>
          </p:cNvSpPr>
          <p:nvPr/>
        </p:nvSpPr>
        <p:spPr>
          <a:xfrm>
            <a:off x="390525" y="2505075"/>
            <a:ext cx="2914650" cy="476250"/>
          </a:xfrm>
          <a:prstGeom prst="rect">
            <a:avLst/>
          </a:prstGeom>
          <a:noFill/>
          <a:ln w="0">
            <a:noFill/>
            <a:prstDash val="solid"/>
          </a:ln>
        </p:spPr>
        <p:txBody>
          <a:bodyPr wrap="square" lIns="0" tIns="0" rIns="0" bIns="0" anchor="ctr">
            <a:noAutofit/>
          </a:bodyPr>
          <a:lstStyle>
            <a:defPPr algn="ctr">
              <a:defRPr sz="1600" b="1">
                <a:solidFill>
                  <a:srgbClr val="000000"/>
                </a:solidFill>
                <a:latin typeface="Times New Roman"/>
                <a:ea typeface="Times New Roman"/>
                <a:cs typeface="Times New Roman"/>
              </a:defRPr>
            </a:defPPr>
            <a:lvl1pPr algn="ctr">
              <a:defRPr sz="1600" b="1">
                <a:solidFill>
                  <a:srgbClr val="000000"/>
                </a:solidFill>
                <a:latin typeface="Times New Roman"/>
                <a:ea typeface="Times New Roman"/>
                <a:cs typeface="Times New Roman"/>
              </a:defRPr>
            </a:lvl1pPr>
            <a:lvl2pPr algn="ctr">
              <a:defRPr sz="1600" b="1">
                <a:solidFill>
                  <a:srgbClr val="000000"/>
                </a:solidFill>
                <a:latin typeface="Times New Roman"/>
                <a:ea typeface="Times New Roman"/>
                <a:cs typeface="Times New Roman"/>
              </a:defRPr>
            </a:lvl2pPr>
            <a:lvl3pPr algn="ctr">
              <a:defRPr sz="1600" b="1">
                <a:solidFill>
                  <a:srgbClr val="000000"/>
                </a:solidFill>
                <a:latin typeface="Times New Roman"/>
                <a:ea typeface="Times New Roman"/>
                <a:cs typeface="Times New Roman"/>
              </a:defRPr>
            </a:lvl3pPr>
            <a:lvl4pPr algn="ctr">
              <a:defRPr sz="1600" b="1">
                <a:solidFill>
                  <a:srgbClr val="000000"/>
                </a:solidFill>
                <a:latin typeface="Times New Roman"/>
                <a:ea typeface="Times New Roman"/>
                <a:cs typeface="Times New Roman"/>
              </a:defRPr>
            </a:lvl4pPr>
            <a:lvl5pPr algn="ctr">
              <a:defRPr sz="1600" b="1">
                <a:solidFill>
                  <a:srgbClr val="000000"/>
                </a:solidFill>
                <a:latin typeface="Times New Roman"/>
                <a:ea typeface="Times New Roman"/>
                <a:cs typeface="Times New Roman"/>
              </a:defRPr>
            </a:lvl5pPr>
            <a:lvl6pPr algn="ctr">
              <a:defRPr sz="1600" b="1">
                <a:solidFill>
                  <a:srgbClr val="000000"/>
                </a:solidFill>
                <a:latin typeface="Times New Roman"/>
                <a:ea typeface="Times New Roman"/>
                <a:cs typeface="Times New Roman"/>
              </a:defRPr>
            </a:lvl6pPr>
            <a:lvl7pPr algn="ctr">
              <a:defRPr sz="1600" b="1">
                <a:solidFill>
                  <a:srgbClr val="000000"/>
                </a:solidFill>
                <a:latin typeface="Times New Roman"/>
                <a:ea typeface="Times New Roman"/>
                <a:cs typeface="Times New Roman"/>
              </a:defRPr>
            </a:lvl7pPr>
            <a:lvl8pPr algn="ctr">
              <a:defRPr sz="1600" b="1">
                <a:solidFill>
                  <a:srgbClr val="000000"/>
                </a:solidFill>
                <a:latin typeface="Times New Roman"/>
                <a:ea typeface="Times New Roman"/>
                <a:cs typeface="Times New Roman"/>
              </a:defRPr>
            </a:lvl8pPr>
            <a:lvl9pPr algn="ctr">
              <a:defRPr sz="1600" b="1">
                <a:solidFill>
                  <a:srgbClr val="000000"/>
                </a:solidFill>
                <a:latin typeface="Times New Roman"/>
                <a:ea typeface="Times New Roman"/>
                <a:cs typeface="Times New Roman"/>
              </a:defRPr>
            </a:lvl9pPr>
          </a:lstStyle>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Gottfried Wilhelm</a:t>
            </a:r>
          </a:p>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Leibniz</a:t>
            </a:r>
          </a:p>
        </p:txBody>
      </p:sp>
      <p:sp>
        <p:nvSpPr>
          <p:cNvPr id="102" name="portrait-years-leibniz">
            <a:extLst>
              <a:ext uri="{FF2B5EF4-FFF2-40B4-BE49-F238E27FC236}">
                <a16:creationId xmlns:a16="http://schemas.microsoft.com/office/drawing/2014/main" xmlns="" id="{084614BF-C688-4516-BD2D-69A618C52E6C}"/>
              </a:ext>
            </a:extLst>
          </p:cNvPr>
          <p:cNvSpPr>
            <a:spLocks noGrp="1"/>
          </p:cNvSpPr>
          <p:nvPr/>
        </p:nvSpPr>
        <p:spPr>
          <a:xfrm>
            <a:off x="390525" y="3009900"/>
            <a:ext cx="2914650" cy="238125"/>
          </a:xfrm>
          <a:prstGeom prst="rect">
            <a:avLst/>
          </a:prstGeom>
          <a:noFill/>
          <a:ln w="0">
            <a:noFill/>
            <a:prstDash val="solid"/>
          </a:ln>
        </p:spPr>
        <p:txBody>
          <a:bodyPr wrap="square" lIns="0" tIns="0" rIns="0" bIns="0" anchor="t">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0000"/>
              </a:lnSpc>
              <a:buNone/>
              <a:defRPr sz="1400">
                <a:solidFill>
                  <a:srgbClr val="000000"/>
                </a:solidFill>
                <a:latin typeface="Times New Roman"/>
                <a:ea typeface="Times New Roman"/>
                <a:cs typeface="Times New Roman"/>
              </a:defRPr>
            </a:pPr>
            <a:r>
              <a:rPr sz="1400">
                <a:solidFill>
                  <a:srgbClr val="000000"/>
                </a:solidFill>
                <a:latin typeface="Times New Roman"/>
                <a:ea typeface="Times New Roman"/>
                <a:cs typeface="Times New Roman"/>
              </a:rPr>
              <a:t>1646–1716</a:t>
            </a:r>
          </a:p>
        </p:txBody>
      </p:sp>
      <p:sp>
        <p:nvSpPr>
          <p:cNvPr id="103" name="position-explanation">
            <a:extLst>
              <a:ext uri="{FF2B5EF4-FFF2-40B4-BE49-F238E27FC236}">
                <a16:creationId xmlns:a16="http://schemas.microsoft.com/office/drawing/2014/main" xmlns="" id="{7BB00ABD-C7E3-4FD4-A09A-4501918EA04A}"/>
              </a:ext>
            </a:extLst>
          </p:cNvPr>
          <p:cNvSpPr>
            <a:spLocks noGrp="1"/>
          </p:cNvSpPr>
          <p:nvPr/>
        </p:nvSpPr>
        <p:spPr>
          <a:xfrm>
            <a:off x="3771900" y="942975"/>
            <a:ext cx="4991100" cy="2095500"/>
          </a:xfrm>
          <a:prstGeom prst="rect">
            <a:avLst/>
          </a:prstGeom>
          <a:noFill/>
          <a:ln w="0">
            <a:noFill/>
            <a:prstDash val="solid"/>
          </a:ln>
        </p:spPr>
        <p:txBody>
          <a:bodyPr wrap="square" lIns="0" tIns="0" rIns="0" bIns="0" anchor="t">
            <a:noAutofit/>
          </a:bodyPr>
          <a:lstStyle>
            <a:defPPr algn="l">
              <a:defRPr sz="1900">
                <a:solidFill>
                  <a:srgbClr val="000000"/>
                </a:solidFill>
                <a:latin typeface="Times New Roman"/>
                <a:ea typeface="Times New Roman"/>
                <a:cs typeface="Times New Roman"/>
              </a:defRPr>
            </a:defPPr>
            <a:lvl1pPr algn="l">
              <a:defRPr sz="1900">
                <a:solidFill>
                  <a:srgbClr val="000000"/>
                </a:solidFill>
                <a:latin typeface="Times New Roman"/>
                <a:ea typeface="Times New Roman"/>
                <a:cs typeface="Times New Roman"/>
              </a:defRPr>
            </a:lvl1pPr>
            <a:lvl2pPr algn="l">
              <a:defRPr sz="1900">
                <a:solidFill>
                  <a:srgbClr val="000000"/>
                </a:solidFill>
                <a:latin typeface="Times New Roman"/>
                <a:ea typeface="Times New Roman"/>
                <a:cs typeface="Times New Roman"/>
              </a:defRPr>
            </a:lvl2pPr>
            <a:lvl3pPr algn="l">
              <a:defRPr sz="1900">
                <a:solidFill>
                  <a:srgbClr val="000000"/>
                </a:solidFill>
                <a:latin typeface="Times New Roman"/>
                <a:ea typeface="Times New Roman"/>
                <a:cs typeface="Times New Roman"/>
              </a:defRPr>
            </a:lvl3pPr>
            <a:lvl4pPr algn="l">
              <a:defRPr sz="1900">
                <a:solidFill>
                  <a:srgbClr val="000000"/>
                </a:solidFill>
                <a:latin typeface="Times New Roman"/>
                <a:ea typeface="Times New Roman"/>
                <a:cs typeface="Times New Roman"/>
              </a:defRPr>
            </a:lvl4pPr>
            <a:lvl5pPr algn="l">
              <a:defRPr sz="1900">
                <a:solidFill>
                  <a:srgbClr val="000000"/>
                </a:solidFill>
                <a:latin typeface="Times New Roman"/>
                <a:ea typeface="Times New Roman"/>
                <a:cs typeface="Times New Roman"/>
              </a:defRPr>
            </a:lvl5pPr>
            <a:lvl6pPr algn="l">
              <a:defRPr sz="1900">
                <a:solidFill>
                  <a:srgbClr val="000000"/>
                </a:solidFill>
                <a:latin typeface="Times New Roman"/>
                <a:ea typeface="Times New Roman"/>
                <a:cs typeface="Times New Roman"/>
              </a:defRPr>
            </a:lvl6pPr>
            <a:lvl7pPr algn="l">
              <a:defRPr sz="1900">
                <a:solidFill>
                  <a:srgbClr val="000000"/>
                </a:solidFill>
                <a:latin typeface="Times New Roman"/>
                <a:ea typeface="Times New Roman"/>
                <a:cs typeface="Times New Roman"/>
              </a:defRPr>
            </a:lvl7pPr>
            <a:lvl8pPr algn="l">
              <a:defRPr sz="1900">
                <a:solidFill>
                  <a:srgbClr val="000000"/>
                </a:solidFill>
                <a:latin typeface="Times New Roman"/>
                <a:ea typeface="Times New Roman"/>
                <a:cs typeface="Times New Roman"/>
              </a:defRPr>
            </a:lvl8pPr>
            <a:lvl9pPr algn="l">
              <a:defRPr sz="1900">
                <a:solidFill>
                  <a:srgbClr val="000000"/>
                </a:solidFill>
                <a:latin typeface="Times New Roman"/>
                <a:ea typeface="Times New Roman"/>
                <a:cs typeface="Times New Roman"/>
              </a:defRPr>
            </a:lvl9pPr>
          </a:lstStyle>
          <a:p>
            <a:pPr algn="l">
              <a:lnSpc>
                <a:spcPct val="112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Die Linie besteht aus unendlich vielen infinitesimalen Linienstücken.</a:t>
            </a:r>
          </a:p>
          <a:p>
            <a:pPr>
              <a:defRPr>
                <a:latin typeface="Times New Roman"/>
                <a:ea typeface="Times New Roman"/>
                <a:cs typeface="Times New Roman"/>
              </a:defRPr>
            </a:pPr>
            <a:endParaRPr sz="1900">
              <a:solidFill>
                <a:srgbClr val="000000"/>
              </a:solidFill>
              <a:latin typeface="Times New Roman"/>
              <a:ea typeface="Times New Roman"/>
              <a:cs typeface="Times New Roman"/>
            </a:endParaRPr>
          </a:p>
          <a:p>
            <a:pPr algn="l">
              <a:lnSpc>
                <a:spcPct val="112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Auch diese sind weiter teilbar. Punkte und Linienteile bleiben verschieden.</a:t>
            </a:r>
          </a:p>
        </p:txBody>
      </p:sp>
      <p:sp>
        <p:nvSpPr>
          <p:cNvPr id="113" name="visible-citation-continuum-35">
            <a:extLst>
              <a:ext uri="{FF2B5EF4-FFF2-40B4-BE49-F238E27FC236}">
                <a16:creationId xmlns:a16="http://schemas.microsoft.com/office/drawing/2014/main" xmlns="" id="{DDFD9E4C-50CD-42C1-838B-A4094C775C48}"/>
              </a:ext>
            </a:extLst>
          </p:cNvPr>
          <p:cNvSpPr>
            <a:spLocks noGrp="1"/>
          </p:cNvSpPr>
          <p:nvPr/>
        </p:nvSpPr>
        <p:spPr>
          <a:xfrm>
            <a:off x="3771900" y="2715766"/>
            <a:ext cx="4991100" cy="2095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dirty="0" err="1">
                <a:solidFill>
                  <a:srgbClr val="000000"/>
                </a:solidFill>
                <a:latin typeface="Times New Roman"/>
                <a:ea typeface="Times New Roman"/>
                <a:cs typeface="Times New Roman"/>
              </a:rPr>
              <a:t>Bedürftig</a:t>
            </a:r>
            <a:r>
              <a:rPr sz="1050" dirty="0">
                <a:solidFill>
                  <a:srgbClr val="000000"/>
                </a:solidFill>
                <a:latin typeface="Times New Roman"/>
                <a:ea typeface="Times New Roman"/>
                <a:cs typeface="Times New Roman"/>
              </a:rPr>
              <a:t> / </a:t>
            </a:r>
            <a:r>
              <a:rPr sz="1050" dirty="0" err="1">
                <a:solidFill>
                  <a:srgbClr val="000000"/>
                </a:solidFill>
                <a:latin typeface="Times New Roman"/>
                <a:ea typeface="Times New Roman"/>
                <a:cs typeface="Times New Roman"/>
              </a:rPr>
              <a:t>Murawski</a:t>
            </a:r>
            <a:r>
              <a:rPr sz="1050" dirty="0">
                <a:solidFill>
                  <a:srgbClr val="000000"/>
                </a:solidFill>
                <a:latin typeface="Times New Roman"/>
                <a:ea typeface="Times New Roman"/>
                <a:cs typeface="Times New Roman"/>
              </a:rPr>
              <a:t> (2019), § 3.3.5, S. 213–215.</a:t>
            </a:r>
          </a:p>
        </p:txBody>
      </p:sp>
      <p:grpSp>
        <p:nvGrpSpPr>
          <p:cNvPr id="114" name="Schritt 1: Infinitesimales Linienstück"/>
          <p:cNvGrpSpPr/>
          <p:nvPr/>
        </p:nvGrpSpPr>
        <p:grpSpPr>
          <a:xfrm>
            <a:off x="762000" y="3209925"/>
            <a:ext cx="7620000" cy="466725"/>
            <a:chOff x="762000" y="3209925"/>
            <a:chExt cx="7620000" cy="466725"/>
          </a:xfrm>
        </p:grpSpPr>
        <p:sp>
          <p:nvSpPr>
            <p:cNvPr id="104" name="leibniz-line">
              <a:extLst>
                <a:ext uri="{FF2B5EF4-FFF2-40B4-BE49-F238E27FC236}">
                  <a16:creationId xmlns:a16="http://schemas.microsoft.com/office/drawing/2014/main" xmlns="" id="{6A2272D9-435E-4BD8-874D-EB3D05D17E51}"/>
                </a:ext>
              </a:extLst>
            </p:cNvPr>
            <p:cNvSpPr>
              <a:spLocks noGrp="1"/>
            </p:cNvSpPr>
            <p:nvPr/>
          </p:nvSpPr>
          <p:spPr>
            <a:xfrm>
              <a:off x="762000" y="3609975"/>
              <a:ext cx="7620000" cy="0"/>
            </a:xfrm>
            <a:prstGeom prst="line">
              <a:avLst/>
            </a:prstGeom>
            <a:noFill/>
            <a:ln w="38100">
              <a:solidFill>
                <a:srgbClr val="4F81BD"/>
              </a:solidFill>
              <a:prstDash val="solid"/>
            </a:ln>
          </p:spPr>
        </p:sp>
        <p:sp>
          <p:nvSpPr>
            <p:cNvPr id="105" name="tiny-infinitesimal">
              <a:extLst>
                <a:ext uri="{FF2B5EF4-FFF2-40B4-BE49-F238E27FC236}">
                  <a16:creationId xmlns:a16="http://schemas.microsoft.com/office/drawing/2014/main" xmlns="" id="{7810EAD5-C51D-4259-B77D-3174CF66ADD5}"/>
                </a:ext>
              </a:extLst>
            </p:cNvPr>
            <p:cNvSpPr>
              <a:spLocks noGrp="1"/>
            </p:cNvSpPr>
            <p:nvPr/>
          </p:nvSpPr>
          <p:spPr>
            <a:xfrm>
              <a:off x="4457700" y="3543300"/>
              <a:ext cx="228600" cy="133350"/>
            </a:xfrm>
            <a:prstGeom prst="rect">
              <a:avLst/>
            </a:prstGeom>
            <a:solidFill>
              <a:srgbClr val="1F497D"/>
            </a:solidFill>
            <a:ln w="6668">
              <a:solidFill>
                <a:srgbClr val="1F497D"/>
              </a:solidFill>
              <a:prstDash val="solid"/>
            </a:ln>
          </p:spPr>
        </p:sp>
        <p:pic>
          <p:nvPicPr>
            <p:cNvPr id="106" name="Grafik 105">
              <a:extLst>
                <a:ext uri="{FF2B5EF4-FFF2-40B4-BE49-F238E27FC236}">
                  <a16:creationId xmlns:a16="http://schemas.microsoft.com/office/drawing/2014/main" xmlns="" id="{9A57426B-AFCF-485A-9CD9-8DDE1E7CE346}"/>
                </a:ext>
              </a:extLst>
            </p:cNvPr>
            <p:cNvPicPr>
              <a:picLocks noChangeAspect="1"/>
            </p:cNvPicPr>
            <p:nvPr/>
          </p:nvPicPr>
          <p:blipFill>
            <a:blip r:embed="rId4"/>
            <a:stretch/>
          </p:blipFill>
          <p:spPr>
            <a:xfrm>
              <a:off x="4359275" y="3209925"/>
              <a:ext cx="425450" cy="304800"/>
            </a:xfrm>
            <a:prstGeom prst="rect">
              <a:avLst/>
            </a:prstGeom>
          </p:spPr>
        </p:pic>
      </p:grpSp>
      <p:grpSp>
        <p:nvGrpSpPr>
          <p:cNvPr id="115" name="Schritt 2: Weitere Teilbarkeit"/>
          <p:cNvGrpSpPr/>
          <p:nvPr/>
        </p:nvGrpSpPr>
        <p:grpSpPr>
          <a:xfrm>
            <a:off x="2857500" y="3686175"/>
            <a:ext cx="3429000" cy="1200150"/>
            <a:chOff x="2857500" y="3686175"/>
            <a:chExt cx="3429000" cy="1200150"/>
          </a:xfrm>
        </p:grpSpPr>
        <p:sp>
          <p:nvSpPr>
            <p:cNvPr id="107" name="leibniz-zoom-left">
              <a:extLst>
                <a:ext uri="{FF2B5EF4-FFF2-40B4-BE49-F238E27FC236}">
                  <a16:creationId xmlns:a16="http://schemas.microsoft.com/office/drawing/2014/main" xmlns="" id="{FEE29898-2FFC-4311-982D-B452915CE7EF}"/>
                </a:ext>
              </a:extLst>
            </p:cNvPr>
            <p:cNvSpPr>
              <a:spLocks noGrp="1"/>
            </p:cNvSpPr>
            <p:nvPr/>
          </p:nvSpPr>
          <p:spPr>
            <a:xfrm flipH="1">
              <a:off x="2857500" y="3686175"/>
              <a:ext cx="1600200" cy="504825"/>
            </a:xfrm>
            <a:prstGeom prst="line">
              <a:avLst/>
            </a:prstGeom>
            <a:noFill/>
            <a:ln w="11430">
              <a:solidFill>
                <a:srgbClr val="999999"/>
              </a:solidFill>
              <a:prstDash val="solid"/>
            </a:ln>
          </p:spPr>
        </p:sp>
        <p:sp>
          <p:nvSpPr>
            <p:cNvPr id="108" name="leibniz-zoom-right">
              <a:extLst>
                <a:ext uri="{FF2B5EF4-FFF2-40B4-BE49-F238E27FC236}">
                  <a16:creationId xmlns:a16="http://schemas.microsoft.com/office/drawing/2014/main" xmlns="" id="{2670487C-1338-4D55-BF88-032869CBD202}"/>
                </a:ext>
              </a:extLst>
            </p:cNvPr>
            <p:cNvSpPr>
              <a:spLocks noGrp="1"/>
            </p:cNvSpPr>
            <p:nvPr/>
          </p:nvSpPr>
          <p:spPr>
            <a:xfrm>
              <a:off x="4686300" y="3686175"/>
              <a:ext cx="1600200" cy="504825"/>
            </a:xfrm>
            <a:prstGeom prst="line">
              <a:avLst/>
            </a:prstGeom>
            <a:noFill/>
            <a:ln w="11430">
              <a:solidFill>
                <a:srgbClr val="999999"/>
              </a:solidFill>
              <a:prstDash val="solid"/>
            </a:ln>
          </p:spPr>
        </p:sp>
        <p:sp>
          <p:nvSpPr>
            <p:cNvPr id="109" name="infinitesimal-half-left">
              <a:extLst>
                <a:ext uri="{FF2B5EF4-FFF2-40B4-BE49-F238E27FC236}">
                  <a16:creationId xmlns:a16="http://schemas.microsoft.com/office/drawing/2014/main" xmlns="" id="{B5F50A69-C055-4736-AEBF-C7C46B323002}"/>
                </a:ext>
              </a:extLst>
            </p:cNvPr>
            <p:cNvSpPr>
              <a:spLocks noGrp="1"/>
            </p:cNvSpPr>
            <p:nvPr/>
          </p:nvSpPr>
          <p:spPr>
            <a:xfrm>
              <a:off x="2857500" y="4191000"/>
              <a:ext cx="1714500" cy="142875"/>
            </a:xfrm>
            <a:prstGeom prst="rect">
              <a:avLst/>
            </a:prstGeom>
            <a:solidFill>
              <a:srgbClr val="4F81BD"/>
            </a:solidFill>
            <a:ln w="7620">
              <a:solidFill>
                <a:srgbClr val="000000"/>
              </a:solidFill>
              <a:prstDash val="solid"/>
            </a:ln>
          </p:spPr>
        </p:sp>
        <p:sp>
          <p:nvSpPr>
            <p:cNvPr id="110" name="infinitesimal-half-right">
              <a:extLst>
                <a:ext uri="{FF2B5EF4-FFF2-40B4-BE49-F238E27FC236}">
                  <a16:creationId xmlns:a16="http://schemas.microsoft.com/office/drawing/2014/main" xmlns="" id="{C0003B5F-9CBE-439B-82C2-84B6124C21B8}"/>
                </a:ext>
              </a:extLst>
            </p:cNvPr>
            <p:cNvSpPr>
              <a:spLocks noGrp="1"/>
            </p:cNvSpPr>
            <p:nvPr/>
          </p:nvSpPr>
          <p:spPr>
            <a:xfrm>
              <a:off x="4572000" y="4191000"/>
              <a:ext cx="1714500" cy="142875"/>
            </a:xfrm>
            <a:prstGeom prst="rect">
              <a:avLst/>
            </a:prstGeom>
            <a:solidFill>
              <a:srgbClr val="DCE6F1"/>
            </a:solidFill>
            <a:ln w="7620">
              <a:solidFill>
                <a:srgbClr val="000000"/>
              </a:solidFill>
              <a:prstDash val="solid"/>
            </a:ln>
          </p:spPr>
        </p:sp>
        <p:pic>
          <p:nvPicPr>
            <p:cNvPr id="111" name="Grafik 110">
              <a:extLst>
                <a:ext uri="{FF2B5EF4-FFF2-40B4-BE49-F238E27FC236}">
                  <a16:creationId xmlns:a16="http://schemas.microsoft.com/office/drawing/2014/main" xmlns="" id="{F3DEC018-5CDF-4801-9037-9E8257C144C2}"/>
                </a:ext>
              </a:extLst>
            </p:cNvPr>
            <p:cNvPicPr>
              <a:picLocks noChangeAspect="1"/>
            </p:cNvPicPr>
            <p:nvPr/>
          </p:nvPicPr>
          <p:blipFill>
            <a:blip r:embed="rId5"/>
            <a:stretch/>
          </p:blipFill>
          <p:spPr>
            <a:xfrm>
              <a:off x="3590445" y="4476750"/>
              <a:ext cx="258136" cy="409575"/>
            </a:xfrm>
            <a:prstGeom prst="rect">
              <a:avLst/>
            </a:prstGeom>
          </p:spPr>
        </p:pic>
        <p:pic>
          <p:nvPicPr>
            <p:cNvPr id="112" name="Grafik 111">
              <a:extLst>
                <a:ext uri="{FF2B5EF4-FFF2-40B4-BE49-F238E27FC236}">
                  <a16:creationId xmlns:a16="http://schemas.microsoft.com/office/drawing/2014/main" xmlns="" id="{812EC045-9EC2-4B49-9827-A1424E051CB9}"/>
                </a:ext>
              </a:extLst>
            </p:cNvPr>
            <p:cNvPicPr>
              <a:picLocks noChangeAspect="1"/>
            </p:cNvPicPr>
            <p:nvPr/>
          </p:nvPicPr>
          <p:blipFill>
            <a:blip r:embed="rId5"/>
            <a:stretch/>
          </p:blipFill>
          <p:spPr>
            <a:xfrm>
              <a:off x="5304945" y="4476750"/>
              <a:ext cx="258136" cy="409575"/>
            </a:xfrm>
            <a:prstGeom prst="rect">
              <a:avLst/>
            </a:prstGeom>
          </p:spPr>
        </p:pic>
      </p:grpSp>
    </p:spTree>
    <p:extLst>
      <p:ext uri="{BB962C8B-B14F-4D97-AF65-F5344CB8AC3E}">
        <p14:creationId xmlns:p14="http://schemas.microsoft.com/office/powerpoint/2010/main" val="385795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0"/>
            <a:ext cx="9144000" cy="579120"/>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Trans-transfiniter Atomismus</a:t>
            </a:r>
            <a:endParaRPr lang="en-CA" sz="3200" dirty="0">
              <a:solidFill>
                <a:schemeClr val="bg1"/>
              </a:solidFill>
              <a:effectLst>
                <a:outerShdw blurRad="38100" dist="38100" dir="2700000" algn="tl">
                  <a:srgbClr val="000000">
                    <a:alpha val="43137"/>
                  </a:srgbClr>
                </a:outerShdw>
              </a:effectLst>
            </a:endParaRPr>
          </a:p>
        </p:txBody>
      </p:sp>
      <p:pic>
        <p:nvPicPr>
          <p:cNvPr id="100" name="Grafik 99">
            <a:extLst>
              <a:ext uri="{FF2B5EF4-FFF2-40B4-BE49-F238E27FC236}">
                <a16:creationId xmlns:a16="http://schemas.microsoft.com/office/drawing/2014/main" xmlns="" id="{E6FA4ADE-A5E8-4087-B27F-B6E786E72A69}"/>
              </a:ext>
            </a:extLst>
          </p:cNvPr>
          <p:cNvPicPr>
            <a:picLocks noChangeAspect="1"/>
          </p:cNvPicPr>
          <p:nvPr/>
        </p:nvPicPr>
        <p:blipFill>
          <a:blip r:embed="rId3"/>
          <a:srcRect l="9816" r="9816"/>
          <a:stretch/>
        </p:blipFill>
        <p:spPr>
          <a:xfrm>
            <a:off x="409575" y="800100"/>
            <a:ext cx="1314450" cy="1638300"/>
          </a:xfrm>
          <a:prstGeom prst="rect">
            <a:avLst/>
          </a:prstGeom>
        </p:spPr>
      </p:pic>
      <p:sp>
        <p:nvSpPr>
          <p:cNvPr id="101" name="portrait-name-cantor">
            <a:extLst>
              <a:ext uri="{FF2B5EF4-FFF2-40B4-BE49-F238E27FC236}">
                <a16:creationId xmlns:a16="http://schemas.microsoft.com/office/drawing/2014/main" xmlns="" id="{4B54B97A-4B98-4B3C-93DB-E9A36FE257A3}"/>
              </a:ext>
            </a:extLst>
          </p:cNvPr>
          <p:cNvSpPr>
            <a:spLocks noGrp="1"/>
          </p:cNvSpPr>
          <p:nvPr/>
        </p:nvSpPr>
        <p:spPr>
          <a:xfrm>
            <a:off x="266700" y="2505075"/>
            <a:ext cx="1600200" cy="476250"/>
          </a:xfrm>
          <a:prstGeom prst="rect">
            <a:avLst/>
          </a:prstGeom>
          <a:noFill/>
          <a:ln w="0">
            <a:noFill/>
            <a:prstDash val="solid"/>
          </a:ln>
        </p:spPr>
        <p:txBody>
          <a:bodyPr wrap="square" lIns="0" tIns="0" rIns="0" bIns="0" anchor="ctr">
            <a:noAutofit/>
          </a:bodyPr>
          <a:lstStyle>
            <a:defPPr algn="ctr">
              <a:defRPr sz="1600" b="1">
                <a:solidFill>
                  <a:srgbClr val="000000"/>
                </a:solidFill>
                <a:latin typeface="Times New Roman"/>
                <a:ea typeface="Times New Roman"/>
                <a:cs typeface="Times New Roman"/>
              </a:defRPr>
            </a:defPPr>
            <a:lvl1pPr algn="ctr">
              <a:defRPr sz="1600" b="1">
                <a:solidFill>
                  <a:srgbClr val="000000"/>
                </a:solidFill>
                <a:latin typeface="Times New Roman"/>
                <a:ea typeface="Times New Roman"/>
                <a:cs typeface="Times New Roman"/>
              </a:defRPr>
            </a:lvl1pPr>
            <a:lvl2pPr algn="ctr">
              <a:defRPr sz="1600" b="1">
                <a:solidFill>
                  <a:srgbClr val="000000"/>
                </a:solidFill>
                <a:latin typeface="Times New Roman"/>
                <a:ea typeface="Times New Roman"/>
                <a:cs typeface="Times New Roman"/>
              </a:defRPr>
            </a:lvl2pPr>
            <a:lvl3pPr algn="ctr">
              <a:defRPr sz="1600" b="1">
                <a:solidFill>
                  <a:srgbClr val="000000"/>
                </a:solidFill>
                <a:latin typeface="Times New Roman"/>
                <a:ea typeface="Times New Roman"/>
                <a:cs typeface="Times New Roman"/>
              </a:defRPr>
            </a:lvl3pPr>
            <a:lvl4pPr algn="ctr">
              <a:defRPr sz="1600" b="1">
                <a:solidFill>
                  <a:srgbClr val="000000"/>
                </a:solidFill>
                <a:latin typeface="Times New Roman"/>
                <a:ea typeface="Times New Roman"/>
                <a:cs typeface="Times New Roman"/>
              </a:defRPr>
            </a:lvl4pPr>
            <a:lvl5pPr algn="ctr">
              <a:defRPr sz="1600" b="1">
                <a:solidFill>
                  <a:srgbClr val="000000"/>
                </a:solidFill>
                <a:latin typeface="Times New Roman"/>
                <a:ea typeface="Times New Roman"/>
                <a:cs typeface="Times New Roman"/>
              </a:defRPr>
            </a:lvl5pPr>
            <a:lvl6pPr algn="ctr">
              <a:defRPr sz="1600" b="1">
                <a:solidFill>
                  <a:srgbClr val="000000"/>
                </a:solidFill>
                <a:latin typeface="Times New Roman"/>
                <a:ea typeface="Times New Roman"/>
                <a:cs typeface="Times New Roman"/>
              </a:defRPr>
            </a:lvl6pPr>
            <a:lvl7pPr algn="ctr">
              <a:defRPr sz="1600" b="1">
                <a:solidFill>
                  <a:srgbClr val="000000"/>
                </a:solidFill>
                <a:latin typeface="Times New Roman"/>
                <a:ea typeface="Times New Roman"/>
                <a:cs typeface="Times New Roman"/>
              </a:defRPr>
            </a:lvl7pPr>
            <a:lvl8pPr algn="ctr">
              <a:defRPr sz="1600" b="1">
                <a:solidFill>
                  <a:srgbClr val="000000"/>
                </a:solidFill>
                <a:latin typeface="Times New Roman"/>
                <a:ea typeface="Times New Roman"/>
                <a:cs typeface="Times New Roman"/>
              </a:defRPr>
            </a:lvl8pPr>
            <a:lvl9pPr algn="ctr">
              <a:defRPr sz="1600" b="1">
                <a:solidFill>
                  <a:srgbClr val="000000"/>
                </a:solidFill>
                <a:latin typeface="Times New Roman"/>
                <a:ea typeface="Times New Roman"/>
                <a:cs typeface="Times New Roman"/>
              </a:defRPr>
            </a:lvl9pPr>
          </a:lstStyle>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Georg Cantor</a:t>
            </a:r>
          </a:p>
        </p:txBody>
      </p:sp>
      <p:sp>
        <p:nvSpPr>
          <p:cNvPr id="102" name="portrait-years-cantor">
            <a:extLst>
              <a:ext uri="{FF2B5EF4-FFF2-40B4-BE49-F238E27FC236}">
                <a16:creationId xmlns:a16="http://schemas.microsoft.com/office/drawing/2014/main" xmlns="" id="{8B444DDC-79CE-40F0-9A6F-6A765F94D921}"/>
              </a:ext>
            </a:extLst>
          </p:cNvPr>
          <p:cNvSpPr>
            <a:spLocks noGrp="1"/>
          </p:cNvSpPr>
          <p:nvPr/>
        </p:nvSpPr>
        <p:spPr>
          <a:xfrm>
            <a:off x="266700" y="3009900"/>
            <a:ext cx="1600200" cy="238125"/>
          </a:xfrm>
          <a:prstGeom prst="rect">
            <a:avLst/>
          </a:prstGeom>
          <a:noFill/>
          <a:ln w="0">
            <a:noFill/>
            <a:prstDash val="solid"/>
          </a:ln>
        </p:spPr>
        <p:txBody>
          <a:bodyPr wrap="square" lIns="0" tIns="0" rIns="0" bIns="0" anchor="t">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0000"/>
              </a:lnSpc>
              <a:buNone/>
              <a:defRPr sz="1400">
                <a:solidFill>
                  <a:srgbClr val="000000"/>
                </a:solidFill>
                <a:latin typeface="Times New Roman"/>
                <a:ea typeface="Times New Roman"/>
                <a:cs typeface="Times New Roman"/>
              </a:defRPr>
            </a:pPr>
            <a:r>
              <a:rPr sz="1400">
                <a:solidFill>
                  <a:srgbClr val="000000"/>
                </a:solidFill>
                <a:latin typeface="Times New Roman"/>
                <a:ea typeface="Times New Roman"/>
                <a:cs typeface="Times New Roman"/>
              </a:rPr>
              <a:t>1845–1918</a:t>
            </a:r>
          </a:p>
        </p:txBody>
      </p:sp>
      <p:pic>
        <p:nvPicPr>
          <p:cNvPr id="103" name="Grafik 102">
            <a:extLst>
              <a:ext uri="{FF2B5EF4-FFF2-40B4-BE49-F238E27FC236}">
                <a16:creationId xmlns:a16="http://schemas.microsoft.com/office/drawing/2014/main" xmlns="" id="{4BB837AD-49E4-4658-BE86-A4BB9E9DE246}"/>
              </a:ext>
            </a:extLst>
          </p:cNvPr>
          <p:cNvPicPr>
            <a:picLocks noChangeAspect="1"/>
          </p:cNvPicPr>
          <p:nvPr/>
        </p:nvPicPr>
        <p:blipFill>
          <a:blip r:embed="rId4"/>
          <a:srcRect t="3261" b="3261"/>
          <a:stretch/>
        </p:blipFill>
        <p:spPr>
          <a:xfrm>
            <a:off x="2028825" y="800100"/>
            <a:ext cx="1314450" cy="1638300"/>
          </a:xfrm>
          <a:prstGeom prst="rect">
            <a:avLst/>
          </a:prstGeom>
        </p:spPr>
      </p:pic>
      <p:sp>
        <p:nvSpPr>
          <p:cNvPr id="104" name="portrait-name-dedekind">
            <a:extLst>
              <a:ext uri="{FF2B5EF4-FFF2-40B4-BE49-F238E27FC236}">
                <a16:creationId xmlns:a16="http://schemas.microsoft.com/office/drawing/2014/main" xmlns="" id="{25CA80E3-5FDD-44EF-B3EC-FAB8594AAE48}"/>
              </a:ext>
            </a:extLst>
          </p:cNvPr>
          <p:cNvSpPr>
            <a:spLocks noGrp="1"/>
          </p:cNvSpPr>
          <p:nvPr/>
        </p:nvSpPr>
        <p:spPr>
          <a:xfrm>
            <a:off x="1885950" y="2505075"/>
            <a:ext cx="1600200" cy="476250"/>
          </a:xfrm>
          <a:prstGeom prst="rect">
            <a:avLst/>
          </a:prstGeom>
          <a:noFill/>
          <a:ln w="0">
            <a:noFill/>
            <a:prstDash val="solid"/>
          </a:ln>
        </p:spPr>
        <p:txBody>
          <a:bodyPr wrap="square" lIns="0" tIns="0" rIns="0" bIns="0" anchor="ctr">
            <a:noAutofit/>
          </a:bodyPr>
          <a:lstStyle>
            <a:defPPr algn="ctr">
              <a:defRPr sz="1600" b="1">
                <a:solidFill>
                  <a:srgbClr val="000000"/>
                </a:solidFill>
                <a:latin typeface="Times New Roman"/>
                <a:ea typeface="Times New Roman"/>
                <a:cs typeface="Times New Roman"/>
              </a:defRPr>
            </a:defPPr>
            <a:lvl1pPr algn="ctr">
              <a:defRPr sz="1600" b="1">
                <a:solidFill>
                  <a:srgbClr val="000000"/>
                </a:solidFill>
                <a:latin typeface="Times New Roman"/>
                <a:ea typeface="Times New Roman"/>
                <a:cs typeface="Times New Roman"/>
              </a:defRPr>
            </a:lvl1pPr>
            <a:lvl2pPr algn="ctr">
              <a:defRPr sz="1600" b="1">
                <a:solidFill>
                  <a:srgbClr val="000000"/>
                </a:solidFill>
                <a:latin typeface="Times New Roman"/>
                <a:ea typeface="Times New Roman"/>
                <a:cs typeface="Times New Roman"/>
              </a:defRPr>
            </a:lvl2pPr>
            <a:lvl3pPr algn="ctr">
              <a:defRPr sz="1600" b="1">
                <a:solidFill>
                  <a:srgbClr val="000000"/>
                </a:solidFill>
                <a:latin typeface="Times New Roman"/>
                <a:ea typeface="Times New Roman"/>
                <a:cs typeface="Times New Roman"/>
              </a:defRPr>
            </a:lvl3pPr>
            <a:lvl4pPr algn="ctr">
              <a:defRPr sz="1600" b="1">
                <a:solidFill>
                  <a:srgbClr val="000000"/>
                </a:solidFill>
                <a:latin typeface="Times New Roman"/>
                <a:ea typeface="Times New Roman"/>
                <a:cs typeface="Times New Roman"/>
              </a:defRPr>
            </a:lvl4pPr>
            <a:lvl5pPr algn="ctr">
              <a:defRPr sz="1600" b="1">
                <a:solidFill>
                  <a:srgbClr val="000000"/>
                </a:solidFill>
                <a:latin typeface="Times New Roman"/>
                <a:ea typeface="Times New Roman"/>
                <a:cs typeface="Times New Roman"/>
              </a:defRPr>
            </a:lvl5pPr>
            <a:lvl6pPr algn="ctr">
              <a:defRPr sz="1600" b="1">
                <a:solidFill>
                  <a:srgbClr val="000000"/>
                </a:solidFill>
                <a:latin typeface="Times New Roman"/>
                <a:ea typeface="Times New Roman"/>
                <a:cs typeface="Times New Roman"/>
              </a:defRPr>
            </a:lvl6pPr>
            <a:lvl7pPr algn="ctr">
              <a:defRPr sz="1600" b="1">
                <a:solidFill>
                  <a:srgbClr val="000000"/>
                </a:solidFill>
                <a:latin typeface="Times New Roman"/>
                <a:ea typeface="Times New Roman"/>
                <a:cs typeface="Times New Roman"/>
              </a:defRPr>
            </a:lvl7pPr>
            <a:lvl8pPr algn="ctr">
              <a:defRPr sz="1600" b="1">
                <a:solidFill>
                  <a:srgbClr val="000000"/>
                </a:solidFill>
                <a:latin typeface="Times New Roman"/>
                <a:ea typeface="Times New Roman"/>
                <a:cs typeface="Times New Roman"/>
              </a:defRPr>
            </a:lvl8pPr>
            <a:lvl9pPr algn="ctr">
              <a:defRPr sz="1600" b="1">
                <a:solidFill>
                  <a:srgbClr val="000000"/>
                </a:solidFill>
                <a:latin typeface="Times New Roman"/>
                <a:ea typeface="Times New Roman"/>
                <a:cs typeface="Times New Roman"/>
              </a:defRPr>
            </a:lvl9pPr>
          </a:lstStyle>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Richard</a:t>
            </a:r>
          </a:p>
          <a:p>
            <a:pPr algn="ctr">
              <a:lnSpc>
                <a:spcPct val="100000"/>
              </a:lnSpc>
              <a:buNone/>
              <a:defRPr sz="1600" b="1">
                <a:solidFill>
                  <a:srgbClr val="000000"/>
                </a:solidFill>
                <a:latin typeface="Times New Roman"/>
                <a:ea typeface="Times New Roman"/>
                <a:cs typeface="Times New Roman"/>
              </a:defRPr>
            </a:pPr>
            <a:r>
              <a:rPr sz="1600" b="1">
                <a:solidFill>
                  <a:srgbClr val="000000"/>
                </a:solidFill>
                <a:latin typeface="Times New Roman"/>
                <a:ea typeface="Times New Roman"/>
                <a:cs typeface="Times New Roman"/>
              </a:rPr>
              <a:t>Dedekind</a:t>
            </a:r>
          </a:p>
        </p:txBody>
      </p:sp>
      <p:sp>
        <p:nvSpPr>
          <p:cNvPr id="105" name="portrait-years-dedekind">
            <a:extLst>
              <a:ext uri="{FF2B5EF4-FFF2-40B4-BE49-F238E27FC236}">
                <a16:creationId xmlns:a16="http://schemas.microsoft.com/office/drawing/2014/main" xmlns="" id="{7E001173-847C-461B-9FDB-AD7EB7E8DCBB}"/>
              </a:ext>
            </a:extLst>
          </p:cNvPr>
          <p:cNvSpPr>
            <a:spLocks noGrp="1"/>
          </p:cNvSpPr>
          <p:nvPr/>
        </p:nvSpPr>
        <p:spPr>
          <a:xfrm>
            <a:off x="1885950" y="3009900"/>
            <a:ext cx="1600200" cy="238125"/>
          </a:xfrm>
          <a:prstGeom prst="rect">
            <a:avLst/>
          </a:prstGeom>
          <a:noFill/>
          <a:ln w="0">
            <a:noFill/>
            <a:prstDash val="solid"/>
          </a:ln>
        </p:spPr>
        <p:txBody>
          <a:bodyPr wrap="square" lIns="0" tIns="0" rIns="0" bIns="0" anchor="t">
            <a:noAutofit/>
          </a:bodyPr>
          <a:lstStyle>
            <a:defPPr algn="ctr">
              <a:defRPr sz="1400">
                <a:solidFill>
                  <a:srgbClr val="000000"/>
                </a:solidFill>
                <a:latin typeface="Times New Roman"/>
                <a:ea typeface="Times New Roman"/>
                <a:cs typeface="Times New Roman"/>
              </a:defRPr>
            </a:defPPr>
            <a:lvl1pPr algn="ctr">
              <a:defRPr sz="1400">
                <a:solidFill>
                  <a:srgbClr val="000000"/>
                </a:solidFill>
                <a:latin typeface="Times New Roman"/>
                <a:ea typeface="Times New Roman"/>
                <a:cs typeface="Times New Roman"/>
              </a:defRPr>
            </a:lvl1pPr>
            <a:lvl2pPr algn="ctr">
              <a:defRPr sz="1400">
                <a:solidFill>
                  <a:srgbClr val="000000"/>
                </a:solidFill>
                <a:latin typeface="Times New Roman"/>
                <a:ea typeface="Times New Roman"/>
                <a:cs typeface="Times New Roman"/>
              </a:defRPr>
            </a:lvl2pPr>
            <a:lvl3pPr algn="ctr">
              <a:defRPr sz="1400">
                <a:solidFill>
                  <a:srgbClr val="000000"/>
                </a:solidFill>
                <a:latin typeface="Times New Roman"/>
                <a:ea typeface="Times New Roman"/>
                <a:cs typeface="Times New Roman"/>
              </a:defRPr>
            </a:lvl3pPr>
            <a:lvl4pPr algn="ctr">
              <a:defRPr sz="1400">
                <a:solidFill>
                  <a:srgbClr val="000000"/>
                </a:solidFill>
                <a:latin typeface="Times New Roman"/>
                <a:ea typeface="Times New Roman"/>
                <a:cs typeface="Times New Roman"/>
              </a:defRPr>
            </a:lvl4pPr>
            <a:lvl5pPr algn="ctr">
              <a:defRPr sz="1400">
                <a:solidFill>
                  <a:srgbClr val="000000"/>
                </a:solidFill>
                <a:latin typeface="Times New Roman"/>
                <a:ea typeface="Times New Roman"/>
                <a:cs typeface="Times New Roman"/>
              </a:defRPr>
            </a:lvl5pPr>
            <a:lvl6pPr algn="ctr">
              <a:defRPr sz="1400">
                <a:solidFill>
                  <a:srgbClr val="000000"/>
                </a:solidFill>
                <a:latin typeface="Times New Roman"/>
                <a:ea typeface="Times New Roman"/>
                <a:cs typeface="Times New Roman"/>
              </a:defRPr>
            </a:lvl6pPr>
            <a:lvl7pPr algn="ctr">
              <a:defRPr sz="1400">
                <a:solidFill>
                  <a:srgbClr val="000000"/>
                </a:solidFill>
                <a:latin typeface="Times New Roman"/>
                <a:ea typeface="Times New Roman"/>
                <a:cs typeface="Times New Roman"/>
              </a:defRPr>
            </a:lvl7pPr>
            <a:lvl8pPr algn="ctr">
              <a:defRPr sz="1400">
                <a:solidFill>
                  <a:srgbClr val="000000"/>
                </a:solidFill>
                <a:latin typeface="Times New Roman"/>
                <a:ea typeface="Times New Roman"/>
                <a:cs typeface="Times New Roman"/>
              </a:defRPr>
            </a:lvl8pPr>
            <a:lvl9pPr algn="ctr">
              <a:defRPr sz="1400">
                <a:solidFill>
                  <a:srgbClr val="000000"/>
                </a:solidFill>
                <a:latin typeface="Times New Roman"/>
                <a:ea typeface="Times New Roman"/>
                <a:cs typeface="Times New Roman"/>
              </a:defRPr>
            </a:lvl9pPr>
          </a:lstStyle>
          <a:p>
            <a:pPr algn="ctr">
              <a:lnSpc>
                <a:spcPct val="100000"/>
              </a:lnSpc>
              <a:buNone/>
              <a:defRPr sz="1400">
                <a:solidFill>
                  <a:srgbClr val="000000"/>
                </a:solidFill>
                <a:latin typeface="Times New Roman"/>
                <a:ea typeface="Times New Roman"/>
                <a:cs typeface="Times New Roman"/>
              </a:defRPr>
            </a:pPr>
            <a:r>
              <a:rPr sz="1400">
                <a:solidFill>
                  <a:srgbClr val="000000"/>
                </a:solidFill>
                <a:latin typeface="Times New Roman"/>
                <a:ea typeface="Times New Roman"/>
                <a:cs typeface="Times New Roman"/>
              </a:rPr>
              <a:t>1831–1916</a:t>
            </a:r>
          </a:p>
        </p:txBody>
      </p:sp>
      <p:sp>
        <p:nvSpPr>
          <p:cNvPr id="106" name="position-explanation">
            <a:extLst>
              <a:ext uri="{FF2B5EF4-FFF2-40B4-BE49-F238E27FC236}">
                <a16:creationId xmlns:a16="http://schemas.microsoft.com/office/drawing/2014/main" xmlns="" id="{786ED262-D66F-446C-9D98-7F90BF14DC6C}"/>
              </a:ext>
            </a:extLst>
          </p:cNvPr>
          <p:cNvSpPr>
            <a:spLocks noGrp="1"/>
          </p:cNvSpPr>
          <p:nvPr/>
        </p:nvSpPr>
        <p:spPr>
          <a:xfrm>
            <a:off x="3771900" y="942975"/>
            <a:ext cx="4991100" cy="2095500"/>
          </a:xfrm>
          <a:prstGeom prst="rect">
            <a:avLst/>
          </a:prstGeom>
          <a:noFill/>
          <a:ln w="0">
            <a:noFill/>
            <a:prstDash val="solid"/>
          </a:ln>
        </p:spPr>
        <p:txBody>
          <a:bodyPr wrap="square" lIns="0" tIns="0" rIns="0" bIns="0" anchor="t">
            <a:noAutofit/>
          </a:bodyPr>
          <a:lstStyle>
            <a:defPPr algn="l">
              <a:defRPr sz="1900">
                <a:solidFill>
                  <a:srgbClr val="000000"/>
                </a:solidFill>
                <a:latin typeface="Times New Roman"/>
                <a:ea typeface="Times New Roman"/>
                <a:cs typeface="Times New Roman"/>
              </a:defRPr>
            </a:defPPr>
            <a:lvl1pPr algn="l">
              <a:defRPr sz="1900">
                <a:solidFill>
                  <a:srgbClr val="000000"/>
                </a:solidFill>
                <a:latin typeface="Times New Roman"/>
                <a:ea typeface="Times New Roman"/>
                <a:cs typeface="Times New Roman"/>
              </a:defRPr>
            </a:lvl1pPr>
            <a:lvl2pPr algn="l">
              <a:defRPr sz="1900">
                <a:solidFill>
                  <a:srgbClr val="000000"/>
                </a:solidFill>
                <a:latin typeface="Times New Roman"/>
                <a:ea typeface="Times New Roman"/>
                <a:cs typeface="Times New Roman"/>
              </a:defRPr>
            </a:lvl2pPr>
            <a:lvl3pPr algn="l">
              <a:defRPr sz="1900">
                <a:solidFill>
                  <a:srgbClr val="000000"/>
                </a:solidFill>
                <a:latin typeface="Times New Roman"/>
                <a:ea typeface="Times New Roman"/>
                <a:cs typeface="Times New Roman"/>
              </a:defRPr>
            </a:lvl3pPr>
            <a:lvl4pPr algn="l">
              <a:defRPr sz="1900">
                <a:solidFill>
                  <a:srgbClr val="000000"/>
                </a:solidFill>
                <a:latin typeface="Times New Roman"/>
                <a:ea typeface="Times New Roman"/>
                <a:cs typeface="Times New Roman"/>
              </a:defRPr>
            </a:lvl4pPr>
            <a:lvl5pPr algn="l">
              <a:defRPr sz="1900">
                <a:solidFill>
                  <a:srgbClr val="000000"/>
                </a:solidFill>
                <a:latin typeface="Times New Roman"/>
                <a:ea typeface="Times New Roman"/>
                <a:cs typeface="Times New Roman"/>
              </a:defRPr>
            </a:lvl5pPr>
            <a:lvl6pPr algn="l">
              <a:defRPr sz="1900">
                <a:solidFill>
                  <a:srgbClr val="000000"/>
                </a:solidFill>
                <a:latin typeface="Times New Roman"/>
                <a:ea typeface="Times New Roman"/>
                <a:cs typeface="Times New Roman"/>
              </a:defRPr>
            </a:lvl6pPr>
            <a:lvl7pPr algn="l">
              <a:defRPr sz="1900">
                <a:solidFill>
                  <a:srgbClr val="000000"/>
                </a:solidFill>
                <a:latin typeface="Times New Roman"/>
                <a:ea typeface="Times New Roman"/>
                <a:cs typeface="Times New Roman"/>
              </a:defRPr>
            </a:lvl7pPr>
            <a:lvl8pPr algn="l">
              <a:defRPr sz="1900">
                <a:solidFill>
                  <a:srgbClr val="000000"/>
                </a:solidFill>
                <a:latin typeface="Times New Roman"/>
                <a:ea typeface="Times New Roman"/>
                <a:cs typeface="Times New Roman"/>
              </a:defRPr>
            </a:lvl8pPr>
            <a:lvl9pPr algn="l">
              <a:defRPr sz="1900">
                <a:solidFill>
                  <a:srgbClr val="000000"/>
                </a:solidFill>
                <a:latin typeface="Times New Roman"/>
                <a:ea typeface="Times New Roman"/>
                <a:cs typeface="Times New Roman"/>
              </a:defRPr>
            </a:lvl9pPr>
          </a:lstStyle>
          <a:p>
            <a:pPr algn="l">
              <a:lnSpc>
                <a:spcPct val="112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Die Linie ist eine überabzählbare Menge von Punkten.</a:t>
            </a:r>
          </a:p>
          <a:p>
            <a:pPr>
              <a:defRPr>
                <a:latin typeface="Times New Roman"/>
                <a:ea typeface="Times New Roman"/>
                <a:cs typeface="Times New Roman"/>
              </a:defRPr>
            </a:pPr>
            <a:endParaRPr sz="1900">
              <a:solidFill>
                <a:srgbClr val="000000"/>
              </a:solidFill>
              <a:latin typeface="Times New Roman"/>
              <a:ea typeface="Times New Roman"/>
              <a:cs typeface="Times New Roman"/>
            </a:endParaRPr>
          </a:p>
          <a:p>
            <a:pPr algn="l">
              <a:lnSpc>
                <a:spcPct val="112000"/>
              </a:lnSpc>
              <a:buNone/>
              <a:defRPr sz="1900">
                <a:solidFill>
                  <a:srgbClr val="000000"/>
                </a:solidFill>
                <a:latin typeface="Times New Roman"/>
                <a:ea typeface="Times New Roman"/>
                <a:cs typeface="Times New Roman"/>
              </a:defRPr>
            </a:pPr>
            <a:r>
              <a:rPr sz="1900">
                <a:solidFill>
                  <a:srgbClr val="000000"/>
                </a:solidFill>
                <a:latin typeface="Times New Roman"/>
                <a:ea typeface="Times New Roman"/>
                <a:cs typeface="Times New Roman"/>
              </a:rPr>
              <a:t>Jeder Punkt entspricht einer reellen Zahl. Ordnung und Vollständigkeit bestimmen das Modell.</a:t>
            </a:r>
          </a:p>
        </p:txBody>
      </p:sp>
      <p:sp>
        <p:nvSpPr>
          <p:cNvPr id="120" name="visible-citation-continuum-36">
            <a:extLst>
              <a:ext uri="{FF2B5EF4-FFF2-40B4-BE49-F238E27FC236}">
                <a16:creationId xmlns:a16="http://schemas.microsoft.com/office/drawing/2014/main" xmlns="" id="{49917738-2130-42EF-9BEB-DF3594BFCF6C}"/>
              </a:ext>
            </a:extLst>
          </p:cNvPr>
          <p:cNvSpPr>
            <a:spLocks noGrp="1"/>
          </p:cNvSpPr>
          <p:nvPr/>
        </p:nvSpPr>
        <p:spPr>
          <a:xfrm>
            <a:off x="3771900" y="2787774"/>
            <a:ext cx="4991100" cy="209550"/>
          </a:xfrm>
          <a:prstGeom prst="rect">
            <a:avLst/>
          </a:prstGeom>
          <a:noFill/>
          <a:ln w="0">
            <a:noFill/>
            <a:prstDash val="solid"/>
          </a:ln>
        </p:spPr>
        <p:txBody>
          <a:bodyPr wrap="square" lIns="0" tIns="0" rIns="0" bIns="0" anchor="t">
            <a:noAutofit/>
          </a:bodyPr>
          <a:lstStyle>
            <a:defPPr algn="l">
              <a:defRPr sz="1050">
                <a:solidFill>
                  <a:srgbClr val="000000"/>
                </a:solidFill>
                <a:latin typeface="Times New Roman"/>
                <a:ea typeface="Times New Roman"/>
                <a:cs typeface="Times New Roman"/>
              </a:defRPr>
            </a:defPPr>
            <a:lvl1pPr algn="l">
              <a:defRPr sz="1050">
                <a:solidFill>
                  <a:srgbClr val="000000"/>
                </a:solidFill>
                <a:latin typeface="Times New Roman"/>
                <a:ea typeface="Times New Roman"/>
                <a:cs typeface="Times New Roman"/>
              </a:defRPr>
            </a:lvl1pPr>
            <a:lvl2pPr algn="l">
              <a:defRPr sz="1050">
                <a:solidFill>
                  <a:srgbClr val="000000"/>
                </a:solidFill>
                <a:latin typeface="Times New Roman"/>
                <a:ea typeface="Times New Roman"/>
                <a:cs typeface="Times New Roman"/>
              </a:defRPr>
            </a:lvl2pPr>
            <a:lvl3pPr algn="l">
              <a:defRPr sz="1050">
                <a:solidFill>
                  <a:srgbClr val="000000"/>
                </a:solidFill>
                <a:latin typeface="Times New Roman"/>
                <a:ea typeface="Times New Roman"/>
                <a:cs typeface="Times New Roman"/>
              </a:defRPr>
            </a:lvl3pPr>
            <a:lvl4pPr algn="l">
              <a:defRPr sz="1050">
                <a:solidFill>
                  <a:srgbClr val="000000"/>
                </a:solidFill>
                <a:latin typeface="Times New Roman"/>
                <a:ea typeface="Times New Roman"/>
                <a:cs typeface="Times New Roman"/>
              </a:defRPr>
            </a:lvl4pPr>
            <a:lvl5pPr algn="l">
              <a:defRPr sz="1050">
                <a:solidFill>
                  <a:srgbClr val="000000"/>
                </a:solidFill>
                <a:latin typeface="Times New Roman"/>
                <a:ea typeface="Times New Roman"/>
                <a:cs typeface="Times New Roman"/>
              </a:defRPr>
            </a:lvl5pPr>
            <a:lvl6pPr algn="l">
              <a:defRPr sz="1050">
                <a:solidFill>
                  <a:srgbClr val="000000"/>
                </a:solidFill>
                <a:latin typeface="Times New Roman"/>
                <a:ea typeface="Times New Roman"/>
                <a:cs typeface="Times New Roman"/>
              </a:defRPr>
            </a:lvl6pPr>
            <a:lvl7pPr algn="l">
              <a:defRPr sz="1050">
                <a:solidFill>
                  <a:srgbClr val="000000"/>
                </a:solidFill>
                <a:latin typeface="Times New Roman"/>
                <a:ea typeface="Times New Roman"/>
                <a:cs typeface="Times New Roman"/>
              </a:defRPr>
            </a:lvl7pPr>
            <a:lvl8pPr algn="l">
              <a:defRPr sz="1050">
                <a:solidFill>
                  <a:srgbClr val="000000"/>
                </a:solidFill>
                <a:latin typeface="Times New Roman"/>
                <a:ea typeface="Times New Roman"/>
                <a:cs typeface="Times New Roman"/>
              </a:defRPr>
            </a:lvl8pPr>
            <a:lvl9pPr algn="l">
              <a:defRPr sz="1050">
                <a:solidFill>
                  <a:srgbClr val="000000"/>
                </a:solidFill>
                <a:latin typeface="Times New Roman"/>
                <a:ea typeface="Times New Roman"/>
                <a:cs typeface="Times New Roman"/>
              </a:defRPr>
            </a:lvl9pPr>
          </a:lstStyle>
          <a:p>
            <a:pPr algn="l">
              <a:lnSpc>
                <a:spcPct val="105000"/>
              </a:lnSpc>
              <a:buNone/>
              <a:defRPr sz="1050">
                <a:solidFill>
                  <a:srgbClr val="000000"/>
                </a:solidFill>
                <a:latin typeface="Times New Roman"/>
                <a:ea typeface="Times New Roman"/>
                <a:cs typeface="Times New Roman"/>
              </a:defRPr>
            </a:pPr>
            <a:r>
              <a:rPr sz="1050">
                <a:solidFill>
                  <a:srgbClr val="000000"/>
                </a:solidFill>
                <a:latin typeface="Times New Roman"/>
                <a:ea typeface="Times New Roman"/>
                <a:cs typeface="Times New Roman"/>
              </a:rPr>
              <a:t>Bedürftig / Murawski (2019), § 3.3.5, S. 213–215.</a:t>
            </a:r>
          </a:p>
        </p:txBody>
      </p:sp>
      <p:grpSp>
        <p:nvGrpSpPr>
          <p:cNvPr id="121" name="Schritt 1: Reelle Gerade"/>
          <p:cNvGrpSpPr/>
          <p:nvPr/>
        </p:nvGrpSpPr>
        <p:grpSpPr>
          <a:xfrm>
            <a:off x="419100" y="3314700"/>
            <a:ext cx="8352092" cy="771525"/>
            <a:chOff x="419100" y="3314700"/>
            <a:chExt cx="8352092" cy="771525"/>
          </a:xfrm>
        </p:grpSpPr>
        <p:sp>
          <p:nvSpPr>
            <p:cNvPr id="107" name="pointset-diagram-title">
              <a:extLst>
                <a:ext uri="{FF2B5EF4-FFF2-40B4-BE49-F238E27FC236}">
                  <a16:creationId xmlns:a16="http://schemas.microsoft.com/office/drawing/2014/main" xmlns="" id="{97A7E16D-7CAE-4F9C-B8AC-3E6A3DA7E73D}"/>
                </a:ext>
              </a:extLst>
            </p:cNvPr>
            <p:cNvSpPr>
              <a:spLocks noGrp="1"/>
            </p:cNvSpPr>
            <p:nvPr/>
          </p:nvSpPr>
          <p:spPr>
            <a:xfrm>
              <a:off x="419100" y="3314700"/>
              <a:ext cx="8305800" cy="285750"/>
            </a:xfrm>
            <a:prstGeom prst="rect">
              <a:avLst/>
            </a:prstGeom>
            <a:noFill/>
            <a:ln w="0">
              <a:noFill/>
              <a:prstDash val="solid"/>
            </a:ln>
          </p:spPr>
          <p:txBody>
            <a:bodyPr wrap="square" lIns="0" tIns="0" rIns="0" bIns="0" anchor="t">
              <a:noAutofit/>
            </a:bodyPr>
            <a:lstStyle>
              <a:defPPr algn="ctr">
                <a:defRPr sz="1700">
                  <a:solidFill>
                    <a:srgbClr val="000000"/>
                  </a:solidFill>
                  <a:latin typeface="Times New Roman"/>
                  <a:ea typeface="Times New Roman"/>
                  <a:cs typeface="Times New Roman"/>
                </a:defRPr>
              </a:defPPr>
              <a:lvl1pPr algn="ctr">
                <a:defRPr sz="1700">
                  <a:solidFill>
                    <a:srgbClr val="000000"/>
                  </a:solidFill>
                  <a:latin typeface="Times New Roman"/>
                  <a:ea typeface="Times New Roman"/>
                  <a:cs typeface="Times New Roman"/>
                </a:defRPr>
              </a:lvl1pPr>
              <a:lvl2pPr algn="ctr">
                <a:defRPr sz="1700">
                  <a:solidFill>
                    <a:srgbClr val="000000"/>
                  </a:solidFill>
                  <a:latin typeface="Times New Roman"/>
                  <a:ea typeface="Times New Roman"/>
                  <a:cs typeface="Times New Roman"/>
                </a:defRPr>
              </a:lvl2pPr>
              <a:lvl3pPr algn="ctr">
                <a:defRPr sz="1700">
                  <a:solidFill>
                    <a:srgbClr val="000000"/>
                  </a:solidFill>
                  <a:latin typeface="Times New Roman"/>
                  <a:ea typeface="Times New Roman"/>
                  <a:cs typeface="Times New Roman"/>
                </a:defRPr>
              </a:lvl3pPr>
              <a:lvl4pPr algn="ctr">
                <a:defRPr sz="1700">
                  <a:solidFill>
                    <a:srgbClr val="000000"/>
                  </a:solidFill>
                  <a:latin typeface="Times New Roman"/>
                  <a:ea typeface="Times New Roman"/>
                  <a:cs typeface="Times New Roman"/>
                </a:defRPr>
              </a:lvl4pPr>
              <a:lvl5pPr algn="ctr">
                <a:defRPr sz="1700">
                  <a:solidFill>
                    <a:srgbClr val="000000"/>
                  </a:solidFill>
                  <a:latin typeface="Times New Roman"/>
                  <a:ea typeface="Times New Roman"/>
                  <a:cs typeface="Times New Roman"/>
                </a:defRPr>
              </a:lvl5pPr>
              <a:lvl6pPr algn="ctr">
                <a:defRPr sz="1700">
                  <a:solidFill>
                    <a:srgbClr val="000000"/>
                  </a:solidFill>
                  <a:latin typeface="Times New Roman"/>
                  <a:ea typeface="Times New Roman"/>
                  <a:cs typeface="Times New Roman"/>
                </a:defRPr>
              </a:lvl6pPr>
              <a:lvl7pPr algn="ctr">
                <a:defRPr sz="1700">
                  <a:solidFill>
                    <a:srgbClr val="000000"/>
                  </a:solidFill>
                  <a:latin typeface="Times New Roman"/>
                  <a:ea typeface="Times New Roman"/>
                  <a:cs typeface="Times New Roman"/>
                </a:defRPr>
              </a:lvl7pPr>
              <a:lvl8pPr algn="ctr">
                <a:defRPr sz="1700">
                  <a:solidFill>
                    <a:srgbClr val="000000"/>
                  </a:solidFill>
                  <a:latin typeface="Times New Roman"/>
                  <a:ea typeface="Times New Roman"/>
                  <a:cs typeface="Times New Roman"/>
                </a:defRPr>
              </a:lvl8pPr>
              <a:lvl9pPr algn="ctr">
                <a:defRPr sz="1700">
                  <a:solidFill>
                    <a:srgbClr val="000000"/>
                  </a:solidFill>
                  <a:latin typeface="Times New Roman"/>
                  <a:ea typeface="Times New Roman"/>
                  <a:cs typeface="Times New Roman"/>
                </a:defRPr>
              </a:lvl9pPr>
            </a:lstStyle>
            <a:p>
              <a:pPr algn="ctr">
                <a:defRPr sz="1700">
                  <a:solidFill>
                    <a:srgbClr val="000000"/>
                  </a:solidFill>
                  <a:latin typeface="Times New Roman"/>
                  <a:ea typeface="Times New Roman"/>
                  <a:cs typeface="Times New Roman"/>
                </a:defRPr>
              </a:pPr>
              <a:r>
                <a:rPr sz="1700">
                  <a:solidFill>
                    <a:srgbClr val="000000"/>
                  </a:solidFill>
                  <a:latin typeface="Times New Roman"/>
                  <a:ea typeface="Times New Roman"/>
                  <a:cs typeface="Times New Roman"/>
                </a:rPr>
                <a:t>Punkte als Elemente einer Menge</a:t>
              </a:r>
            </a:p>
          </p:txBody>
        </p:sp>
        <p:sp>
          <p:nvSpPr>
            <p:cNvPr id="108" name="real-number-axis">
              <a:extLst>
                <a:ext uri="{FF2B5EF4-FFF2-40B4-BE49-F238E27FC236}">
                  <a16:creationId xmlns:a16="http://schemas.microsoft.com/office/drawing/2014/main" xmlns="" id="{7632ACD9-F6EB-4B94-A7A8-B6ED18068CCD}"/>
                </a:ext>
              </a:extLst>
            </p:cNvPr>
            <p:cNvSpPr>
              <a:spLocks noGrp="1"/>
            </p:cNvSpPr>
            <p:nvPr/>
          </p:nvSpPr>
          <p:spPr>
            <a:xfrm>
              <a:off x="762000" y="3962400"/>
              <a:ext cx="7620000" cy="0"/>
            </a:xfrm>
            <a:prstGeom prst="line">
              <a:avLst/>
            </a:prstGeom>
            <a:noFill/>
            <a:ln w="25718">
              <a:solidFill>
                <a:srgbClr val="4F81BD"/>
              </a:solidFill>
              <a:prstDash val="solid"/>
            </a:ln>
          </p:spPr>
        </p:sp>
        <p:pic>
          <p:nvPicPr>
            <p:cNvPr id="119" name="Grafik 118">
              <a:extLst>
                <a:ext uri="{FF2B5EF4-FFF2-40B4-BE49-F238E27FC236}">
                  <a16:creationId xmlns:a16="http://schemas.microsoft.com/office/drawing/2014/main" xmlns="" id="{D46E308F-518D-4295-BD72-BF0AA1528CE1}"/>
                </a:ext>
              </a:extLst>
            </p:cNvPr>
            <p:cNvPicPr>
              <a:picLocks noChangeAspect="1"/>
            </p:cNvPicPr>
            <p:nvPr/>
          </p:nvPicPr>
          <p:blipFill>
            <a:blip r:embed="rId5"/>
            <a:stretch/>
          </p:blipFill>
          <p:spPr>
            <a:xfrm>
              <a:off x="8421434" y="3743325"/>
              <a:ext cx="349758" cy="342900"/>
            </a:xfrm>
            <a:prstGeom prst="rect">
              <a:avLst/>
            </a:prstGeom>
          </p:spPr>
        </p:pic>
      </p:grpSp>
      <p:grpSp>
        <p:nvGrpSpPr>
          <p:cNvPr id="122" name="Schritt 2: Einzelne Punkte"/>
          <p:cNvGrpSpPr/>
          <p:nvPr/>
        </p:nvGrpSpPr>
        <p:grpSpPr>
          <a:xfrm>
            <a:off x="1012549" y="3924300"/>
            <a:ext cx="6614447" cy="609600"/>
            <a:chOff x="1012549" y="3924300"/>
            <a:chExt cx="6614447" cy="609600"/>
          </a:xfrm>
        </p:grpSpPr>
        <p:sp>
          <p:nvSpPr>
            <p:cNvPr id="109" name="real-point-zero">
              <a:extLst>
                <a:ext uri="{FF2B5EF4-FFF2-40B4-BE49-F238E27FC236}">
                  <a16:creationId xmlns:a16="http://schemas.microsoft.com/office/drawing/2014/main" xmlns="" id="{E15BF05B-F5BD-43A0-AF99-F72E3AD1D803}"/>
                </a:ext>
              </a:extLst>
            </p:cNvPr>
            <p:cNvSpPr>
              <a:spLocks noGrp="1"/>
            </p:cNvSpPr>
            <p:nvPr/>
          </p:nvSpPr>
          <p:spPr>
            <a:xfrm>
              <a:off x="1104900" y="3924300"/>
              <a:ext cx="76200" cy="76200"/>
            </a:xfrm>
            <a:prstGeom prst="ellipse">
              <a:avLst/>
            </a:prstGeom>
            <a:solidFill>
              <a:srgbClr val="000000"/>
            </a:solidFill>
            <a:ln w="0">
              <a:noFill/>
              <a:prstDash val="solid"/>
            </a:ln>
          </p:spPr>
        </p:sp>
        <p:pic>
          <p:nvPicPr>
            <p:cNvPr id="110" name="Grafik 109">
              <a:extLst>
                <a:ext uri="{FF2B5EF4-FFF2-40B4-BE49-F238E27FC236}">
                  <a16:creationId xmlns:a16="http://schemas.microsoft.com/office/drawing/2014/main" xmlns="" id="{D6206A52-DD75-4C2B-88E7-6601789D8512}"/>
                </a:ext>
              </a:extLst>
            </p:cNvPr>
            <p:cNvPicPr>
              <a:picLocks noChangeAspect="1"/>
            </p:cNvPicPr>
            <p:nvPr/>
          </p:nvPicPr>
          <p:blipFill>
            <a:blip r:embed="rId6"/>
            <a:stretch/>
          </p:blipFill>
          <p:spPr>
            <a:xfrm>
              <a:off x="1012549" y="4200525"/>
              <a:ext cx="260902" cy="333375"/>
            </a:xfrm>
            <a:prstGeom prst="rect">
              <a:avLst/>
            </a:prstGeom>
          </p:spPr>
        </p:pic>
        <p:sp>
          <p:nvSpPr>
            <p:cNvPr id="111" name="real-point-one">
              <a:extLst>
                <a:ext uri="{FF2B5EF4-FFF2-40B4-BE49-F238E27FC236}">
                  <a16:creationId xmlns:a16="http://schemas.microsoft.com/office/drawing/2014/main" xmlns="" id="{D5D7C135-B3EB-41D7-B951-C8EF0559AB12}"/>
                </a:ext>
              </a:extLst>
            </p:cNvPr>
            <p:cNvSpPr>
              <a:spLocks noGrp="1"/>
            </p:cNvSpPr>
            <p:nvPr/>
          </p:nvSpPr>
          <p:spPr>
            <a:xfrm>
              <a:off x="3105150" y="3924300"/>
              <a:ext cx="76200" cy="76200"/>
            </a:xfrm>
            <a:prstGeom prst="ellipse">
              <a:avLst/>
            </a:prstGeom>
            <a:solidFill>
              <a:srgbClr val="000000"/>
            </a:solidFill>
            <a:ln w="0">
              <a:noFill/>
              <a:prstDash val="solid"/>
            </a:ln>
          </p:spPr>
        </p:sp>
        <p:pic>
          <p:nvPicPr>
            <p:cNvPr id="112" name="Grafik 111">
              <a:extLst>
                <a:ext uri="{FF2B5EF4-FFF2-40B4-BE49-F238E27FC236}">
                  <a16:creationId xmlns:a16="http://schemas.microsoft.com/office/drawing/2014/main" xmlns="" id="{375A624A-0173-4257-AF77-F93541885A95}"/>
                </a:ext>
              </a:extLst>
            </p:cNvPr>
            <p:cNvPicPr>
              <a:picLocks noChangeAspect="1"/>
            </p:cNvPicPr>
            <p:nvPr/>
          </p:nvPicPr>
          <p:blipFill>
            <a:blip r:embed="rId7"/>
            <a:stretch/>
          </p:blipFill>
          <p:spPr>
            <a:xfrm>
              <a:off x="3012799" y="4200525"/>
              <a:ext cx="260902" cy="333375"/>
            </a:xfrm>
            <a:prstGeom prst="rect">
              <a:avLst/>
            </a:prstGeom>
          </p:spPr>
        </p:pic>
        <p:sp>
          <p:nvSpPr>
            <p:cNvPr id="113" name="real-point-sqrt2">
              <a:extLst>
                <a:ext uri="{FF2B5EF4-FFF2-40B4-BE49-F238E27FC236}">
                  <a16:creationId xmlns:a16="http://schemas.microsoft.com/office/drawing/2014/main" xmlns="" id="{074EEBBD-0D33-4C10-83C7-565CA9FD5D14}"/>
                </a:ext>
              </a:extLst>
            </p:cNvPr>
            <p:cNvSpPr>
              <a:spLocks noGrp="1"/>
            </p:cNvSpPr>
            <p:nvPr/>
          </p:nvSpPr>
          <p:spPr>
            <a:xfrm>
              <a:off x="3933681" y="3924300"/>
              <a:ext cx="76200" cy="76200"/>
            </a:xfrm>
            <a:prstGeom prst="ellipse">
              <a:avLst/>
            </a:prstGeom>
            <a:solidFill>
              <a:srgbClr val="000000"/>
            </a:solidFill>
            <a:ln w="0">
              <a:noFill/>
              <a:prstDash val="solid"/>
            </a:ln>
          </p:spPr>
        </p:sp>
        <p:pic>
          <p:nvPicPr>
            <p:cNvPr id="114" name="Grafik 113">
              <a:extLst>
                <a:ext uri="{FF2B5EF4-FFF2-40B4-BE49-F238E27FC236}">
                  <a16:creationId xmlns:a16="http://schemas.microsoft.com/office/drawing/2014/main" xmlns="" id="{8FB88254-3745-451E-BCD5-FD7406FC3228}"/>
                </a:ext>
              </a:extLst>
            </p:cNvPr>
            <p:cNvPicPr>
              <a:picLocks noChangeAspect="1"/>
            </p:cNvPicPr>
            <p:nvPr/>
          </p:nvPicPr>
          <p:blipFill>
            <a:blip r:embed="rId8"/>
            <a:stretch/>
          </p:blipFill>
          <p:spPr>
            <a:xfrm>
              <a:off x="3772261" y="4200525"/>
              <a:ext cx="399040" cy="333375"/>
            </a:xfrm>
            <a:prstGeom prst="rect">
              <a:avLst/>
            </a:prstGeom>
          </p:spPr>
        </p:pic>
        <p:sp>
          <p:nvSpPr>
            <p:cNvPr id="115" name="real-point-two">
              <a:extLst>
                <a:ext uri="{FF2B5EF4-FFF2-40B4-BE49-F238E27FC236}">
                  <a16:creationId xmlns:a16="http://schemas.microsoft.com/office/drawing/2014/main" xmlns="" id="{6E3F2F9A-BD8E-4085-A43A-97371A8FA645}"/>
                </a:ext>
              </a:extLst>
            </p:cNvPr>
            <p:cNvSpPr>
              <a:spLocks noGrp="1"/>
            </p:cNvSpPr>
            <p:nvPr/>
          </p:nvSpPr>
          <p:spPr>
            <a:xfrm>
              <a:off x="5105400" y="3924300"/>
              <a:ext cx="76200" cy="76200"/>
            </a:xfrm>
            <a:prstGeom prst="ellipse">
              <a:avLst/>
            </a:prstGeom>
            <a:solidFill>
              <a:srgbClr val="000000"/>
            </a:solidFill>
            <a:ln w="0">
              <a:noFill/>
              <a:prstDash val="solid"/>
            </a:ln>
          </p:spPr>
        </p:sp>
        <p:pic>
          <p:nvPicPr>
            <p:cNvPr id="116" name="Grafik 115">
              <a:extLst>
                <a:ext uri="{FF2B5EF4-FFF2-40B4-BE49-F238E27FC236}">
                  <a16:creationId xmlns:a16="http://schemas.microsoft.com/office/drawing/2014/main" xmlns="" id="{013E178E-10FC-4F21-B8CA-759565B63318}"/>
                </a:ext>
              </a:extLst>
            </p:cNvPr>
            <p:cNvPicPr>
              <a:picLocks noChangeAspect="1"/>
            </p:cNvPicPr>
            <p:nvPr/>
          </p:nvPicPr>
          <p:blipFill>
            <a:blip r:embed="rId9"/>
            <a:stretch/>
          </p:blipFill>
          <p:spPr>
            <a:xfrm>
              <a:off x="5013049" y="4200525"/>
              <a:ext cx="260902" cy="333375"/>
            </a:xfrm>
            <a:prstGeom prst="rect">
              <a:avLst/>
            </a:prstGeom>
          </p:spPr>
        </p:pic>
        <p:sp>
          <p:nvSpPr>
            <p:cNvPr id="117" name="real-point-pi">
              <a:extLst>
                <a:ext uri="{FF2B5EF4-FFF2-40B4-BE49-F238E27FC236}">
                  <a16:creationId xmlns:a16="http://schemas.microsoft.com/office/drawing/2014/main" xmlns="" id="{221FA6C6-E860-4E61-91A0-36472654E483}"/>
                </a:ext>
              </a:extLst>
            </p:cNvPr>
            <p:cNvSpPr>
              <a:spLocks noGrp="1"/>
            </p:cNvSpPr>
            <p:nvPr/>
          </p:nvSpPr>
          <p:spPr>
            <a:xfrm>
              <a:off x="7388871" y="3924300"/>
              <a:ext cx="76200" cy="76200"/>
            </a:xfrm>
            <a:prstGeom prst="ellipse">
              <a:avLst/>
            </a:prstGeom>
            <a:solidFill>
              <a:srgbClr val="000000"/>
            </a:solidFill>
            <a:ln w="0">
              <a:noFill/>
              <a:prstDash val="solid"/>
            </a:ln>
          </p:spPr>
        </p:sp>
        <p:pic>
          <p:nvPicPr>
            <p:cNvPr id="118" name="Grafik 117">
              <a:extLst>
                <a:ext uri="{FF2B5EF4-FFF2-40B4-BE49-F238E27FC236}">
                  <a16:creationId xmlns:a16="http://schemas.microsoft.com/office/drawing/2014/main" xmlns="" id="{AACCC241-D547-4551-8B7C-AA36DBB7A4D9}"/>
                </a:ext>
              </a:extLst>
            </p:cNvPr>
            <p:cNvPicPr>
              <a:picLocks noChangeAspect="1"/>
            </p:cNvPicPr>
            <p:nvPr/>
          </p:nvPicPr>
          <p:blipFill>
            <a:blip r:embed="rId10"/>
            <a:stretch/>
          </p:blipFill>
          <p:spPr>
            <a:xfrm>
              <a:off x="7226946" y="4204401"/>
              <a:ext cx="400050" cy="325622"/>
            </a:xfrm>
            <a:prstGeom prst="rect">
              <a:avLst/>
            </a:prstGeom>
          </p:spPr>
        </p:pic>
      </p:grpSp>
    </p:spTree>
    <p:extLst>
      <p:ext uri="{BB962C8B-B14F-4D97-AF65-F5344CB8AC3E}">
        <p14:creationId xmlns:p14="http://schemas.microsoft.com/office/powerpoint/2010/main" val="385795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8575">
          <a:solidFill>
            <a:schemeClr val="phClr"/>
          </a:solidFill>
          <a:prstDash val="solid"/>
        </a:ln>
        <a:ln w="508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solidFill>
          <a:schemeClr val="lt2"/>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9863</Words>
  <Application>Microsoft Office PowerPoint</Application>
  <PresentationFormat>Bildschirmpräsentation (16:9)</PresentationFormat>
  <Paragraphs>601</Paragraphs>
  <Slides>99</Slides>
  <Notes>98</Notes>
  <HiddenSlides>0</HiddenSlides>
  <MMClips>0</MMClips>
  <ScaleCrop>false</ScaleCrop>
  <HeadingPairs>
    <vt:vector size="4" baseType="variant">
      <vt:variant>
        <vt:lpstr>Design</vt:lpstr>
      </vt:variant>
      <vt:variant>
        <vt:i4>3</vt:i4>
      </vt:variant>
      <vt:variant>
        <vt:lpstr>Folientitel</vt:lpstr>
      </vt:variant>
      <vt:variant>
        <vt:i4>99</vt:i4>
      </vt:variant>
    </vt:vector>
  </HeadingPairs>
  <TitlesOfParts>
    <vt:vector size="102" baseType="lpstr">
      <vt:lpstr>Executive</vt:lpstr>
      <vt:lpstr>Larissa</vt:lpstr>
      <vt:lpstr>1_Larissa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Anton</dc:creator>
  <cp:lastModifiedBy>Anton </cp:lastModifiedBy>
  <cp:revision>45</cp:revision>
  <dcterms:created xsi:type="dcterms:W3CDTF">2026-10-19T22:03:15Z</dcterms:created>
  <dcterms:modified xsi:type="dcterms:W3CDTF">2026-10-30T15:35:30Z</dcterms:modified>
</cp:coreProperties>
</file>