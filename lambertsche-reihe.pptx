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3"/>
  </p:notesMasterIdLst>
  <p:sldIdLst>
    <p:sldId id="256" r:id="rId3"/>
    <p:sldId id="257" r:id="rId4"/>
    <p:sldId id="261" r:id="rId5"/>
    <p:sldId id="258" r:id="rId6"/>
    <p:sldId id="265" r:id="rId7"/>
    <p:sldId id="266" r:id="rId8"/>
    <p:sldId id="267" r:id="rId9"/>
    <p:sldId id="262" r:id="rId10"/>
    <p:sldId id="268" r:id="rId11"/>
    <p:sldId id="269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504" y="-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2BB2B-0B83-4D50-954B-203326580A9D}" type="datetimeFigureOut">
              <a:rPr lang="de-DE" smtClean="0"/>
              <a:t>09.04.2025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71978-1D6F-455E-A87D-D077F1C46EA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483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YOUTUBE-VIDEO-TITEL: „</a:t>
            </a:r>
            <a:r>
              <a:rPr lang="de-DE" dirty="0" err="1" smtClean="0"/>
              <a:t>Lambertsche</a:t>
            </a:r>
            <a:r>
              <a:rPr lang="de-DE" dirty="0" smtClean="0"/>
              <a:t> Reihe</a:t>
            </a:r>
            <a:r>
              <a:rPr lang="de-DE" baseline="0" dirty="0" smtClean="0"/>
              <a:t> – Ein Vorgeschmack auf die analytische Zahlentheorie“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06947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It has been called the Lambert W function due to the fact that it is a logarithm of a special case of the Lambert series</a:t>
            </a:r>
            <a:endParaRPr lang="de-DE" dirty="0" smtClean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1682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5202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520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520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5202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520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5202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371978-1D6F-455E-A87D-D077F1C46EAE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8520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1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183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65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059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66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339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550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1161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2913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43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April 9, 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43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April 9,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April 9, 2025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39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18" Type="http://schemas.openxmlformats.org/officeDocument/2006/relationships/image" Target="../media/image49.jpeg"/><Relationship Id="rId3" Type="http://schemas.openxmlformats.org/officeDocument/2006/relationships/image" Target="../media/image27.png"/><Relationship Id="rId7" Type="http://schemas.openxmlformats.org/officeDocument/2006/relationships/image" Target="../media/image39.png"/><Relationship Id="rId12" Type="http://schemas.openxmlformats.org/officeDocument/2006/relationships/image" Target="../media/image3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6.png"/><Relationship Id="rId10" Type="http://schemas.openxmlformats.org/officeDocument/2006/relationships/image" Target="../media/image42.png"/><Relationship Id="rId19" Type="http://schemas.openxmlformats.org/officeDocument/2006/relationships/image" Target="../media/image50.png"/><Relationship Id="rId4" Type="http://schemas.openxmlformats.org/officeDocument/2006/relationships/image" Target="../media/image28.png"/><Relationship Id="rId9" Type="http://schemas.openxmlformats.org/officeDocument/2006/relationships/image" Target="../media/image41.png"/><Relationship Id="rId1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7.png"/><Relationship Id="rId7" Type="http://schemas.openxmlformats.org/officeDocument/2006/relationships/image" Target="../media/image52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29.png"/><Relationship Id="rId5" Type="http://schemas.openxmlformats.org/officeDocument/2006/relationships/image" Target="../media/image33.png"/><Relationship Id="rId10" Type="http://schemas.openxmlformats.org/officeDocument/2006/relationships/image" Target="../media/image55.png"/><Relationship Id="rId4" Type="http://schemas.openxmlformats.org/officeDocument/2006/relationships/image" Target="../media/image28.png"/><Relationship Id="rId9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ohann Heinrich Lambert - Visuotinė lietuvių enciklopedija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5" r="23564"/>
          <a:stretch/>
        </p:blipFill>
        <p:spPr bwMode="auto">
          <a:xfrm>
            <a:off x="6084168" y="1131590"/>
            <a:ext cx="3059832" cy="3849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35496" y="29111"/>
            <a:ext cx="89289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7200" b="1" dirty="0" smtClean="0"/>
              <a:t>Lambertsche Reihe</a:t>
            </a:r>
          </a:p>
        </p:txBody>
      </p:sp>
      <p:pic>
        <p:nvPicPr>
          <p:cNvPr id="1029" name="Picture 5" descr="undefined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529385"/>
            <a:ext cx="3164011" cy="227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31590"/>
            <a:ext cx="4032448" cy="1160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 descr="Berühmte Mathematik: Mathematiker &gt; Johann Dirichlet"/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>
                        <a14:foregroundMark x1="21642" y1="79448" x2="18657" y2="88037"/>
                        <a14:foregroundMark x1="11940" y1="91718" x2="8955" y2="92331"/>
                        <a14:foregroundMark x1="51119" y1="86503" x2="62313" y2="86503"/>
                        <a14:foregroundMark x1="81343" y1="68098" x2="87687" y2="83436"/>
                        <a14:foregroundMark x1="33582" y1="72699" x2="35821" y2="85890"/>
                        <a14:foregroundMark x1="54104" y1="67485" x2="44030" y2="21166"/>
                        <a14:foregroundMark x1="34328" y1="5521" x2="21642" y2="19325"/>
                        <a14:foregroundMark x1="13060" y1="19325" x2="23507" y2="8589"/>
                        <a14:backgroundMark x1="21642" y1="3067" x2="3358" y2="6748"/>
                        <a14:backgroundMark x1="4851" y1="23313" x2="373" y2="27914"/>
                        <a14:backgroundMark x1="5970" y1="37117" x2="5970" y2="53374"/>
                        <a14:backgroundMark x1="5597" y1="68098" x2="8955" y2="7607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92371"/>
            <a:ext cx="2771800" cy="337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683568" y="1092681"/>
            <a:ext cx="864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 smtClean="0">
                <a:solidFill>
                  <a:srgbClr val="FF0000"/>
                </a:solidFill>
              </a:rPr>
              <a:t>!!!</a:t>
            </a:r>
            <a:endParaRPr lang="de-DE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7239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Johann Heinrich Lambert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6" name="Picture 2" descr="Johann Heinrich Lambert - Visuotinė lietuvių enciklopedija"/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61" r="22870"/>
          <a:stretch/>
        </p:blipFill>
        <p:spPr bwMode="auto">
          <a:xfrm>
            <a:off x="6448696" y="645739"/>
            <a:ext cx="2587800" cy="322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/>
          <p:cNvSpPr/>
          <p:nvPr/>
        </p:nvSpPr>
        <p:spPr>
          <a:xfrm>
            <a:off x="6300192" y="3939902"/>
            <a:ext cx="28620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de-DE" sz="1400" b="1" dirty="0">
                <a:latin typeface="+mj-lt"/>
                <a:cs typeface="Arial" panose="020B0604020202020204" pitchFamily="34" charset="0"/>
              </a:rPr>
              <a:t>Johann Heinrich Lambert</a:t>
            </a:r>
          </a:p>
          <a:p>
            <a:pPr algn="ctr"/>
            <a:r>
              <a:rPr lang="de-DE" sz="1400" dirty="0">
                <a:latin typeface="+mj-lt"/>
                <a:cs typeface="Arial" panose="020B0604020202020204" pitchFamily="34" charset="0"/>
              </a:rPr>
              <a:t>(1728-1777)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251520" y="699542"/>
            <a:ext cx="619717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smtClean="0"/>
              <a:t>Schweizerisch-elsässischer Mathematiker, Logiker, Physiker, Astronom und Philosoph der Aufklärung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smtClean="0"/>
              <a:t>Irrationalität der Zahl Pi (via Theorie der Kettenbrüche)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smtClean="0"/>
              <a:t>Studium der Hyperbelfunktionen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smtClean="0"/>
              <a:t>Pionier der Nichteuklidischen Geometrie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smtClean="0"/>
              <a:t>Kartenprojektionen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Optik und Fotometrie (Lambert-</a:t>
            </a:r>
            <a:r>
              <a:rPr lang="de-DE" sz="1600" dirty="0" err="1"/>
              <a:t>Beer‘sches</a:t>
            </a:r>
            <a:r>
              <a:rPr lang="de-DE" sz="1600" dirty="0"/>
              <a:t> Gesetz</a:t>
            </a:r>
            <a:r>
              <a:rPr lang="de-DE" sz="1600" dirty="0" smtClean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Leuchtdichte wird in der Einheit „Lambert“ gemessen</a:t>
            </a:r>
            <a:r>
              <a:rPr lang="de-DE" sz="1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 err="1" smtClean="0"/>
              <a:t>Lambertsche</a:t>
            </a:r>
            <a:r>
              <a:rPr lang="de-DE" sz="1600" dirty="0" smtClean="0"/>
              <a:t> Farbpyramide</a:t>
            </a:r>
          </a:p>
          <a:p>
            <a:endParaRPr lang="de-DE" dirty="0"/>
          </a:p>
          <a:p>
            <a:r>
              <a:rPr lang="de-DE" sz="1600" b="1" dirty="0" smtClean="0"/>
              <a:t>Korrespondenz mit Kant</a:t>
            </a:r>
          </a:p>
          <a:p>
            <a:pPr algn="just"/>
            <a:r>
              <a:rPr lang="de-DE" sz="1600" dirty="0"/>
              <a:t>„Die ganze Gedankenwelt gehört nicht zum Raume, sie hat aber ein </a:t>
            </a:r>
            <a:r>
              <a:rPr lang="de-DE" sz="1600" i="1" dirty="0" err="1"/>
              <a:t>simulacrum</a:t>
            </a:r>
            <a:r>
              <a:rPr lang="de-DE" sz="1600" dirty="0"/>
              <a:t> des Raumes, welches sich vom physischen Raume leicht unterscheidet, vielleicht noch eine nähere als nur eine metaphorische Ähnlichkeit mit ihm hat</a:t>
            </a:r>
            <a:r>
              <a:rPr lang="de-DE" sz="1600" dirty="0" smtClean="0"/>
              <a:t>.“</a:t>
            </a:r>
          </a:p>
        </p:txBody>
      </p:sp>
      <p:pic>
        <p:nvPicPr>
          <p:cNvPr id="5122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635646"/>
            <a:ext cx="1152128" cy="1486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76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Lambertsche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W-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Funktion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443" y="779992"/>
            <a:ext cx="3254437" cy="2583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771550"/>
            <a:ext cx="5256584" cy="165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9611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Lambertsche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Motivation 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96516"/>
            <a:ext cx="2232248" cy="632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7" y="896516"/>
            <a:ext cx="1512168" cy="64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688604"/>
            <a:ext cx="6480720" cy="346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2120652"/>
            <a:ext cx="4752528" cy="270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129" y="2552701"/>
            <a:ext cx="5184063" cy="280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129" y="2982664"/>
            <a:ext cx="1747028" cy="7214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3852176" y="3273826"/>
            <a:ext cx="4824280" cy="64633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de-DE" dirty="0" smtClean="0"/>
              <a:t>Die Lambertsche Reihe erzeugt eine große Klasse zahlentheoretischer Funktionen als Potenzreihe.</a:t>
            </a:r>
            <a:endParaRPr lang="de-DE" dirty="0"/>
          </a:p>
        </p:txBody>
      </p:sp>
      <p:sp>
        <p:nvSpPr>
          <p:cNvPr id="10" name="Geschweifte Klammer rechts 9"/>
          <p:cNvSpPr/>
          <p:nvPr/>
        </p:nvSpPr>
        <p:spPr>
          <a:xfrm rot="5400000">
            <a:off x="2025836" y="3441986"/>
            <a:ext cx="231948" cy="756245"/>
          </a:xfrm>
          <a:prstGeom prst="rightBrac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/>
          <p:cNvSpPr txBox="1"/>
          <p:nvPr/>
        </p:nvSpPr>
        <p:spPr>
          <a:xfrm>
            <a:off x="1547664" y="4227934"/>
            <a:ext cx="1506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 smtClean="0"/>
              <a:t>(</a:t>
            </a:r>
            <a:r>
              <a:rPr lang="de-DE" sz="1400" dirty="0" err="1" smtClean="0"/>
              <a:t>Dirichlet</a:t>
            </a:r>
            <a:r>
              <a:rPr lang="de-DE" sz="1400" dirty="0" smtClean="0"/>
              <a:t>-Faltung)</a:t>
            </a:r>
            <a:endParaRPr lang="de-DE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7" y="4011910"/>
            <a:ext cx="936105" cy="196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622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Lambertsche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Motivation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99542"/>
            <a:ext cx="4210843" cy="1266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745453"/>
            <a:ext cx="4320480" cy="1322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283717"/>
            <a:ext cx="4464496" cy="11936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4"/>
          <p:cNvCxnSpPr/>
          <p:nvPr/>
        </p:nvCxnSpPr>
        <p:spPr>
          <a:xfrm>
            <a:off x="822821" y="1076251"/>
            <a:ext cx="448767" cy="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5292080" y="1101725"/>
            <a:ext cx="448767" cy="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20"/>
          <p:cNvCxnSpPr/>
          <p:nvPr/>
        </p:nvCxnSpPr>
        <p:spPr>
          <a:xfrm>
            <a:off x="899592" y="2643758"/>
            <a:ext cx="57606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427734"/>
            <a:ext cx="2238102" cy="2159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706525"/>
            <a:ext cx="3901479" cy="59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389981"/>
            <a:ext cx="4896544" cy="574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85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Lambertsche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Motivation 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107504" y="627534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Primzahlen</a:t>
            </a:r>
            <a:endParaRPr lang="de-DE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673" y="1059582"/>
            <a:ext cx="943135" cy="617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831" y="1176164"/>
            <a:ext cx="4437473" cy="243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mit Pfeil 4"/>
          <p:cNvCxnSpPr/>
          <p:nvPr/>
        </p:nvCxnSpPr>
        <p:spPr>
          <a:xfrm flipV="1">
            <a:off x="3997722" y="1497010"/>
            <a:ext cx="0" cy="3600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mit Pfeil 19"/>
          <p:cNvCxnSpPr/>
          <p:nvPr/>
        </p:nvCxnSpPr>
        <p:spPr>
          <a:xfrm flipV="1">
            <a:off x="5039122" y="1497010"/>
            <a:ext cx="0" cy="3600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/>
          <p:nvPr/>
        </p:nvCxnSpPr>
        <p:spPr>
          <a:xfrm flipV="1">
            <a:off x="6093222" y="1490660"/>
            <a:ext cx="0" cy="3600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feld 5"/>
          <p:cNvSpPr txBox="1"/>
          <p:nvPr/>
        </p:nvSpPr>
        <p:spPr>
          <a:xfrm>
            <a:off x="3275856" y="1851670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Vor den Gliedern </a:t>
            </a:r>
            <a:r>
              <a:rPr lang="de-DE" sz="1400" dirty="0" err="1" smtClean="0"/>
              <a:t>z</a:t>
            </a:r>
            <a:r>
              <a:rPr lang="de-DE" sz="1400" baseline="30000" dirty="0" err="1" smtClean="0"/>
              <a:t>n</a:t>
            </a:r>
            <a:r>
              <a:rPr lang="de-DE" sz="1400" dirty="0" smtClean="0"/>
              <a:t> (mit n prim) steht immer 2.</a:t>
            </a:r>
          </a:p>
          <a:p>
            <a:pPr algn="ctr"/>
            <a:r>
              <a:rPr lang="de-DE" sz="1400" dirty="0" smtClean="0">
                <a:sym typeface="Wingdings" panose="05000000000000000000" pitchFamily="2" charset="2"/>
              </a:rPr>
              <a:t> Beziehung zum Primzahlproblem?</a:t>
            </a:r>
            <a:endParaRPr lang="de-DE" sz="1400" dirty="0" smtClean="0"/>
          </a:p>
        </p:txBody>
      </p:sp>
      <p:sp>
        <p:nvSpPr>
          <p:cNvPr id="9" name="Textfeld 8"/>
          <p:cNvSpPr txBox="1"/>
          <p:nvPr/>
        </p:nvSpPr>
        <p:spPr>
          <a:xfrm>
            <a:off x="251520" y="2499742"/>
            <a:ext cx="8568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1400" dirty="0" smtClean="0"/>
              <a:t>„Wegen </a:t>
            </a:r>
            <a:r>
              <a:rPr lang="de-DE" sz="1400" dirty="0"/>
              <a:t>dieser verführerisch nahen Beziehung zu den Primzahlproblemen hat diese spezielle </a:t>
            </a:r>
            <a:r>
              <a:rPr lang="de-DE" sz="1400" dirty="0" err="1"/>
              <a:t>Lambertsche</a:t>
            </a:r>
            <a:r>
              <a:rPr lang="de-DE" sz="1400" dirty="0"/>
              <a:t> Reihe (meist schlichtweg als die </a:t>
            </a:r>
            <a:r>
              <a:rPr lang="de-DE" sz="1400" dirty="0" err="1"/>
              <a:t>LAMBERTs‌che</a:t>
            </a:r>
            <a:r>
              <a:rPr lang="de-DE" sz="1400" dirty="0"/>
              <a:t> </a:t>
            </a:r>
            <a:r>
              <a:rPr lang="de-DE" sz="1400" dirty="0" smtClean="0"/>
              <a:t>Reihe </a:t>
            </a:r>
            <a:r>
              <a:rPr lang="de-DE" sz="1400" dirty="0"/>
              <a:t>bezeichnet) früher eine große Rolle beim Angriff auf jene Probleme gespielt. Doch hatte sich auf diesem Wege lange Zeit nichts Wesentliches ergeben. Erst in neuerer Zeit hat N. </a:t>
            </a:r>
            <a:r>
              <a:rPr lang="de-DE" sz="1400" dirty="0" smtClean="0"/>
              <a:t>Wiener auf </a:t>
            </a:r>
            <a:r>
              <a:rPr lang="de-DE" sz="1400" dirty="0"/>
              <a:t>ihm den berühmten Primzahlsatz bewiesen</a:t>
            </a:r>
            <a:r>
              <a:rPr lang="de-DE" sz="1400" dirty="0" smtClean="0"/>
              <a:t>.“</a:t>
            </a:r>
          </a:p>
          <a:p>
            <a:r>
              <a:rPr lang="de-DE" sz="1200" dirty="0" smtClean="0"/>
              <a:t/>
            </a:r>
            <a:br>
              <a:rPr lang="de-DE" sz="1200" dirty="0" smtClean="0"/>
            </a:br>
            <a:r>
              <a:rPr lang="de-DE" sz="1200" dirty="0" smtClean="0"/>
              <a:t>(</a:t>
            </a:r>
            <a:r>
              <a:rPr lang="de-DE" sz="1200" dirty="0"/>
              <a:t>Konrad </a:t>
            </a:r>
            <a:r>
              <a:rPr lang="de-DE" sz="1200" dirty="0" smtClean="0"/>
              <a:t>Knopp:  Theorie </a:t>
            </a:r>
            <a:r>
              <a:rPr lang="de-DE" sz="1200" dirty="0"/>
              <a:t>und Anwendung der unendlichen </a:t>
            </a:r>
            <a:r>
              <a:rPr lang="de-DE" sz="1200" dirty="0" smtClean="0"/>
              <a:t>Reihen, 6.te Auflage, S. 260)</a:t>
            </a:r>
            <a:endParaRPr lang="de-DE" sz="1200" dirty="0"/>
          </a:p>
        </p:txBody>
      </p:sp>
    </p:spTree>
    <p:extLst>
      <p:ext uri="{BB962C8B-B14F-4D97-AF65-F5344CB8AC3E}">
        <p14:creationId xmlns:p14="http://schemas.microsoft.com/office/powerpoint/2010/main" val="146738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Analytische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Zahlentheorie</a:t>
            </a:r>
            <a:endParaRPr lang="en-CA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79512" y="627534"/>
            <a:ext cx="87849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 smtClean="0"/>
              <a:t>Analytische Zahlentheorie = Zahlentheorie mit Handwerkszeug aus Analysis &amp; Funktionentheorie</a:t>
            </a:r>
            <a:endParaRPr lang="de-DE" sz="1600" b="1" dirty="0"/>
          </a:p>
        </p:txBody>
      </p:sp>
      <p:sp>
        <p:nvSpPr>
          <p:cNvPr id="4" name="Textfeld 3"/>
          <p:cNvSpPr txBox="1"/>
          <p:nvPr/>
        </p:nvSpPr>
        <p:spPr>
          <a:xfrm>
            <a:off x="179512" y="1059582"/>
            <a:ext cx="83529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Hauptziele: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Bestimmung der Anzahl aller Zahlen unterhalb einer gegebenen </a:t>
            </a:r>
            <a:r>
              <a:rPr lang="de-DE" sz="1600" dirty="0" smtClean="0"/>
              <a:t>Schranke, </a:t>
            </a:r>
            <a:r>
              <a:rPr lang="de-DE" sz="1600" dirty="0"/>
              <a:t>die eine bestimmte Eigenschaft </a:t>
            </a:r>
            <a:r>
              <a:rPr lang="de-DE" sz="1600" dirty="0" smtClean="0"/>
              <a:t>haben.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600" dirty="0"/>
              <a:t>Abschätzung von Summen zahlentheoretischer </a:t>
            </a:r>
            <a:r>
              <a:rPr lang="de-DE" sz="1600" dirty="0" smtClean="0"/>
              <a:t>Funktionen</a:t>
            </a:r>
            <a:endParaRPr lang="de-DE" sz="1600" dirty="0"/>
          </a:p>
        </p:txBody>
      </p:sp>
      <p:sp>
        <p:nvSpPr>
          <p:cNvPr id="6" name="Textfeld 5"/>
          <p:cNvSpPr txBox="1"/>
          <p:nvPr/>
        </p:nvSpPr>
        <p:spPr>
          <a:xfrm>
            <a:off x="179512" y="2265223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b="1" u="sng" dirty="0" err="1" smtClean="0"/>
              <a:t>Dirichlet</a:t>
            </a:r>
            <a:r>
              <a:rPr lang="de-DE" sz="1400" b="1" u="sng" dirty="0" smtClean="0"/>
              <a:t>-Reihe</a:t>
            </a:r>
            <a:endParaRPr lang="de-DE" sz="1400" b="1" u="sng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54" y="2571750"/>
            <a:ext cx="1599750" cy="505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feld 8"/>
          <p:cNvSpPr txBox="1"/>
          <p:nvPr/>
        </p:nvSpPr>
        <p:spPr>
          <a:xfrm>
            <a:off x="1979712" y="2696021"/>
            <a:ext cx="6696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>
                <a:sym typeface="Wingdings" panose="05000000000000000000" pitchFamily="2" charset="2"/>
              </a:rPr>
              <a:t> Für f(n)=1 und Re(s)&gt;1 erhält man die </a:t>
            </a:r>
            <a:r>
              <a:rPr lang="de-DE" sz="1400" dirty="0" err="1" smtClean="0">
                <a:sym typeface="Wingdings" panose="05000000000000000000" pitchFamily="2" charset="2"/>
              </a:rPr>
              <a:t>Riemannsche</a:t>
            </a:r>
            <a:r>
              <a:rPr lang="de-DE" sz="1400" dirty="0" smtClean="0">
                <a:sym typeface="Wingdings" panose="05000000000000000000" pitchFamily="2" charset="2"/>
              </a:rPr>
              <a:t> </a:t>
            </a:r>
            <a:r>
              <a:rPr lang="de-DE" sz="1400" dirty="0" err="1" smtClean="0">
                <a:sym typeface="Wingdings" panose="05000000000000000000" pitchFamily="2" charset="2"/>
              </a:rPr>
              <a:t>Zeta</a:t>
            </a:r>
            <a:r>
              <a:rPr lang="de-DE" sz="1400" dirty="0" smtClean="0">
                <a:sym typeface="Wingdings" panose="05000000000000000000" pitchFamily="2" charset="2"/>
              </a:rPr>
              <a:t>-Funktion</a:t>
            </a:r>
            <a:endParaRPr lang="de-DE" sz="1400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2571750"/>
            <a:ext cx="1080120" cy="54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feld 10"/>
          <p:cNvSpPr txBox="1"/>
          <p:nvPr/>
        </p:nvSpPr>
        <p:spPr>
          <a:xfrm>
            <a:off x="2195736" y="3003798"/>
            <a:ext cx="6192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 smtClean="0"/>
              <a:t>Die </a:t>
            </a:r>
            <a:r>
              <a:rPr lang="de-DE" sz="1600" dirty="0" err="1" smtClean="0"/>
              <a:t>Zeta</a:t>
            </a:r>
            <a:r>
              <a:rPr lang="de-DE" sz="1600" dirty="0" smtClean="0"/>
              <a:t>-Funktion besitzt triviale Nullstellen in -2,-4,-6, … </a:t>
            </a:r>
          </a:p>
          <a:p>
            <a:r>
              <a:rPr lang="de-DE" sz="1600" u="sng" dirty="0" smtClean="0"/>
              <a:t>Vermutung: </a:t>
            </a:r>
            <a:r>
              <a:rPr lang="de-DE" sz="1600" dirty="0" smtClean="0"/>
              <a:t>Alle nicht-trivialen Nullstellen haben Realteil ½.</a:t>
            </a:r>
            <a:endParaRPr lang="de-DE" sz="1600" dirty="0"/>
          </a:p>
        </p:txBody>
      </p:sp>
      <p:sp>
        <p:nvSpPr>
          <p:cNvPr id="12" name="Textfeld 11"/>
          <p:cNvSpPr txBox="1"/>
          <p:nvPr/>
        </p:nvSpPr>
        <p:spPr>
          <a:xfrm>
            <a:off x="179512" y="3723878"/>
            <a:ext cx="64087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err="1" smtClean="0"/>
              <a:t>Goldbachsche</a:t>
            </a:r>
            <a:r>
              <a:rPr lang="de-DE" sz="1400" dirty="0" smtClean="0"/>
              <a:t> Vermutung, Primzahlzwillingsvermutung, </a:t>
            </a:r>
            <a:r>
              <a:rPr lang="de-DE" sz="1400" dirty="0" err="1" smtClean="0"/>
              <a:t>Waringsches</a:t>
            </a:r>
            <a:r>
              <a:rPr lang="de-DE" sz="1400" dirty="0" smtClean="0"/>
              <a:t> Problem, usw.</a:t>
            </a:r>
            <a:endParaRPr lang="de-DE" sz="1400" dirty="0"/>
          </a:p>
          <a:p>
            <a:endParaRPr lang="de-DE" sz="1400" dirty="0"/>
          </a:p>
          <a:p>
            <a:r>
              <a:rPr lang="de-DE" sz="1400" dirty="0" smtClean="0"/>
              <a:t>Siebtheorie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744818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Konvergenz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der Lambert-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endParaRPr lang="en-CA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303"/>
          <a:stretch/>
        </p:blipFill>
        <p:spPr bwMode="auto">
          <a:xfrm>
            <a:off x="223699" y="2184611"/>
            <a:ext cx="3672408" cy="17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15" y="2859782"/>
            <a:ext cx="4276293" cy="648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543"/>
          <a:stretch/>
        </p:blipFill>
        <p:spPr bwMode="auto">
          <a:xfrm>
            <a:off x="389165" y="3579862"/>
            <a:ext cx="4038819" cy="21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27" y="4111308"/>
            <a:ext cx="4028357" cy="83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41" t="32942" r="14467"/>
          <a:stretch/>
        </p:blipFill>
        <p:spPr bwMode="auto">
          <a:xfrm>
            <a:off x="1578540" y="2400635"/>
            <a:ext cx="1193260" cy="4591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3778"/>
            <a:ext cx="4275313" cy="134192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Konrad Knopp – Wikipedia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680378"/>
            <a:ext cx="1683187" cy="244827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4608004" y="3128650"/>
            <a:ext cx="1980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dirty="0" smtClean="0"/>
              <a:t>Konrad Knopp</a:t>
            </a:r>
          </a:p>
          <a:p>
            <a:pPr algn="ctr"/>
            <a:r>
              <a:rPr lang="de-DE" sz="1200" dirty="0" smtClean="0"/>
              <a:t>(1882-1957)</a:t>
            </a:r>
            <a:endParaRPr lang="de-DE" sz="1200" dirty="0"/>
          </a:p>
        </p:txBody>
      </p:sp>
      <p:pic>
        <p:nvPicPr>
          <p:cNvPr id="1035" name="Picture 11" descr="Theorie und Anwendung der unendlichen Reihen | SpringerLink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665859"/>
            <a:ext cx="1595341" cy="2534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3"/>
          <a:stretch/>
        </p:blipFill>
        <p:spPr bwMode="auto">
          <a:xfrm>
            <a:off x="899592" y="3773785"/>
            <a:ext cx="3316160" cy="3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197" y="3867894"/>
            <a:ext cx="4077964" cy="5096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4678189" y="3579862"/>
            <a:ext cx="1584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u="sng" dirty="0" smtClean="0"/>
              <a:t>Hilfsmittel:</a:t>
            </a:r>
            <a:endParaRPr lang="de-DE" sz="1400" u="sng" dirty="0"/>
          </a:p>
        </p:txBody>
      </p:sp>
      <p:sp>
        <p:nvSpPr>
          <p:cNvPr id="4" name="Textfeld 3"/>
          <p:cNvSpPr txBox="1"/>
          <p:nvPr/>
        </p:nvSpPr>
        <p:spPr>
          <a:xfrm>
            <a:off x="4572000" y="4454991"/>
            <a:ext cx="20162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smtClean="0"/>
              <a:t>Beweis: </a:t>
            </a:r>
            <a:r>
              <a:rPr lang="de-DE" sz="1200" dirty="0" smtClean="0"/>
              <a:t>Partielle Summation.</a:t>
            </a:r>
            <a:endParaRPr lang="de-DE" sz="1200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573859"/>
            <a:ext cx="2448272" cy="46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4380071"/>
            <a:ext cx="864096" cy="207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594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Konvergenz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der Lambert-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endParaRPr lang="en-CA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85"/>
          <a:stretch/>
        </p:blipFill>
        <p:spPr bwMode="auto">
          <a:xfrm>
            <a:off x="223699" y="627534"/>
            <a:ext cx="4276293" cy="483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65"/>
          <a:stretch/>
        </p:blipFill>
        <p:spPr bwMode="auto">
          <a:xfrm>
            <a:off x="251520" y="1131590"/>
            <a:ext cx="4038819" cy="187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779662"/>
            <a:ext cx="4715669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067695"/>
            <a:ext cx="4715669" cy="10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3435846"/>
            <a:ext cx="2232248" cy="81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000"/>
          <a:stretch/>
        </p:blipFill>
        <p:spPr bwMode="auto">
          <a:xfrm>
            <a:off x="107504" y="3223430"/>
            <a:ext cx="4320480" cy="358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2533" b="-1905"/>
          <a:stretch/>
        </p:blipFill>
        <p:spPr bwMode="auto">
          <a:xfrm>
            <a:off x="107504" y="4049738"/>
            <a:ext cx="1948275" cy="988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Gerade Verbindung 12"/>
          <p:cNvCxnSpPr/>
          <p:nvPr/>
        </p:nvCxnSpPr>
        <p:spPr>
          <a:xfrm>
            <a:off x="0" y="1707654"/>
            <a:ext cx="478802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eschweifte Klammer rechts 13"/>
          <p:cNvSpPr/>
          <p:nvPr/>
        </p:nvSpPr>
        <p:spPr>
          <a:xfrm>
            <a:off x="4427984" y="3435846"/>
            <a:ext cx="288032" cy="1656184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401" y="699542"/>
            <a:ext cx="4037087" cy="10509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93"/>
          <a:stretch/>
        </p:blipFill>
        <p:spPr bwMode="auto">
          <a:xfrm>
            <a:off x="4860032" y="2573377"/>
            <a:ext cx="4217989" cy="718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Gerade Verbindung 16"/>
          <p:cNvCxnSpPr/>
          <p:nvPr/>
        </p:nvCxnSpPr>
        <p:spPr>
          <a:xfrm>
            <a:off x="4788024" y="555526"/>
            <a:ext cx="0" cy="115212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4788024" y="3363838"/>
            <a:ext cx="410445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Gerade Verbindung 2"/>
          <p:cNvCxnSpPr/>
          <p:nvPr/>
        </p:nvCxnSpPr>
        <p:spPr>
          <a:xfrm>
            <a:off x="539552" y="2003028"/>
            <a:ext cx="100811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3"/>
          <a:stretch/>
        </p:blipFill>
        <p:spPr bwMode="auto">
          <a:xfrm>
            <a:off x="735932" y="1324398"/>
            <a:ext cx="3316160" cy="3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401" y="1851670"/>
            <a:ext cx="4158716" cy="3080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400" y="2283718"/>
            <a:ext cx="3389015" cy="19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686" y="4318424"/>
            <a:ext cx="4178810" cy="28884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7452320" y="3574244"/>
            <a:ext cx="158417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smtClean="0"/>
              <a:t>Enge Beziehung zwischen Potenz- </a:t>
            </a:r>
          </a:p>
          <a:p>
            <a:r>
              <a:rPr lang="de-DE" sz="1100" dirty="0" smtClean="0"/>
              <a:t>und </a:t>
            </a:r>
            <a:r>
              <a:rPr lang="de-DE" sz="1100" dirty="0" err="1" smtClean="0"/>
              <a:t>Lambertreihe</a:t>
            </a:r>
            <a:r>
              <a:rPr lang="de-DE" sz="1100" dirty="0" smtClean="0"/>
              <a:t>!</a:t>
            </a:r>
            <a:endParaRPr lang="de-DE" sz="11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569" y="4720372"/>
            <a:ext cx="3631903" cy="37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" name="Picture 1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4" t="65748" r="54670"/>
          <a:stretch/>
        </p:blipFill>
        <p:spPr bwMode="auto">
          <a:xfrm>
            <a:off x="298315" y="3718428"/>
            <a:ext cx="1660188" cy="245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Picture 1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23" t="65748" b="-10684"/>
          <a:stretch/>
        </p:blipFill>
        <p:spPr bwMode="auto">
          <a:xfrm>
            <a:off x="1979712" y="3713350"/>
            <a:ext cx="2349315" cy="321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11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27"/>
          <a:stretch/>
        </p:blipFill>
        <p:spPr bwMode="auto">
          <a:xfrm>
            <a:off x="2027020" y="4049738"/>
            <a:ext cx="2194784" cy="97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876006"/>
            <a:ext cx="1368152" cy="17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Gerade Verbindung mit Pfeil 4"/>
          <p:cNvCxnSpPr/>
          <p:nvPr/>
        </p:nvCxnSpPr>
        <p:spPr>
          <a:xfrm>
            <a:off x="4211960" y="4962844"/>
            <a:ext cx="864096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8" name="Picture 6" descr="Checkmark icon check mark isolated Royalty Free Vector Image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72" t="24779" r="20474" b="37694"/>
          <a:stretch/>
        </p:blipFill>
        <p:spPr bwMode="auto">
          <a:xfrm>
            <a:off x="4249931" y="3757315"/>
            <a:ext cx="197104" cy="16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" descr="Checkmark icon check mark isolated Royalty Free Vector Image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72" t="24779" r="20474" b="37694"/>
          <a:stretch/>
        </p:blipFill>
        <p:spPr bwMode="auto">
          <a:xfrm>
            <a:off x="4271391" y="4439640"/>
            <a:ext cx="197104" cy="16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" descr="Checkmark icon check mark isolated Royalty Free Vector Image"/>
          <p:cNvPicPr>
            <a:picLocks noChangeAspect="1"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72" t="24779" r="20474" b="37694"/>
          <a:stretch/>
        </p:blipFill>
        <p:spPr bwMode="auto">
          <a:xfrm>
            <a:off x="1541917" y="4852392"/>
            <a:ext cx="197104" cy="167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2591" y="3068869"/>
            <a:ext cx="193141" cy="17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670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8" name="Textfeld 7"/>
          <p:cNvSpPr txBox="1"/>
          <p:nvPr/>
        </p:nvSpPr>
        <p:spPr>
          <a:xfrm>
            <a:off x="0" y="-2924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Konvergenz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der Lambert-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Reihe</a:t>
            </a:r>
            <a:endParaRPr lang="en-CA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85"/>
          <a:stretch/>
        </p:blipFill>
        <p:spPr bwMode="auto">
          <a:xfrm>
            <a:off x="223699" y="627534"/>
            <a:ext cx="4276293" cy="483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65"/>
          <a:stretch/>
        </p:blipFill>
        <p:spPr bwMode="auto">
          <a:xfrm>
            <a:off x="251520" y="1131590"/>
            <a:ext cx="4038819" cy="187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Gerade Verbindung 12"/>
          <p:cNvCxnSpPr/>
          <p:nvPr/>
        </p:nvCxnSpPr>
        <p:spPr>
          <a:xfrm>
            <a:off x="0" y="2499742"/>
            <a:ext cx="478802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16"/>
          <p:cNvCxnSpPr/>
          <p:nvPr/>
        </p:nvCxnSpPr>
        <p:spPr>
          <a:xfrm>
            <a:off x="4788024" y="555526"/>
            <a:ext cx="0" cy="1944216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3"/>
          <a:stretch/>
        </p:blipFill>
        <p:spPr bwMode="auto">
          <a:xfrm>
            <a:off x="735932" y="1324398"/>
            <a:ext cx="3316160" cy="311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9" y="2715766"/>
            <a:ext cx="8860169" cy="486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52" y="3291831"/>
            <a:ext cx="1998476" cy="205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722" y="3579862"/>
            <a:ext cx="4102398" cy="719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27" y="4443958"/>
            <a:ext cx="8428121" cy="493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Gerade Verbindung 3"/>
          <p:cNvCxnSpPr/>
          <p:nvPr/>
        </p:nvCxnSpPr>
        <p:spPr>
          <a:xfrm>
            <a:off x="735932" y="2959184"/>
            <a:ext cx="13157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627534"/>
            <a:ext cx="4176464" cy="1371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06" y="1614334"/>
            <a:ext cx="4028357" cy="836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3579862"/>
            <a:ext cx="2304256" cy="671384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82519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369</Words>
  <Application>Microsoft Office PowerPoint</Application>
  <PresentationFormat>Bildschirmpräsentation (16:9)</PresentationFormat>
  <Paragraphs>59</Paragraphs>
  <Slides>10</Slides>
  <Notes>9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52</cp:revision>
  <dcterms:created xsi:type="dcterms:W3CDTF">2025-02-27T19:23:37Z</dcterms:created>
  <dcterms:modified xsi:type="dcterms:W3CDTF">2025-04-09T20:12:51Z</dcterms:modified>
</cp:coreProperties>
</file>