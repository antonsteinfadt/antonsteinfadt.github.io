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 id="2147483696" r:id="rId3"/>
    <p:sldMasterId id="2147483708" r:id="rId4"/>
  </p:sldMasterIdLst>
  <p:notesMasterIdLst>
    <p:notesMasterId r:id="rId69"/>
  </p:notesMasterIdLst>
  <p:sldIdLst>
    <p:sldId id="256" r:id="rId5"/>
    <p:sldId id="279" r:id="rId6"/>
    <p:sldId id="280" r:id="rId7"/>
    <p:sldId id="282" r:id="rId8"/>
    <p:sldId id="324" r:id="rId9"/>
    <p:sldId id="261" r:id="rId10"/>
    <p:sldId id="262" r:id="rId11"/>
    <p:sldId id="326" r:id="rId12"/>
    <p:sldId id="263" r:id="rId13"/>
    <p:sldId id="264" r:id="rId14"/>
    <p:sldId id="327" r:id="rId15"/>
    <p:sldId id="265" r:id="rId16"/>
    <p:sldId id="285" r:id="rId17"/>
    <p:sldId id="301" r:id="rId18"/>
    <p:sldId id="302" r:id="rId19"/>
    <p:sldId id="269" r:id="rId20"/>
    <p:sldId id="271" r:id="rId21"/>
    <p:sldId id="293" r:id="rId22"/>
    <p:sldId id="275" r:id="rId23"/>
    <p:sldId id="257" r:id="rId24"/>
    <p:sldId id="325" r:id="rId25"/>
    <p:sldId id="295" r:id="rId26"/>
    <p:sldId id="317" r:id="rId27"/>
    <p:sldId id="272" r:id="rId28"/>
    <p:sldId id="294" r:id="rId29"/>
    <p:sldId id="297" r:id="rId30"/>
    <p:sldId id="318" r:id="rId31"/>
    <p:sldId id="273" r:id="rId32"/>
    <p:sldId id="298" r:id="rId33"/>
    <p:sldId id="300" r:id="rId34"/>
    <p:sldId id="311" r:id="rId35"/>
    <p:sldId id="309" r:id="rId36"/>
    <p:sldId id="323" r:id="rId37"/>
    <p:sldId id="330" r:id="rId38"/>
    <p:sldId id="320" r:id="rId39"/>
    <p:sldId id="312" r:id="rId40"/>
    <p:sldId id="299" r:id="rId41"/>
    <p:sldId id="310" r:id="rId42"/>
    <p:sldId id="321" r:id="rId43"/>
    <p:sldId id="322" r:id="rId44"/>
    <p:sldId id="258" r:id="rId45"/>
    <p:sldId id="305" r:id="rId46"/>
    <p:sldId id="292" r:id="rId47"/>
    <p:sldId id="288" r:id="rId48"/>
    <p:sldId id="266" r:id="rId49"/>
    <p:sldId id="267" r:id="rId50"/>
    <p:sldId id="268" r:id="rId51"/>
    <p:sldId id="260" r:id="rId52"/>
    <p:sldId id="287" r:id="rId53"/>
    <p:sldId id="328" r:id="rId54"/>
    <p:sldId id="277" r:id="rId55"/>
    <p:sldId id="283" r:id="rId56"/>
    <p:sldId id="289" r:id="rId57"/>
    <p:sldId id="290" r:id="rId58"/>
    <p:sldId id="291" r:id="rId59"/>
    <p:sldId id="270" r:id="rId60"/>
    <p:sldId id="304" r:id="rId61"/>
    <p:sldId id="303" r:id="rId62"/>
    <p:sldId id="276" r:id="rId63"/>
    <p:sldId id="308" r:id="rId64"/>
    <p:sldId id="313" r:id="rId65"/>
    <p:sldId id="316" r:id="rId66"/>
    <p:sldId id="314" r:id="rId67"/>
    <p:sldId id="315" r:id="rId68"/>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17" autoAdjust="0"/>
    <p:restoredTop sz="94279" autoAdjust="0"/>
  </p:normalViewPr>
  <p:slideViewPr>
    <p:cSldViewPr>
      <p:cViewPr>
        <p:scale>
          <a:sx n="75" d="100"/>
          <a:sy n="75" d="100"/>
        </p:scale>
        <p:origin x="-306" y="-12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2" Type="http://schemas.openxmlformats.org/officeDocument/2006/relationships/slideMaster" Target="slideMasters/slideMaster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2ABADDB-044A-4C71-A2A1-87251958F982}" type="datetimeFigureOut">
              <a:rPr lang="de-DE" smtClean="0"/>
              <a:t>01.10.2026</a:t>
            </a:fld>
            <a:endParaRPr lang="de-DE"/>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A04340-2762-46C8-9BAC-7451808D7A2C}" type="slidenum">
              <a:rPr lang="de-DE" smtClean="0"/>
              <a:t>‹Nr.›</a:t>
            </a:fld>
            <a:endParaRPr lang="de-DE"/>
          </a:p>
        </p:txBody>
      </p:sp>
    </p:spTree>
    <p:extLst>
      <p:ext uri="{BB962C8B-B14F-4D97-AF65-F5344CB8AC3E}">
        <p14:creationId xmlns:p14="http://schemas.microsoft.com/office/powerpoint/2010/main" val="1656070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10"/>
          </p:nvPr>
        </p:nvSpPr>
        <p:spPr/>
        <p:txBody>
          <a:bodyPr/>
          <a:lstStyle/>
          <a:p>
            <a:fld id="{EBA04340-2762-46C8-9BAC-7451808D7A2C}" type="slidenum">
              <a:rPr lang="de-DE" smtClean="0"/>
              <a:t>3</a:t>
            </a:fld>
            <a:endParaRPr lang="de-DE"/>
          </a:p>
        </p:txBody>
      </p:sp>
    </p:spTree>
    <p:extLst>
      <p:ext uri="{BB962C8B-B14F-4D97-AF65-F5344CB8AC3E}">
        <p14:creationId xmlns:p14="http://schemas.microsoft.com/office/powerpoint/2010/main" val="1746197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Hersh, R. (1997). What Is Mathematics, Really? Oxford University Press, S. 13.</a:t>
            </a:r>
          </a:p>
          <a:p>
            <a:r>
              <a:rPr lang="de-DE" sz="1100" b="0">
                <a:latin typeface="Arial"/>
              </a:rPr>
              <a:t>Die beiden englischen Zitatteile (Hilbertraum / Rodin) gehören zu derselben Passage. Die Seitenangabe 13 ist auch in der vom Nutzer bereitgestellten früheren Quellenangabe zu dieser Passage enthalten.</a:t>
            </a:r>
          </a:p>
        </p:txBody>
      </p:sp>
      <p:sp>
        <p:nvSpPr>
          <p:cNvPr id="4" name="Foliennummernplatzhalter 3"/>
          <p:cNvSpPr>
            <a:spLocks noGrp="1"/>
          </p:cNvSpPr>
          <p:nvPr>
            <p:ph type="sldNum" sz="quarter" idx="10"/>
          </p:nvPr>
        </p:nvSpPr>
        <p:spPr/>
        <p:txBody>
          <a:bodyPr/>
          <a:lstStyle/>
          <a:p>
            <a:fld id="{EBA04340-2762-46C8-9BAC-7451808D7A2C}" type="slidenum">
              <a:rPr lang="de-DE" smtClean="0"/>
              <a:t>4</a:t>
            </a:fld>
            <a:endParaRPr lang="de-DE"/>
          </a:p>
        </p:txBody>
      </p:sp>
    </p:spTree>
    <p:extLst>
      <p:ext uri="{BB962C8B-B14F-4D97-AF65-F5344CB8AC3E}">
        <p14:creationId xmlns:p14="http://schemas.microsoft.com/office/powerpoint/2010/main" val="17461978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Bessis, D. (2026, 21. April). The fall of the theorem economy. Substack. https://davidbessis.substack.com/p/the-fall-of-the-theorem-economy</a:t>
            </a:r>
          </a:p>
          <a:p>
            <a:r>
              <a:rPr lang="de-DE" sz="1100" b="0">
                <a:latin typeface="Arial"/>
              </a:rPr>
              <a:t>Beide Direktzitate stehen im Abschnitt „Caveat #3: The Overhang“. Der Abschnittstitel ist ein stabilerer Fundstellenhinweis als eine von der Darstellung abhängige Absatzzählung.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Franzén, T. (2004). Inexhaustibility: A Non-Exhaustive Treatment. Lecture Notes in Logic, Bd. 16. Association for Symbolic Logic / A K Peters.</a:t>
            </a:r>
          </a:p>
          <a:p>
            <a:r>
              <a:rPr lang="de-DE" sz="1100" b="0">
                <a:latin typeface="Arial"/>
              </a:rPr>
              <a:t>Literaturhinweis zum Thema der Folie und zum abgebildeten Buch; keine Kennzeichnung der gesamten Argumentation als wörtliches Zitat.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dirty="0">
                <a:latin typeface="Arial"/>
              </a:rPr>
              <a:t>QUELLENANGABEN ZU DEN ZITATEN</a:t>
            </a:r>
          </a:p>
          <a:p>
            <a:r>
              <a:rPr lang="de-DE" sz="1100" b="0" dirty="0" err="1">
                <a:latin typeface="Arial"/>
              </a:rPr>
              <a:t>Brouwer</a:t>
            </a:r>
            <a:r>
              <a:rPr lang="de-DE" sz="1100" b="0" dirty="0">
                <a:latin typeface="Arial"/>
              </a:rPr>
              <a:t>, L. E. J. (1952). Historical </a:t>
            </a:r>
            <a:r>
              <a:rPr lang="de-DE" sz="1100" b="0" dirty="0" err="1">
                <a:latin typeface="Arial"/>
              </a:rPr>
              <a:t>background</a:t>
            </a:r>
            <a:r>
              <a:rPr lang="de-DE" sz="1100" b="0" dirty="0">
                <a:latin typeface="Arial"/>
              </a:rPr>
              <a:t>, </a:t>
            </a:r>
            <a:r>
              <a:rPr lang="de-DE" sz="1100" b="0" dirty="0" err="1">
                <a:latin typeface="Arial"/>
              </a:rPr>
              <a:t>principles</a:t>
            </a:r>
            <a:r>
              <a:rPr lang="de-DE" sz="1100" b="0" dirty="0">
                <a:latin typeface="Arial"/>
              </a:rPr>
              <a:t> </a:t>
            </a:r>
            <a:r>
              <a:rPr lang="de-DE" sz="1100" b="0" dirty="0" err="1">
                <a:latin typeface="Arial"/>
              </a:rPr>
              <a:t>and</a:t>
            </a:r>
            <a:r>
              <a:rPr lang="de-DE" sz="1100" b="0" dirty="0">
                <a:latin typeface="Arial"/>
              </a:rPr>
              <a:t> </a:t>
            </a:r>
            <a:r>
              <a:rPr lang="de-DE" sz="1100" b="0" dirty="0" err="1">
                <a:latin typeface="Arial"/>
              </a:rPr>
              <a:t>methods</a:t>
            </a:r>
            <a:r>
              <a:rPr lang="de-DE" sz="1100" b="0" dirty="0">
                <a:latin typeface="Arial"/>
              </a:rPr>
              <a:t> </a:t>
            </a:r>
            <a:r>
              <a:rPr lang="de-DE" sz="1100" b="0" dirty="0" err="1">
                <a:latin typeface="Arial"/>
              </a:rPr>
              <a:t>of</a:t>
            </a:r>
            <a:r>
              <a:rPr lang="de-DE" sz="1100" b="0" dirty="0">
                <a:latin typeface="Arial"/>
              </a:rPr>
              <a:t> </a:t>
            </a:r>
            <a:r>
              <a:rPr lang="de-DE" sz="1100" b="0" dirty="0" err="1">
                <a:latin typeface="Arial"/>
              </a:rPr>
              <a:t>intuitionism</a:t>
            </a:r>
            <a:r>
              <a:rPr lang="de-DE" sz="1100" b="0" dirty="0">
                <a:latin typeface="Arial"/>
              </a:rPr>
              <a:t>. South African Journal </a:t>
            </a:r>
            <a:r>
              <a:rPr lang="de-DE" sz="1100" b="0" dirty="0" err="1">
                <a:latin typeface="Arial"/>
              </a:rPr>
              <a:t>of</a:t>
            </a:r>
            <a:r>
              <a:rPr lang="de-DE" sz="1100" b="0" dirty="0">
                <a:latin typeface="Arial"/>
              </a:rPr>
              <a:t> Science, 49, 139–146. https://hdl.handle.net/10520/AJA00382353_3009</a:t>
            </a:r>
          </a:p>
          <a:p>
            <a:r>
              <a:rPr lang="de-DE" sz="1100" b="0" dirty="0">
                <a:latin typeface="Arial"/>
              </a:rPr>
              <a:t>Bezug: die Bezeichnung und Unterscheidung der beiden Akte des Intuitionismus. Die Erläuterungen der Folie sind Zusammenfassungen, keine wörtlichen Zitate.</a:t>
            </a:r>
          </a:p>
        </p:txBody>
      </p:sp>
      <p:sp>
        <p:nvSpPr>
          <p:cNvPr id="4" name="Foliennummernplatzhalter 3"/>
          <p:cNvSpPr>
            <a:spLocks noGrp="1"/>
          </p:cNvSpPr>
          <p:nvPr>
            <p:ph type="sldNum" sz="quarter" idx="10"/>
          </p:nvPr>
        </p:nvSpPr>
        <p:spPr/>
        <p:txBody>
          <a:bodyPr/>
          <a:lstStyle/>
          <a:p>
            <a:fld id="{EBA04340-2762-46C8-9BAC-7451808D7A2C}" type="slidenum">
              <a:rPr lang="de-DE" smtClean="0"/>
              <a:t>22</a:t>
            </a:fld>
            <a:endParaRPr lang="de-DE"/>
          </a:p>
        </p:txBody>
      </p:sp>
    </p:spTree>
    <p:extLst>
      <p:ext uri="{BB962C8B-B14F-4D97-AF65-F5344CB8AC3E}">
        <p14:creationId xmlns:p14="http://schemas.microsoft.com/office/powerpoint/2010/main" val="3568597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Neu</a:t>
            </a:r>
            <a:r>
              <a:rPr dirty="0"/>
              <a:t> </a:t>
            </a:r>
            <a:r>
              <a:rPr dirty="0" err="1"/>
              <a:t>ergänzte</a:t>
            </a:r>
            <a:r>
              <a:rPr dirty="0"/>
              <a:t> </a:t>
            </a:r>
            <a:r>
              <a:rPr dirty="0" err="1"/>
              <a:t>Einordnung</a:t>
            </a:r>
            <a:r>
              <a:rPr dirty="0"/>
              <a:t> von </a:t>
            </a:r>
            <a:r>
              <a:rPr dirty="0" err="1"/>
              <a:t>Brouwers</a:t>
            </a:r>
            <a:r>
              <a:rPr dirty="0"/>
              <a:t> </a:t>
            </a:r>
            <a:r>
              <a:rPr dirty="0" err="1"/>
              <a:t>Intuitionismus</a:t>
            </a:r>
            <a:r>
              <a:rPr dirty="0"/>
              <a:t>; </a:t>
            </a:r>
            <a:r>
              <a:rPr dirty="0" err="1"/>
              <a:t>keine</a:t>
            </a:r>
            <a:r>
              <a:rPr dirty="0"/>
              <a:t> </a:t>
            </a:r>
            <a:r>
              <a:rPr dirty="0" err="1"/>
              <a:t>allgemeine</a:t>
            </a:r>
            <a:r>
              <a:rPr dirty="0"/>
              <a:t> </a:t>
            </a:r>
            <a:r>
              <a:rPr dirty="0" err="1"/>
              <a:t>Charakterisierung</a:t>
            </a:r>
            <a:r>
              <a:rPr dirty="0"/>
              <a:t> </a:t>
            </a:r>
            <a:r>
              <a:rPr dirty="0" err="1"/>
              <a:t>sämtlicher</a:t>
            </a:r>
            <a:r>
              <a:rPr dirty="0"/>
              <a:t> </a:t>
            </a:r>
            <a:r>
              <a:rPr dirty="0" err="1"/>
              <a:t>konstruktivistischer</a:t>
            </a:r>
            <a:r>
              <a:rPr dirty="0"/>
              <a:t> </a:t>
            </a:r>
            <a:r>
              <a:rPr dirty="0" err="1"/>
              <a:t>Positionen</a:t>
            </a:r>
            <a:r>
              <a:rPr dirty="0"/>
              <a:t>. Anti-</a:t>
            </a:r>
            <a:r>
              <a:rPr dirty="0" err="1"/>
              <a:t>Formalismus</a:t>
            </a:r>
            <a:r>
              <a:rPr dirty="0"/>
              <a:t> </a:t>
            </a:r>
            <a:r>
              <a:rPr dirty="0" err="1"/>
              <a:t>heißt</a:t>
            </a:r>
            <a:r>
              <a:rPr dirty="0"/>
              <a:t> </a:t>
            </a:r>
            <a:r>
              <a:rPr dirty="0" err="1"/>
              <a:t>hier</a:t>
            </a:r>
            <a:r>
              <a:rPr dirty="0"/>
              <a:t> </a:t>
            </a:r>
            <a:r>
              <a:rPr dirty="0" err="1"/>
              <a:t>nicht</a:t>
            </a:r>
            <a:r>
              <a:rPr dirty="0"/>
              <a:t>, </a:t>
            </a:r>
            <a:r>
              <a:rPr dirty="0" err="1"/>
              <a:t>dass</a:t>
            </a:r>
            <a:r>
              <a:rPr dirty="0"/>
              <a:t> </a:t>
            </a:r>
            <a:r>
              <a:rPr dirty="0" err="1"/>
              <a:t>Formalisierungen</a:t>
            </a:r>
            <a:r>
              <a:rPr dirty="0"/>
              <a:t> verboten </a:t>
            </a:r>
            <a:r>
              <a:rPr dirty="0" err="1"/>
              <a:t>wären</a:t>
            </a:r>
            <a:r>
              <a:rPr dirty="0"/>
              <a:t>: </a:t>
            </a:r>
            <a:r>
              <a:rPr dirty="0" err="1"/>
              <a:t>bestritten</a:t>
            </a:r>
            <a:r>
              <a:rPr dirty="0"/>
              <a:t> </a:t>
            </a:r>
            <a:r>
              <a:rPr dirty="0" err="1"/>
              <a:t>wird</a:t>
            </a:r>
            <a:r>
              <a:rPr dirty="0"/>
              <a:t> </a:t>
            </a:r>
            <a:r>
              <a:rPr dirty="0" err="1"/>
              <a:t>ihre</a:t>
            </a:r>
            <a:r>
              <a:rPr dirty="0"/>
              <a:t> </a:t>
            </a:r>
            <a:r>
              <a:rPr dirty="0" err="1"/>
              <a:t>Gleichsetzung</a:t>
            </a:r>
            <a:r>
              <a:rPr dirty="0"/>
              <a:t> </a:t>
            </a:r>
            <a:r>
              <a:rPr dirty="0" err="1"/>
              <a:t>mit</a:t>
            </a:r>
            <a:r>
              <a:rPr dirty="0"/>
              <a:t> dem </a:t>
            </a:r>
            <a:r>
              <a:rPr dirty="0" err="1"/>
              <a:t>mathematischen</a:t>
            </a:r>
            <a:r>
              <a:rPr dirty="0"/>
              <a:t> </a:t>
            </a:r>
            <a:r>
              <a:rPr dirty="0" err="1"/>
              <a:t>Vollzug</a:t>
            </a:r>
            <a:r>
              <a:rPr dirty="0"/>
              <a:t>.</a:t>
            </a:r>
          </a:p>
          <a:p>
            <a:endParaRPr dirty="0"/>
          </a:p>
          <a:p>
            <a:r>
              <a:rPr dirty="0" err="1"/>
              <a:t>Quellen</a:t>
            </a:r>
            <a:r>
              <a:rPr dirty="0"/>
              <a:t>: </a:t>
            </a:r>
            <a:r>
              <a:rPr dirty="0" err="1"/>
              <a:t>Brouwer</a:t>
            </a:r>
            <a:r>
              <a:rPr dirty="0"/>
              <a:t>, L. E. J. (1913). Intuitionism and formalism. Bulletin of the American Mathematical Society, 20(2), 81–96. https://projecteuclid.org/journals/bulletin-of-the-american-mathematical-society/volume-20/issue-2/Intuitionism-and-formalism/bams/1183422499.full</a:t>
            </a:r>
          </a:p>
          <a:p>
            <a:r>
              <a:rPr dirty="0" err="1"/>
              <a:t>Veldman</a:t>
            </a:r>
            <a:r>
              <a:rPr dirty="0"/>
              <a:t>, W. (2021). Intuitionism: An Inspiration? </a:t>
            </a:r>
            <a:r>
              <a:rPr dirty="0" err="1"/>
              <a:t>Jahresbericht</a:t>
            </a:r>
            <a:r>
              <a:rPr dirty="0"/>
              <a:t> der </a:t>
            </a:r>
            <a:r>
              <a:rPr dirty="0" err="1"/>
              <a:t>Deutschen</a:t>
            </a:r>
            <a:r>
              <a:rPr dirty="0"/>
              <a:t> </a:t>
            </a:r>
            <a:r>
              <a:rPr dirty="0" err="1"/>
              <a:t>Mathematiker-Vereinigung</a:t>
            </a:r>
            <a:r>
              <a:rPr dirty="0"/>
              <a:t>, 123, 221–284, §§ 1.2–1.4, 3.2. https://doi.org/10.1365/s13291-021-00230-8</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Brouwers beide englischen Aussagen zur Wahrheit sind gemeinsam wiedergegeben in: van Dalen, D. (2005). Mystic, Geometer, and Intuitionist: The Life of L. E. J. Brouwer. Bd. 2: Hope and Disillusion. Clarendon Press, S. 833.</a:t>
            </a:r>
          </a:p>
          <a:p>
            <a:r>
              <a:rPr lang="de-DE" sz="1100" b="0">
                <a:latin typeface="Arial"/>
              </a:rPr>
              <a:t>Die Zitate stehen dort im Zusammenhang mit Brouwers Vortrag „Consciousness, philosophy and mathematics“ (Amsterdam 1948). Hier wird die tatsächlich eingesehene Sekundärfundstelle ausdrücklich als solche angegeben.</a:t>
            </a:r>
          </a:p>
          <a:p>
            <a:r>
              <a:rPr lang="de-DE" sz="1100" b="0">
                <a:latin typeface="Arial"/>
              </a:rPr>
              <a:t>Der Quellenhinweis bezieht sich auf die beiden englischen Direktzitate in der mittleren Spalte.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Brouwer, L. E. J. (1928). Intuitionistische Betrachtungen über den Formalismus. Proceedings Koninklijke Akademie van Wetenschappen Amsterdam, 31, 374–379; insbesondere S. 374–375. https://www.dwc.knaw.nl/DL/publications/PU00015590.pdf</a:t>
            </a:r>
          </a:p>
          <a:p>
            <a:r>
              <a:rPr lang="de-DE" sz="1100" b="0">
                <a:latin typeface="Arial"/>
              </a:rPr>
              <a:t>Die Passage über die reinen Besinnungsergebnisse und den dritten Gesichtspunkt (ausgeschlossenes Drittes / Lösbarkeit) ist in englischer Übersetzung wiedergegeben bei van Atten, M., „Weyl and intuitionistic infinitesimals“, Preprint, S. 25–26; dort mit Verweis auf Brouwer (1928), S. 375 und van Heijenoort (1967), S. 490–491. https://www.researchgate.net/publication/323770701_Weyl_and_intuitionistic_infinitesimals</a:t>
            </a:r>
          </a:p>
          <a:p>
            <a:r>
              <a:rPr lang="de-DE" sz="1100" b="0">
                <a:latin typeface="Arial"/>
              </a:rPr>
              <a:t>Der deutsche Wortlaut auf der Folie wurde unverändert belassen.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van Atten, M. (2008; überarbeitet 4. Mai 2022). The Development of Intuitionistic Logic. Stanford Encyclopedia of Philosophy, § 2.1 „Mathematics, Language, and Logic“. https://plato.stanford.edu/entries/intuitionistic-logic-development/#MathLangLogi</a:t>
            </a:r>
          </a:p>
          <a:p>
            <a:r>
              <a:rPr lang="de-DE" sz="1100" b="0">
                <a:latin typeface="Arial"/>
              </a:rPr>
              <a:t>Der englische Wortlaut „one thing and again a thing, and a continuum in between“ steht in van Attens Darstellung von Brouwers Zeitintuition. Er wird deshalb hier van Attens Darstellung zugeordnet, nicht ohne Weiteres als wörtliche englische Originalformulierung Brouwers ausgewiesen.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van Atten, M. (2007). Brouwer Meets Husserl: On the Phenomenology of Choice Sequences. Synthese Library, Bd. 335. Springer. https://doi.org/10.1007/978-1-4020-5087-9</a:t>
            </a:r>
          </a:p>
          <a:p>
            <a:r>
              <a:rPr lang="de-DE" sz="1100" b="0">
                <a:latin typeface="Arial"/>
              </a:rPr>
              <a:t>Englische Definition der Wahlfolge: S. 85, § 6.1. Brouwers deutsche Formulierung „im allgemeinen nicht fertig darstellbar“: S. 143, Anm. 97. Achtung: gedruckte Seitenzahlen, nicht PDF-Seitenzählung.</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van Atten, M. (2007). Brouwer Meets Husserl: On the Phenomenology of Choice Sequences. Synthese Library, Bd. 335. Springer. https://doi.org/10.1007/978-1-4020-5087-9</a:t>
            </a:r>
          </a:p>
          <a:p>
            <a:r>
              <a:rPr lang="de-DE" sz="1100" b="0">
                <a:latin typeface="Arial"/>
              </a:rPr>
              <a:t>„the object isn’t there until I begin choosing“: S. 90. „The object grows but it is the same object that grows“: S. 91. Brouwers deutsche Formulierung „immer etwas Werdendes und manchmal etwas dauerhaft Unbestimmtes“: S. 130, Anm. 16. Die beiden englischen Aussagen stammen von van Atten; die deutsche Aussage ist dort ein Brouwer-Zitat.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van Atten, M. (2007). Brouwer Meets Husserl: On the Phenomenology of Choice Sequences. Synthese Library, Bd. 335. Springer. https://doi.org/10.1007/978-1-4020-5087-9</a:t>
            </a:r>
          </a:p>
          <a:p>
            <a:r>
              <a:rPr lang="de-DE" sz="1100" b="0">
                <a:latin typeface="Arial"/>
              </a:rPr>
              <a:t>Wörtliche These P3*: S. 51 (auch bereits S. 7). Die Formulierung ist van Attens eigene systematische Position, nicht ein wörtliches Zitat Brouwers oder Husserls.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dirty="0" err="1"/>
              <a:t>Neu</a:t>
            </a:r>
            <a:r>
              <a:rPr dirty="0"/>
              <a:t> </a:t>
            </a:r>
            <a:r>
              <a:rPr dirty="0" err="1"/>
              <a:t>ergänzte</a:t>
            </a:r>
            <a:r>
              <a:rPr dirty="0"/>
              <a:t> </a:t>
            </a:r>
            <a:r>
              <a:rPr dirty="0" err="1"/>
              <a:t>Formalisierung</a:t>
            </a:r>
            <a:r>
              <a:rPr dirty="0"/>
              <a:t>. Die </a:t>
            </a:r>
            <a:r>
              <a:rPr dirty="0" err="1"/>
              <a:t>Axiomenschemata</a:t>
            </a:r>
            <a:r>
              <a:rPr dirty="0"/>
              <a:t> </a:t>
            </a:r>
            <a:r>
              <a:rPr dirty="0" err="1"/>
              <a:t>stammen</a:t>
            </a:r>
            <a:r>
              <a:rPr dirty="0"/>
              <a:t> </a:t>
            </a:r>
            <a:r>
              <a:rPr dirty="0" err="1"/>
              <a:t>aus</a:t>
            </a:r>
            <a:r>
              <a:rPr dirty="0"/>
              <a:t> der </a:t>
            </a:r>
            <a:r>
              <a:rPr dirty="0" err="1"/>
              <a:t>späteren</a:t>
            </a:r>
            <a:r>
              <a:rPr dirty="0"/>
              <a:t> </a:t>
            </a:r>
            <a:r>
              <a:rPr dirty="0" err="1"/>
              <a:t>Kreisel</a:t>
            </a:r>
            <a:r>
              <a:rPr dirty="0"/>
              <a:t>–</a:t>
            </a:r>
            <a:r>
              <a:rPr dirty="0" err="1"/>
              <a:t>Troelstra-Theorie</a:t>
            </a:r>
            <a:r>
              <a:rPr dirty="0"/>
              <a:t>; </a:t>
            </a:r>
            <a:r>
              <a:rPr dirty="0" err="1"/>
              <a:t>Brouwer</a:t>
            </a:r>
            <a:r>
              <a:rPr dirty="0"/>
              <a:t> </a:t>
            </a:r>
            <a:r>
              <a:rPr dirty="0" err="1"/>
              <a:t>selbst</a:t>
            </a:r>
            <a:r>
              <a:rPr dirty="0"/>
              <a:t> gab </a:t>
            </a:r>
            <a:r>
              <a:rPr dirty="0" err="1"/>
              <a:t>kein</a:t>
            </a:r>
            <a:r>
              <a:rPr dirty="0"/>
              <a:t> </a:t>
            </a:r>
            <a:r>
              <a:rPr dirty="0" err="1"/>
              <a:t>solches</a:t>
            </a:r>
            <a:r>
              <a:rPr dirty="0"/>
              <a:t> </a:t>
            </a:r>
            <a:r>
              <a:rPr dirty="0" err="1"/>
              <a:t>explizites</a:t>
            </a:r>
            <a:r>
              <a:rPr dirty="0"/>
              <a:t> </a:t>
            </a:r>
            <a:r>
              <a:rPr dirty="0" err="1"/>
              <a:t>Axiomensystem</a:t>
            </a:r>
            <a:r>
              <a:rPr dirty="0"/>
              <a:t> an. </a:t>
            </a:r>
            <a:r>
              <a:rPr dirty="0" err="1"/>
              <a:t>Freie</a:t>
            </a:r>
            <a:r>
              <a:rPr dirty="0"/>
              <a:t> </a:t>
            </a:r>
            <a:r>
              <a:rPr dirty="0" err="1"/>
              <a:t>Stufenvariablen</a:t>
            </a:r>
            <a:r>
              <a:rPr dirty="0"/>
              <a:t> </a:t>
            </a:r>
            <a:r>
              <a:rPr dirty="0" err="1"/>
              <a:t>n,m</a:t>
            </a:r>
            <a:r>
              <a:rPr dirty="0"/>
              <a:t> </a:t>
            </a:r>
            <a:r>
              <a:rPr dirty="0" err="1"/>
              <a:t>sind</a:t>
            </a:r>
            <a:r>
              <a:rPr dirty="0"/>
              <a:t> </a:t>
            </a:r>
            <a:r>
              <a:rPr dirty="0" err="1"/>
              <a:t>universell</a:t>
            </a:r>
            <a:r>
              <a:rPr dirty="0"/>
              <a:t> </a:t>
            </a:r>
            <a:r>
              <a:rPr dirty="0" err="1"/>
              <a:t>zu</a:t>
            </a:r>
            <a:r>
              <a:rPr dirty="0"/>
              <a:t> </a:t>
            </a:r>
            <a:r>
              <a:rPr dirty="0" err="1"/>
              <a:t>lesen</a:t>
            </a:r>
            <a:r>
              <a:rPr dirty="0"/>
              <a:t>. Die </a:t>
            </a:r>
            <a:r>
              <a:rPr dirty="0" err="1"/>
              <a:t>dritte</a:t>
            </a:r>
            <a:r>
              <a:rPr dirty="0"/>
              <a:t> </a:t>
            </a:r>
            <a:r>
              <a:rPr dirty="0" err="1"/>
              <a:t>Zeile</a:t>
            </a:r>
            <a:r>
              <a:rPr dirty="0"/>
              <a:t> </a:t>
            </a:r>
            <a:r>
              <a:rPr dirty="0" err="1"/>
              <a:t>ist</a:t>
            </a:r>
            <a:r>
              <a:rPr dirty="0"/>
              <a:t> der </a:t>
            </a:r>
            <a:r>
              <a:rPr dirty="0" err="1"/>
              <a:t>Korrektheitsteil</a:t>
            </a:r>
            <a:r>
              <a:rPr dirty="0"/>
              <a:t> von CS3.</a:t>
            </a:r>
          </a:p>
          <a:p>
            <a:endParaRPr dirty="0"/>
          </a:p>
          <a:p>
            <a:r>
              <a:rPr dirty="0" err="1"/>
              <a:t>Quelle</a:t>
            </a:r>
            <a:r>
              <a:rPr dirty="0"/>
              <a:t>: van </a:t>
            </a:r>
            <a:r>
              <a:rPr dirty="0" err="1"/>
              <a:t>Atten</a:t>
            </a:r>
            <a:r>
              <a:rPr dirty="0"/>
              <a:t>, M. (2018). The Creating Subject, the </a:t>
            </a:r>
            <a:r>
              <a:rPr dirty="0" err="1"/>
              <a:t>Brouwer</a:t>
            </a:r>
            <a:r>
              <a:rPr dirty="0"/>
              <a:t>–</a:t>
            </a:r>
            <a:r>
              <a:rPr dirty="0" err="1"/>
              <a:t>Kripke</a:t>
            </a:r>
            <a:r>
              <a:rPr dirty="0"/>
              <a:t> Schema, and infinite proofs. § 4.2, S. 32–33 der </a:t>
            </a:r>
            <a:r>
              <a:rPr dirty="0" err="1"/>
              <a:t>arXiv-Fassung</a:t>
            </a:r>
            <a:r>
              <a:rPr dirty="0"/>
              <a:t>. https://arxiv.org/abs/1805.00404</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sz="quarter" idx="3"/>
          </p:nvPr>
        </p:nvSpPr>
        <p:spPr/>
        <p:txBody>
          <a:bodyPr/>
          <a:lstStyle/>
          <a:p>
            <a:r>
              <a:rPr lang="de-DE" dirty="0" smtClean="0"/>
              <a:t>Neu ergänzte Unterscheidung. Die schwache Theorie verbindet das angezeigte Schema zusätzlich mit (∃n □ₙA) → A von der vorherigen Folie. In der starken Theorie werden beide Richtungen zur Äquivalenz verstärkt. Die Fassungen und ihre philosophische Rechtfertigung sind Gegenstand der Diskussion.</a:t>
            </a:r>
          </a:p>
          <a:p>
            <a:endParaRPr lang="de-DE" dirty="0" smtClean="0"/>
          </a:p>
          <a:p>
            <a:r>
              <a:rPr lang="de-DE" dirty="0" smtClean="0"/>
              <a:t>Quelle: van </a:t>
            </a:r>
            <a:r>
              <a:rPr lang="de-DE" dirty="0" err="1" smtClean="0"/>
              <a:t>Atten</a:t>
            </a:r>
            <a:r>
              <a:rPr lang="de-DE" dirty="0" smtClean="0"/>
              <a:t>, M. (2018). The </a:t>
            </a:r>
            <a:r>
              <a:rPr lang="de-DE" dirty="0" err="1" smtClean="0"/>
              <a:t>Creating</a:t>
            </a:r>
            <a:r>
              <a:rPr lang="de-DE" dirty="0" smtClean="0"/>
              <a:t> </a:t>
            </a:r>
            <a:r>
              <a:rPr lang="de-DE" dirty="0" err="1" smtClean="0"/>
              <a:t>Subject</a:t>
            </a:r>
            <a:r>
              <a:rPr lang="de-DE" dirty="0" smtClean="0"/>
              <a:t>, </a:t>
            </a:r>
            <a:r>
              <a:rPr lang="de-DE" dirty="0" err="1" smtClean="0"/>
              <a:t>the</a:t>
            </a:r>
            <a:r>
              <a:rPr lang="de-DE" dirty="0" smtClean="0"/>
              <a:t> </a:t>
            </a:r>
            <a:r>
              <a:rPr lang="de-DE" dirty="0" err="1" smtClean="0"/>
              <a:t>Brouwer</a:t>
            </a:r>
            <a:r>
              <a:rPr lang="de-DE" dirty="0" smtClean="0"/>
              <a:t>–</a:t>
            </a:r>
            <a:r>
              <a:rPr lang="de-DE" dirty="0" err="1" smtClean="0"/>
              <a:t>Kripke</a:t>
            </a:r>
            <a:r>
              <a:rPr lang="de-DE" dirty="0" smtClean="0"/>
              <a:t> Schema, </a:t>
            </a:r>
            <a:r>
              <a:rPr lang="de-DE" dirty="0" err="1" smtClean="0"/>
              <a:t>and</a:t>
            </a:r>
            <a:r>
              <a:rPr lang="de-DE" dirty="0" smtClean="0"/>
              <a:t> infinite </a:t>
            </a:r>
            <a:r>
              <a:rPr lang="de-DE" dirty="0" err="1" smtClean="0"/>
              <a:t>proofs</a:t>
            </a:r>
            <a:r>
              <a:rPr lang="de-DE" dirty="0" smtClean="0"/>
              <a:t>. § 4.2, S. 32–33 der </a:t>
            </a:r>
            <a:r>
              <a:rPr lang="de-DE" dirty="0" err="1" smtClean="0"/>
              <a:t>arXiv</a:t>
            </a:r>
            <a:r>
              <a:rPr lang="de-DE" dirty="0" smtClean="0"/>
              <a:t>-Fassung. https://arxiv.org/abs/1805.00404</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Poincaré, H. (1904). Wissenschaft und Hypothese. Deutsche Ausgabe mit erläuternden Anmerkungen von F. und L. Lindemann. B. G. Teubner, Leipzig. Beide Zitate: S. 13.</a:t>
            </a:r>
          </a:p>
          <a:p>
            <a:r>
              <a:rPr lang="de-DE" sz="1100" b="0">
                <a:latin typeface="Arial"/>
              </a:rPr>
              <a:t>Werk-, Jahres- und Seitenangaben wurden aus den vorhandenen Zitaten der Folie übernommen und bibliographisch ergänzt.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Ruelle, D. (2022). The nature of properly human mathematics. arXiv:2207.00859, Abstract. https://arxiv.org/abs/2207.00859</a:t>
            </a:r>
          </a:p>
          <a:p>
            <a:r>
              <a:rPr lang="de-DE" sz="1100" b="0">
                <a:latin typeface="Arial"/>
              </a:rPr>
              <a:t>Spätere Zeitschriftenfassung: Advances in Continuous and Discrete Models, 2023, Artikel 17. https://doi.org/10.1186/s13662-023-03761-9</a:t>
            </a:r>
          </a:p>
          <a:p>
            <a:r>
              <a:rPr lang="de-DE" sz="1100" b="0">
                <a:latin typeface="Arial"/>
              </a:rPr>
              <a:t>Die auf der Folie verwendete Jahreszahl 2022 bezieht sich auf den Preprint.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Descartes, R. (2011). Regulae ad directionem ingenii / Regeln zur Ausrichtung der Geisteskraft; Cogitationes privatae / Private Gedanken. Herausgegeben, übersetzt und erläutert von Christian Wohlers. Philosophische Bibliothek 613. Felix Meiner. Inhaltsverzeichnis mit Regelüberschriften und Seitenzahlen: https://d-nb.info/1002302099/04</a:t>
            </a:r>
          </a:p>
          <a:p>
            <a:r>
              <a:rPr lang="de-DE" sz="1100" b="0">
                <a:latin typeface="Arial"/>
              </a:rPr>
              <a:t>Regel III: S. 15; Regel VIII: S. 59; Regel IX: S. 73. Die deutschen Formulierungen sind die Regelüberschriften in der Übersetzung von Christian Wohlers.</a:t>
            </a:r>
          </a:p>
        </p:txBody>
      </p:sp>
      <p:sp>
        <p:nvSpPr>
          <p:cNvPr id="4" name="Foliennummernplatzhalter 3"/>
          <p:cNvSpPr>
            <a:spLocks noGrp="1"/>
          </p:cNvSpPr>
          <p:nvPr>
            <p:ph type="sldNum" sz="quarter" idx="10"/>
          </p:nvPr>
        </p:nvSpPr>
        <p:spPr/>
        <p:txBody>
          <a:bodyPr/>
          <a:lstStyle/>
          <a:p>
            <a:fld id="{2E28C03F-9F01-4F86-B08C-FCCA303DBFE3}" type="slidenum">
              <a:rPr lang="de-DE" smtClean="0"/>
              <a:t>45</a:t>
            </a:fld>
            <a:endParaRPr lang="de-DE"/>
          </a:p>
        </p:txBody>
      </p:sp>
    </p:spTree>
    <p:extLst>
      <p:ext uri="{BB962C8B-B14F-4D97-AF65-F5344CB8AC3E}">
        <p14:creationId xmlns:p14="http://schemas.microsoft.com/office/powerpoint/2010/main" val="28957086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Descartes, R. (2011). Regulae ad directionem ingenii / Regeln zur Ausrichtung der Geisteskraft; Cogitationes privatae / Private Gedanken. Herausgegeben, übersetzt und erläutert von Christian Wohlers. Philosophische Bibliothek 613. Felix Meiner. Inhaltsverzeichnis mit Regelüberschriften und Seitenzahlen: https://d-nb.info/1002302099/04</a:t>
            </a:r>
          </a:p>
          <a:p>
            <a:r>
              <a:rPr lang="de-DE" sz="1100" b="0">
                <a:latin typeface="Arial"/>
              </a:rPr>
              <a:t>Hinweis zur Quellenzuordnung: Der zitierte Absatz gehört zu Regel XI (S. 85), nicht zu Regel VII. Die bestehende Überschrift „Regel VII“ wurde nicht stillschweigend geändert; die richtige Zuordnung wird im Quellenhinweis sichtbar vermerkt.</a:t>
            </a:r>
          </a:p>
        </p:txBody>
      </p:sp>
      <p:sp>
        <p:nvSpPr>
          <p:cNvPr id="4" name="Foliennummernplatzhalter 3"/>
          <p:cNvSpPr>
            <a:spLocks noGrp="1"/>
          </p:cNvSpPr>
          <p:nvPr>
            <p:ph type="sldNum" sz="quarter" idx="10"/>
          </p:nvPr>
        </p:nvSpPr>
        <p:spPr/>
        <p:txBody>
          <a:bodyPr/>
          <a:lstStyle/>
          <a:p>
            <a:fld id="{2E28C03F-9F01-4F86-B08C-FCCA303DBFE3}" type="slidenum">
              <a:rPr lang="de-DE" smtClean="0"/>
              <a:t>46</a:t>
            </a:fld>
            <a:endParaRPr lang="de-DE"/>
          </a:p>
        </p:txBody>
      </p:sp>
    </p:spTree>
    <p:extLst>
      <p:ext uri="{BB962C8B-B14F-4D97-AF65-F5344CB8AC3E}">
        <p14:creationId xmlns:p14="http://schemas.microsoft.com/office/powerpoint/2010/main" val="28957086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Descartes, R. (2011). Regulae ad directionem ingenii / Regeln zur Ausrichtung der Geisteskraft; Cogitationes privatae / Private Gedanken. Herausgegeben, übersetzt und erläutert von Christian Wohlers. Philosophische Bibliothek 613. Felix Meiner. Inhaltsverzeichnis mit Regelüberschriften und Seitenzahlen: https://d-nb.info/1002302099/04</a:t>
            </a:r>
          </a:p>
          <a:p>
            <a:r>
              <a:rPr lang="de-DE" sz="1100" b="0">
                <a:latin typeface="Arial"/>
              </a:rPr>
              <a:t>Regel XI: S. 85; Regel XIII: S. 125; Regel XIV: S. 137. Die kurzen Formulierungen entsprechen den Regelüberschriften des Inhaltsverzeichnisses der verwendeten Ausgabe.</a:t>
            </a:r>
          </a:p>
        </p:txBody>
      </p:sp>
      <p:sp>
        <p:nvSpPr>
          <p:cNvPr id="4" name="Foliennummernplatzhalter 3"/>
          <p:cNvSpPr>
            <a:spLocks noGrp="1"/>
          </p:cNvSpPr>
          <p:nvPr>
            <p:ph type="sldNum" sz="quarter" idx="10"/>
          </p:nvPr>
        </p:nvSpPr>
        <p:spPr/>
        <p:txBody>
          <a:bodyPr/>
          <a:lstStyle/>
          <a:p>
            <a:fld id="{2E28C03F-9F01-4F86-B08C-FCCA303DBFE3}" type="slidenum">
              <a:rPr lang="de-DE" smtClean="0"/>
              <a:t>47</a:t>
            </a:fld>
            <a:endParaRPr lang="de-DE"/>
          </a:p>
        </p:txBody>
      </p:sp>
    </p:spTree>
    <p:extLst>
      <p:ext uri="{BB962C8B-B14F-4D97-AF65-F5344CB8AC3E}">
        <p14:creationId xmlns:p14="http://schemas.microsoft.com/office/powerpoint/2010/main" val="28957086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Simmel, G. (1918). Lebensanschauung. Vier metaphysische Kapitel. Duncker &amp; Humblot, Berlin. Kap. IV „Das individuelle Gesetz“, S. 185–186 (Seitenangabe der bestehenden Folie).</a:t>
            </a:r>
          </a:p>
          <a:p>
            <a:r>
              <a:rPr lang="de-DE" sz="1100" b="0">
                <a:latin typeface="Arial"/>
              </a:rPr>
              <a:t>Digitaler Volltext des Kapitels mit der zitierten Passage: https://www.socio.ch/sim/lebensanschauung/leb_4.htm</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Aougab, T. (2026). Navigating the AI crisis: a humble guide for students. arXiv:2609.06889, § 1. https://arxiv.org/abs/2609.06889</a:t>
            </a:r>
          </a:p>
          <a:p>
            <a:r>
              <a:rPr lang="de-DE" sz="1100" b="0">
                <a:latin typeface="Arial"/>
              </a:rPr>
              <a:t>HTML: https://arxiv.org/html/2609.06889v1</a:t>
            </a:r>
          </a:p>
          <a:p>
            <a:r>
              <a:rPr lang="de-DE" sz="1100" b="0">
                <a:latin typeface="Arial"/>
              </a:rPr>
              <a:t>Die Formulierung der Folie verweist in der Klammer auf „this blog“; die arXiv-Fassung verwendet an dieser Stelle eine entsprechend angepasste Verweisform. Der zentrale Satz über Mathematik als menschliche Praxis steht in § 1.</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Ruelle, D. (2013). Post-human mathematics. arXiv:1308.4678. Der Ausschnitt zeigt S. 1, Titel und Abstract. https://arxiv.org/abs/1308.4678</a:t>
            </a:r>
          </a:p>
          <a:p>
            <a:r>
              <a:rPr lang="de-DE" sz="1100" b="0">
                <a:latin typeface="Arial"/>
              </a:rPr>
              <a:t>Autorenversion: https://www.ihes.fr/~ruelle/PUBLICATIONS/159posthuman.pdf</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Pantsar, M. (2025). Two Approaches to Developing Human-Like Artificial Mathematical Intelligence. In M. Pantsar, F. Stjernfelt, G. Gramelsberger &amp; A. Olteanu (Hrsg.), Philosophy of Artificial Intelligence: Optimistic and Pessimistic Views, S. 165–182. Springer.</a:t>
            </a:r>
          </a:p>
          <a:p>
            <a:r>
              <a:rPr lang="de-DE" sz="1100" b="0">
                <a:latin typeface="Arial"/>
              </a:rPr>
              <a:t>Bibliographischer Datensatz: https://philpapers.org/rec/PANTAT-7</a:t>
            </a:r>
          </a:p>
          <a:p>
            <a:r>
              <a:rPr lang="de-DE" sz="1100" b="0">
                <a:latin typeface="Arial"/>
              </a:rPr>
              <a:t>Der Quellenhinweis betrifft den zitierten Kapiteltitel und die darunter zusammengefassten beiden Ansätze.</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381000" y="685800"/>
            <a:ext cx="6096000" cy="3429000"/>
          </a:xfrm>
        </p:spPr>
      </p:sp>
      <p:sp>
        <p:nvSpPr>
          <p:cNvPr id="3" name="Notizenplatzhalter 2"/>
          <p:cNvSpPr>
            <a:spLocks noGrp="1"/>
          </p:cNvSpPr>
          <p:nvPr>
            <p:ph type="body" idx="1"/>
          </p:nvPr>
        </p:nvSpPr>
        <p:spPr/>
        <p:txBody>
          <a:bodyPr/>
          <a:lstStyle/>
          <a:p>
            <a:endParaRPr lang="de-DE" dirty="0"/>
          </a:p>
          <a:p>
            <a:endParaRPr lang="de-DE" dirty="0"/>
          </a:p>
          <a:p>
            <a:r>
              <a:rPr lang="de-DE" sz="1100" b="1">
                <a:latin typeface="Arial"/>
              </a:rPr>
              <a:t>QUELLENANGABEN ZU DEN ZITATEN</a:t>
            </a:r>
          </a:p>
          <a:p>
            <a:r>
              <a:rPr lang="de-DE" sz="1100" b="0">
                <a:latin typeface="Arial"/>
              </a:rPr>
              <a:t>Links: Stewart, I. (2017). Xenomath! In B. Sriraman (Hrsg.), Humanizing Mathematics and its Philosophy: Essays Celebrating the 90th Birthday of Reuben Hersh, S. 69–83. Birkhäuser / Springer. https://doi.org/10.1007/978-3-319-61231-7_8</a:t>
            </a:r>
          </a:p>
          <a:p>
            <a:r>
              <a:rPr lang="de-DE" sz="1100" b="0">
                <a:latin typeface="Arial"/>
              </a:rPr>
              <a:t>Der Ausschnitt zeigt die Eingangsseite S. 69 mit Epigraphen von Reuben Hersh und Jack Cohen. Diese werden ausdrücklich nach Stewart zitiert.</a:t>
            </a:r>
          </a:p>
          <a:p>
            <a:r>
              <a:rPr lang="de-DE" sz="1100" b="0">
                <a:latin typeface="Arial"/>
              </a:rPr>
              <a:t>Rechts: de Freitas, E. (2025). Xenomathematics as a planetary practice: imagining more-than-human mathematical worlds. Educational Studies in Mathematics, 120, 551–566. https://doi.org/10.1007/s10649-025-10424-x</a:t>
            </a:r>
          </a:p>
          <a:p>
            <a:r>
              <a:rPr lang="de-DE" sz="1100" b="0">
                <a:latin typeface="Arial"/>
              </a:rPr>
              <a:t>Der Ausschnitt zeigt den Anfang des Artikels mit Abstract, S. 551.</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October 1,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7"/>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7"/>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7"/>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7"/>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9"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October 1,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October 1,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October 1,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94" y="200027"/>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43" y="204792"/>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94"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4"/>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2"/>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23"/>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0240425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355031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5397245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4153175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33"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1,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798954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1,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6238863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1,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7740245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9"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92"/>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9"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133441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1"/>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7"/>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48177201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6219850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354010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685800" y="1597820"/>
            <a:ext cx="7772400" cy="1102519"/>
          </a:xfrm>
        </p:spPr>
        <p:txBody>
          <a:bodyPr/>
          <a:lstStyle/>
          <a:p>
            <a:r>
              <a:rPr lang="de-DE" smtClean="0"/>
              <a:t>Titelmasterformat durch Klicken bearbeiten</a:t>
            </a:r>
            <a:endParaRPr lang="de-DE"/>
          </a:p>
        </p:txBody>
      </p:sp>
      <p:sp>
        <p:nvSpPr>
          <p:cNvPr id="3" name="Untertitel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de-DE"/>
          </a:p>
        </p:txBody>
      </p:sp>
      <p:sp>
        <p:nvSpPr>
          <p:cNvPr id="4" name="Datumsplatzhalter 3"/>
          <p:cNvSpPr>
            <a:spLocks noGrp="1"/>
          </p:cNvSpPr>
          <p:nvPr>
            <p:ph type="dt" sz="half" idx="10"/>
          </p:nvPr>
        </p:nvSpPr>
        <p:spPr/>
        <p:txBody>
          <a:bodyPr/>
          <a:lstStyle/>
          <a:p>
            <a:fld id="{7D0065BE-0657-4A47-90AD-C21C55E16B19}"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85966356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idx="1"/>
          </p:nvPr>
        </p:nvSpPr>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D47BB8AF-C16A-4836-A92D-61834B5F0BA5}"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6201524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22313" y="3305176"/>
            <a:ext cx="7772400" cy="1021556"/>
          </a:xfrm>
        </p:spPr>
        <p:txBody>
          <a:bodyPr anchor="t"/>
          <a:lstStyle>
            <a:lvl1pPr algn="l">
              <a:defRPr sz="4000" b="1" cap="all"/>
            </a:lvl1pPr>
          </a:lstStyle>
          <a:p>
            <a:r>
              <a:rPr lang="de-DE" smtClean="0"/>
              <a:t>Titelmasterformat durch Klicken bearbeiten</a:t>
            </a:r>
            <a:endParaRPr lang="de-DE"/>
          </a:p>
        </p:txBody>
      </p:sp>
      <p:sp>
        <p:nvSpPr>
          <p:cNvPr id="3" name="Textplatzhalt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umsplatzhalter 3"/>
          <p:cNvSpPr>
            <a:spLocks noGrp="1"/>
          </p:cNvSpPr>
          <p:nvPr>
            <p:ph type="dt" sz="half" idx="10"/>
          </p:nvPr>
        </p:nvSpPr>
        <p:spPr/>
        <p:txBody>
          <a:bodyPr/>
          <a:lstStyle/>
          <a:p>
            <a:fld id="{647D2193-4505-4A75-99BB-880C6989A757}"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9092280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Inhaltsplatzhalt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Inhaltsplatzhalt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Datumsplatzhalter 4"/>
          <p:cNvSpPr>
            <a:spLocks noGrp="1"/>
          </p:cNvSpPr>
          <p:nvPr>
            <p:ph type="dt" sz="half" idx="10"/>
          </p:nvPr>
        </p:nvSpPr>
        <p:spPr/>
        <p:txBody>
          <a:bodyPr/>
          <a:lstStyle/>
          <a:p>
            <a:fld id="{113A18F4-33C3-445B-924C-31108C51719C}"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4387444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smtClean="0"/>
              <a:t>Titelmasterformat durch Klicken bearbeiten</a:t>
            </a:r>
            <a:endParaRPr lang="de-DE"/>
          </a:p>
        </p:txBody>
      </p:sp>
      <p:sp>
        <p:nvSpPr>
          <p:cNvPr id="3" name="Textplatzhalt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4" name="Inhaltsplatzhalt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5" name="Textplatzhalter 4"/>
          <p:cNvSpPr>
            <a:spLocks noGrp="1"/>
          </p:cNvSpPr>
          <p:nvPr>
            <p:ph type="body" sz="quarter" idx="3"/>
          </p:nvPr>
        </p:nvSpPr>
        <p:spPr>
          <a:xfrm>
            <a:off x="4645028"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6" name="Inhaltsplatzhalter 5"/>
          <p:cNvSpPr>
            <a:spLocks noGrp="1"/>
          </p:cNvSpPr>
          <p:nvPr>
            <p:ph sz="quarter" idx="4"/>
          </p:nvPr>
        </p:nvSpPr>
        <p:spPr>
          <a:xfrm>
            <a:off x="4645028"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7" name="Datumsplatzhalter 6"/>
          <p:cNvSpPr>
            <a:spLocks noGrp="1"/>
          </p:cNvSpPr>
          <p:nvPr>
            <p:ph type="dt" sz="half" idx="10"/>
          </p:nvPr>
        </p:nvSpPr>
        <p:spPr/>
        <p:txBody>
          <a:bodyPr/>
          <a:lstStyle/>
          <a:p>
            <a:fld id="{3AF7543A-E259-478F-9E0D-57BA40E442B7}" type="datetime4">
              <a:rPr lang="en-US" smtClean="0"/>
              <a:pPr/>
              <a:t>October 1, 2026</a:t>
            </a:fld>
            <a:endParaRPr lang="en-US"/>
          </a:p>
        </p:txBody>
      </p:sp>
      <p:sp>
        <p:nvSpPr>
          <p:cNvPr id="8" name="Fußzeilenplatzhalter 7"/>
          <p:cNvSpPr>
            <a:spLocks noGrp="1"/>
          </p:cNvSpPr>
          <p:nvPr>
            <p:ph type="ftr" sz="quarter" idx="11"/>
          </p:nvPr>
        </p:nvSpPr>
        <p:spPr/>
        <p:txBody>
          <a:bodyPr/>
          <a:lstStyle/>
          <a:p>
            <a:endParaRPr lang="en-US"/>
          </a:p>
        </p:txBody>
      </p:sp>
      <p:sp>
        <p:nvSpPr>
          <p:cNvPr id="9" name="Foliennummernplatzhalter 8"/>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8169754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Datumsplatzhalter 2"/>
          <p:cNvSpPr>
            <a:spLocks noGrp="1"/>
          </p:cNvSpPr>
          <p:nvPr>
            <p:ph type="dt" sz="half" idx="10"/>
          </p:nvPr>
        </p:nvSpPr>
        <p:spPr/>
        <p:txBody>
          <a:bodyPr/>
          <a:lstStyle/>
          <a:p>
            <a:fld id="{1EFB012D-77A1-44B0-BB26-329BA1EE55C9}" type="datetime4">
              <a:rPr lang="en-US" smtClean="0"/>
              <a:pPr/>
              <a:t>October 1, 2026</a:t>
            </a:fld>
            <a:endParaRPr lang="en-US"/>
          </a:p>
        </p:txBody>
      </p:sp>
      <p:sp>
        <p:nvSpPr>
          <p:cNvPr id="4" name="Fußzeilenplatzhalter 3"/>
          <p:cNvSpPr>
            <a:spLocks noGrp="1"/>
          </p:cNvSpPr>
          <p:nvPr>
            <p:ph type="ftr" sz="quarter" idx="11"/>
          </p:nvPr>
        </p:nvSpPr>
        <p:spPr/>
        <p:txBody>
          <a:bodyPr/>
          <a:lstStyle/>
          <a:p>
            <a:endParaRPr lang="en-US"/>
          </a:p>
        </p:txBody>
      </p:sp>
      <p:sp>
        <p:nvSpPr>
          <p:cNvPr id="5" name="Foliennummernplatzhalter 4"/>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24151137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94B7499E-3031-413E-B01E-B94970708CAA}" type="datetime4">
              <a:rPr lang="en-US" smtClean="0"/>
              <a:pPr/>
              <a:t>October 1, 2026</a:t>
            </a:fld>
            <a:endParaRPr lang="en-US"/>
          </a:p>
        </p:txBody>
      </p:sp>
      <p:sp>
        <p:nvSpPr>
          <p:cNvPr id="3" name="Fußzeilenplatzhalter 2"/>
          <p:cNvSpPr>
            <a:spLocks noGrp="1"/>
          </p:cNvSpPr>
          <p:nvPr>
            <p:ph type="ftr" sz="quarter" idx="11"/>
          </p:nvPr>
        </p:nvSpPr>
        <p:spPr/>
        <p:txBody>
          <a:bodyPr/>
          <a:lstStyle/>
          <a:p>
            <a:endParaRPr lang="en-US"/>
          </a:p>
        </p:txBody>
      </p:sp>
      <p:sp>
        <p:nvSpPr>
          <p:cNvPr id="4" name="Foliennummernplatzhalter 3"/>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11045430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457203" y="204787"/>
            <a:ext cx="3008313" cy="871538"/>
          </a:xfrm>
        </p:spPr>
        <p:txBody>
          <a:bodyPr anchor="b"/>
          <a:lstStyle>
            <a:lvl1pPr algn="l">
              <a:defRPr sz="2000" b="1"/>
            </a:lvl1pPr>
          </a:lstStyle>
          <a:p>
            <a:r>
              <a:rPr lang="de-DE" smtClean="0"/>
              <a:t>Titelmasterformat durch Klicken bearbeiten</a:t>
            </a:r>
            <a:endParaRPr lang="de-DE"/>
          </a:p>
        </p:txBody>
      </p:sp>
      <p:sp>
        <p:nvSpPr>
          <p:cNvPr id="3" name="Inhaltsplatzhalt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Textplatzhalter 3"/>
          <p:cNvSpPr>
            <a:spLocks noGrp="1"/>
          </p:cNvSpPr>
          <p:nvPr>
            <p:ph type="body" sz="half" idx="2"/>
          </p:nvPr>
        </p:nvSpPr>
        <p:spPr>
          <a:xfrm>
            <a:off x="457203" y="1076327"/>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DC7EAB0C-2220-4D0E-A0DD-DB7FA0F742F4}"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dirty="0"/>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152925000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1792288" y="3600451"/>
            <a:ext cx="5486400" cy="425054"/>
          </a:xfrm>
        </p:spPr>
        <p:txBody>
          <a:bodyPr anchor="b"/>
          <a:lstStyle>
            <a:lvl1pPr algn="l">
              <a:defRPr sz="2000" b="1"/>
            </a:lvl1pPr>
          </a:lstStyle>
          <a:p>
            <a:r>
              <a:rPr lang="de-DE" smtClean="0"/>
              <a:t>Titelmasterformat durch Klicken bearbeiten</a:t>
            </a:r>
            <a:endParaRPr lang="de-DE"/>
          </a:p>
        </p:txBody>
      </p:sp>
      <p:sp>
        <p:nvSpPr>
          <p:cNvPr id="3" name="Bildplatzhalt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1792288" y="402550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umsplatzhalter 4"/>
          <p:cNvSpPr>
            <a:spLocks noGrp="1"/>
          </p:cNvSpPr>
          <p:nvPr>
            <p:ph type="dt" sz="half" idx="10"/>
          </p:nvPr>
        </p:nvSpPr>
        <p:spPr/>
        <p:txBody>
          <a:bodyPr/>
          <a:lstStyle/>
          <a:p>
            <a:fld id="{E3416D63-31BF-4B94-B6C5-E20B2C63F515}" type="datetime4">
              <a:rPr lang="en-US" smtClean="0"/>
              <a:pPr/>
              <a:t>October 1, 2026</a:t>
            </a:fld>
            <a:endParaRPr lang="en-US"/>
          </a:p>
        </p:txBody>
      </p:sp>
      <p:sp>
        <p:nvSpPr>
          <p:cNvPr id="6" name="Fußzeilenplatzhalter 5"/>
          <p:cNvSpPr>
            <a:spLocks noGrp="1"/>
          </p:cNvSpPr>
          <p:nvPr>
            <p:ph type="ftr" sz="quarter" idx="11"/>
          </p:nvPr>
        </p:nvSpPr>
        <p:spPr/>
        <p:txBody>
          <a:bodyPr/>
          <a:lstStyle/>
          <a:p>
            <a:endParaRPr lang="en-US"/>
          </a:p>
        </p:txBody>
      </p:sp>
      <p:sp>
        <p:nvSpPr>
          <p:cNvPr id="7" name="Foliennummernplatzhalter 6"/>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9873065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smtClean="0"/>
              <a:t>Titelmasterformat durch Klicken bearbeiten</a:t>
            </a:r>
            <a:endParaRPr lang="de-DE"/>
          </a:p>
        </p:txBody>
      </p:sp>
      <p:sp>
        <p:nvSpPr>
          <p:cNvPr id="3" name="Vertikaler Textplatzhalt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A16C3AA4-67BE-44F7-809A-3582401494AF}"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27975979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205980"/>
            <a:ext cx="2057400" cy="4388644"/>
          </a:xfrm>
        </p:spPr>
        <p:txBody>
          <a:bodyPr vert="eaVert"/>
          <a:lstStyle/>
          <a:p>
            <a:r>
              <a:rPr lang="de-DE" smtClean="0"/>
              <a:t>Titelmasterformat durch Klicken bearbeiten</a:t>
            </a:r>
            <a:endParaRPr lang="de-DE"/>
          </a:p>
        </p:txBody>
      </p:sp>
      <p:sp>
        <p:nvSpPr>
          <p:cNvPr id="3" name="Vertikaler Textplatzhalter 2"/>
          <p:cNvSpPr>
            <a:spLocks noGrp="1"/>
          </p:cNvSpPr>
          <p:nvPr>
            <p:ph type="body" orient="vert" idx="1"/>
          </p:nvPr>
        </p:nvSpPr>
        <p:spPr>
          <a:xfrm>
            <a:off x="457200" y="205980"/>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10"/>
          </p:nvPr>
        </p:nvSpPr>
        <p:spPr/>
        <p:txBody>
          <a:bodyPr/>
          <a:lstStyle/>
          <a:p>
            <a:fld id="{25172EEB-1769-4776-AD69-E7C1260563EB}" type="datetime4">
              <a:rPr lang="en-US" smtClean="0"/>
              <a:pPr/>
              <a:t>October 1, 2026</a:t>
            </a:fld>
            <a:endParaRPr lang="en-US"/>
          </a:p>
        </p:txBody>
      </p:sp>
      <p:sp>
        <p:nvSpPr>
          <p:cNvPr id="5" name="Fußzeilenplatzhalter 4"/>
          <p:cNvSpPr>
            <a:spLocks noGrp="1"/>
          </p:cNvSpPr>
          <p:nvPr>
            <p:ph type="ftr" sz="quarter" idx="11"/>
          </p:nvPr>
        </p:nvSpPr>
        <p:spPr/>
        <p:txBody>
          <a:bodyPr/>
          <a:lstStyle/>
          <a:p>
            <a:endParaRPr lang="en-US"/>
          </a:p>
        </p:txBody>
      </p:sp>
      <p:sp>
        <p:nvSpPr>
          <p:cNvPr id="6" name="Foliennummernplatzhalter 5"/>
          <p:cNvSpPr>
            <a:spLocks noGrp="1"/>
          </p:cNvSpPr>
          <p:nvPr>
            <p:ph type="sldNum" sz="quarter" idx="12"/>
          </p:nvPr>
        </p:nvSpPr>
        <p:spPr/>
        <p:txBody>
          <a:bodyPr/>
          <a:lstStyle/>
          <a:p>
            <a:fld id="{2754ED01-E2A0-4C1E-8E21-014B99041579}" type="slidenum">
              <a:rPr lang="en-US" smtClean="0"/>
              <a:pPr/>
              <a:t>‹Nr.›</a:t>
            </a:fld>
            <a:endParaRPr lang="en-US"/>
          </a:p>
        </p:txBody>
      </p:sp>
    </p:spTree>
    <p:extLst>
      <p:ext uri="{BB962C8B-B14F-4D97-AF65-F5344CB8AC3E}">
        <p14:creationId xmlns:p14="http://schemas.microsoft.com/office/powerpoint/2010/main" val="35157011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de-DE" smtClean="0"/>
              <a:t>Titelmasterformat durch Klicken bearbeiten</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smtClean="0"/>
              <a:t>Formatvorlage des Untertitelmasters durch Klicken bearbeiten</a:t>
            </a:r>
            <a:endParaRPr lang="en-US" dirty="0"/>
          </a:p>
        </p:txBody>
      </p:sp>
      <p:sp>
        <p:nvSpPr>
          <p:cNvPr id="7" name="Date Placeholder 6"/>
          <p:cNvSpPr>
            <a:spLocks noGrp="1"/>
          </p:cNvSpPr>
          <p:nvPr>
            <p:ph type="dt" sz="half" idx="10"/>
          </p:nvPr>
        </p:nvSpPr>
        <p:spPr/>
        <p:txBody>
          <a:bodyPr/>
          <a:lstStyle/>
          <a:p>
            <a:fld id="{7D0065BE-0657-4A47-90AD-C21C55E16B19}" type="datetime4">
              <a:rPr lang="en-US" smtClean="0"/>
              <a:pPr/>
              <a:t>October 1, 2026</a:t>
            </a:fld>
            <a:endParaRPr lang="en-US"/>
          </a:p>
        </p:txBody>
      </p:sp>
      <p:sp>
        <p:nvSpPr>
          <p:cNvPr id="8" name="Slide Number Placeholder 7"/>
          <p:cNvSpPr>
            <a:spLocks noGrp="1"/>
          </p:cNvSpPr>
          <p:nvPr>
            <p:ph type="sldNum" sz="quarter" idx="11"/>
          </p:nvPr>
        </p:nvSpPr>
        <p:spPr/>
        <p:txBody>
          <a:bodyPr/>
          <a:lstStyle/>
          <a:p>
            <a:fld id="{2754ED01-E2A0-4C1E-8E21-014B99041579}" type="slidenum">
              <a:rPr lang="en-US" smtClean="0"/>
              <a:pPr/>
              <a:t>‹Nr.›</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10"/>
          </p:nvPr>
        </p:nvSpPr>
        <p:spPr/>
        <p:txBody>
          <a:bodyPr/>
          <a:lstStyle/>
          <a:p>
            <a:fld id="{D47BB8AF-C16A-4836-A92D-61834B5F0BA5}"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de-DE" smtClean="0"/>
              <a:t>Titelmasterformat durch Klicken bearbeiten</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smtClean="0"/>
              <a:t>Textmasterformat bearbeiten</a:t>
            </a:r>
          </a:p>
        </p:txBody>
      </p:sp>
      <p:sp>
        <p:nvSpPr>
          <p:cNvPr id="4" name="Date Placeholder 3"/>
          <p:cNvSpPr>
            <a:spLocks noGrp="1"/>
          </p:cNvSpPr>
          <p:nvPr>
            <p:ph type="dt" sz="half" idx="10"/>
          </p:nvPr>
        </p:nvSpPr>
        <p:spPr/>
        <p:txBody>
          <a:bodyPr/>
          <a:lstStyle/>
          <a:p>
            <a:fld id="{647D2193-4505-4A75-99BB-880C6989A757}"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5" name="Date Placeholder 4"/>
          <p:cNvSpPr>
            <a:spLocks noGrp="1"/>
          </p:cNvSpPr>
          <p:nvPr>
            <p:ph type="dt" sz="half" idx="10"/>
          </p:nvPr>
        </p:nvSpPr>
        <p:spPr/>
        <p:txBody>
          <a:bodyPr/>
          <a:lstStyle/>
          <a:p>
            <a:fld id="{113A18F4-33C3-445B-924C-31108C51719C}"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
        <p:nvSpPr>
          <p:cNvPr id="9" name="Content Placeholder 8"/>
          <p:cNvSpPr>
            <a:spLocks noGrp="1"/>
          </p:cNvSpPr>
          <p:nvPr>
            <p:ph sz="quarter" idx="13"/>
          </p:nvPr>
        </p:nvSpPr>
        <p:spPr>
          <a:xfrm>
            <a:off x="365760" y="1200150"/>
            <a:ext cx="4041648" cy="339471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de-DE" smtClean="0"/>
              <a:t>Titelmasterformat durch Klicken bearbeiten</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smtClean="0"/>
              <a:t>Textmasterformat bearbeiten</a:t>
            </a:r>
          </a:p>
        </p:txBody>
      </p:sp>
      <p:sp>
        <p:nvSpPr>
          <p:cNvPr id="7" name="Date Placeholder 6"/>
          <p:cNvSpPr>
            <a:spLocks noGrp="1"/>
          </p:cNvSpPr>
          <p:nvPr>
            <p:ph type="dt" sz="half" idx="10"/>
          </p:nvPr>
        </p:nvSpPr>
        <p:spPr/>
        <p:txBody>
          <a:bodyPr/>
          <a:lstStyle/>
          <a:p>
            <a:fld id="{3AF7543A-E259-478F-9E0D-57BA40E442B7}" type="datetime4">
              <a:rPr lang="en-US" smtClean="0"/>
              <a:pPr/>
              <a:t>October 1, 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754ED01-E2A0-4C1E-8E21-014B99041579}" type="slidenum">
              <a:rPr lang="en-US" smtClean="0"/>
              <a:pPr/>
              <a:t>‹Nr.›</a:t>
            </a:fld>
            <a:endParaRPr lang="en-US"/>
          </a:p>
        </p:txBody>
      </p:sp>
      <p:sp>
        <p:nvSpPr>
          <p:cNvPr id="11" name="Content Placeholder 10"/>
          <p:cNvSpPr>
            <a:spLocks noGrp="1"/>
          </p:cNvSpPr>
          <p:nvPr>
            <p:ph sz="quarter" idx="13"/>
          </p:nvPr>
        </p:nvSpPr>
        <p:spPr>
          <a:xfrm>
            <a:off x="457200" y="1659636"/>
            <a:ext cx="4041648" cy="2935224"/>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Date Placeholder 2"/>
          <p:cNvSpPr>
            <a:spLocks noGrp="1"/>
          </p:cNvSpPr>
          <p:nvPr>
            <p:ph type="dt" sz="half" idx="10"/>
          </p:nvPr>
        </p:nvSpPr>
        <p:spPr/>
        <p:txBody>
          <a:bodyPr/>
          <a:lstStyle/>
          <a:p>
            <a:fld id="{1EFB012D-77A1-44B0-BB26-329BA1EE55C9}" type="datetime4">
              <a:rPr lang="en-US" smtClean="0"/>
              <a:pPr/>
              <a:t>October 1, 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4B7499E-3031-413E-B01E-B94970708CAA}" type="datetime4">
              <a:rPr lang="en-US" smtClean="0"/>
              <a:pPr/>
              <a:t>October 1, 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de-DE" smtClean="0"/>
              <a:t>Titelmasterformat durch Klicken bearbeiten</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DC7EAB0C-2220-4D0E-A0DD-DB7FA0F742F4}"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dirty="0"/>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de-DE" smtClean="0"/>
              <a:t>Titelmasterformat durch Klicken bearbeiten</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smtClean="0"/>
              <a:t>Bild durch Klicken auf Symbol hinzufügen</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smtClean="0"/>
              <a:t>Textmasterformat bearbeiten</a:t>
            </a:r>
          </a:p>
        </p:txBody>
      </p:sp>
      <p:sp>
        <p:nvSpPr>
          <p:cNvPr id="5" name="Date Placeholder 4"/>
          <p:cNvSpPr>
            <a:spLocks noGrp="1"/>
          </p:cNvSpPr>
          <p:nvPr>
            <p:ph type="dt" sz="half" idx="10"/>
          </p:nvPr>
        </p:nvSpPr>
        <p:spPr/>
        <p:txBody>
          <a:bodyPr/>
          <a:lstStyle/>
          <a:p>
            <a:fld id="{E3416D63-31BF-4B94-B6C5-E20B2C63F515}" type="datetime4">
              <a:rPr lang="en-US" smtClean="0"/>
              <a:pPr/>
              <a:t>October 1, 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smtClean="0"/>
              <a:t>Titelmasterformat durch Klicken bearbeiten</a:t>
            </a:r>
            <a:endParaRPr lang="en-US" dirty="0"/>
          </a:p>
        </p:txBody>
      </p:sp>
      <p:sp>
        <p:nvSpPr>
          <p:cNvPr id="3" name="Vertical Text Placeholder 2"/>
          <p:cNvSpPr>
            <a:spLocks noGrp="1"/>
          </p:cNvSpPr>
          <p:nvPr>
            <p:ph type="body" orient="vert" idx="1"/>
          </p:nvPr>
        </p:nvSpPr>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A16C3AA4-67BE-44F7-809A-3582401494AF}"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de-DE" smtClean="0"/>
              <a:t>Titelmasterformat durch Klicken bearbeiten</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a:p>
        </p:txBody>
      </p:sp>
      <p:sp>
        <p:nvSpPr>
          <p:cNvPr id="4" name="Date Placeholder 3"/>
          <p:cNvSpPr>
            <a:spLocks noGrp="1"/>
          </p:cNvSpPr>
          <p:nvPr>
            <p:ph type="dt" sz="half" idx="10"/>
          </p:nvPr>
        </p:nvSpPr>
        <p:spPr/>
        <p:txBody>
          <a:bodyPr/>
          <a:lstStyle/>
          <a:p>
            <a:fld id="{25172EEB-1769-4776-AD69-E7C1260563EB}" type="datetime4">
              <a:rPr lang="en-US" smtClean="0"/>
              <a:pPr/>
              <a:t>October 1, 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56" y="4767264"/>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October 1, 2026</a:t>
            </a:fld>
            <a:endParaRPr lang="en-US" dirty="0"/>
          </a:p>
        </p:txBody>
      </p:sp>
      <p:sp>
        <p:nvSpPr>
          <p:cNvPr id="5" name="Footer Placeholder 4"/>
          <p:cNvSpPr>
            <a:spLocks noGrp="1"/>
          </p:cNvSpPr>
          <p:nvPr>
            <p:ph type="ftr" sz="quarter" idx="3"/>
          </p:nvPr>
        </p:nvSpPr>
        <p:spPr>
          <a:xfrm>
            <a:off x="659174" y="4767264"/>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87" y="4767264"/>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40"/>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40"/>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1, 2026</a:t>
            </a:fld>
            <a:endParaRPr lang="en-US" dirty="0"/>
          </a:p>
        </p:txBody>
      </p:sp>
      <p:sp>
        <p:nvSpPr>
          <p:cNvPr id="5" name="Fußzeilenplatzhalt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305970653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62B1B13E-D5AF-485E-81A1-82A140076526}" type="datetime4">
              <a:rPr lang="en-US" smtClean="0"/>
              <a:pPr/>
              <a:t>October 1, 2026</a:t>
            </a:fld>
            <a:endParaRPr lang="en-US" dirty="0"/>
          </a:p>
        </p:txBody>
      </p:sp>
      <p:sp>
        <p:nvSpPr>
          <p:cNvPr id="5" name="Fußzeilenplatzhalt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Foliennummernplatzhalt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2754ED01-E2A0-4C1E-8E21-014B99041579}" type="slidenum">
              <a:rPr lang="en-US" smtClean="0"/>
              <a:pPr/>
              <a:t>‹Nr.›</a:t>
            </a:fld>
            <a:endParaRPr lang="en-US" dirty="0"/>
          </a:p>
        </p:txBody>
      </p:sp>
    </p:spTree>
    <p:extLst>
      <p:ext uri="{BB962C8B-B14F-4D97-AF65-F5344CB8AC3E}">
        <p14:creationId xmlns:p14="http://schemas.microsoft.com/office/powerpoint/2010/main" val="297121891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de-DE" smtClean="0"/>
              <a:t>Titelmasterformat durch Klicken bearbeiten</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de-DE" smtClean="0"/>
              <a:t>Textmasterformat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62B1B13E-D5AF-485E-81A1-82A140076526}" type="datetime4">
              <a:rPr lang="en-US" smtClean="0"/>
              <a:pPr/>
              <a:t>October 1, 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2754ED01-E2A0-4C1E-8E21-014B99041579}" type="slidenum">
              <a:rPr lang="en-US" smtClean="0"/>
              <a:pPr/>
              <a:t>‹Nr.›</a:t>
            </a:fld>
            <a:endParaRPr lang="en-US" dirty="0"/>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10.jpeg"/><Relationship Id="rId4" Type="http://schemas.openxmlformats.org/officeDocument/2006/relationships/image" Target="../media/image9.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4" Type="http://schemas.microsoft.com/office/2007/relationships/hdphoto" Target="../media/hdphoto1.wdp"/></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microsoft.com/office/2007/relationships/hdphoto" Target="../media/hdphoto2.wdp"/></Relationships>
</file>

<file path=ppt/slides/_rels/slide4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microsoft.com/office/2007/relationships/hdphoto" Target="../media/hdphoto2.wdp"/></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microsoft.com/office/2007/relationships/hdphoto" Target="../media/hdphoto2.wdp"/></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png"/><Relationship Id="rId1" Type="http://schemas.openxmlformats.org/officeDocument/2006/relationships/slideLayout" Target="../slideLayouts/slideLayout23.xml"/></Relationships>
</file>

<file path=ppt/slides/_rels/slide6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23.xml"/><Relationship Id="rId4" Type="http://schemas.openxmlformats.org/officeDocument/2006/relationships/image" Target="../media/image37.png"/></Relationships>
</file>

<file path=ppt/slides/_rels/slide6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5776" y="2283722"/>
            <a:ext cx="2880320" cy="1094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5070" y="3287050"/>
            <a:ext cx="1800200" cy="600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descr="D:\Downloads\ChatGPT Image Sep 26, 2026, 09_43_51 PM.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05261" y="1203598"/>
            <a:ext cx="6984776" cy="393102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prof.dr. Luitzen Egbertus Jan Brouwer (1881 - 1966) - Genealogy"/>
          <p:cNvPicPr>
            <a:picLocks noChangeAspect="1" noChangeArrowheads="1"/>
          </p:cNvPicPr>
          <p:nvPr/>
        </p:nvPicPr>
        <p:blipFill>
          <a:blip r:embed="rId5">
            <a:extLst>
              <a:ext uri="{BEBA8EAE-BF5A-486C-A8C5-ECC9F3942E4B}">
                <a14:imgProps xmlns:a14="http://schemas.microsoft.com/office/drawing/2010/main">
                  <a14:imgLayer r:embed="rId6">
                    <a14:imgEffect>
                      <a14:backgroundRemoval t="0" b="100000" l="0" r="100000">
                        <a14:foregroundMark x1="65966" y1="70523" x2="84454" y2="97245"/>
                        <a14:foregroundMark x1="39076" y1="69972" x2="17227" y2="88705"/>
                        <a14:foregroundMark x1="19748" y1="60606" x2="6723" y2="65840"/>
                        <a14:foregroundMark x1="26471" y1="52617" x2="1681" y2="66942"/>
                        <a14:foregroundMark x1="48739" y1="7713" x2="57143" y2="8815"/>
                        <a14:foregroundMark x1="57143" y1="8815" x2="67227" y2="12397"/>
                        <a14:foregroundMark x1="68067" y1="12948" x2="71849" y2="20937"/>
                        <a14:foregroundMark x1="31933" y1="12948" x2="26050" y2="18733"/>
                        <a14:foregroundMark x1="31933" y1="10744" x2="24370" y2="20937"/>
                        <a14:foregroundMark x1="30672" y1="12672" x2="38655" y2="8540"/>
                        <a14:backgroundMark x1="5462" y1="57300" x2="5462" y2="57300"/>
                        <a14:backgroundMark x1="7563" y1="60606" x2="7563" y2="60606"/>
                        <a14:backgroundMark x1="4622" y1="63912" x2="4622" y2="63912"/>
                        <a14:backgroundMark x1="3361" y1="65014" x2="3361" y2="65014"/>
                        <a14:backgroundMark x1="1261" y1="66116" x2="1261" y2="66116"/>
                      </a14:backgroundRemoval>
                    </a14:imgEffect>
                  </a14:imgLayer>
                </a14:imgProps>
              </a:ext>
              <a:ext uri="{28A0092B-C50C-407E-A947-70E740481C1C}">
                <a14:useLocalDpi xmlns:a14="http://schemas.microsoft.com/office/drawing/2010/main" val="0"/>
              </a:ext>
            </a:extLst>
          </a:blip>
          <a:srcRect/>
          <a:stretch>
            <a:fillRect/>
          </a:stretch>
        </p:blipFill>
        <p:spPr bwMode="auto">
          <a:xfrm>
            <a:off x="-180528" y="642209"/>
            <a:ext cx="3011941" cy="4593841"/>
          </a:xfrm>
          <a:prstGeom prst="rect">
            <a:avLst/>
          </a:prstGeom>
          <a:noFill/>
          <a:effectLst>
            <a:glow rad="101600">
              <a:schemeClr val="bg1">
                <a:lumMod val="65000"/>
                <a:alpha val="60000"/>
              </a:schemeClr>
            </a:glow>
            <a:softEdge rad="31750"/>
          </a:effectLst>
          <a:extLst>
            <a:ext uri="{909E8E84-426E-40DD-AFC4-6F175D3DCCD1}">
              <a14:hiddenFill xmlns:a14="http://schemas.microsoft.com/office/drawing/2010/main">
                <a:solidFill>
                  <a:srgbClr val="FFFFFF"/>
                </a:solidFill>
              </a14:hiddenFill>
            </a:ext>
          </a:extLst>
        </p:spPr>
      </p:pic>
      <p:sp>
        <p:nvSpPr>
          <p:cNvPr id="13" name="Rechteck 12"/>
          <p:cNvSpPr/>
          <p:nvPr/>
        </p:nvSpPr>
        <p:spPr>
          <a:xfrm>
            <a:off x="-36512" y="33469"/>
            <a:ext cx="9187996" cy="938719"/>
          </a:xfrm>
          <a:prstGeom prst="rect">
            <a:avLst/>
          </a:prstGeom>
        </p:spPr>
        <p:txBody>
          <a:bodyPr wrap="square">
            <a:spAutoFit/>
          </a:bodyPr>
          <a:lstStyle/>
          <a:p>
            <a:pPr algn="ctr"/>
            <a:r>
              <a:rPr lang="de-DE" sz="5500" b="1" dirty="0" smtClean="0"/>
              <a:t>Über den offenen Horizont</a:t>
            </a:r>
            <a:endParaRPr lang="de-DE" sz="5500" b="1" dirty="0"/>
          </a:p>
        </p:txBody>
      </p:sp>
      <p:sp>
        <p:nvSpPr>
          <p:cNvPr id="15" name="Rechteck 14"/>
          <p:cNvSpPr/>
          <p:nvPr/>
        </p:nvSpPr>
        <p:spPr>
          <a:xfrm>
            <a:off x="1540044" y="906041"/>
            <a:ext cx="8064896" cy="630942"/>
          </a:xfrm>
          <a:prstGeom prst="rect">
            <a:avLst/>
          </a:prstGeom>
        </p:spPr>
        <p:txBody>
          <a:bodyPr wrap="square">
            <a:spAutoFit/>
          </a:bodyPr>
          <a:lstStyle/>
          <a:p>
            <a:pPr algn="ctr"/>
            <a:r>
              <a:rPr lang="de-DE" sz="3500" b="1" dirty="0" smtClean="0">
                <a:solidFill>
                  <a:srgbClr val="FF0000"/>
                </a:solidFill>
              </a:rPr>
              <a:t>Mathematik ohne Mathematiker?</a:t>
            </a:r>
            <a:endParaRPr lang="de-DE" sz="3500" b="1" dirty="0">
              <a:solidFill>
                <a:srgbClr val="FF0000"/>
              </a:solidFill>
            </a:endParaRPr>
          </a:p>
        </p:txBody>
      </p:sp>
      <p:sp>
        <p:nvSpPr>
          <p:cNvPr id="5" name="Textfeld 4"/>
          <p:cNvSpPr txBox="1"/>
          <p:nvPr/>
        </p:nvSpPr>
        <p:spPr>
          <a:xfrm>
            <a:off x="2519584" y="2427738"/>
            <a:ext cx="3848065" cy="954107"/>
          </a:xfrm>
          <a:prstGeom prst="rect">
            <a:avLst/>
          </a:prstGeom>
          <a:noFill/>
        </p:spPr>
        <p:txBody>
          <a:bodyPr wrap="square" rtlCol="0">
            <a:spAutoFit/>
          </a:bodyPr>
          <a:lstStyle/>
          <a:p>
            <a:r>
              <a:rPr lang="de-DE" sz="2800" b="1" i="1" dirty="0" smtClean="0"/>
              <a:t>Eine </a:t>
            </a:r>
            <a:r>
              <a:rPr lang="de-DE" sz="2800" b="1" i="1" dirty="0" smtClean="0">
                <a:solidFill>
                  <a:srgbClr val="00B050"/>
                </a:solidFill>
              </a:rPr>
              <a:t>Wahlfolge </a:t>
            </a:r>
          </a:p>
          <a:p>
            <a:r>
              <a:rPr lang="de-DE" sz="2800" b="1" i="1" dirty="0" smtClean="0"/>
              <a:t>Mit </a:t>
            </a:r>
            <a:r>
              <a:rPr lang="de-DE" sz="2800" b="1" i="1" dirty="0" smtClean="0">
                <a:solidFill>
                  <a:srgbClr val="00B050"/>
                </a:solidFill>
              </a:rPr>
              <a:t>offener</a:t>
            </a:r>
            <a:r>
              <a:rPr lang="de-DE" sz="2800" b="1" i="1" dirty="0" smtClean="0"/>
              <a:t> Zukunft…</a:t>
            </a:r>
            <a:endParaRPr lang="de-DE" sz="2800" b="1" i="1" dirty="0"/>
          </a:p>
        </p:txBody>
      </p:sp>
      <p:pic>
        <p:nvPicPr>
          <p:cNvPr id="1031" name="Picture 7"/>
          <p:cNvPicPr>
            <a:picLocks noChangeAspect="1" noChangeArrowheads="1"/>
          </p:cNvPicPr>
          <p:nvPr/>
        </p:nvPicPr>
        <p:blipFill>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382277" y="4227935"/>
            <a:ext cx="1574107" cy="56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68220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872589"/>
            <a:ext cx="9144000" cy="3139321"/>
          </a:xfrm>
          <a:prstGeom prst="rect">
            <a:avLst/>
          </a:prstGeom>
        </p:spPr>
        <p:txBody>
          <a:bodyPr wrap="square">
            <a:spAutoFit/>
          </a:bodyPr>
          <a:lstStyle/>
          <a:p>
            <a:pPr algn="ctr"/>
            <a:r>
              <a:rPr lang="en-CA" sz="6600" b="1" dirty="0" err="1" smtClean="0">
                <a:latin typeface="Times New Roman" panose="02020603050405020304" pitchFamily="18" charset="0"/>
                <a:cs typeface="Times New Roman" panose="02020603050405020304" pitchFamily="18" charset="0"/>
              </a:rPr>
              <a:t>Wie</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kann</a:t>
            </a:r>
            <a:r>
              <a:rPr lang="en-CA" sz="6600" b="1" dirty="0" smtClean="0">
                <a:latin typeface="Times New Roman" panose="02020603050405020304" pitchFamily="18" charset="0"/>
                <a:cs typeface="Times New Roman" panose="02020603050405020304" pitchFamily="18" charset="0"/>
              </a:rPr>
              <a:t> man in der </a:t>
            </a:r>
            <a:r>
              <a:rPr lang="en-CA" sz="6600" b="1" dirty="0" err="1" smtClean="0">
                <a:latin typeface="Times New Roman" panose="02020603050405020304" pitchFamily="18" charset="0"/>
                <a:cs typeface="Times New Roman" panose="02020603050405020304" pitchFamily="18" charset="0"/>
              </a:rPr>
              <a:t>Mathematik</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etwas</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Neues</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finden</a:t>
            </a:r>
            <a:r>
              <a:rPr lang="en-CA" sz="6600" b="1" dirty="0" smtClean="0">
                <a:latin typeface="Times New Roman" panose="02020603050405020304" pitchFamily="18" charset="0"/>
                <a:cs typeface="Times New Roman" panose="02020603050405020304" pitchFamily="18" charset="0"/>
              </a:rPr>
              <a:t>?</a:t>
            </a:r>
            <a:endParaRPr lang="en-CA"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274115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D:\Downloads\ChatGPT Image Sep 28, 2026, 12_46_42 AM.png"/>
          <p:cNvPicPr>
            <a:picLocks noChangeAspect="1" noChangeArrowheads="1"/>
          </p:cNvPicPr>
          <p:nvPr/>
        </p:nvPicPr>
        <p:blipFill rotWithShape="1">
          <a:blip r:embed="rId3">
            <a:extLst>
              <a:ext uri="{28A0092B-C50C-407E-A947-70E740481C1C}">
                <a14:useLocalDpi xmlns:a14="http://schemas.microsoft.com/office/drawing/2010/main" val="0"/>
              </a:ext>
            </a:extLst>
          </a:blip>
          <a:srcRect t="16706" b="13583"/>
          <a:stretch/>
        </p:blipFill>
        <p:spPr bwMode="auto">
          <a:xfrm>
            <a:off x="219901" y="699544"/>
            <a:ext cx="8744591" cy="4064000"/>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219901" y="195488"/>
            <a:ext cx="3560011" cy="461665"/>
          </a:xfrm>
          <a:prstGeom prst="rect">
            <a:avLst/>
          </a:prstGeom>
          <a:noFill/>
        </p:spPr>
        <p:txBody>
          <a:bodyPr wrap="square" rtlCol="0">
            <a:spAutoFit/>
          </a:bodyPr>
          <a:lstStyle/>
          <a:p>
            <a:r>
              <a:rPr lang="de-DE" sz="2400" b="1" dirty="0">
                <a:latin typeface="Times New Roman" panose="02020603050405020304" pitchFamily="18" charset="0"/>
                <a:cs typeface="Times New Roman" panose="02020603050405020304" pitchFamily="18" charset="0"/>
              </a:rPr>
              <a:t>Entfaltungsmodell</a:t>
            </a:r>
          </a:p>
        </p:txBody>
      </p:sp>
    </p:spTree>
    <p:extLst>
      <p:ext uri="{BB962C8B-B14F-4D97-AF65-F5344CB8AC3E}">
        <p14:creationId xmlns:p14="http://schemas.microsoft.com/office/powerpoint/2010/main" val="104899365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2" descr="C:\Users\Anton\Desktop\ad76720f-61e5-42a3-ae7a-acb7997872be.png"/>
          <p:cNvPicPr>
            <a:picLocks noChangeAspect="1" noChangeArrowheads="1"/>
          </p:cNvPicPr>
          <p:nvPr/>
        </p:nvPicPr>
        <p:blipFill rotWithShape="1">
          <a:blip r:embed="rId3">
            <a:extLst>
              <a:ext uri="{28A0092B-C50C-407E-A947-70E740481C1C}">
                <a14:useLocalDpi xmlns:a14="http://schemas.microsoft.com/office/drawing/2010/main" val="0"/>
              </a:ext>
            </a:extLst>
          </a:blip>
          <a:srcRect l="66644" t="13333" r="1" b="25146"/>
          <a:stretch/>
        </p:blipFill>
        <p:spPr bwMode="auto">
          <a:xfrm>
            <a:off x="6151339" y="193159"/>
            <a:ext cx="2916762" cy="4034775"/>
          </a:xfrm>
          <a:prstGeom prst="rect">
            <a:avLst/>
          </a:prstGeom>
          <a:noFill/>
          <a:extLst>
            <a:ext uri="{909E8E84-426E-40DD-AFC4-6F175D3DCCD1}">
              <a14:hiddenFill xmlns:a14="http://schemas.microsoft.com/office/drawing/2010/main">
                <a:solidFill>
                  <a:srgbClr val="FFFFFF"/>
                </a:solidFill>
              </a14:hiddenFill>
            </a:ext>
          </a:extLst>
        </p:spPr>
      </p:pic>
      <p:sp>
        <p:nvSpPr>
          <p:cNvPr id="4" name="Textfeld 3"/>
          <p:cNvSpPr txBox="1"/>
          <p:nvPr/>
        </p:nvSpPr>
        <p:spPr>
          <a:xfrm>
            <a:off x="219901" y="237877"/>
            <a:ext cx="2767923" cy="461665"/>
          </a:xfrm>
          <a:prstGeom prst="rect">
            <a:avLst/>
          </a:prstGeom>
          <a:noFill/>
        </p:spPr>
        <p:txBody>
          <a:bodyPr wrap="square" rtlCol="0">
            <a:spAutoFit/>
          </a:bodyPr>
          <a:lstStyle/>
          <a:p>
            <a:r>
              <a:rPr lang="de-DE" sz="2400" b="1" dirty="0" smtClean="0">
                <a:latin typeface="Times New Roman" panose="02020603050405020304" pitchFamily="18" charset="0"/>
                <a:cs typeface="Times New Roman" panose="02020603050405020304" pitchFamily="18" charset="0"/>
              </a:rPr>
              <a:t>Gestaltungsmodell</a:t>
            </a:r>
            <a:endParaRPr lang="de-DE" sz="2400" b="1" dirty="0">
              <a:latin typeface="Times New Roman" panose="02020603050405020304" pitchFamily="18" charset="0"/>
              <a:cs typeface="Times New Roman" panose="02020603050405020304" pitchFamily="18" charset="0"/>
            </a:endParaRPr>
          </a:p>
        </p:txBody>
      </p:sp>
      <p:pic>
        <p:nvPicPr>
          <p:cNvPr id="1028" name="Picture 4" descr="statue | British Museum"/>
          <p:cNvPicPr>
            <a:picLocks noChangeAspect="1" noChangeArrowheads="1"/>
          </p:cNvPicPr>
          <p:nvPr/>
        </p:nvPicPr>
        <p:blipFill>
          <a:blip r:embed="rId4" cstate="print">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bwMode="auto">
          <a:xfrm>
            <a:off x="2267746" y="841231"/>
            <a:ext cx="2109043" cy="280831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Marmorblöcke - Popular Stone"/>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79512" y="1273280"/>
            <a:ext cx="2165188" cy="2232248"/>
          </a:xfrm>
          <a:prstGeom prst="rect">
            <a:avLst/>
          </a:prstGeom>
          <a:noFill/>
          <a:extLst>
            <a:ext uri="{909E8E84-426E-40DD-AFC4-6F175D3DCCD1}">
              <a14:hiddenFill xmlns:a14="http://schemas.microsoft.com/office/drawing/2010/main">
                <a:solidFill>
                  <a:srgbClr val="FFFFFF"/>
                </a:solidFill>
              </a14:hiddenFill>
            </a:ext>
          </a:extLst>
        </p:spPr>
      </p:pic>
      <p:sp>
        <p:nvSpPr>
          <p:cNvPr id="2" name="Rechteck 1"/>
          <p:cNvSpPr/>
          <p:nvPr/>
        </p:nvSpPr>
        <p:spPr>
          <a:xfrm>
            <a:off x="4716016" y="1057254"/>
            <a:ext cx="1296144" cy="2808312"/>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de-DE" dirty="0" smtClean="0"/>
              <a:t>?</a:t>
            </a:r>
            <a:endParaRPr lang="de-DE" dirty="0"/>
          </a:p>
        </p:txBody>
      </p:sp>
      <p:cxnSp>
        <p:nvCxnSpPr>
          <p:cNvPr id="5" name="Gerade Verbindung 4"/>
          <p:cNvCxnSpPr/>
          <p:nvPr/>
        </p:nvCxnSpPr>
        <p:spPr>
          <a:xfrm>
            <a:off x="4376787" y="337176"/>
            <a:ext cx="0" cy="3744416"/>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7" name="Textfeld 6"/>
          <p:cNvSpPr txBox="1"/>
          <p:nvPr/>
        </p:nvSpPr>
        <p:spPr>
          <a:xfrm>
            <a:off x="251520" y="4209350"/>
            <a:ext cx="8712968" cy="738664"/>
          </a:xfrm>
          <a:prstGeom prst="rect">
            <a:avLst/>
          </a:prstGeom>
          <a:noFill/>
        </p:spPr>
        <p:txBody>
          <a:bodyPr wrap="square" rtlCol="0">
            <a:spAutoFit/>
          </a:bodyPr>
          <a:lstStyle/>
          <a:p>
            <a:pPr algn="just"/>
            <a:r>
              <a:rPr lang="en-CA" sz="1400" dirty="0" err="1" smtClean="0">
                <a:latin typeface="Times New Roman" panose="02020603050405020304" pitchFamily="18" charset="0"/>
                <a:cs typeface="Times New Roman" panose="02020603050405020304" pitchFamily="18" charset="0"/>
              </a:rPr>
              <a:t>Zu</a:t>
            </a:r>
            <a:r>
              <a:rPr lang="en-CA" sz="1400" dirty="0" smtClean="0">
                <a:latin typeface="Times New Roman" panose="02020603050405020304" pitchFamily="18" charset="0"/>
                <a:cs typeface="Times New Roman" panose="02020603050405020304" pitchFamily="18" charset="0"/>
              </a:rPr>
              <a:t> </a:t>
            </a:r>
            <a:r>
              <a:rPr lang="en-CA" sz="1400" dirty="0" err="1">
                <a:latin typeface="Times New Roman" panose="02020603050405020304" pitchFamily="18" charset="0"/>
                <a:cs typeface="Times New Roman" panose="02020603050405020304" pitchFamily="18" charset="0"/>
              </a:rPr>
              <a:t>behaupten</a:t>
            </a:r>
            <a:r>
              <a:rPr lang="en-CA" sz="1400" dirty="0">
                <a:latin typeface="Times New Roman" panose="02020603050405020304" pitchFamily="18" charset="0"/>
                <a:cs typeface="Times New Roman" panose="02020603050405020304" pitchFamily="18" charset="0"/>
              </a:rPr>
              <a:t>, „Hilbert space was already there in the set universe” </a:t>
            </a:r>
            <a:r>
              <a:rPr lang="en-CA" sz="1400" dirty="0" err="1">
                <a:latin typeface="Times New Roman" panose="02020603050405020304" pitchFamily="18" charset="0"/>
                <a:cs typeface="Times New Roman" panose="02020603050405020304" pitchFamily="18" charset="0"/>
              </a:rPr>
              <a:t>ist</a:t>
            </a:r>
            <a:r>
              <a:rPr lang="en-CA" sz="1400" dirty="0">
                <a:latin typeface="Times New Roman" panose="02020603050405020304" pitchFamily="18" charset="0"/>
                <a:cs typeface="Times New Roman" panose="02020603050405020304" pitchFamily="18" charset="0"/>
              </a:rPr>
              <a:t> in </a:t>
            </a:r>
            <a:r>
              <a:rPr lang="en-CA" sz="1400" dirty="0" err="1">
                <a:latin typeface="Times New Roman" panose="02020603050405020304" pitchFamily="18" charset="0"/>
                <a:cs typeface="Times New Roman" panose="02020603050405020304" pitchFamily="18" charset="0"/>
              </a:rPr>
              <a:t>etwa</a:t>
            </a:r>
            <a:r>
              <a:rPr lang="en-CA" sz="1400" dirty="0">
                <a:latin typeface="Times New Roman" panose="02020603050405020304" pitchFamily="18" charset="0"/>
                <a:cs typeface="Times New Roman" panose="02020603050405020304" pitchFamily="18" charset="0"/>
              </a:rPr>
              <a:t> so, </a:t>
            </a:r>
            <a:r>
              <a:rPr lang="en-CA" sz="1400" dirty="0" err="1">
                <a:latin typeface="Times New Roman" panose="02020603050405020304" pitchFamily="18" charset="0"/>
                <a:cs typeface="Times New Roman" panose="02020603050405020304" pitchFamily="18" charset="0"/>
              </a:rPr>
              <a:t>wie</a:t>
            </a:r>
            <a:r>
              <a:rPr lang="en-CA" sz="1400" dirty="0">
                <a:latin typeface="Times New Roman" panose="02020603050405020304" pitchFamily="18" charset="0"/>
                <a:cs typeface="Times New Roman" panose="02020603050405020304" pitchFamily="18" charset="0"/>
              </a:rPr>
              <a:t> Rodin </a:t>
            </a:r>
            <a:r>
              <a:rPr lang="en-CA" sz="1400" dirty="0" err="1">
                <a:latin typeface="Times New Roman" panose="02020603050405020304" pitchFamily="18" charset="0"/>
                <a:cs typeface="Times New Roman" panose="02020603050405020304" pitchFamily="18" charset="0"/>
              </a:rPr>
              <a:t>zu</a:t>
            </a:r>
            <a:r>
              <a:rPr lang="en-CA" sz="1400" dirty="0">
                <a:latin typeface="Times New Roman" panose="02020603050405020304" pitchFamily="18" charset="0"/>
                <a:cs typeface="Times New Roman" panose="02020603050405020304" pitchFamily="18" charset="0"/>
              </a:rPr>
              <a:t> </a:t>
            </a:r>
            <a:r>
              <a:rPr lang="en-CA" sz="1400" dirty="0" err="1">
                <a:latin typeface="Times New Roman" panose="02020603050405020304" pitchFamily="18" charset="0"/>
                <a:cs typeface="Times New Roman" panose="02020603050405020304" pitchFamily="18" charset="0"/>
              </a:rPr>
              <a:t>sagen</a:t>
            </a:r>
            <a:r>
              <a:rPr lang="en-CA" sz="1400" dirty="0">
                <a:latin typeface="Times New Roman" panose="02020603050405020304" pitchFamily="18" charset="0"/>
                <a:cs typeface="Times New Roman" panose="02020603050405020304" pitchFamily="18" charset="0"/>
              </a:rPr>
              <a:t>: „</a:t>
            </a:r>
            <a:r>
              <a:rPr lang="en-CA" sz="1400" i="1" dirty="0">
                <a:latin typeface="Times New Roman" panose="02020603050405020304" pitchFamily="18" charset="0"/>
                <a:cs typeface="Times New Roman" panose="02020603050405020304" pitchFamily="18" charset="0"/>
              </a:rPr>
              <a:t>The Thinker</a:t>
            </a:r>
            <a:r>
              <a:rPr lang="en-CA" sz="1400" dirty="0">
                <a:latin typeface="Times New Roman" panose="02020603050405020304" pitchFamily="18" charset="0"/>
                <a:cs typeface="Times New Roman" panose="02020603050405020304" pitchFamily="18" charset="0"/>
              </a:rPr>
              <a:t> is a nice piece of work, but all you did was get rid of the extra marble. The statue was there inside the marble quarry before you were born”.</a:t>
            </a:r>
            <a:r>
              <a:rPr lang="de-DE" sz="1400" dirty="0">
                <a:latin typeface="Times New Roman" panose="02020603050405020304" pitchFamily="18" charset="0"/>
                <a:cs typeface="Times New Roman" panose="02020603050405020304" pitchFamily="18" charset="0"/>
              </a:rPr>
              <a:t> </a:t>
            </a:r>
          </a:p>
        </p:txBody>
      </p:sp>
      <p:sp>
        <p:nvSpPr>
          <p:cNvPr id="13315" name="Quellenangabe 13315" descr="Hersh, R. (1997): What Is Mathematics, Really?, S. 13."/>
          <p:cNvSpPr txBox="1"/>
          <p:nvPr/>
        </p:nvSpPr>
        <p:spPr>
          <a:xfrm>
            <a:off x="310896" y="4983480"/>
            <a:ext cx="8522208" cy="137160"/>
          </a:xfrm>
          <a:prstGeom prst="rect">
            <a:avLst/>
          </a:prstGeom>
          <a:noFill/>
          <a:ln>
            <a:noFill/>
          </a:ln>
        </p:spPr>
        <p:txBody>
          <a:bodyPr wrap="none" lIns="0" tIns="0" rIns="0" bIns="0" anchor="t">
            <a:noAutofit/>
          </a:bodyPr>
          <a:lstStyle/>
          <a:p>
            <a:pPr marL="0" marR="0" indent="0" algn="r">
              <a:lnSpc>
                <a:spcPts val="862"/>
              </a:lnSpc>
              <a:spcBef>
                <a:spcPts val="0"/>
              </a:spcBef>
              <a:spcAft>
                <a:spcPts val="0"/>
              </a:spcAft>
              <a:buNone/>
            </a:pPr>
            <a:r>
              <a:rPr lang="de-DE" sz="750" b="0" i="0" u="none" dirty="0">
                <a:solidFill>
                  <a:srgbClr val="6B6B6B"/>
                </a:solidFill>
                <a:latin typeface="Times New Roman"/>
                <a:ea typeface="Times New Roman"/>
                <a:cs typeface="Times New Roman"/>
              </a:rPr>
              <a:t>Hersh, R. (1997): What Is Mathematics, Really?, S. 13.</a:t>
            </a:r>
            <a:endParaRPr lang="de-DE" sz="750"/>
          </a:p>
        </p:txBody>
      </p:sp>
    </p:spTree>
    <p:extLst>
      <p:ext uri="{BB962C8B-B14F-4D97-AF65-F5344CB8AC3E}">
        <p14:creationId xmlns:p14="http://schemas.microsoft.com/office/powerpoint/2010/main" val="320169599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944597"/>
            <a:ext cx="9144000" cy="3139321"/>
          </a:xfrm>
          <a:prstGeom prst="rect">
            <a:avLst/>
          </a:prstGeom>
        </p:spPr>
        <p:txBody>
          <a:bodyPr wrap="square">
            <a:spAutoFit/>
          </a:bodyPr>
          <a:lstStyle/>
          <a:p>
            <a:pPr algn="ctr"/>
            <a:r>
              <a:rPr lang="en-CA" sz="6600" b="1" dirty="0" err="1" smtClean="0">
                <a:latin typeface="Times New Roman" panose="02020603050405020304" pitchFamily="18" charset="0"/>
                <a:cs typeface="Times New Roman" panose="02020603050405020304" pitchFamily="18" charset="0"/>
              </a:rPr>
              <a:t>Kann</a:t>
            </a:r>
            <a:r>
              <a:rPr lang="en-CA" sz="6600" b="1" dirty="0" smtClean="0">
                <a:latin typeface="Times New Roman" panose="02020603050405020304" pitchFamily="18" charset="0"/>
                <a:cs typeface="Times New Roman" panose="02020603050405020304" pitchFamily="18" charset="0"/>
              </a:rPr>
              <a:t> KI in der </a:t>
            </a:r>
            <a:r>
              <a:rPr lang="en-CA" sz="6600" b="1" dirty="0" err="1" smtClean="0">
                <a:latin typeface="Times New Roman" panose="02020603050405020304" pitchFamily="18" charset="0"/>
                <a:cs typeface="Times New Roman" panose="02020603050405020304" pitchFamily="18" charset="0"/>
              </a:rPr>
              <a:t>Mathematik</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etwas</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Neues</a:t>
            </a:r>
            <a:r>
              <a:rPr lang="en-CA" sz="6600" b="1" dirty="0" smtClean="0">
                <a:latin typeface="Times New Roman" panose="02020603050405020304" pitchFamily="18" charset="0"/>
                <a:cs typeface="Times New Roman" panose="02020603050405020304" pitchFamily="18" charset="0"/>
              </a:rPr>
              <a:t> </a:t>
            </a:r>
            <a:r>
              <a:rPr lang="en-CA" sz="6600" b="1" dirty="0" err="1" smtClean="0">
                <a:latin typeface="Times New Roman" panose="02020603050405020304" pitchFamily="18" charset="0"/>
                <a:cs typeface="Times New Roman" panose="02020603050405020304" pitchFamily="18" charset="0"/>
              </a:rPr>
              <a:t>finden</a:t>
            </a:r>
            <a:r>
              <a:rPr lang="en-CA" sz="6600" b="1" dirty="0" smtClean="0">
                <a:latin typeface="Times New Roman" panose="02020603050405020304" pitchFamily="18" charset="0"/>
                <a:cs typeface="Times New Roman" panose="02020603050405020304" pitchFamily="18" charset="0"/>
              </a:rPr>
              <a:t>?</a:t>
            </a:r>
            <a:endParaRPr lang="en-CA" sz="6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033512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Metapher</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konvexen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Hülle</a:t>
            </a:r>
            <a:endParaRPr lang="en-CA" sz="3200" dirty="0">
              <a:solidFill>
                <a:schemeClr val="bg1"/>
              </a:solidFill>
              <a:effectLst>
                <a:outerShdw blurRad="38100" dist="38100" dir="2700000" algn="tl">
                  <a:srgbClr val="000000">
                    <a:alpha val="43137"/>
                  </a:srgbClr>
                </a:outerShdw>
              </a:effectLst>
            </a:endParaRPr>
          </a:p>
        </p:txBody>
      </p:sp>
      <p:pic>
        <p:nvPicPr>
          <p:cNvPr id="1026" name="Picture 2" descr="https://substackcdn.com/image/fetch/$s_!8uVU!,f_auto,q_auto:good,fl_progressive:steep/https%3A%2F%2Fsubstack-post-media.s3.amazonaws.com%2Fpublic%2Fimages%2Faa308004-9e4b-4908-ac40-f6b4981e044d_677x224.png"/>
          <p:cNvPicPr>
            <a:picLocks noChangeAspect="1" noChangeArrowheads="1"/>
          </p:cNvPicPr>
          <p:nvPr/>
        </p:nvPicPr>
        <p:blipFill rotWithShape="1">
          <a:blip r:embed="rId2">
            <a:extLst>
              <a:ext uri="{28A0092B-C50C-407E-A947-70E740481C1C}">
                <a14:useLocalDpi xmlns:a14="http://schemas.microsoft.com/office/drawing/2010/main" val="0"/>
              </a:ext>
            </a:extLst>
          </a:blip>
          <a:srcRect b="11908"/>
          <a:stretch/>
        </p:blipFill>
        <p:spPr bwMode="auto">
          <a:xfrm>
            <a:off x="416970" y="699544"/>
            <a:ext cx="8475510" cy="2470376"/>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9632" y="3579862"/>
            <a:ext cx="6408712" cy="8198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5367996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a:solidFill>
                  <a:schemeClr val="bg1"/>
                </a:solidFill>
                <a:effectLst>
                  <a:outerShdw blurRad="38100" dist="38100" dir="2700000" algn="tl">
                    <a:srgbClr val="000000">
                      <a:alpha val="43137"/>
                    </a:srgbClr>
                  </a:outerShdw>
                </a:effectLst>
              </a:rPr>
              <a:t>Konvexe</a:t>
            </a:r>
            <a:r>
              <a:rPr lang="en-CA" sz="3200" dirty="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Hülle</a:t>
            </a:r>
            <a:r>
              <a:rPr lang="en-CA" sz="3200" dirty="0" smtClean="0">
                <a:solidFill>
                  <a:schemeClr val="bg1"/>
                </a:solidFill>
                <a:effectLst>
                  <a:outerShdw blurRad="38100" dist="38100" dir="2700000" algn="tl">
                    <a:srgbClr val="000000">
                      <a:alpha val="43137"/>
                    </a:srgbClr>
                  </a:outerShdw>
                </a:effectLst>
              </a:rPr>
              <a:t> des </a:t>
            </a:r>
            <a:r>
              <a:rPr lang="en-CA" sz="3200" dirty="0" err="1" smtClean="0">
                <a:solidFill>
                  <a:schemeClr val="bg1"/>
                </a:solidFill>
                <a:effectLst>
                  <a:outerShdw blurRad="38100" dist="38100" dir="2700000" algn="tl">
                    <a:srgbClr val="000000">
                      <a:alpha val="43137"/>
                    </a:srgbClr>
                  </a:outerShdw>
                </a:effectLst>
              </a:rPr>
              <a:t>menschlichen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Ideenraums</a:t>
            </a:r>
            <a:endParaRPr lang="en-CA" sz="3200" dirty="0">
              <a:solidFill>
                <a:schemeClr val="bg1"/>
              </a:solidFill>
              <a:effectLst>
                <a:outerShdw blurRad="38100" dist="38100" dir="2700000" algn="tl">
                  <a:srgbClr val="000000">
                    <a:alpha val="43137"/>
                  </a:srgbClr>
                </a:outerShdw>
              </a:effectLst>
            </a:endParaRPr>
          </a:p>
        </p:txBody>
      </p:sp>
      <p:pic>
        <p:nvPicPr>
          <p:cNvPr id="2050" name="Picture 2" descr="https://substackcdn.com/image/fetch/$s_!cOTr!,f_auto,q_auto:good,fl_progressive:steep/https%3A%2F%2Fsubstack-post-media.s3.amazonaws.com%2Fpublic%2Fimages%2F9b046721-f519-476e-8fde-ab7d190d8d25_1278x724.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8232" y="1059582"/>
            <a:ext cx="6492240" cy="3677920"/>
          </a:xfrm>
          <a:prstGeom prst="rect">
            <a:avLst/>
          </a:prstGeom>
          <a:noFill/>
          <a:extLst>
            <a:ext uri="{909E8E84-426E-40DD-AFC4-6F175D3DCCD1}">
              <a14:hiddenFill xmlns:a14="http://schemas.microsoft.com/office/drawing/2010/main">
                <a:solidFill>
                  <a:srgbClr val="FFFFFF"/>
                </a:solidFill>
              </a14:hiddenFill>
            </a:ext>
          </a:extLst>
        </p:spPr>
      </p:pic>
      <p:sp>
        <p:nvSpPr>
          <p:cNvPr id="9" name="Textfeld 8"/>
          <p:cNvSpPr txBox="1"/>
          <p:nvPr/>
        </p:nvSpPr>
        <p:spPr>
          <a:xfrm>
            <a:off x="4644008" y="2907782"/>
            <a:ext cx="1965960" cy="384048"/>
          </a:xfrm>
          <a:prstGeom prst="rect">
            <a:avLst/>
          </a:prstGeom>
          <a:noFill/>
        </p:spPr>
        <p:txBody>
          <a:bodyPr wrap="square" rtlCol="0">
            <a:noAutofit/>
          </a:bodyPr>
          <a:lstStyle/>
          <a:p>
            <a:r>
              <a:rPr lang="de-DE" dirty="0" smtClean="0">
                <a:latin typeface="Times New Roman" panose="02020603050405020304" pitchFamily="18" charset="0"/>
                <a:cs typeface="Times New Roman" panose="02020603050405020304" pitchFamily="18" charset="0"/>
              </a:rPr>
              <a:t>Konvexe Hülle</a:t>
            </a:r>
            <a:endParaRPr lang="de-DE" dirty="0">
              <a:latin typeface="Times New Roman" panose="02020603050405020304" pitchFamily="18" charset="0"/>
              <a:cs typeface="Times New Roman" panose="02020603050405020304" pitchFamily="18" charset="0"/>
            </a:endParaRPr>
          </a:p>
        </p:txBody>
      </p:sp>
      <p:sp>
        <p:nvSpPr>
          <p:cNvPr id="3" name="Textfeld 2"/>
          <p:cNvSpPr txBox="1"/>
          <p:nvPr/>
        </p:nvSpPr>
        <p:spPr>
          <a:xfrm>
            <a:off x="6684264" y="1153302"/>
            <a:ext cx="2258568" cy="338328"/>
          </a:xfrm>
          <a:prstGeom prst="rect">
            <a:avLst/>
          </a:prstGeom>
          <a:noFill/>
        </p:spPr>
        <p:txBody>
          <a:bodyPr wrap="square" rtlCol="0">
            <a:noAutofit/>
          </a:bodyPr>
          <a:lstStyle/>
          <a:p>
            <a:pPr>
              <a:defRPr sz="1300"/>
            </a:pPr>
            <a:r>
              <a:rPr lang="de-DE" sz="1300" dirty="0" err="1" smtClean="0">
                <a:latin typeface="Times New Roman" panose="02020603050405020304" pitchFamily="18" charset="0"/>
                <a:cs typeface="Times New Roman" panose="02020603050405020304" pitchFamily="18" charset="0"/>
              </a:rPr>
              <a:t>Riemannsche</a:t>
            </a:r>
            <a:r>
              <a:rPr lang="de-DE" sz="1300" dirty="0" smtClean="0">
                <a:latin typeface="Times New Roman" panose="02020603050405020304" pitchFamily="18" charset="0"/>
                <a:cs typeface="Times New Roman" panose="02020603050405020304" pitchFamily="18" charset="0"/>
              </a:rPr>
              <a:t> Vermutung</a:t>
            </a:r>
            <a:endParaRPr lang="de-DE" sz="1400" dirty="0">
              <a:latin typeface="Times New Roman" panose="02020603050405020304" pitchFamily="18" charset="0"/>
              <a:cs typeface="Times New Roman" panose="02020603050405020304" pitchFamily="18" charset="0"/>
            </a:endParaRPr>
          </a:p>
        </p:txBody>
      </p:sp>
      <p:sp>
        <p:nvSpPr>
          <p:cNvPr id="4" name="Textfeld 3"/>
          <p:cNvSpPr txBox="1"/>
          <p:nvPr/>
        </p:nvSpPr>
        <p:spPr>
          <a:xfrm>
            <a:off x="7598664" y="1664208"/>
            <a:ext cx="548640" cy="365760"/>
          </a:xfrm>
          <a:prstGeom prst="rect">
            <a:avLst/>
          </a:prstGeom>
          <a:noFill/>
        </p:spPr>
        <p:txBody>
          <a:bodyPr wrap="square" rtlCol="0">
            <a:noAutofit/>
          </a:bodyPr>
          <a:lstStyle/>
          <a:p>
            <a:r>
              <a:rPr lang="de-DE" dirty="0" smtClean="0"/>
              <a:t>?</a:t>
            </a:r>
            <a:endParaRPr lang="de-DE" dirty="0"/>
          </a:p>
        </p:txBody>
      </p:sp>
      <p:sp>
        <p:nvSpPr>
          <p:cNvPr id="2051" name="TextBox 2050"/>
          <p:cNvSpPr txBox="1"/>
          <p:nvPr/>
        </p:nvSpPr>
        <p:spPr>
          <a:xfrm>
            <a:off x="363504" y="915567"/>
            <a:ext cx="2264280" cy="3528392"/>
          </a:xfrm>
          <a:prstGeom prst="rect">
            <a:avLst/>
          </a:prstGeom>
          <a:noFill/>
        </p:spPr>
        <p:txBody>
          <a:bodyPr wrap="square" lIns="0" tIns="0" rIns="0" bIns="0" anchor="t">
            <a:noAutofit/>
          </a:bodyPr>
          <a:lstStyle/>
          <a:p>
            <a:pPr marL="182880" indent="-182880" algn="l">
              <a:lnSpc>
                <a:spcPct val="106000"/>
              </a:lnSpc>
              <a:spcBef>
                <a:spcPts val="0"/>
              </a:spcBef>
              <a:spcAft>
                <a:spcPts val="2000"/>
              </a:spcAft>
              <a:buChar char="•"/>
            </a:pPr>
            <a:r>
              <a:rPr sz="1700" dirty="0" err="1">
                <a:solidFill>
                  <a:srgbClr val="000000"/>
                </a:solidFill>
                <a:latin typeface="Times New Roman"/>
              </a:rPr>
              <a:t>Bekannte</a:t>
            </a:r>
            <a:r>
              <a:rPr sz="1700" dirty="0">
                <a:solidFill>
                  <a:srgbClr val="000000"/>
                </a:solidFill>
                <a:latin typeface="Times New Roman"/>
              </a:rPr>
              <a:t> </a:t>
            </a:r>
            <a:r>
              <a:rPr sz="1700" dirty="0" err="1">
                <a:solidFill>
                  <a:srgbClr val="000000"/>
                </a:solidFill>
                <a:latin typeface="Times New Roman"/>
              </a:rPr>
              <a:t>Begriffe</a:t>
            </a:r>
            <a:r>
              <a:rPr sz="1700" dirty="0">
                <a:solidFill>
                  <a:srgbClr val="000000"/>
                </a:solidFill>
                <a:latin typeface="Times New Roman"/>
              </a:rPr>
              <a:t>, </a:t>
            </a:r>
            <a:r>
              <a:rPr sz="1700" dirty="0" err="1" smtClean="0">
                <a:solidFill>
                  <a:srgbClr val="000000"/>
                </a:solidFill>
                <a:latin typeface="Times New Roman"/>
              </a:rPr>
              <a:t>Sätze</a:t>
            </a:r>
            <a:r>
              <a:rPr lang="en-CA" sz="1700" dirty="0" smtClean="0">
                <a:solidFill>
                  <a:srgbClr val="000000"/>
                </a:solidFill>
                <a:latin typeface="Times New Roman"/>
              </a:rPr>
              <a:t>, </a:t>
            </a:r>
            <a:r>
              <a:rPr sz="1700" dirty="0" err="1" smtClean="0">
                <a:solidFill>
                  <a:srgbClr val="000000"/>
                </a:solidFill>
                <a:latin typeface="Times New Roman"/>
              </a:rPr>
              <a:t>Methoden</a:t>
            </a:r>
            <a:r>
              <a:rPr lang="en-CA" sz="1700" dirty="0" smtClean="0">
                <a:solidFill>
                  <a:srgbClr val="000000"/>
                </a:solidFill>
                <a:latin typeface="Times New Roman"/>
              </a:rPr>
              <a:t>, Tricks</a:t>
            </a:r>
          </a:p>
          <a:p>
            <a:pPr algn="l">
              <a:lnSpc>
                <a:spcPct val="106000"/>
              </a:lnSpc>
              <a:spcBef>
                <a:spcPts val="0"/>
              </a:spcBef>
              <a:spcAft>
                <a:spcPts val="2000"/>
              </a:spcAft>
            </a:pPr>
            <a:r>
              <a:rPr lang="en-CA" sz="1700" b="1" dirty="0" err="1" smtClean="0">
                <a:solidFill>
                  <a:srgbClr val="000000"/>
                </a:solidFill>
                <a:latin typeface="Times New Roman"/>
              </a:rPr>
              <a:t>Kreativität</a:t>
            </a:r>
            <a:r>
              <a:rPr lang="en-CA" sz="1700" b="1" dirty="0" smtClean="0">
                <a:solidFill>
                  <a:srgbClr val="000000"/>
                </a:solidFill>
                <a:latin typeface="Times New Roman"/>
              </a:rPr>
              <a:t> </a:t>
            </a:r>
            <a:r>
              <a:rPr lang="en-CA" sz="1700" dirty="0" err="1" smtClean="0">
                <a:solidFill>
                  <a:srgbClr val="000000"/>
                </a:solidFill>
                <a:latin typeface="Times New Roman"/>
              </a:rPr>
              <a:t>durch</a:t>
            </a:r>
            <a:r>
              <a:rPr lang="en-CA" sz="1700" dirty="0" smtClean="0">
                <a:solidFill>
                  <a:srgbClr val="000000"/>
                </a:solidFill>
                <a:latin typeface="Times New Roman"/>
              </a:rPr>
              <a:t>:</a:t>
            </a:r>
            <a:endParaRPr sz="1700" dirty="0">
              <a:solidFill>
                <a:srgbClr val="000000"/>
              </a:solidFill>
              <a:latin typeface="Times New Roman"/>
            </a:endParaRPr>
          </a:p>
          <a:p>
            <a:pPr marL="182880" indent="-182880" algn="l">
              <a:lnSpc>
                <a:spcPct val="106000"/>
              </a:lnSpc>
              <a:spcBef>
                <a:spcPts val="0"/>
              </a:spcBef>
              <a:spcAft>
                <a:spcPts val="2000"/>
              </a:spcAft>
              <a:buChar char="•"/>
            </a:pPr>
            <a:r>
              <a:rPr sz="1700" dirty="0" err="1">
                <a:solidFill>
                  <a:srgbClr val="000000"/>
                </a:solidFill>
                <a:latin typeface="Times New Roman"/>
              </a:rPr>
              <a:t>Neue</a:t>
            </a:r>
            <a:r>
              <a:rPr sz="1700" dirty="0">
                <a:solidFill>
                  <a:srgbClr val="000000"/>
                </a:solidFill>
                <a:latin typeface="Times New Roman"/>
              </a:rPr>
              <a:t> </a:t>
            </a:r>
            <a:r>
              <a:rPr sz="1700" dirty="0" err="1">
                <a:solidFill>
                  <a:srgbClr val="000000"/>
                </a:solidFill>
                <a:latin typeface="Times New Roman"/>
              </a:rPr>
              <a:t>Resultate</a:t>
            </a:r>
            <a:r>
              <a:rPr sz="1700" dirty="0">
                <a:solidFill>
                  <a:srgbClr val="000000"/>
                </a:solidFill>
                <a:latin typeface="Times New Roman"/>
              </a:rPr>
              <a:t> </a:t>
            </a:r>
            <a:r>
              <a:rPr sz="1700" dirty="0" err="1">
                <a:solidFill>
                  <a:srgbClr val="000000"/>
                </a:solidFill>
                <a:latin typeface="Times New Roman"/>
              </a:rPr>
              <a:t>durch</a:t>
            </a:r>
            <a:r>
              <a:rPr sz="1700" dirty="0">
                <a:solidFill>
                  <a:srgbClr val="000000"/>
                </a:solidFill>
                <a:latin typeface="Times New Roman"/>
              </a:rPr>
              <a:t> </a:t>
            </a:r>
            <a:r>
              <a:rPr lang="en-CA" sz="1700" dirty="0" smtClean="0">
                <a:solidFill>
                  <a:srgbClr val="000000"/>
                </a:solidFill>
                <a:latin typeface="Times New Roman"/>
              </a:rPr>
              <a:t>“</a:t>
            </a:r>
            <a:r>
              <a:rPr lang="en-CA" sz="1700" dirty="0" err="1" smtClean="0">
                <a:solidFill>
                  <a:srgbClr val="000000"/>
                </a:solidFill>
                <a:latin typeface="Times New Roman"/>
              </a:rPr>
              <a:t>Rekombination</a:t>
            </a:r>
            <a:r>
              <a:rPr lang="en-CA" sz="1700" dirty="0" smtClean="0">
                <a:solidFill>
                  <a:srgbClr val="000000"/>
                </a:solidFill>
                <a:latin typeface="Times New Roman"/>
              </a:rPr>
              <a:t>”</a:t>
            </a:r>
          </a:p>
          <a:p>
            <a:pPr marL="182880" indent="-182880" algn="l">
              <a:lnSpc>
                <a:spcPct val="106000"/>
              </a:lnSpc>
              <a:spcBef>
                <a:spcPts val="0"/>
              </a:spcBef>
              <a:spcAft>
                <a:spcPts val="2000"/>
              </a:spcAft>
              <a:buChar char="•"/>
            </a:pPr>
            <a:r>
              <a:rPr lang="en-CA" sz="1700" dirty="0" err="1" smtClean="0">
                <a:solidFill>
                  <a:srgbClr val="000000"/>
                </a:solidFill>
                <a:latin typeface="Times New Roman"/>
              </a:rPr>
              <a:t>Erweiterung</a:t>
            </a:r>
            <a:r>
              <a:rPr lang="en-CA" sz="1700" dirty="0" smtClean="0">
                <a:solidFill>
                  <a:srgbClr val="000000"/>
                </a:solidFill>
                <a:latin typeface="Times New Roman"/>
              </a:rPr>
              <a:t> des </a:t>
            </a:r>
            <a:r>
              <a:rPr lang="en-CA" sz="1700" dirty="0" err="1" smtClean="0">
                <a:solidFill>
                  <a:srgbClr val="000000"/>
                </a:solidFill>
                <a:latin typeface="Times New Roman"/>
              </a:rPr>
              <a:t>Raums</a:t>
            </a:r>
            <a:r>
              <a:rPr lang="en-CA" sz="1700" dirty="0" smtClean="0">
                <a:solidFill>
                  <a:srgbClr val="000000"/>
                </a:solidFill>
                <a:latin typeface="Times New Roman"/>
              </a:rPr>
              <a:t> </a:t>
            </a:r>
            <a:r>
              <a:rPr lang="en-CA" sz="1700" dirty="0" err="1" smtClean="0">
                <a:solidFill>
                  <a:srgbClr val="000000"/>
                </a:solidFill>
                <a:latin typeface="Times New Roman"/>
              </a:rPr>
              <a:t>selbst</a:t>
            </a:r>
            <a:r>
              <a:rPr lang="en-CA" sz="1700" dirty="0" smtClean="0">
                <a:solidFill>
                  <a:srgbClr val="000000"/>
                </a:solidFill>
                <a:latin typeface="Times New Roman"/>
              </a:rPr>
              <a:t> (</a:t>
            </a:r>
            <a:r>
              <a:rPr lang="en-CA" sz="1700" dirty="0" err="1" smtClean="0">
                <a:solidFill>
                  <a:srgbClr val="000000"/>
                </a:solidFill>
                <a:latin typeface="Times New Roman"/>
              </a:rPr>
              <a:t>komplexe</a:t>
            </a:r>
            <a:r>
              <a:rPr lang="en-CA" sz="1700" dirty="0" smtClean="0">
                <a:solidFill>
                  <a:srgbClr val="000000"/>
                </a:solidFill>
                <a:latin typeface="Times New Roman"/>
              </a:rPr>
              <a:t> </a:t>
            </a:r>
            <a:r>
              <a:rPr lang="en-CA" sz="1700" dirty="0" err="1" smtClean="0">
                <a:solidFill>
                  <a:srgbClr val="000000"/>
                </a:solidFill>
                <a:latin typeface="Times New Roman"/>
              </a:rPr>
              <a:t>Zahlen</a:t>
            </a:r>
            <a:r>
              <a:rPr lang="en-CA" sz="1700" dirty="0" smtClean="0">
                <a:solidFill>
                  <a:srgbClr val="000000"/>
                </a:solidFill>
                <a:latin typeface="Times New Roman"/>
              </a:rPr>
              <a:t>, </a:t>
            </a:r>
            <a:r>
              <a:rPr lang="en-CA" sz="1700" dirty="0" err="1" smtClean="0">
                <a:solidFill>
                  <a:srgbClr val="000000"/>
                </a:solidFill>
                <a:latin typeface="Times New Roman"/>
              </a:rPr>
              <a:t>Mengenlehre</a:t>
            </a:r>
            <a:r>
              <a:rPr lang="en-CA" sz="1700" dirty="0" smtClean="0">
                <a:solidFill>
                  <a:srgbClr val="000000"/>
                </a:solidFill>
                <a:latin typeface="Times New Roman"/>
              </a:rPr>
              <a:t> etc.)</a:t>
            </a:r>
            <a:endParaRPr lang="en-CA" sz="1700" dirty="0">
              <a:solidFill>
                <a:srgbClr val="000000"/>
              </a:solidFill>
              <a:latin typeface="Times New Roman"/>
            </a:endParaRPr>
          </a:p>
        </p:txBody>
      </p:sp>
    </p:spTree>
    <p:extLst>
      <p:ext uri="{BB962C8B-B14F-4D97-AF65-F5344CB8AC3E}">
        <p14:creationId xmlns:p14="http://schemas.microsoft.com/office/powerpoint/2010/main" val="101652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5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Konvexe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Hülle</a:t>
            </a:r>
            <a:r>
              <a:rPr lang="en-CA" sz="3200" dirty="0" smtClean="0">
                <a:solidFill>
                  <a:schemeClr val="bg1"/>
                </a:solidFill>
                <a:effectLst>
                  <a:outerShdw blurRad="38100" dist="38100" dir="2700000" algn="tl">
                    <a:srgbClr val="000000">
                      <a:alpha val="43137"/>
                    </a:srgbClr>
                  </a:outerShdw>
                </a:effectLst>
              </a:rPr>
              <a:t> der Mathematik</a:t>
            </a:r>
            <a:endParaRPr lang="en-CA" sz="3200" dirty="0">
              <a:solidFill>
                <a:schemeClr val="bg1"/>
              </a:solidFill>
              <a:effectLst>
                <a:outerShdw blurRad="38100" dist="38100" dir="2700000" algn="tl">
                  <a:srgbClr val="000000">
                    <a:alpha val="43137"/>
                  </a:srgbClr>
                </a:outerShdw>
              </a:effectLst>
            </a:endParaRPr>
          </a:p>
        </p:txBody>
      </p:sp>
      <p:pic>
        <p:nvPicPr>
          <p:cNvPr id="6" name="Picture 2" descr="D:\Downloads\ChatGPT Image Sep 30, 2026, 10_24_47 PM.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31640" y="1203598"/>
            <a:ext cx="6624736" cy="37283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feld 10"/>
          <p:cNvSpPr txBox="1"/>
          <p:nvPr/>
        </p:nvSpPr>
        <p:spPr>
          <a:xfrm>
            <a:off x="2051720" y="699542"/>
            <a:ext cx="5760640" cy="369332"/>
          </a:xfrm>
          <a:prstGeom prst="rect">
            <a:avLst/>
          </a:prstGeom>
          <a:noFill/>
        </p:spPr>
        <p:txBody>
          <a:bodyPr wrap="square" rtlCol="0">
            <a:spAutoFit/>
          </a:bodyPr>
          <a:lstStyle/>
          <a:p>
            <a:r>
              <a:rPr lang="de-DE" dirty="0" smtClean="0">
                <a:latin typeface="Times New Roman" panose="02020603050405020304" pitchFamily="18" charset="0"/>
                <a:cs typeface="Times New Roman" panose="02020603050405020304" pitchFamily="18" charset="0"/>
              </a:rPr>
              <a:t>Die Hülle „wächst“ durch neue Begriffe, Theorie, etc.</a:t>
            </a: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89230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Konvexe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Hülle</a:t>
            </a:r>
            <a:r>
              <a:rPr lang="en-CA" sz="3200" dirty="0" smtClean="0">
                <a:solidFill>
                  <a:schemeClr val="bg1"/>
                </a:solidFill>
                <a:effectLst>
                  <a:outerShdw blurRad="38100" dist="38100" dir="2700000" algn="tl">
                    <a:srgbClr val="000000">
                      <a:alpha val="43137"/>
                    </a:srgbClr>
                  </a:outerShdw>
                </a:effectLst>
              </a:rPr>
              <a:t> der Mathematik</a:t>
            </a:r>
            <a:endParaRPr lang="en-CA" sz="3200" dirty="0">
              <a:solidFill>
                <a:schemeClr val="bg1"/>
              </a:solidFill>
              <a:effectLst>
                <a:outerShdw blurRad="38100" dist="38100" dir="2700000" algn="tl">
                  <a:srgbClr val="000000">
                    <a:alpha val="43137"/>
                  </a:srgbClr>
                </a:outerShdw>
              </a:effectLst>
            </a:endParaRPr>
          </a:p>
        </p:txBody>
      </p:sp>
      <p:grpSp>
        <p:nvGrpSpPr>
          <p:cNvPr id="3" name="Gruppieren 2"/>
          <p:cNvGrpSpPr/>
          <p:nvPr/>
        </p:nvGrpSpPr>
        <p:grpSpPr>
          <a:xfrm>
            <a:off x="251520" y="699544"/>
            <a:ext cx="4176464" cy="2649776"/>
            <a:chOff x="467544" y="499879"/>
            <a:chExt cx="7992888" cy="4401370"/>
          </a:xfrm>
        </p:grpSpPr>
        <p:pic>
          <p:nvPicPr>
            <p:cNvPr id="2050" name="Picture 2" descr="https://substackcdn.com/image/fetch/$s_!cOTr!,f_auto,q_auto:good,fl_progressive:steep/https%3A%2F%2Fsubstack-post-media.s3.amazonaws.com%2Fpublic%2Fimages%2F9b046721-f519-476e-8fde-ab7d190d8d25_1278x724.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43607" y="699542"/>
              <a:ext cx="7416825" cy="4201707"/>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467544" y="499879"/>
              <a:ext cx="2232248" cy="1073578"/>
            </a:xfrm>
            <a:prstGeom prst="rect">
              <a:avLst/>
            </a:prstGeom>
            <a:noFill/>
          </p:spPr>
          <p:txBody>
            <a:bodyPr wrap="square" rtlCol="0">
              <a:spAutoFit/>
            </a:bodyPr>
            <a:lstStyle/>
            <a:p>
              <a:r>
                <a:rPr lang="de-DE" dirty="0" smtClean="0">
                  <a:latin typeface="Times New Roman" panose="02020603050405020304" pitchFamily="18" charset="0"/>
                  <a:cs typeface="Times New Roman" panose="02020603050405020304" pitchFamily="18" charset="0"/>
                </a:rPr>
                <a:t>Offener Horizont</a:t>
              </a:r>
              <a:endParaRPr lang="de-DE" dirty="0">
                <a:latin typeface="Times New Roman" panose="02020603050405020304" pitchFamily="18" charset="0"/>
                <a:cs typeface="Times New Roman" panose="02020603050405020304" pitchFamily="18" charset="0"/>
              </a:endParaRPr>
            </a:p>
          </p:txBody>
        </p:sp>
        <p:sp>
          <p:nvSpPr>
            <p:cNvPr id="9" name="Textfeld 8"/>
            <p:cNvSpPr txBox="1"/>
            <p:nvPr/>
          </p:nvSpPr>
          <p:spPr>
            <a:xfrm>
              <a:off x="3609824" y="2896368"/>
              <a:ext cx="2232248" cy="434543"/>
            </a:xfrm>
            <a:prstGeom prst="rect">
              <a:avLst/>
            </a:prstGeom>
            <a:noFill/>
          </p:spPr>
          <p:txBody>
            <a:bodyPr wrap="square" rtlCol="0">
              <a:spAutoFit/>
            </a:bodyPr>
            <a:lstStyle/>
            <a:p>
              <a:r>
                <a:rPr lang="de-DE" sz="1100" dirty="0" smtClean="0">
                  <a:latin typeface="Times New Roman" panose="02020603050405020304" pitchFamily="18" charset="0"/>
                  <a:cs typeface="Times New Roman" panose="02020603050405020304" pitchFamily="18" charset="0"/>
                </a:rPr>
                <a:t>Konvexe Hülle</a:t>
              </a:r>
              <a:endParaRPr lang="de-DE" sz="1100" dirty="0">
                <a:latin typeface="Times New Roman" panose="02020603050405020304" pitchFamily="18" charset="0"/>
                <a:cs typeface="Times New Roman" panose="02020603050405020304" pitchFamily="18" charset="0"/>
              </a:endParaRPr>
            </a:p>
          </p:txBody>
        </p:sp>
      </p:grpSp>
      <p:sp>
        <p:nvSpPr>
          <p:cNvPr id="4" name="Textfeld 3"/>
          <p:cNvSpPr txBox="1"/>
          <p:nvPr/>
        </p:nvSpPr>
        <p:spPr>
          <a:xfrm>
            <a:off x="4544568" y="749808"/>
            <a:ext cx="4361688" cy="2688336"/>
          </a:xfrm>
          <a:prstGeom prst="rect">
            <a:avLst/>
          </a:prstGeom>
          <a:noFill/>
        </p:spPr>
        <p:txBody>
          <a:bodyPr wrap="square" rtlCol="0">
            <a:noAutofit/>
          </a:bodyPr>
          <a:lstStyle/>
          <a:p>
            <a:r>
              <a:rPr lang="de-DE" sz="2000" b="1" dirty="0" smtClean="0">
                <a:latin typeface="Times New Roman" panose="02020603050405020304" pitchFamily="18" charset="0"/>
                <a:cs typeface="Times New Roman" panose="02020603050405020304" pitchFamily="18" charset="0"/>
              </a:rPr>
              <a:t>Dreifache Offenheit </a:t>
            </a:r>
          </a:p>
          <a:p>
            <a:r>
              <a:rPr lang="de-DE" sz="1600" dirty="0" smtClean="0">
                <a:latin typeface="Times New Roman" panose="02020603050405020304" pitchFamily="18" charset="0"/>
                <a:cs typeface="Times New Roman" panose="02020603050405020304" pitchFamily="18" charset="0"/>
              </a:rPr>
              <a:t>„Offene“ mathematische Probleme können in dreifachem Sinne </a:t>
            </a:r>
            <a:r>
              <a:rPr lang="de-DE" sz="1600" i="1" dirty="0" smtClean="0">
                <a:latin typeface="Times New Roman" panose="02020603050405020304" pitchFamily="18" charset="0"/>
                <a:cs typeface="Times New Roman" panose="02020603050405020304" pitchFamily="18" charset="0"/>
              </a:rPr>
              <a:t>offen</a:t>
            </a:r>
            <a:r>
              <a:rPr lang="de-DE" sz="1600" dirty="0" smtClean="0">
                <a:latin typeface="Times New Roman" panose="02020603050405020304" pitchFamily="18" charset="0"/>
                <a:cs typeface="Times New Roman" panose="02020603050405020304" pitchFamily="18" charset="0"/>
              </a:rPr>
              <a:t> sein:</a:t>
            </a:r>
          </a:p>
          <a:p>
            <a:endParaRPr lang="de-DE" sz="16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sz="1600" b="1" dirty="0" smtClean="0">
                <a:latin typeface="Times New Roman" panose="02020603050405020304" pitchFamily="18" charset="0"/>
                <a:cs typeface="Times New Roman" panose="02020603050405020304" pitchFamily="18" charset="0"/>
              </a:rPr>
              <a:t>im</a:t>
            </a:r>
            <a:r>
              <a:rPr lang="de-DE" sz="1600" dirty="0" smtClean="0">
                <a:latin typeface="Times New Roman" panose="02020603050405020304" pitchFamily="18" charset="0"/>
                <a:cs typeface="Times New Roman" panose="02020603050405020304" pitchFamily="18" charset="0"/>
              </a:rPr>
              <a:t> </a:t>
            </a:r>
            <a:r>
              <a:rPr lang="de-DE" sz="1600" b="1" dirty="0" smtClean="0">
                <a:latin typeface="Times New Roman" panose="02020603050405020304" pitchFamily="18" charset="0"/>
                <a:cs typeface="Times New Roman" panose="02020603050405020304" pitchFamily="18" charset="0"/>
              </a:rPr>
              <a:t>trivialen Sinne </a:t>
            </a:r>
            <a:r>
              <a:rPr lang="de-DE" sz="1600" dirty="0" smtClean="0">
                <a:latin typeface="Times New Roman" panose="02020603050405020304" pitchFamily="18" charset="0"/>
                <a:cs typeface="Times New Roman" panose="02020603050405020304" pitchFamily="18" charset="0"/>
              </a:rPr>
              <a:t>von „noch nicht gelöst“</a:t>
            </a:r>
          </a:p>
          <a:p>
            <a:pPr marL="285750" indent="-285750">
              <a:buFont typeface="Arial" panose="020B0604020202020204" pitchFamily="34" charset="0"/>
              <a:buChar char="•"/>
            </a:pPr>
            <a:r>
              <a:rPr lang="de-DE" sz="1600" b="1" dirty="0" smtClean="0">
                <a:latin typeface="Times New Roman" panose="02020603050405020304" pitchFamily="18" charset="0"/>
                <a:cs typeface="Times New Roman" panose="02020603050405020304" pitchFamily="18" charset="0"/>
              </a:rPr>
              <a:t>in der Unbestimmtheit der Mittel</a:t>
            </a:r>
            <a:r>
              <a:rPr lang="de-DE" sz="1600" dirty="0" smtClean="0">
                <a:latin typeface="Times New Roman" panose="02020603050405020304" pitchFamily="18" charset="0"/>
                <a:cs typeface="Times New Roman" panose="02020603050405020304" pitchFamily="18" charset="0"/>
              </a:rPr>
              <a:t>, mit denen sie überhaupt erreicht werden können</a:t>
            </a:r>
          </a:p>
          <a:p>
            <a:pPr marL="285750" indent="-285750">
              <a:buFont typeface="Arial" panose="020B0604020202020204" pitchFamily="34" charset="0"/>
              <a:buChar char="•"/>
            </a:pPr>
            <a:r>
              <a:rPr lang="de-DE" sz="1600" b="1" dirty="0" smtClean="0">
                <a:latin typeface="Times New Roman" panose="02020603050405020304" pitchFamily="18" charset="0"/>
                <a:cs typeface="Times New Roman" panose="02020603050405020304" pitchFamily="18" charset="0"/>
              </a:rPr>
              <a:t>im </a:t>
            </a:r>
            <a:r>
              <a:rPr lang="de-DE" sz="1600" b="1" dirty="0">
                <a:latin typeface="Times New Roman" panose="02020603050405020304" pitchFamily="18" charset="0"/>
                <a:cs typeface="Times New Roman" panose="02020603050405020304" pitchFamily="18" charset="0"/>
              </a:rPr>
              <a:t>historischen Sinne</a:t>
            </a:r>
            <a:r>
              <a:rPr lang="de-DE" sz="1600" dirty="0">
                <a:latin typeface="Times New Roman" panose="02020603050405020304" pitchFamily="18" charset="0"/>
                <a:cs typeface="Times New Roman" panose="02020603050405020304" pitchFamily="18" charset="0"/>
              </a:rPr>
              <a:t>, weil offen ist, welche Probleme künftig überhaupt erst formulierbar werden.</a:t>
            </a:r>
            <a:endParaRPr lang="de-DE" sz="1600" dirty="0" smtClean="0">
              <a:latin typeface="Times New Roman" panose="02020603050405020304" pitchFamily="18" charset="0"/>
              <a:cs typeface="Times New Roman" panose="02020603050405020304" pitchFamily="18" charset="0"/>
            </a:endParaRPr>
          </a:p>
        </p:txBody>
      </p:sp>
      <p:sp>
        <p:nvSpPr>
          <p:cNvPr id="5" name="Textfeld 4"/>
          <p:cNvSpPr txBox="1"/>
          <p:nvPr/>
        </p:nvSpPr>
        <p:spPr>
          <a:xfrm>
            <a:off x="265176" y="3404966"/>
            <a:ext cx="8613648" cy="1399032"/>
          </a:xfrm>
          <a:prstGeom prst="rect">
            <a:avLst/>
          </a:prstGeom>
          <a:noFill/>
        </p:spPr>
        <p:txBody>
          <a:bodyPr wrap="square" rtlCol="0">
            <a:noAutofit/>
          </a:bodyPr>
          <a:lstStyle/>
          <a:p>
            <a:r>
              <a:rPr lang="en-US" b="1" dirty="0" smtClean="0">
                <a:latin typeface="Times New Roman" panose="02020603050405020304" pitchFamily="18" charset="0"/>
                <a:cs typeface="Times New Roman" panose="02020603050405020304" pitchFamily="18" charset="0"/>
              </a:rPr>
              <a:t>Der </a:t>
            </a:r>
            <a:r>
              <a:rPr lang="en-US" b="1" dirty="0" err="1" smtClean="0">
                <a:latin typeface="Times New Roman" panose="02020603050405020304" pitchFamily="18" charset="0"/>
                <a:cs typeface="Times New Roman" panose="02020603050405020304" pitchFamily="18" charset="0"/>
              </a:rPr>
              <a:t>Überhang</a:t>
            </a:r>
            <a:endParaRPr lang="en-US" dirty="0">
              <a:latin typeface="Times New Roman" panose="02020603050405020304" pitchFamily="18" charset="0"/>
              <a:cs typeface="Times New Roman" panose="02020603050405020304" pitchFamily="18" charset="0"/>
            </a:endParaRPr>
          </a:p>
          <a:p>
            <a:r>
              <a:rPr lang="en-US" sz="1400" dirty="0" smtClean="0">
                <a:latin typeface="Times New Roman" panose="02020603050405020304" pitchFamily="18" charset="0"/>
                <a:cs typeface="Times New Roman" panose="02020603050405020304" pitchFamily="18" charset="0"/>
              </a:rPr>
              <a:t>“</a:t>
            </a:r>
            <a:r>
              <a:rPr lang="en-US" sz="1400" dirty="0">
                <a:latin typeface="Times New Roman" panose="02020603050405020304" pitchFamily="18" charset="0"/>
                <a:cs typeface="Times New Roman" panose="02020603050405020304" pitchFamily="18" charset="0"/>
              </a:rPr>
              <a:t>The Overhang consists of the unrealized capital gains of past mathematical creativity, the latent value from connecting the dots in the existing corpus</a:t>
            </a:r>
            <a:r>
              <a:rPr lang="en-US" sz="1400" dirty="0" smtClean="0">
                <a:latin typeface="Times New Roman" panose="02020603050405020304" pitchFamily="18" charset="0"/>
                <a:cs typeface="Times New Roman" panose="02020603050405020304" pitchFamily="18" charset="0"/>
              </a:rPr>
              <a:t>”</a:t>
            </a:r>
            <a:br>
              <a:rPr lang="en-US" sz="1400" dirty="0" smtClean="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
            </a:r>
            <a:br>
              <a:rPr lang="en-US"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“This will lead to great discoveries, which is unambiguously exciting. But it could also lead to a sad new deal, where </a:t>
            </a:r>
            <a:r>
              <a:rPr lang="en-US" sz="1400" b="1" dirty="0">
                <a:latin typeface="Times New Roman" panose="02020603050405020304" pitchFamily="18" charset="0"/>
                <a:cs typeface="Times New Roman" panose="02020603050405020304" pitchFamily="18" charset="0"/>
              </a:rPr>
              <a:t>human slaves painfully curate the Overhang</a:t>
            </a:r>
            <a:r>
              <a:rPr lang="en-US" sz="1400" dirty="0">
                <a:latin typeface="Times New Roman" panose="02020603050405020304" pitchFamily="18" charset="0"/>
                <a:cs typeface="Times New Roman" panose="02020603050405020304" pitchFamily="18" charset="0"/>
              </a:rPr>
              <a:t> while </a:t>
            </a:r>
            <a:r>
              <a:rPr lang="en-US" sz="1400" b="1" dirty="0">
                <a:latin typeface="Times New Roman" panose="02020603050405020304" pitchFamily="18" charset="0"/>
                <a:cs typeface="Times New Roman" panose="02020603050405020304" pitchFamily="18" charset="0"/>
              </a:rPr>
              <a:t>AIs systematically beat them at the finish line</a:t>
            </a:r>
            <a:r>
              <a:rPr lang="en-US" sz="1400" dirty="0" smtClean="0">
                <a:latin typeface="Times New Roman" panose="02020603050405020304" pitchFamily="18" charset="0"/>
                <a:cs typeface="Times New Roman" panose="02020603050405020304" pitchFamily="18" charset="0"/>
              </a:rPr>
              <a:t>.”</a:t>
            </a:r>
          </a:p>
        </p:txBody>
      </p:sp>
      <p:sp>
        <p:nvSpPr>
          <p:cNvPr id="2051" name="Quellenangabe 2051" descr="Bessis, D. (21.04.2026): The fall of the theorem economy, Abschnitt „Caveat #3: The Overhang“."/>
          <p:cNvSpPr txBox="1"/>
          <p:nvPr/>
        </p:nvSpPr>
        <p:spPr>
          <a:xfrm>
            <a:off x="310896" y="4983480"/>
            <a:ext cx="8522208" cy="137160"/>
          </a:xfrm>
          <a:prstGeom prst="rect">
            <a:avLst/>
          </a:prstGeom>
          <a:noFill/>
          <a:ln>
            <a:noFill/>
          </a:ln>
        </p:spPr>
        <p:txBody>
          <a:bodyPr wrap="none" lIns="0" tIns="0" rIns="0" bIns="0" anchor="t">
            <a:noAutofit/>
          </a:bodyPr>
          <a:lstStyle/>
          <a:p>
            <a:pPr marL="0" marR="0" indent="0" algn="r">
              <a:lnSpc>
                <a:spcPts val="828"/>
              </a:lnSpc>
              <a:spcBef>
                <a:spcPts val="0"/>
              </a:spcBef>
              <a:spcAft>
                <a:spcPts val="0"/>
              </a:spcAft>
              <a:buNone/>
            </a:pPr>
            <a:r>
              <a:rPr lang="de-DE" sz="720" b="0" i="0" u="none" dirty="0">
                <a:solidFill>
                  <a:srgbClr val="6B6B6B"/>
                </a:solidFill>
                <a:latin typeface="Times New Roman"/>
                <a:ea typeface="Times New Roman"/>
                <a:cs typeface="Times New Roman"/>
              </a:rPr>
              <a:t>Bessis, D. (21.04.2026): The fall of the theorem economy, Abschnitt „Caveat #3: The Overhang“.</a:t>
            </a:r>
            <a:endParaRPr lang="de-DE" sz="720"/>
          </a:p>
        </p:txBody>
      </p:sp>
    </p:spTree>
    <p:extLst>
      <p:ext uri="{BB962C8B-B14F-4D97-AF65-F5344CB8AC3E}">
        <p14:creationId xmlns:p14="http://schemas.microsoft.com/office/powerpoint/2010/main" val="1054587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Jenseits</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Hülle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Offene</a:t>
            </a:r>
            <a:r>
              <a:rPr lang="en-CA" sz="3200" dirty="0" smtClean="0">
                <a:solidFill>
                  <a:schemeClr val="bg1"/>
                </a:solidFill>
                <a:effectLst>
                  <a:outerShdw blurRad="38100" dist="38100" dir="2700000" algn="tl">
                    <a:srgbClr val="000000">
                      <a:alpha val="43137"/>
                    </a:srgbClr>
                  </a:outerShdw>
                </a:effectLst>
              </a:rPr>
              <a:t> Horizonte</a:t>
            </a:r>
            <a:endParaRPr lang="en-CA" sz="3200" dirty="0">
              <a:solidFill>
                <a:schemeClr val="bg1"/>
              </a:solidFill>
              <a:effectLst>
                <a:outerShdw blurRad="38100" dist="38100" dir="2700000" algn="tl">
                  <a:srgbClr val="000000">
                    <a:alpha val="43137"/>
                  </a:srgbClr>
                </a:outerShdw>
              </a:effectLst>
            </a:endParaRPr>
          </a:p>
        </p:txBody>
      </p:sp>
      <p:pic>
        <p:nvPicPr>
          <p:cNvPr id="3074" name="Picture 2" descr="D:\Downloads\ChatGPT Image Sep 27, 2026, 11_38_48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699543"/>
            <a:ext cx="8496944" cy="4248472"/>
          </a:xfrm>
          <a:prstGeom prst="rect">
            <a:avLst/>
          </a:prstGeom>
          <a:noFill/>
          <a:extLst>
            <a:ext uri="{909E8E84-426E-40DD-AFC4-6F175D3DCCD1}">
              <a14:hiddenFill xmlns:a14="http://schemas.microsoft.com/office/drawing/2010/main">
                <a:solidFill>
                  <a:srgbClr val="FFFFFF"/>
                </a:solidFill>
              </a14:hiddenFill>
            </a:ext>
          </a:extLst>
        </p:spPr>
      </p:pic>
      <p:sp>
        <p:nvSpPr>
          <p:cNvPr id="6" name="Textfeld 5"/>
          <p:cNvSpPr txBox="1"/>
          <p:nvPr/>
        </p:nvSpPr>
        <p:spPr>
          <a:xfrm rot="379070">
            <a:off x="4489017" y="1269233"/>
            <a:ext cx="2520280" cy="338554"/>
          </a:xfrm>
          <a:prstGeom prst="rect">
            <a:avLst/>
          </a:prstGeom>
          <a:noFill/>
        </p:spPr>
        <p:txBody>
          <a:bodyPr wrap="square" rtlCol="0">
            <a:spAutoFit/>
          </a:bodyPr>
          <a:lstStyle/>
          <a:p>
            <a:r>
              <a:rPr lang="de-DE" sz="1600" dirty="0" smtClean="0">
                <a:latin typeface="Times New Roman" panose="02020603050405020304" pitchFamily="18" charset="0"/>
                <a:cs typeface="Times New Roman" panose="02020603050405020304" pitchFamily="18" charset="0"/>
              </a:rPr>
              <a:t>Posthumane Mathematik</a:t>
            </a:r>
            <a:endParaRPr lang="de-DE" sz="1600" dirty="0">
              <a:latin typeface="Times New Roman" panose="02020603050405020304" pitchFamily="18" charset="0"/>
              <a:cs typeface="Times New Roman" panose="02020603050405020304" pitchFamily="18" charset="0"/>
            </a:endParaRPr>
          </a:p>
        </p:txBody>
      </p:sp>
      <p:sp>
        <p:nvSpPr>
          <p:cNvPr id="12" name="Textfeld 11"/>
          <p:cNvSpPr txBox="1"/>
          <p:nvPr/>
        </p:nvSpPr>
        <p:spPr>
          <a:xfrm>
            <a:off x="3491880" y="2715766"/>
            <a:ext cx="2232248" cy="369332"/>
          </a:xfrm>
          <a:prstGeom prst="rect">
            <a:avLst/>
          </a:prstGeom>
          <a:noFill/>
        </p:spPr>
        <p:txBody>
          <a:bodyPr wrap="square" rtlCol="0">
            <a:spAutoFit/>
          </a:bodyPr>
          <a:lstStyle/>
          <a:p>
            <a:r>
              <a:rPr lang="de-DE" dirty="0" smtClean="0">
                <a:latin typeface="Times New Roman" panose="02020603050405020304" pitchFamily="18" charset="0"/>
                <a:cs typeface="Times New Roman" panose="02020603050405020304" pitchFamily="18" charset="0"/>
              </a:rPr>
              <a:t>Konvexe Hülle</a:t>
            </a:r>
            <a:endParaRPr lang="de-DE" dirty="0">
              <a:latin typeface="Times New Roman" panose="02020603050405020304" pitchFamily="18" charset="0"/>
              <a:cs typeface="Times New Roman" panose="02020603050405020304" pitchFamily="18" charset="0"/>
            </a:endParaRPr>
          </a:p>
        </p:txBody>
      </p:sp>
      <p:pic>
        <p:nvPicPr>
          <p:cNvPr id="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00392" y="1128415"/>
            <a:ext cx="533400" cy="485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727237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feld 1"/>
          <p:cNvSpPr txBox="1"/>
          <p:nvPr/>
        </p:nvSpPr>
        <p:spPr>
          <a:xfrm>
            <a:off x="683568" y="2069435"/>
            <a:ext cx="8208912" cy="646331"/>
          </a:xfrm>
          <a:prstGeom prst="rect">
            <a:avLst/>
          </a:prstGeom>
          <a:noFill/>
        </p:spPr>
        <p:txBody>
          <a:bodyPr wrap="square" rtlCol="0">
            <a:spAutoFit/>
          </a:bodyPr>
          <a:lstStyle/>
          <a:p>
            <a:r>
              <a:rPr lang="de-DE" sz="3600" dirty="0" smtClean="0">
                <a:latin typeface="Times New Roman" panose="02020603050405020304" pitchFamily="18" charset="0"/>
                <a:cs typeface="Times New Roman" panose="02020603050405020304" pitchFamily="18" charset="0"/>
              </a:rPr>
              <a:t>Maschinenmathematik hat auch Grenzen!</a:t>
            </a:r>
            <a:endParaRPr lang="de-DE"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70502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Gödelsche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Grenzen</a:t>
            </a:r>
            <a:endParaRPr lang="en-CA" sz="3200" dirty="0">
              <a:solidFill>
                <a:schemeClr val="bg1"/>
              </a:solidFill>
              <a:effectLst>
                <a:outerShdw blurRad="38100" dist="38100" dir="2700000" algn="tl">
                  <a:srgbClr val="000000">
                    <a:alpha val="43137"/>
                  </a:srgbClr>
                </a:outerShdw>
              </a:effectLst>
            </a:endParaRPr>
          </a:p>
        </p:txBody>
      </p:sp>
      <p:pic>
        <p:nvPicPr>
          <p:cNvPr id="4098" name="Picture 2" descr="D:\Downloads\ChatGPT Image Sep 27, 2026, 11_55_39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576" y="699543"/>
            <a:ext cx="7825649"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330008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Unerschöfplichkeit</a:t>
            </a:r>
            <a:r>
              <a:rPr lang="en-CA" sz="3200" dirty="0" smtClean="0">
                <a:solidFill>
                  <a:schemeClr val="bg1"/>
                </a:solidFill>
                <a:effectLst>
                  <a:outerShdw blurRad="38100" dist="38100" dir="2700000" algn="tl">
                    <a:srgbClr val="000000">
                      <a:alpha val="43137"/>
                    </a:srgbClr>
                  </a:outerShdw>
                </a:effectLst>
              </a:rPr>
              <a:t> der Mathematik</a:t>
            </a:r>
            <a:endParaRPr lang="en-CA" sz="3200" dirty="0">
              <a:solidFill>
                <a:schemeClr val="bg1"/>
              </a:solidFill>
              <a:effectLst>
                <a:outerShdw blurRad="38100" dist="38100" dir="2700000" algn="tl">
                  <a:srgbClr val="000000">
                    <a:alpha val="43137"/>
                  </a:srgbClr>
                </a:outerShdw>
              </a:effectLst>
            </a:endParaRPr>
          </a:p>
        </p:txBody>
      </p:sp>
      <p:pic>
        <p:nvPicPr>
          <p:cNvPr id="1026" name="Picture 2" descr="https://m.media-amazon.com/images/I/71dUf0W069L._SL1500_.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23528" y="746743"/>
            <a:ext cx="2810651" cy="4129263"/>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3275856" y="663823"/>
            <a:ext cx="5544616" cy="400110"/>
          </a:xfrm>
          <a:prstGeom prst="rect">
            <a:avLst/>
          </a:prstGeom>
          <a:noFill/>
        </p:spPr>
        <p:txBody>
          <a:bodyPr wrap="square" rtlCol="0">
            <a:spAutoFit/>
          </a:bodyPr>
          <a:lstStyle/>
          <a:p>
            <a:r>
              <a:rPr lang="de-DE" sz="2000" b="1" dirty="0" smtClean="0">
                <a:latin typeface="Times New Roman" panose="02020603050405020304" pitchFamily="18" charset="0"/>
                <a:cs typeface="Times New Roman" panose="02020603050405020304" pitchFamily="18" charset="0"/>
              </a:rPr>
              <a:t>a) Die „positive Seite der Unvollständigkeit“</a:t>
            </a:r>
            <a:endParaRPr lang="de-DE" sz="2000" b="1" dirty="0">
              <a:latin typeface="Times New Roman" panose="02020603050405020304" pitchFamily="18" charset="0"/>
              <a:cs typeface="Times New Roman" panose="02020603050405020304" pitchFamily="18" charset="0"/>
            </a:endParaRPr>
          </a:p>
        </p:txBody>
      </p:sp>
      <p:sp>
        <p:nvSpPr>
          <p:cNvPr id="4" name="Textfeld 3"/>
          <p:cNvSpPr txBox="1"/>
          <p:nvPr/>
        </p:nvSpPr>
        <p:spPr>
          <a:xfrm>
            <a:off x="3347864" y="1023865"/>
            <a:ext cx="5688632" cy="3924151"/>
          </a:xfrm>
          <a:prstGeom prst="rect">
            <a:avLst/>
          </a:prstGeom>
          <a:noFill/>
        </p:spPr>
        <p:txBody>
          <a:bodyPr wrap="square" rtlCol="0">
            <a:spAutoFit/>
          </a:bodyPr>
          <a:lstStyle/>
          <a:p>
            <a:pPr marL="342900" indent="-342900">
              <a:lnSpc>
                <a:spcPct val="150000"/>
              </a:lnSpc>
              <a:buFont typeface="+mj-lt"/>
              <a:buAutoNum type="arabicParenR"/>
            </a:pPr>
            <a:r>
              <a:rPr lang="de-DE" dirty="0">
                <a:latin typeface="Times New Roman" panose="02020603050405020304" pitchFamily="18" charset="0"/>
                <a:cs typeface="Times New Roman" panose="02020603050405020304" pitchFamily="18" charset="0"/>
              </a:rPr>
              <a:t>Sei T eine hinreichend starke, effektiv axiomatisierte und konsistente Theorie.</a:t>
            </a:r>
          </a:p>
          <a:p>
            <a:pPr marL="342900" indent="-342900">
              <a:lnSpc>
                <a:spcPct val="150000"/>
              </a:lnSpc>
              <a:buFont typeface="+mj-lt"/>
              <a:buAutoNum type="arabicParenR"/>
            </a:pPr>
            <a:r>
              <a:rPr lang="de-DE" dirty="0">
                <a:latin typeface="Times New Roman" panose="02020603050405020304" pitchFamily="18" charset="0"/>
                <a:cs typeface="Times New Roman" panose="02020603050405020304" pitchFamily="18" charset="0"/>
              </a:rPr>
              <a:t>Dann ist </a:t>
            </a:r>
            <a:r>
              <a:rPr lang="de-DE" dirty="0" err="1">
                <a:latin typeface="Times New Roman" panose="02020603050405020304" pitchFamily="18" charset="0"/>
                <a:cs typeface="Times New Roman" panose="02020603050405020304" pitchFamily="18" charset="0"/>
              </a:rPr>
              <a:t>Con</a:t>
            </a:r>
            <a:r>
              <a:rPr lang="de-DE" dirty="0">
                <a:latin typeface="Times New Roman" panose="02020603050405020304" pitchFamily="18" charset="0"/>
                <a:cs typeface="Times New Roman" panose="02020603050405020304" pitchFamily="18" charset="0"/>
              </a:rPr>
              <a:t>(T) wahr.</a:t>
            </a:r>
          </a:p>
          <a:p>
            <a:pPr marL="342900" indent="-342900">
              <a:lnSpc>
                <a:spcPct val="150000"/>
              </a:lnSpc>
              <a:buFont typeface="+mj-lt"/>
              <a:buAutoNum type="arabicParenR"/>
            </a:pPr>
            <a:r>
              <a:rPr lang="de-DE" dirty="0">
                <a:latin typeface="Times New Roman" panose="02020603050405020304" pitchFamily="18" charset="0"/>
                <a:cs typeface="Times New Roman" panose="02020603050405020304" pitchFamily="18" charset="0"/>
              </a:rPr>
              <a:t>Nach </a:t>
            </a:r>
            <a:r>
              <a:rPr lang="de-DE" dirty="0" err="1" smtClean="0">
                <a:latin typeface="Times New Roman" panose="02020603050405020304" pitchFamily="18" charset="0"/>
                <a:cs typeface="Times New Roman" panose="02020603050405020304" pitchFamily="18" charset="0"/>
              </a:rPr>
              <a:t>Gödel</a:t>
            </a:r>
            <a:r>
              <a:rPr lang="de-DE" dirty="0" smtClean="0">
                <a:latin typeface="Times New Roman" panose="02020603050405020304" pitchFamily="18" charset="0"/>
                <a:cs typeface="Times New Roman" panose="02020603050405020304" pitchFamily="18" charset="0"/>
              </a:rPr>
              <a:t> II gilt : T </a:t>
            </a:r>
            <a:r>
              <a:rPr lang="de-DE" dirty="0">
                <a:latin typeface="Times New Roman" panose="02020603050405020304" pitchFamily="18" charset="0"/>
                <a:cs typeface="Times New Roman" panose="02020603050405020304" pitchFamily="18" charset="0"/>
              </a:rPr>
              <a:t>⊬ </a:t>
            </a:r>
            <a:r>
              <a:rPr lang="de-DE" dirty="0" err="1">
                <a:latin typeface="Times New Roman" panose="02020603050405020304" pitchFamily="18" charset="0"/>
                <a:cs typeface="Times New Roman" panose="02020603050405020304" pitchFamily="18" charset="0"/>
              </a:rPr>
              <a:t>Con</a:t>
            </a:r>
            <a:r>
              <a:rPr lang="de-DE" dirty="0">
                <a:latin typeface="Times New Roman" panose="02020603050405020304" pitchFamily="18" charset="0"/>
                <a:cs typeface="Times New Roman" panose="02020603050405020304" pitchFamily="18" charset="0"/>
              </a:rPr>
              <a:t>(T).</a:t>
            </a:r>
          </a:p>
          <a:p>
            <a:pPr marL="342900" indent="-342900">
              <a:lnSpc>
                <a:spcPct val="150000"/>
              </a:lnSpc>
              <a:buFont typeface="+mj-lt"/>
              <a:buAutoNum type="arabicParenR"/>
            </a:pPr>
            <a:r>
              <a:rPr lang="de-DE" dirty="0" smtClean="0">
                <a:latin typeface="Times New Roman" panose="02020603050405020304" pitchFamily="18" charset="0"/>
                <a:cs typeface="Times New Roman" panose="02020603050405020304" pitchFamily="18" charset="0"/>
              </a:rPr>
              <a:t>T</a:t>
            </a:r>
            <a:r>
              <a:rPr lang="de-DE" dirty="0">
                <a:latin typeface="Times New Roman" panose="02020603050405020304" pitchFamily="18" charset="0"/>
                <a:cs typeface="Times New Roman" panose="02020603050405020304" pitchFamily="18" charset="0"/>
              </a:rPr>
              <a:t>₁ := T + </a:t>
            </a:r>
            <a:r>
              <a:rPr lang="de-DE" dirty="0" err="1">
                <a:latin typeface="Times New Roman" panose="02020603050405020304" pitchFamily="18" charset="0"/>
                <a:cs typeface="Times New Roman" panose="02020603050405020304" pitchFamily="18" charset="0"/>
              </a:rPr>
              <a:t>Con</a:t>
            </a:r>
            <a:r>
              <a:rPr lang="de-DE" dirty="0">
                <a:latin typeface="Times New Roman" panose="02020603050405020304" pitchFamily="18" charset="0"/>
                <a:cs typeface="Times New Roman" panose="02020603050405020304" pitchFamily="18" charset="0"/>
              </a:rPr>
              <a:t>(T) </a:t>
            </a:r>
            <a:r>
              <a:rPr lang="de-DE" dirty="0" smtClean="0">
                <a:latin typeface="Times New Roman" panose="02020603050405020304" pitchFamily="18" charset="0"/>
                <a:cs typeface="Times New Roman" panose="02020603050405020304" pitchFamily="18" charset="0"/>
              </a:rPr>
              <a:t>ist stärker als </a:t>
            </a:r>
            <a:r>
              <a:rPr lang="de-DE" dirty="0">
                <a:latin typeface="Times New Roman" panose="02020603050405020304" pitchFamily="18" charset="0"/>
                <a:cs typeface="Times New Roman" panose="02020603050405020304" pitchFamily="18" charset="0"/>
              </a:rPr>
              <a:t>T</a:t>
            </a:r>
            <a:r>
              <a:rPr lang="de-DE" dirty="0" smtClean="0">
                <a:latin typeface="Times New Roman" panose="02020603050405020304" pitchFamily="18" charset="0"/>
                <a:cs typeface="Times New Roman" panose="02020603050405020304" pitchFamily="18" charset="0"/>
              </a:rPr>
              <a:t>.</a:t>
            </a:r>
          </a:p>
          <a:p>
            <a:pPr marL="342900" indent="-342900">
              <a:lnSpc>
                <a:spcPct val="150000"/>
              </a:lnSpc>
              <a:buFont typeface="+mj-lt"/>
              <a:buAutoNum type="arabicParenR"/>
            </a:pPr>
            <a:r>
              <a:rPr lang="de-DE" dirty="0" smtClean="0">
                <a:latin typeface="Times New Roman" panose="02020603050405020304" pitchFamily="18" charset="0"/>
                <a:cs typeface="Times New Roman" panose="02020603050405020304" pitchFamily="18" charset="0"/>
              </a:rPr>
              <a:t>T</a:t>
            </a:r>
            <a:r>
              <a:rPr lang="de-DE" dirty="0">
                <a:latin typeface="Times New Roman" panose="02020603050405020304" pitchFamily="18" charset="0"/>
                <a:cs typeface="Times New Roman" panose="02020603050405020304" pitchFamily="18" charset="0"/>
              </a:rPr>
              <a:t>₁ </a:t>
            </a:r>
            <a:r>
              <a:rPr lang="de-DE" dirty="0" smtClean="0">
                <a:latin typeface="Times New Roman" panose="02020603050405020304" pitchFamily="18" charset="0"/>
                <a:cs typeface="Times New Roman" panose="02020603050405020304" pitchFamily="18" charset="0"/>
              </a:rPr>
              <a:t>erfüllt erneut die Bedingungen; </a:t>
            </a:r>
            <a:r>
              <a:rPr lang="de-DE" dirty="0">
                <a:latin typeface="Times New Roman" panose="02020603050405020304" pitchFamily="18" charset="0"/>
                <a:cs typeface="Times New Roman" panose="02020603050405020304" pitchFamily="18" charset="0"/>
              </a:rPr>
              <a:t>ebenso für T₂, T₃, …</a:t>
            </a:r>
          </a:p>
          <a:p>
            <a:pPr marL="342900" indent="-342900">
              <a:lnSpc>
                <a:spcPct val="150000"/>
              </a:lnSpc>
              <a:buFont typeface="+mj-lt"/>
              <a:buAutoNum type="arabicParenR"/>
            </a:pPr>
            <a:r>
              <a:rPr lang="de-DE" dirty="0">
                <a:latin typeface="Times New Roman" panose="02020603050405020304" pitchFamily="18" charset="0"/>
                <a:cs typeface="Times New Roman" panose="02020603050405020304" pitchFamily="18" charset="0"/>
              </a:rPr>
              <a:t>Somit entsteht eine Folge immer stärkerer Theorien: </a:t>
            </a:r>
            <a:endParaRPr lang="de-DE" dirty="0" smtClean="0">
              <a:latin typeface="Times New Roman" panose="02020603050405020304" pitchFamily="18" charset="0"/>
              <a:cs typeface="Times New Roman" panose="02020603050405020304" pitchFamily="18" charset="0"/>
            </a:endParaRPr>
          </a:p>
          <a:p>
            <a:pPr algn="ctr">
              <a:lnSpc>
                <a:spcPct val="150000"/>
              </a:lnSpc>
            </a:pPr>
            <a:r>
              <a:rPr lang="de-DE" dirty="0" smtClean="0">
                <a:latin typeface="Times New Roman" panose="02020603050405020304" pitchFamily="18" charset="0"/>
                <a:cs typeface="Times New Roman" panose="02020603050405020304" pitchFamily="18" charset="0"/>
              </a:rPr>
              <a:t>T </a:t>
            </a:r>
            <a:r>
              <a:rPr lang="de-DE" dirty="0">
                <a:latin typeface="Times New Roman" panose="02020603050405020304" pitchFamily="18" charset="0"/>
                <a:cs typeface="Times New Roman" panose="02020603050405020304" pitchFamily="18" charset="0"/>
              </a:rPr>
              <a:t>⊊ T₁ ⊊ T₂ ⊊ T₃ ⊊ …</a:t>
            </a:r>
          </a:p>
          <a:p>
            <a:endParaRPr lang="de-DE" sz="1600" dirty="0" smtClean="0">
              <a:latin typeface="Times New Roman" panose="02020603050405020304" pitchFamily="18" charset="0"/>
              <a:cs typeface="Times New Roman" panose="02020603050405020304" pitchFamily="18" charset="0"/>
            </a:endParaRPr>
          </a:p>
          <a:p>
            <a:pPr algn="ctr"/>
            <a:r>
              <a:rPr lang="de-DE" sz="1700" b="1" dirty="0" smtClean="0">
                <a:latin typeface="Times New Roman" panose="02020603050405020304" pitchFamily="18" charset="0"/>
                <a:cs typeface="Times New Roman" panose="02020603050405020304" pitchFamily="18" charset="0"/>
              </a:rPr>
              <a:t>Keine </a:t>
            </a:r>
            <a:r>
              <a:rPr lang="de-DE" sz="1700" b="1" dirty="0">
                <a:latin typeface="Times New Roman" panose="02020603050405020304" pitchFamily="18" charset="0"/>
                <a:cs typeface="Times New Roman" panose="02020603050405020304" pitchFamily="18" charset="0"/>
              </a:rPr>
              <a:t>einzelne </a:t>
            </a:r>
            <a:r>
              <a:rPr lang="de-DE" sz="1700" b="1" dirty="0" smtClean="0">
                <a:latin typeface="Times New Roman" panose="02020603050405020304" pitchFamily="18" charset="0"/>
                <a:cs typeface="Times New Roman" panose="02020603050405020304" pitchFamily="18" charset="0"/>
              </a:rPr>
              <a:t>formale </a:t>
            </a:r>
            <a:r>
              <a:rPr lang="de-DE" sz="1700" b="1" dirty="0">
                <a:latin typeface="Times New Roman" panose="02020603050405020304" pitchFamily="18" charset="0"/>
                <a:cs typeface="Times New Roman" panose="02020603050405020304" pitchFamily="18" charset="0"/>
              </a:rPr>
              <a:t>Theorie erschöpft </a:t>
            </a:r>
            <a:r>
              <a:rPr lang="de-DE" sz="1700" b="1" dirty="0" smtClean="0">
                <a:latin typeface="Times New Roman" panose="02020603050405020304" pitchFamily="18" charset="0"/>
                <a:cs typeface="Times New Roman" panose="02020603050405020304" pitchFamily="18" charset="0"/>
              </a:rPr>
              <a:t>die </a:t>
            </a:r>
            <a:r>
              <a:rPr lang="de-DE" sz="1700" b="1" dirty="0">
                <a:latin typeface="Times New Roman" panose="02020603050405020304" pitchFamily="18" charset="0"/>
                <a:cs typeface="Times New Roman" panose="02020603050405020304" pitchFamily="18" charset="0"/>
              </a:rPr>
              <a:t>Mathematik.</a:t>
            </a:r>
          </a:p>
        </p:txBody>
      </p:sp>
      <p:sp>
        <p:nvSpPr>
          <p:cNvPr id="1027" name="Quellenangabe 1027" descr="Vgl. Franzén, T. (2004): Inexhaustibility: A Non-Exhaustive Treatment."/>
          <p:cNvSpPr txBox="1"/>
          <p:nvPr/>
        </p:nvSpPr>
        <p:spPr>
          <a:xfrm>
            <a:off x="310896" y="4983480"/>
            <a:ext cx="8522208" cy="137160"/>
          </a:xfrm>
          <a:prstGeom prst="rect">
            <a:avLst/>
          </a:prstGeom>
          <a:noFill/>
          <a:ln>
            <a:noFill/>
          </a:ln>
        </p:spPr>
        <p:txBody>
          <a:bodyPr wrap="none" lIns="0" tIns="0" rIns="0" bIns="0" anchor="t">
            <a:noAutofit/>
          </a:bodyPr>
          <a:lstStyle/>
          <a:p>
            <a:pPr marL="0" marR="0" indent="0" algn="r">
              <a:lnSpc>
                <a:spcPts val="862"/>
              </a:lnSpc>
              <a:spcBef>
                <a:spcPts val="0"/>
              </a:spcBef>
              <a:spcAft>
                <a:spcPts val="0"/>
              </a:spcAft>
              <a:buNone/>
            </a:pPr>
            <a:r>
              <a:rPr lang="de-DE" sz="750" b="0" i="0" u="none" dirty="0">
                <a:solidFill>
                  <a:srgbClr val="6B6B6B"/>
                </a:solidFill>
                <a:latin typeface="Times New Roman"/>
                <a:ea typeface="Times New Roman"/>
                <a:cs typeface="Times New Roman"/>
              </a:rPr>
              <a:t>Vgl. Franzén, T. (2004): Inexhaustibility: A Non-Exhaustive Treatment.</a:t>
            </a:r>
            <a:endParaRPr lang="de-DE" sz="750"/>
          </a:p>
        </p:txBody>
      </p:sp>
    </p:spTree>
    <p:extLst>
      <p:ext uri="{BB962C8B-B14F-4D97-AF65-F5344CB8AC3E}">
        <p14:creationId xmlns:p14="http://schemas.microsoft.com/office/powerpoint/2010/main" val="351207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Unerschöfplichkeit</a:t>
            </a:r>
            <a:r>
              <a:rPr lang="en-CA" sz="3200" dirty="0" smtClean="0">
                <a:solidFill>
                  <a:schemeClr val="bg1"/>
                </a:solidFill>
                <a:effectLst>
                  <a:outerShdw blurRad="38100" dist="38100" dir="2700000" algn="tl">
                    <a:srgbClr val="000000">
                      <a:alpha val="43137"/>
                    </a:srgbClr>
                  </a:outerShdw>
                </a:effectLst>
              </a:rPr>
              <a:t> der Mathematik</a:t>
            </a:r>
            <a:endParaRPr lang="en-CA" sz="3200" dirty="0">
              <a:solidFill>
                <a:schemeClr val="bg1"/>
              </a:solidFill>
              <a:effectLst>
                <a:outerShdw blurRad="38100" dist="38100" dir="2700000" algn="tl">
                  <a:srgbClr val="000000">
                    <a:alpha val="43137"/>
                  </a:srgbClr>
                </a:outerShdw>
              </a:effectLst>
            </a:endParaRPr>
          </a:p>
        </p:txBody>
      </p:sp>
      <p:sp>
        <p:nvSpPr>
          <p:cNvPr id="6" name="Textfeld 5"/>
          <p:cNvSpPr txBox="1"/>
          <p:nvPr/>
        </p:nvSpPr>
        <p:spPr>
          <a:xfrm>
            <a:off x="228600" y="768096"/>
            <a:ext cx="8686800" cy="4023360"/>
          </a:xfrm>
          <a:prstGeom prst="rect">
            <a:avLst/>
          </a:prstGeom>
          <a:noFill/>
        </p:spPr>
        <p:txBody>
          <a:bodyPr wrap="square" rtlCol="0">
            <a:noAutofit/>
          </a:bodyPr>
          <a:lstStyle/>
          <a:p>
            <a:r>
              <a:rPr lang="de-DE" b="1" dirty="0">
                <a:latin typeface="Times New Roman" panose="02020603050405020304" pitchFamily="18" charset="0"/>
                <a:cs typeface="Times New Roman" panose="02020603050405020304" pitchFamily="18" charset="0"/>
              </a:rPr>
              <a:t>Botschaft: </a:t>
            </a:r>
            <a:r>
              <a:rPr lang="de-DE" dirty="0" err="1">
                <a:latin typeface="Times New Roman" panose="02020603050405020304" pitchFamily="18" charset="0"/>
                <a:cs typeface="Times New Roman" panose="02020603050405020304" pitchFamily="18" charset="0"/>
              </a:rPr>
              <a:t>Gödel</a:t>
            </a:r>
            <a:r>
              <a:rPr lang="de-DE" dirty="0">
                <a:latin typeface="Times New Roman" panose="02020603050405020304" pitchFamily="18" charset="0"/>
                <a:cs typeface="Times New Roman" panose="02020603050405020304" pitchFamily="18" charset="0"/>
              </a:rPr>
              <a:t> liefert einen </a:t>
            </a:r>
            <a:r>
              <a:rPr lang="de-DE" dirty="0" smtClean="0">
                <a:latin typeface="Times New Roman" panose="02020603050405020304" pitchFamily="18" charset="0"/>
                <a:cs typeface="Times New Roman" panose="02020603050405020304" pitchFamily="18" charset="0"/>
              </a:rPr>
              <a:t>Grund </a:t>
            </a:r>
            <a:r>
              <a:rPr lang="de-DE" dirty="0">
                <a:latin typeface="Times New Roman" panose="02020603050405020304" pitchFamily="18" charset="0"/>
                <a:cs typeface="Times New Roman" panose="02020603050405020304" pitchFamily="18" charset="0"/>
              </a:rPr>
              <a:t>dafür, warum </a:t>
            </a:r>
            <a:r>
              <a:rPr lang="de-DE" dirty="0" smtClean="0">
                <a:latin typeface="Times New Roman" panose="02020603050405020304" pitchFamily="18" charset="0"/>
                <a:cs typeface="Times New Roman" panose="02020603050405020304" pitchFamily="18" charset="0"/>
              </a:rPr>
              <a:t>die </a:t>
            </a:r>
            <a:r>
              <a:rPr lang="de-DE" dirty="0">
                <a:latin typeface="Times New Roman" panose="02020603050405020304" pitchFamily="18" charset="0"/>
                <a:cs typeface="Times New Roman" panose="02020603050405020304" pitchFamily="18" charset="0"/>
              </a:rPr>
              <a:t>Hoffnung auf ein einziges effektives endgültiges </a:t>
            </a:r>
            <a:r>
              <a:rPr lang="de-DE" dirty="0" err="1">
                <a:latin typeface="Times New Roman" panose="02020603050405020304" pitchFamily="18" charset="0"/>
                <a:cs typeface="Times New Roman" panose="02020603050405020304" pitchFamily="18" charset="0"/>
              </a:rPr>
              <a:t>Axiomensystem</a:t>
            </a:r>
            <a:r>
              <a:rPr lang="de-DE" dirty="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scheitert.</a:t>
            </a:r>
          </a:p>
          <a:p>
            <a:endParaRPr lang="de-DE" dirty="0">
              <a:latin typeface="Times New Roman" panose="02020603050405020304" pitchFamily="18" charset="0"/>
              <a:cs typeface="Times New Roman" panose="02020603050405020304" pitchFamily="18" charset="0"/>
            </a:endParaRPr>
          </a:p>
          <a:p>
            <a:r>
              <a:rPr lang="de-DE" b="1" dirty="0" smtClean="0">
                <a:latin typeface="Times New Roman" panose="02020603050405020304" pitchFamily="18" charset="0"/>
                <a:cs typeface="Times New Roman" panose="02020603050405020304" pitchFamily="18" charset="0"/>
              </a:rPr>
              <a:t>b) Axiomatische Offenheit</a:t>
            </a:r>
          </a:p>
          <a:p>
            <a:r>
              <a:rPr lang="de-DE" dirty="0" smtClean="0">
                <a:latin typeface="Times New Roman" panose="02020603050405020304" pitchFamily="18" charset="0"/>
                <a:cs typeface="Times New Roman" panose="02020603050405020304" pitchFamily="18" charset="0"/>
              </a:rPr>
              <a:t>Unterschiedliche </a:t>
            </a:r>
            <a:r>
              <a:rPr lang="de-DE" dirty="0" err="1" smtClean="0">
                <a:latin typeface="Times New Roman" panose="02020603050405020304" pitchFamily="18" charset="0"/>
                <a:cs typeface="Times New Roman" panose="02020603050405020304" pitchFamily="18" charset="0"/>
              </a:rPr>
              <a:t>Axiomensysteme</a:t>
            </a:r>
            <a:r>
              <a:rPr lang="de-DE" dirty="0" smtClean="0">
                <a:latin typeface="Times New Roman" panose="02020603050405020304" pitchFamily="18" charset="0"/>
                <a:cs typeface="Times New Roman" panose="02020603050405020304" pitchFamily="18" charset="0"/>
              </a:rPr>
              <a:t> und Begriffe eröffnen immer neue mathematische Welten. Es </a:t>
            </a:r>
            <a:r>
              <a:rPr lang="de-DE" dirty="0">
                <a:latin typeface="Times New Roman" panose="02020603050405020304" pitchFamily="18" charset="0"/>
                <a:cs typeface="Times New Roman" panose="02020603050405020304" pitchFamily="18" charset="0"/>
              </a:rPr>
              <a:t>gibt keinen offensichtlichen Punkt, an dem die Suche nach mathematisch gerechtfertigten </a:t>
            </a:r>
            <a:r>
              <a:rPr lang="de-DE" dirty="0" smtClean="0">
                <a:latin typeface="Times New Roman" panose="02020603050405020304" pitchFamily="18" charset="0"/>
                <a:cs typeface="Times New Roman" panose="02020603050405020304" pitchFamily="18" charset="0"/>
              </a:rPr>
              <a:t>neuen Prinzipien </a:t>
            </a:r>
            <a:r>
              <a:rPr lang="de-DE" dirty="0">
                <a:latin typeface="Times New Roman" panose="02020603050405020304" pitchFamily="18" charset="0"/>
                <a:cs typeface="Times New Roman" panose="02020603050405020304" pitchFamily="18" charset="0"/>
              </a:rPr>
              <a:t>prinzipiell abgeschlossen sein müsste.</a:t>
            </a:r>
            <a:endParaRPr lang="de-DE" dirty="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2662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Unerschöpflichkeit</a:t>
            </a:r>
            <a:r>
              <a:rPr lang="en-CA" sz="3200" dirty="0" smtClean="0">
                <a:solidFill>
                  <a:schemeClr val="bg1"/>
                </a:solidFill>
                <a:effectLst>
                  <a:outerShdw blurRad="38100" dist="38100" dir="2700000" algn="tl">
                    <a:srgbClr val="000000">
                      <a:alpha val="43137"/>
                    </a:srgbClr>
                  </a:outerShdw>
                </a:effectLst>
              </a:rPr>
              <a:t> der Mathematik</a:t>
            </a:r>
            <a:endParaRPr lang="en-CA" sz="3200" dirty="0">
              <a:solidFill>
                <a:schemeClr val="bg1"/>
              </a:solidFill>
              <a:effectLst>
                <a:outerShdw blurRad="38100" dist="38100" dir="2700000" algn="tl">
                  <a:srgbClr val="000000">
                    <a:alpha val="43137"/>
                  </a:srgbClr>
                </a:outerShdw>
              </a:effectLst>
            </a:endParaRPr>
          </a:p>
        </p:txBody>
      </p:sp>
      <p:pic>
        <p:nvPicPr>
          <p:cNvPr id="3074" name="Picture 2" descr="D:\Downloads\ChatGPT Image Sep 28, 2026, 09_56_12 P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5576" y="699542"/>
            <a:ext cx="7848872" cy="425857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8304" y="3939902"/>
            <a:ext cx="1008112" cy="1917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2661379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a:solidFill>
                  <a:schemeClr val="bg1"/>
                </a:solidFill>
                <a:effectLst>
                  <a:outerShdw blurRad="38100" dist="38100" dir="2700000" algn="tl">
                    <a:srgbClr val="000000">
                      <a:alpha val="43137"/>
                    </a:srgbClr>
                  </a:outerShdw>
                </a:effectLst>
              </a:rPr>
              <a:t>Jenseits</a:t>
            </a:r>
            <a:r>
              <a:rPr lang="en-CA" sz="3200" dirty="0">
                <a:solidFill>
                  <a:schemeClr val="bg1"/>
                </a:solidFill>
                <a:effectLst>
                  <a:outerShdw blurRad="38100" dist="38100" dir="2700000" algn="tl">
                    <a:srgbClr val="000000">
                      <a:alpha val="43137"/>
                    </a:srgbClr>
                  </a:outerShdw>
                </a:effectLst>
              </a:rPr>
              <a:t> der </a:t>
            </a:r>
            <a:r>
              <a:rPr lang="en-CA" sz="3200" dirty="0" err="1">
                <a:solidFill>
                  <a:schemeClr val="bg1"/>
                </a:solidFill>
                <a:effectLst>
                  <a:outerShdw blurRad="38100" dist="38100" dir="2700000" algn="tl">
                    <a:srgbClr val="000000">
                      <a:alpha val="43137"/>
                    </a:srgbClr>
                  </a:outerShdw>
                </a:effectLst>
              </a:rPr>
              <a:t>Hülle</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Offene</a:t>
            </a:r>
            <a:r>
              <a:rPr lang="en-CA" sz="3200" dirty="0">
                <a:solidFill>
                  <a:schemeClr val="bg1"/>
                </a:solidFill>
                <a:effectLst>
                  <a:outerShdw blurRad="38100" dist="38100" dir="2700000" algn="tl">
                    <a:srgbClr val="000000">
                      <a:alpha val="43137"/>
                    </a:srgbClr>
                  </a:outerShdw>
                </a:effectLst>
              </a:rPr>
              <a:t> Horizonte</a:t>
            </a:r>
          </a:p>
        </p:txBody>
      </p:sp>
      <p:pic>
        <p:nvPicPr>
          <p:cNvPr id="5122" name="Picture 2" descr="D:\Downloads\ChatGPT Image Sep 28, 2026, 12_03_17 AM.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627534"/>
            <a:ext cx="7848872" cy="44173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2856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Eine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Weggabelung</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6146" name="Picture 2" descr="C:\Users\Anton\Desktop\a455fb16-c876-4cda-8f73-83b7c4a06e3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99542"/>
            <a:ext cx="8640960"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821223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Ruelle-Hypothese</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r>
              <a:rPr lang="de-DE" sz="3200" b="1" dirty="0" smtClean="0">
                <a:latin typeface="Times New Roman" panose="02020603050405020304" pitchFamily="18" charset="0"/>
                <a:cs typeface="Times New Roman" panose="02020603050405020304" pitchFamily="18" charset="0"/>
              </a:rPr>
              <a:t>Zwei mögliche </a:t>
            </a:r>
            <a:r>
              <a:rPr lang="de-DE" sz="3200" b="1" dirty="0" err="1" smtClean="0">
                <a:latin typeface="Times New Roman" panose="02020603050405020304" pitchFamily="18" charset="0"/>
                <a:cs typeface="Times New Roman" panose="02020603050405020304" pitchFamily="18" charset="0"/>
              </a:rPr>
              <a:t>Zukünfte</a:t>
            </a:r>
            <a:r>
              <a:rPr lang="de-DE" sz="3200" b="1" dirty="0" smtClean="0">
                <a:latin typeface="Times New Roman" panose="02020603050405020304" pitchFamily="18" charset="0"/>
                <a:cs typeface="Times New Roman" panose="02020603050405020304" pitchFamily="18" charset="0"/>
              </a:rPr>
              <a:t>:</a:t>
            </a:r>
            <a:br>
              <a:rPr lang="de-DE" sz="3200" b="1" dirty="0" smtClean="0">
                <a:latin typeface="Times New Roman" panose="02020603050405020304" pitchFamily="18" charset="0"/>
                <a:cs typeface="Times New Roman" panose="02020603050405020304" pitchFamily="18" charset="0"/>
              </a:rPr>
            </a:br>
            <a:endParaRPr lang="de-DE" sz="3200" b="1" dirty="0" smtClean="0">
              <a:latin typeface="Times New Roman" panose="02020603050405020304" pitchFamily="18" charset="0"/>
              <a:cs typeface="Times New Roman" panose="02020603050405020304" pitchFamily="18" charset="0"/>
            </a:endParaRPr>
          </a:p>
          <a:p>
            <a:pPr marL="514350" indent="-514350">
              <a:buAutoNum type="alphaLcParenR"/>
            </a:pPr>
            <a:r>
              <a:rPr lang="de-DE" sz="3200" dirty="0" smtClean="0">
                <a:latin typeface="Times New Roman" panose="02020603050405020304" pitchFamily="18" charset="0"/>
                <a:cs typeface="Times New Roman" panose="02020603050405020304" pitchFamily="18" charset="0"/>
              </a:rPr>
              <a:t>Maschinen schlagen Menschen in derselben Mathematik.</a:t>
            </a:r>
          </a:p>
          <a:p>
            <a:pPr marL="514350" indent="-514350">
              <a:buAutoNum type="alphaLcParenR"/>
            </a:pPr>
            <a:r>
              <a:rPr lang="de-DE" sz="3200" dirty="0" smtClean="0">
                <a:latin typeface="Times New Roman" panose="02020603050405020304" pitchFamily="18" charset="0"/>
                <a:cs typeface="Times New Roman" panose="02020603050405020304" pitchFamily="18" charset="0"/>
              </a:rPr>
              <a:t> Maschinen beginnen, eine andere Mathematik zu betreiben.</a:t>
            </a:r>
          </a:p>
          <a:p>
            <a:endParaRPr lang="de-DE" sz="3200" dirty="0" smtClean="0">
              <a:latin typeface="Times New Roman" panose="02020603050405020304" pitchFamily="18" charset="0"/>
              <a:cs typeface="Times New Roman" panose="02020603050405020304" pitchFamily="18" charset="0"/>
            </a:endParaRPr>
          </a:p>
          <a:p>
            <a:r>
              <a:rPr lang="de-DE" sz="1400" dirty="0" smtClean="0">
                <a:latin typeface="Times New Roman" panose="02020603050405020304" pitchFamily="18" charset="0"/>
                <a:cs typeface="Times New Roman" panose="02020603050405020304" pitchFamily="18" charset="0"/>
              </a:rPr>
              <a:t>(</a:t>
            </a:r>
            <a:r>
              <a:rPr lang="de-DE" sz="1400" dirty="0" err="1" smtClean="0">
                <a:latin typeface="Times New Roman" panose="02020603050405020304" pitchFamily="18" charset="0"/>
                <a:cs typeface="Times New Roman" panose="02020603050405020304" pitchFamily="18" charset="0"/>
              </a:rPr>
              <a:t>Ruelle</a:t>
            </a:r>
            <a:r>
              <a:rPr lang="de-DE" sz="1400" dirty="0" smtClean="0">
                <a:latin typeface="Times New Roman" panose="02020603050405020304" pitchFamily="18" charset="0"/>
                <a:cs typeface="Times New Roman" panose="02020603050405020304" pitchFamily="18" charset="0"/>
              </a:rPr>
              <a:t>, </a:t>
            </a:r>
            <a:r>
              <a:rPr lang="de-DE" sz="1400" i="1" dirty="0" smtClean="0">
                <a:latin typeface="Times New Roman" panose="02020603050405020304" pitchFamily="18" charset="0"/>
                <a:cs typeface="Times New Roman" panose="02020603050405020304" pitchFamily="18" charset="0"/>
              </a:rPr>
              <a:t>Post-human </a:t>
            </a:r>
            <a:r>
              <a:rPr lang="de-DE" sz="1400" i="1" dirty="0" err="1" smtClean="0">
                <a:latin typeface="Times New Roman" panose="02020603050405020304" pitchFamily="18" charset="0"/>
                <a:cs typeface="Times New Roman" panose="02020603050405020304" pitchFamily="18" charset="0"/>
              </a:rPr>
              <a:t>mathematics</a:t>
            </a:r>
            <a:r>
              <a:rPr lang="de-DE" sz="1400" dirty="0" smtClean="0">
                <a:latin typeface="Times New Roman" panose="02020603050405020304" pitchFamily="18" charset="0"/>
                <a:cs typeface="Times New Roman" panose="02020603050405020304" pitchFamily="18" charset="0"/>
              </a:rPr>
              <a:t>, 2013)</a:t>
            </a:r>
            <a:endParaRPr lang="de-DE"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342396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1779664"/>
            <a:ext cx="9144000" cy="1023357"/>
          </a:xfrm>
          <a:prstGeom prst="rect">
            <a:avLst/>
          </a:prstGeom>
        </p:spPr>
        <p:txBody>
          <a:bodyPr wrap="square">
            <a:spAutoFit/>
          </a:bodyPr>
          <a:lstStyle/>
          <a:p>
            <a:pPr algn="ctr"/>
            <a:r>
              <a:rPr lang="en-CA" sz="6050" b="1" dirty="0" smtClean="0">
                <a:latin typeface="Times New Roman" panose="02020603050405020304" pitchFamily="18" charset="0"/>
                <a:cs typeface="Times New Roman" panose="02020603050405020304" pitchFamily="18" charset="0"/>
              </a:rPr>
              <a:t>Menschliche Mathematik</a:t>
            </a:r>
            <a:endParaRPr lang="en-CA" sz="605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60494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p:cNvSpPr/>
          <p:nvPr/>
        </p:nvSpPr>
        <p:spPr>
          <a:xfrm>
            <a:off x="0" y="411511"/>
            <a:ext cx="9144000" cy="1700466"/>
          </a:xfrm>
          <a:prstGeom prst="rect">
            <a:avLst/>
          </a:prstGeom>
        </p:spPr>
        <p:txBody>
          <a:bodyPr wrap="square">
            <a:spAutoFit/>
          </a:bodyPr>
          <a:lstStyle/>
          <a:p>
            <a:pPr algn="ctr"/>
            <a:r>
              <a:rPr lang="en-CA" sz="6050" b="1" dirty="0">
                <a:latin typeface="Times New Roman" panose="02020603050405020304" pitchFamily="18" charset="0"/>
                <a:cs typeface="Times New Roman" panose="02020603050405020304" pitchFamily="18" charset="0"/>
              </a:rPr>
              <a:t>M</a:t>
            </a:r>
            <a:r>
              <a:rPr lang="el-GR" sz="6050" b="1" dirty="0" smtClean="0">
                <a:latin typeface="Times New Roman" panose="02020603050405020304" pitchFamily="18" charset="0"/>
                <a:cs typeface="Times New Roman" panose="02020603050405020304" pitchFamily="18" charset="0"/>
              </a:rPr>
              <a:t>άθημα</a:t>
            </a:r>
            <a:r>
              <a:rPr lang="en-CA" sz="6050" b="1" dirty="0" smtClean="0">
                <a:latin typeface="Times New Roman" panose="02020603050405020304" pitchFamily="18" charset="0"/>
                <a:cs typeface="Times New Roman" panose="02020603050405020304" pitchFamily="18" charset="0"/>
              </a:rPr>
              <a:t> </a:t>
            </a:r>
          </a:p>
          <a:p>
            <a:pPr algn="ctr"/>
            <a:r>
              <a:rPr lang="en-CA" sz="4400" b="1" dirty="0" smtClean="0">
                <a:latin typeface="Times New Roman" panose="02020603050405020304" pitchFamily="18" charset="0"/>
                <a:cs typeface="Times New Roman" panose="02020603050405020304" pitchFamily="18" charset="0"/>
              </a:rPr>
              <a:t>(</a:t>
            </a:r>
            <a:r>
              <a:rPr lang="de-DE" sz="4400" dirty="0" err="1" smtClean="0">
                <a:latin typeface="Times New Roman" panose="02020603050405020304" pitchFamily="18" charset="0"/>
                <a:cs typeface="Times New Roman" panose="02020603050405020304" pitchFamily="18" charset="0"/>
              </a:rPr>
              <a:t>mathēma</a:t>
            </a:r>
            <a:r>
              <a:rPr lang="de-DE" sz="4400" dirty="0" smtClean="0">
                <a:latin typeface="Times New Roman" panose="02020603050405020304" pitchFamily="18" charset="0"/>
                <a:cs typeface="Times New Roman" panose="02020603050405020304" pitchFamily="18" charset="0"/>
              </a:rPr>
              <a:t>)</a:t>
            </a:r>
            <a:r>
              <a:rPr lang="en-CA" sz="4400" b="1" dirty="0" smtClean="0">
                <a:latin typeface="Times New Roman" panose="02020603050405020304" pitchFamily="18" charset="0"/>
                <a:cs typeface="Times New Roman" panose="02020603050405020304" pitchFamily="18" charset="0"/>
              </a:rPr>
              <a:t> </a:t>
            </a:r>
            <a:endParaRPr lang="de-DE" sz="4400" b="1" dirty="0">
              <a:latin typeface="Times New Roman" panose="02020603050405020304" pitchFamily="18" charset="0"/>
              <a:cs typeface="Times New Roman" panose="02020603050405020304" pitchFamily="18" charset="0"/>
            </a:endParaRPr>
          </a:p>
        </p:txBody>
      </p:sp>
      <p:cxnSp>
        <p:nvCxnSpPr>
          <p:cNvPr id="3" name="Gerade Verbindung mit Pfeil 2"/>
          <p:cNvCxnSpPr/>
          <p:nvPr/>
        </p:nvCxnSpPr>
        <p:spPr>
          <a:xfrm flipH="1">
            <a:off x="2411760" y="1851670"/>
            <a:ext cx="720080" cy="136815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4" name="Textfeld 3"/>
          <p:cNvSpPr txBox="1"/>
          <p:nvPr/>
        </p:nvSpPr>
        <p:spPr>
          <a:xfrm>
            <a:off x="475488" y="3337560"/>
            <a:ext cx="3886200" cy="1077218"/>
          </a:xfrm>
          <a:prstGeom prst="rect">
            <a:avLst/>
          </a:prstGeom>
          <a:noFill/>
        </p:spPr>
        <p:txBody>
          <a:bodyPr wrap="square" rtlCol="0">
            <a:spAutoFit/>
          </a:bodyPr>
          <a:lstStyle/>
          <a:p>
            <a:pPr algn="ctr"/>
            <a:r>
              <a:rPr lang="de-DE" sz="3200" dirty="0" smtClean="0">
                <a:latin typeface="Times New Roman" panose="02020603050405020304" pitchFamily="18" charset="0"/>
                <a:cs typeface="Times New Roman" panose="02020603050405020304" pitchFamily="18" charset="0"/>
              </a:rPr>
              <a:t>Das, </a:t>
            </a:r>
            <a:r>
              <a:rPr lang="de-DE" sz="3200" i="1" dirty="0" smtClean="0">
                <a:latin typeface="Times New Roman" panose="02020603050405020304" pitchFamily="18" charset="0"/>
                <a:cs typeface="Times New Roman" panose="02020603050405020304" pitchFamily="18" charset="0"/>
              </a:rPr>
              <a:t>was</a:t>
            </a:r>
            <a:r>
              <a:rPr lang="de-DE" sz="3200" dirty="0" smtClean="0">
                <a:latin typeface="Times New Roman" panose="02020603050405020304" pitchFamily="18" charset="0"/>
                <a:cs typeface="Times New Roman" panose="02020603050405020304" pitchFamily="18" charset="0"/>
              </a:rPr>
              <a:t> gelernt wird (Gegenstand)</a:t>
            </a:r>
            <a:endParaRPr lang="de-DE" sz="3200" dirty="0">
              <a:latin typeface="Times New Roman" panose="02020603050405020304" pitchFamily="18" charset="0"/>
              <a:cs typeface="Times New Roman" panose="02020603050405020304" pitchFamily="18" charset="0"/>
            </a:endParaRPr>
          </a:p>
        </p:txBody>
      </p:sp>
      <p:cxnSp>
        <p:nvCxnSpPr>
          <p:cNvPr id="14" name="Gerade Verbindung mit Pfeil 13"/>
          <p:cNvCxnSpPr/>
          <p:nvPr/>
        </p:nvCxnSpPr>
        <p:spPr>
          <a:xfrm>
            <a:off x="6144144" y="1863703"/>
            <a:ext cx="720080" cy="1368152"/>
          </a:xfrm>
          <a:prstGeom prst="straightConnector1">
            <a:avLst/>
          </a:prstGeom>
          <a:ln w="3810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Textfeld 15"/>
          <p:cNvSpPr txBox="1"/>
          <p:nvPr/>
        </p:nvSpPr>
        <p:spPr>
          <a:xfrm>
            <a:off x="4782312" y="3337560"/>
            <a:ext cx="3886200" cy="1077218"/>
          </a:xfrm>
          <a:prstGeom prst="rect">
            <a:avLst/>
          </a:prstGeom>
          <a:noFill/>
        </p:spPr>
        <p:txBody>
          <a:bodyPr wrap="square" rtlCol="0">
            <a:spAutoFit/>
          </a:bodyPr>
          <a:lstStyle/>
          <a:p>
            <a:r>
              <a:rPr lang="de-DE" sz="3200" dirty="0" smtClean="0">
                <a:latin typeface="Times New Roman" panose="02020603050405020304" pitchFamily="18" charset="0"/>
                <a:cs typeface="Times New Roman" panose="02020603050405020304" pitchFamily="18" charset="0"/>
              </a:rPr>
              <a:t>Lernen als Tätigkeit</a:t>
            </a:r>
          </a:p>
          <a:p>
            <a:pPr algn="ctr"/>
            <a:r>
              <a:rPr lang="de-DE" sz="3200" dirty="0" smtClean="0">
                <a:latin typeface="Times New Roman" panose="02020603050405020304" pitchFamily="18" charset="0"/>
                <a:cs typeface="Times New Roman" panose="02020603050405020304" pitchFamily="18" charset="0"/>
              </a:rPr>
              <a:t>(Vollzug)</a:t>
            </a:r>
            <a:endParaRPr lang="de-DE"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744223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1779664"/>
            <a:ext cx="9144000" cy="1023357"/>
          </a:xfrm>
          <a:prstGeom prst="rect">
            <a:avLst/>
          </a:prstGeom>
        </p:spPr>
        <p:txBody>
          <a:bodyPr wrap="square">
            <a:spAutoFit/>
          </a:bodyPr>
          <a:lstStyle/>
          <a:p>
            <a:pPr algn="ctr"/>
            <a:r>
              <a:rPr lang="en-CA" sz="6050" b="1" dirty="0" err="1" smtClean="0">
                <a:latin typeface="Times New Roman" panose="02020603050405020304" pitchFamily="18" charset="0"/>
                <a:cs typeface="Times New Roman" panose="02020603050405020304" pitchFamily="18" charset="0"/>
              </a:rPr>
              <a:t>Intuitionismus</a:t>
            </a:r>
            <a:endParaRPr lang="en-CA" sz="605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69122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Intuitionismus</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46888" y="652670"/>
            <a:ext cx="8789608" cy="694944"/>
          </a:xfrm>
          <a:prstGeom prst="rect">
            <a:avLst/>
          </a:prstGeom>
          <a:noFill/>
        </p:spPr>
        <p:txBody>
          <a:bodyPr wrap="square" rtlCol="0">
            <a:noAutofit/>
          </a:bodyPr>
          <a:lstStyle/>
          <a:p>
            <a:r>
              <a:rPr lang="de-DE" b="1" dirty="0" smtClean="0">
                <a:latin typeface="Times New Roman" panose="02020603050405020304" pitchFamily="18" charset="0"/>
                <a:cs typeface="Times New Roman" panose="02020603050405020304" pitchFamily="18" charset="0"/>
              </a:rPr>
              <a:t>Grundidee: </a:t>
            </a:r>
            <a:r>
              <a:rPr lang="de-DE" dirty="0" smtClean="0">
                <a:latin typeface="Times New Roman" panose="02020603050405020304" pitchFamily="18" charset="0"/>
                <a:cs typeface="Times New Roman" panose="02020603050405020304" pitchFamily="18" charset="0"/>
              </a:rPr>
              <a:t>Mathematik besteht nicht in der Erkundung einer unabhängig bestehenden Welt, sondern ist die schöpferische Tätigkeit eines mathematischen Subjekts (</a:t>
            </a:r>
            <a:r>
              <a:rPr lang="de-DE" i="1" dirty="0" err="1" smtClean="0">
                <a:latin typeface="Times New Roman" panose="02020603050405020304" pitchFamily="18" charset="0"/>
                <a:cs typeface="Times New Roman" panose="02020603050405020304" pitchFamily="18" charset="0"/>
              </a:rPr>
              <a:t>creating</a:t>
            </a:r>
            <a:r>
              <a:rPr lang="de-DE" i="1" dirty="0" smtClean="0">
                <a:latin typeface="Times New Roman" panose="02020603050405020304" pitchFamily="18" charset="0"/>
                <a:cs typeface="Times New Roman" panose="02020603050405020304" pitchFamily="18" charset="0"/>
              </a:rPr>
              <a:t> </a:t>
            </a:r>
            <a:r>
              <a:rPr lang="de-DE" i="1" dirty="0" err="1" smtClean="0">
                <a:latin typeface="Times New Roman" panose="02020603050405020304" pitchFamily="18" charset="0"/>
                <a:cs typeface="Times New Roman" panose="02020603050405020304" pitchFamily="18" charset="0"/>
              </a:rPr>
              <a:t>subject</a:t>
            </a:r>
            <a:r>
              <a:rPr lang="de-DE" dirty="0" smtClean="0">
                <a:latin typeface="Times New Roman" panose="02020603050405020304" pitchFamily="18" charset="0"/>
                <a:cs typeface="Times New Roman" panose="02020603050405020304" pitchFamily="18" charset="0"/>
              </a:rPr>
              <a:t>).</a:t>
            </a:r>
          </a:p>
        </p:txBody>
      </p:sp>
      <p:pic>
        <p:nvPicPr>
          <p:cNvPr id="5" name="Picture 2" descr="prof.dr. Luitzen Egbertus Jan Brouwer (1881 - 1966) - Genealogy"/>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0" b="100000" l="0" r="100000">
                        <a14:foregroundMark x1="65966" y1="70523" x2="84454" y2="97245"/>
                        <a14:foregroundMark x1="39076" y1="69972" x2="17227" y2="88705"/>
                        <a14:foregroundMark x1="19748" y1="60606" x2="6723" y2="65840"/>
                        <a14:foregroundMark x1="26471" y1="52617" x2="1681" y2="66942"/>
                        <a14:foregroundMark x1="48739" y1="7713" x2="57143" y2="8815"/>
                        <a14:foregroundMark x1="57143" y1="8815" x2="67227" y2="12397"/>
                        <a14:foregroundMark x1="68067" y1="12948" x2="71849" y2="20937"/>
                        <a14:foregroundMark x1="31933" y1="12948" x2="26050" y2="18733"/>
                        <a14:foregroundMark x1="31933" y1="10744" x2="24370" y2="20937"/>
                        <a14:foregroundMark x1="30672" y1="12672" x2="38655" y2="8540"/>
                        <a14:backgroundMark x1="5462" y1="57300" x2="5462" y2="57300"/>
                        <a14:backgroundMark x1="7563" y1="60606" x2="7563" y2="60606"/>
                        <a14:backgroundMark x1="4622" y1="63912" x2="4622" y2="63912"/>
                        <a14:backgroundMark x1="3361" y1="65014" x2="3361" y2="65014"/>
                        <a14:backgroundMark x1="1261" y1="66116" x2="1261" y2="66116"/>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6948265" y="1779662"/>
            <a:ext cx="2266849" cy="3456384"/>
          </a:xfrm>
          <a:prstGeom prst="rect">
            <a:avLst/>
          </a:prstGeom>
          <a:noFill/>
          <a:effectLst>
            <a:softEdge rad="31750"/>
          </a:effectLst>
          <a:extLst>
            <a:ext uri="{909E8E84-426E-40DD-AFC4-6F175D3DCCD1}">
              <a14:hiddenFill xmlns:a14="http://schemas.microsoft.com/office/drawing/2010/main">
                <a:solidFill>
                  <a:srgbClr val="FFFFFF"/>
                </a:solidFill>
              </a14:hiddenFill>
            </a:ext>
          </a:extLst>
        </p:spPr>
      </p:pic>
      <p:sp>
        <p:nvSpPr>
          <p:cNvPr id="9" name="Textfeld 1 – Kopie"/>
          <p:cNvSpPr txBox="1"/>
          <p:nvPr/>
        </p:nvSpPr>
        <p:spPr>
          <a:xfrm>
            <a:off x="246888" y="1563638"/>
            <a:ext cx="6656832" cy="3163824"/>
          </a:xfrm>
          <a:prstGeom prst="rect">
            <a:avLst/>
          </a:prstGeom>
          <a:noFill/>
        </p:spPr>
        <p:txBody>
          <a:bodyPr wrap="square" rtlCol="0">
            <a:noAutofit/>
          </a:bodyPr>
          <a:lstStyle/>
          <a:p>
            <a:r>
              <a:rPr lang="de-DE" b="1" dirty="0" smtClean="0">
                <a:latin typeface="Times New Roman" panose="02020603050405020304" pitchFamily="18" charset="0"/>
                <a:cs typeface="Times New Roman" panose="02020603050405020304" pitchFamily="18" charset="0"/>
              </a:rPr>
              <a:t>„Zwei Akte des Intuitionismus“</a:t>
            </a:r>
          </a:p>
          <a:p>
            <a:pPr>
              <a:lnSpc>
                <a:spcPts val="600"/>
              </a:lnSpc>
              <a:spcBef>
                <a:spcPts val="0"/>
              </a:spcBef>
              <a:spcAft>
                <a:spcPts val="0"/>
              </a:spcAft>
              <a:defRPr sz="600"/>
            </a:pPr>
            <a:endParaRPr lang="de-DE"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sz="1600" b="1" dirty="0" smtClean="0">
                <a:latin typeface="Times New Roman" panose="02020603050405020304" pitchFamily="18" charset="0"/>
                <a:cs typeface="Times New Roman" panose="02020603050405020304" pitchFamily="18" charset="0"/>
              </a:rPr>
              <a:t>Erster Akt: </a:t>
            </a:r>
            <a:r>
              <a:rPr lang="de-DE" sz="1600" dirty="0" smtClean="0">
                <a:latin typeface="Times New Roman" panose="02020603050405020304" pitchFamily="18" charset="0"/>
                <a:cs typeface="Times New Roman" panose="02020603050405020304" pitchFamily="18" charset="0"/>
              </a:rPr>
              <a:t>Mathematik von Sprache trennen</a:t>
            </a:r>
          </a:p>
          <a:p>
            <a:pPr marL="285750" indent="-285750">
              <a:buFont typeface="Arial" panose="020B0604020202020204" pitchFamily="34" charset="0"/>
              <a:buChar char="•"/>
            </a:pPr>
            <a:r>
              <a:rPr lang="de-DE" sz="1600" b="1" dirty="0" smtClean="0">
                <a:latin typeface="Times New Roman" panose="02020603050405020304" pitchFamily="18" charset="0"/>
                <a:cs typeface="Times New Roman" panose="02020603050405020304" pitchFamily="18" charset="0"/>
              </a:rPr>
              <a:t>Zweiter Akt: </a:t>
            </a:r>
            <a:r>
              <a:rPr lang="de-DE" sz="1600" dirty="0" smtClean="0">
                <a:latin typeface="Times New Roman" panose="02020603050405020304" pitchFamily="18" charset="0"/>
                <a:cs typeface="Times New Roman" panose="02020603050405020304" pitchFamily="18" charset="0"/>
              </a:rPr>
              <a:t>Wahlfolgen, mathematische „Spezies“</a:t>
            </a:r>
          </a:p>
          <a:p>
            <a:pPr marL="285750" indent="-285750">
              <a:buFont typeface="Arial" panose="020B0604020202020204" pitchFamily="34" charset="0"/>
              <a:buChar char="•"/>
            </a:pPr>
            <a:endParaRPr lang="de-DE" sz="1600" dirty="0" smtClean="0">
              <a:latin typeface="Times New Roman" panose="02020603050405020304" pitchFamily="18" charset="0"/>
              <a:cs typeface="Times New Roman" panose="02020603050405020304" pitchFamily="18" charset="0"/>
            </a:endParaRPr>
          </a:p>
          <a:p>
            <a:pPr marL="285750" indent="-285750">
              <a:lnSpc>
                <a:spcPts val="600"/>
              </a:lnSpc>
              <a:spcBef>
                <a:spcPts val="0"/>
              </a:spcBef>
              <a:spcAft>
                <a:spcPts val="0"/>
              </a:spcAft>
              <a:buFont typeface="Arial" panose="020B0604020202020204" pitchFamily="34" charset="0"/>
              <a:buChar char="•"/>
              <a:defRPr sz="600"/>
            </a:pPr>
            <a:endParaRPr lang="de-DE" sz="1600" dirty="0">
              <a:latin typeface="Times New Roman" panose="02020603050405020304" pitchFamily="18" charset="0"/>
              <a:cs typeface="Times New Roman" panose="02020603050405020304" pitchFamily="18" charset="0"/>
            </a:endParaRPr>
          </a:p>
          <a:p>
            <a:r>
              <a:rPr lang="de-DE" b="1" dirty="0" smtClean="0">
                <a:latin typeface="Times New Roman" panose="02020603050405020304" pitchFamily="18" charset="0"/>
                <a:cs typeface="Times New Roman" panose="02020603050405020304" pitchFamily="18" charset="0"/>
              </a:rPr>
              <a:t>Mathematik kommt vor der Logik</a:t>
            </a:r>
          </a:p>
          <a:p>
            <a:pPr marL="285750" indent="-285750">
              <a:buFont typeface="Arial" panose="020B0604020202020204" pitchFamily="34" charset="0"/>
              <a:buChar char="•"/>
            </a:pPr>
            <a:r>
              <a:rPr lang="de-DE" sz="1600" dirty="0" smtClean="0">
                <a:latin typeface="Times New Roman" panose="02020603050405020304" pitchFamily="18" charset="0"/>
                <a:cs typeface="Times New Roman" panose="02020603050405020304" pitchFamily="18" charset="0"/>
              </a:rPr>
              <a:t>Ablehnung des </a:t>
            </a:r>
            <a:r>
              <a:rPr lang="de-DE" sz="1600" i="1" dirty="0" err="1" smtClean="0">
                <a:latin typeface="Times New Roman" panose="02020603050405020304" pitchFamily="18" charset="0"/>
                <a:cs typeface="Times New Roman" panose="02020603050405020304" pitchFamily="18" charset="0"/>
              </a:rPr>
              <a:t>Tertium</a:t>
            </a:r>
            <a:r>
              <a:rPr lang="de-DE" sz="1600" i="1" dirty="0" smtClean="0">
                <a:latin typeface="Times New Roman" panose="02020603050405020304" pitchFamily="18" charset="0"/>
                <a:cs typeface="Times New Roman" panose="02020603050405020304" pitchFamily="18" charset="0"/>
              </a:rPr>
              <a:t> non </a:t>
            </a:r>
            <a:r>
              <a:rPr lang="de-DE" sz="1600" i="1" dirty="0" err="1" smtClean="0">
                <a:latin typeface="Times New Roman" panose="02020603050405020304" pitchFamily="18" charset="0"/>
                <a:cs typeface="Times New Roman" panose="02020603050405020304" pitchFamily="18" charset="0"/>
              </a:rPr>
              <a:t>datur</a:t>
            </a:r>
            <a:r>
              <a:rPr lang="de-DE" sz="1600" i="1" dirty="0" smtClean="0">
                <a:latin typeface="Times New Roman" panose="02020603050405020304" pitchFamily="18" charset="0"/>
                <a:cs typeface="Times New Roman" panose="02020603050405020304" pitchFamily="18" charset="0"/>
              </a:rPr>
              <a:t> </a:t>
            </a:r>
            <a:r>
              <a:rPr lang="de-DE" sz="1600" dirty="0" smtClean="0">
                <a:latin typeface="Times New Roman" panose="02020603050405020304" pitchFamily="18" charset="0"/>
                <a:cs typeface="Times New Roman" panose="02020603050405020304" pitchFamily="18" charset="0"/>
              </a:rPr>
              <a:t>und keine klassische doppelte Negation</a:t>
            </a:r>
          </a:p>
          <a:p>
            <a:pPr marL="285750" indent="-285750">
              <a:buFont typeface="Arial" panose="020B0604020202020204" pitchFamily="34" charset="0"/>
              <a:buChar char="•"/>
            </a:pPr>
            <a:r>
              <a:rPr lang="de-DE" sz="1600" dirty="0" smtClean="0">
                <a:latin typeface="Times New Roman" panose="02020603050405020304" pitchFamily="18" charset="0"/>
                <a:cs typeface="Times New Roman" panose="02020603050405020304" pitchFamily="18" charset="0"/>
              </a:rPr>
              <a:t>Konstruktive Methoden</a:t>
            </a:r>
          </a:p>
          <a:p>
            <a:pPr marL="285750" indent="-285750">
              <a:buFont typeface="Arial" panose="020B0604020202020204" pitchFamily="34" charset="0"/>
              <a:buChar char="•"/>
            </a:pPr>
            <a:r>
              <a:rPr lang="de-DE" sz="1600" dirty="0" smtClean="0">
                <a:latin typeface="Times New Roman" panose="02020603050405020304" pitchFamily="18" charset="0"/>
                <a:cs typeface="Times New Roman" panose="02020603050405020304" pitchFamily="18" charset="0"/>
              </a:rPr>
              <a:t>Potentielle Unendlichkeit, keine aktuale</a:t>
            </a:r>
          </a:p>
        </p:txBody>
      </p:sp>
      <p:sp>
        <p:nvSpPr>
          <p:cNvPr id="10" name="Quellenangabe 10" descr="Brouwer, L. E. J. (1952): Historical background, principles and methods of intuitionism."/>
          <p:cNvSpPr txBox="1"/>
          <p:nvPr/>
        </p:nvSpPr>
        <p:spPr>
          <a:xfrm>
            <a:off x="310896" y="4910328"/>
            <a:ext cx="6400800" cy="164592"/>
          </a:xfrm>
          <a:prstGeom prst="rect">
            <a:avLst/>
          </a:prstGeom>
          <a:noFill/>
          <a:ln>
            <a:noFill/>
          </a:ln>
        </p:spPr>
        <p:txBody>
          <a:bodyPr wrap="none" lIns="0" tIns="0" rIns="0" bIns="0" anchor="t">
            <a:noAutofit/>
          </a:bodyPr>
          <a:lstStyle/>
          <a:p>
            <a:pPr marL="0" marR="0" indent="0" algn="l">
              <a:lnSpc>
                <a:spcPts val="862"/>
              </a:lnSpc>
              <a:spcBef>
                <a:spcPts val="0"/>
              </a:spcBef>
              <a:spcAft>
                <a:spcPts val="0"/>
              </a:spcAft>
              <a:buNone/>
            </a:pPr>
            <a:r>
              <a:rPr lang="de-DE" sz="750" b="0" i="0" u="none" dirty="0">
                <a:solidFill>
                  <a:srgbClr val="6B6B6B"/>
                </a:solidFill>
                <a:latin typeface="Times New Roman"/>
                <a:ea typeface="Times New Roman"/>
                <a:cs typeface="Times New Roman"/>
              </a:rPr>
              <a:t>Brouwer, L. E. J. (1952): Historical background, principles and methods of intuitionism.</a:t>
            </a:r>
            <a:endParaRPr lang="de-DE" sz="750"/>
          </a:p>
        </p:txBody>
      </p:sp>
      <p:sp>
        <p:nvSpPr>
          <p:cNvPr id="3" name="Textfeld 2"/>
          <p:cNvSpPr txBox="1"/>
          <p:nvPr/>
        </p:nvSpPr>
        <p:spPr>
          <a:xfrm>
            <a:off x="7233592" y="1529730"/>
            <a:ext cx="1728192" cy="492443"/>
          </a:xfrm>
          <a:prstGeom prst="rect">
            <a:avLst/>
          </a:prstGeom>
          <a:noFill/>
        </p:spPr>
        <p:txBody>
          <a:bodyPr wrap="square" rtlCol="0">
            <a:spAutoFit/>
          </a:bodyPr>
          <a:lstStyle/>
          <a:p>
            <a:pPr algn="ctr"/>
            <a:r>
              <a:rPr lang="de-DE" sz="1400" b="1" dirty="0" smtClean="0">
                <a:latin typeface="Times New Roman" panose="02020603050405020304" pitchFamily="18" charset="0"/>
                <a:cs typeface="Times New Roman" panose="02020603050405020304" pitchFamily="18" charset="0"/>
              </a:rPr>
              <a:t>L.E.J. </a:t>
            </a:r>
            <a:r>
              <a:rPr lang="de-DE" sz="1400" b="1" dirty="0" err="1" smtClean="0">
                <a:latin typeface="Times New Roman" panose="02020603050405020304" pitchFamily="18" charset="0"/>
                <a:cs typeface="Times New Roman" panose="02020603050405020304" pitchFamily="18" charset="0"/>
              </a:rPr>
              <a:t>Brouwer</a:t>
            </a:r>
            <a:r>
              <a:rPr lang="de-DE" sz="1400" b="1" dirty="0" smtClean="0">
                <a:latin typeface="Times New Roman" panose="02020603050405020304" pitchFamily="18" charset="0"/>
                <a:cs typeface="Times New Roman" panose="02020603050405020304" pitchFamily="18" charset="0"/>
              </a:rPr>
              <a:t> </a:t>
            </a:r>
          </a:p>
          <a:p>
            <a:pPr algn="ctr"/>
            <a:r>
              <a:rPr lang="de-DE" sz="1200" dirty="0" smtClean="0">
                <a:latin typeface="Times New Roman" panose="02020603050405020304" pitchFamily="18" charset="0"/>
                <a:cs typeface="Times New Roman" panose="02020603050405020304" pitchFamily="18" charset="0"/>
              </a:rPr>
              <a:t>(1881-1966)</a:t>
            </a:r>
          </a:p>
        </p:txBody>
      </p:sp>
    </p:spTree>
    <p:extLst>
      <p:ext uri="{BB962C8B-B14F-4D97-AF65-F5344CB8AC3E}">
        <p14:creationId xmlns:p14="http://schemas.microsoft.com/office/powerpoint/2010/main" val="37736671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Anti-Formalismus und Anti-Platonismus</a:t>
            </a:r>
            <a:endParaRPr lang="en-CA" sz="32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347472" y="905256"/>
            <a:ext cx="3886200" cy="384048"/>
          </a:xfrm>
          <a:prstGeom prst="rect">
            <a:avLst/>
          </a:prstGeom>
          <a:noFill/>
        </p:spPr>
        <p:txBody>
          <a:bodyPr wrap="square" lIns="0" tIns="0" rIns="0" bIns="0" anchor="t">
            <a:noAutofit/>
          </a:bodyPr>
          <a:lstStyle/>
          <a:p>
            <a:pPr algn="l">
              <a:lnSpc>
                <a:spcPct val="105000"/>
              </a:lnSpc>
              <a:spcBef>
                <a:spcPts val="0"/>
              </a:spcBef>
              <a:spcAft>
                <a:spcPts val="0"/>
              </a:spcAft>
            </a:pPr>
            <a:r>
              <a:rPr lang="de-DE" sz="2200" b="1" i="0" dirty="0">
                <a:solidFill>
                  <a:srgbClr val="000000"/>
                </a:solidFill>
                <a:latin typeface="Times New Roman"/>
              </a:rPr>
              <a:t>Anti-Formalismus</a:t>
            </a:r>
          </a:p>
        </p:txBody>
      </p:sp>
      <p:sp>
        <p:nvSpPr>
          <p:cNvPr id="5" name="TextBox 4"/>
          <p:cNvSpPr txBox="1"/>
          <p:nvPr/>
        </p:nvSpPr>
        <p:spPr>
          <a:xfrm>
            <a:off x="4901184" y="905256"/>
            <a:ext cx="3886200" cy="384048"/>
          </a:xfrm>
          <a:prstGeom prst="rect">
            <a:avLst/>
          </a:prstGeom>
          <a:noFill/>
        </p:spPr>
        <p:txBody>
          <a:bodyPr wrap="square" lIns="0" tIns="0" rIns="0" bIns="0" anchor="t">
            <a:noAutofit/>
          </a:bodyPr>
          <a:lstStyle/>
          <a:p>
            <a:pPr algn="l">
              <a:lnSpc>
                <a:spcPct val="105000"/>
              </a:lnSpc>
              <a:spcBef>
                <a:spcPts val="0"/>
              </a:spcBef>
              <a:spcAft>
                <a:spcPts val="0"/>
              </a:spcAft>
            </a:pPr>
            <a:r>
              <a:rPr lang="de-DE" sz="2200" b="1" i="0">
                <a:solidFill>
                  <a:srgbClr val="000000"/>
                </a:solidFill>
                <a:latin typeface="Times New Roman"/>
              </a:rPr>
              <a:t>Anti-Platonismus</a:t>
            </a:r>
          </a:p>
        </p:txBody>
      </p:sp>
      <p:cxnSp>
        <p:nvCxnSpPr>
          <p:cNvPr id="6" name="Connector 5"/>
          <p:cNvCxnSpPr/>
          <p:nvPr/>
        </p:nvCxnSpPr>
        <p:spPr>
          <a:xfrm>
            <a:off x="4572000" y="923544"/>
            <a:ext cx="0" cy="2478024"/>
          </a:xfrm>
          <a:prstGeom prst="line">
            <a:avLst/>
          </a:prstGeom>
          <a:ln w="1016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356616" y="1499616"/>
            <a:ext cx="3999360" cy="1828800"/>
          </a:xfrm>
          <a:prstGeom prst="rect">
            <a:avLst/>
          </a:prstGeom>
          <a:noFill/>
        </p:spPr>
        <p:txBody>
          <a:bodyPr wrap="square" lIns="0" tIns="0" rIns="0" bIns="0" anchor="t">
            <a:noAutofit/>
          </a:bodyPr>
          <a:lstStyle/>
          <a:p>
            <a:pPr marL="182880" indent="-182880" algn="l">
              <a:lnSpc>
                <a:spcPct val="106000"/>
              </a:lnSpc>
              <a:spcBef>
                <a:spcPts val="0"/>
              </a:spcBef>
              <a:spcAft>
                <a:spcPts val="2000"/>
              </a:spcAft>
              <a:buChar char="•"/>
            </a:pPr>
            <a:r>
              <a:rPr sz="2000" dirty="0" err="1">
                <a:solidFill>
                  <a:srgbClr val="000000"/>
                </a:solidFill>
                <a:latin typeface="Times New Roman"/>
              </a:rPr>
              <a:t>Mathematik</a:t>
            </a:r>
            <a:r>
              <a:rPr sz="2000" dirty="0">
                <a:solidFill>
                  <a:srgbClr val="000000"/>
                </a:solidFill>
                <a:latin typeface="Times New Roman"/>
              </a:rPr>
              <a:t> </a:t>
            </a:r>
            <a:r>
              <a:rPr sz="2000" dirty="0" err="1">
                <a:solidFill>
                  <a:srgbClr val="000000"/>
                </a:solidFill>
                <a:latin typeface="Times New Roman"/>
              </a:rPr>
              <a:t>ist</a:t>
            </a:r>
            <a:r>
              <a:rPr sz="2000" dirty="0">
                <a:solidFill>
                  <a:srgbClr val="000000"/>
                </a:solidFill>
                <a:latin typeface="Times New Roman"/>
              </a:rPr>
              <a:t> </a:t>
            </a:r>
            <a:r>
              <a:rPr sz="2000" dirty="0" err="1">
                <a:solidFill>
                  <a:srgbClr val="000000"/>
                </a:solidFill>
                <a:latin typeface="Times New Roman"/>
              </a:rPr>
              <a:t>nicht</a:t>
            </a:r>
            <a:r>
              <a:rPr sz="2000" dirty="0">
                <a:solidFill>
                  <a:srgbClr val="000000"/>
                </a:solidFill>
                <a:latin typeface="Times New Roman"/>
              </a:rPr>
              <a:t> </a:t>
            </a:r>
            <a:r>
              <a:rPr sz="2000" dirty="0" err="1">
                <a:solidFill>
                  <a:srgbClr val="000000"/>
                </a:solidFill>
                <a:latin typeface="Times New Roman"/>
              </a:rPr>
              <a:t>mit</a:t>
            </a:r>
            <a:r>
              <a:rPr sz="2000" dirty="0">
                <a:solidFill>
                  <a:srgbClr val="000000"/>
                </a:solidFill>
                <a:latin typeface="Times New Roman"/>
              </a:rPr>
              <a:t> </a:t>
            </a:r>
            <a:r>
              <a:rPr sz="2000" dirty="0" err="1">
                <a:solidFill>
                  <a:srgbClr val="000000"/>
                </a:solidFill>
                <a:latin typeface="Times New Roman"/>
              </a:rPr>
              <a:t>regelgerechter</a:t>
            </a:r>
            <a:r>
              <a:rPr sz="2000" dirty="0">
                <a:solidFill>
                  <a:srgbClr val="000000"/>
                </a:solidFill>
                <a:latin typeface="Times New Roman"/>
              </a:rPr>
              <a:t> </a:t>
            </a:r>
            <a:r>
              <a:rPr sz="2000" dirty="0" err="1">
                <a:solidFill>
                  <a:srgbClr val="000000"/>
                </a:solidFill>
                <a:latin typeface="Times New Roman"/>
              </a:rPr>
              <a:t>Zeichenmanipulation</a:t>
            </a:r>
            <a:r>
              <a:rPr sz="2000" dirty="0">
                <a:solidFill>
                  <a:srgbClr val="000000"/>
                </a:solidFill>
                <a:latin typeface="Times New Roman"/>
              </a:rPr>
              <a:t> </a:t>
            </a:r>
            <a:r>
              <a:rPr sz="2000" dirty="0" err="1">
                <a:solidFill>
                  <a:srgbClr val="000000"/>
                </a:solidFill>
                <a:latin typeface="Times New Roman"/>
              </a:rPr>
              <a:t>identisch</a:t>
            </a:r>
            <a:r>
              <a:rPr sz="2000" dirty="0">
                <a:solidFill>
                  <a:srgbClr val="000000"/>
                </a:solidFill>
                <a:latin typeface="Times New Roman"/>
              </a:rPr>
              <a:t>.</a:t>
            </a:r>
          </a:p>
          <a:p>
            <a:pPr marL="182880" indent="-182880" algn="l">
              <a:lnSpc>
                <a:spcPct val="106000"/>
              </a:lnSpc>
              <a:spcBef>
                <a:spcPts val="0"/>
              </a:spcBef>
              <a:spcAft>
                <a:spcPts val="2000"/>
              </a:spcAft>
              <a:buChar char="•"/>
            </a:pPr>
            <a:r>
              <a:rPr sz="2000" dirty="0" err="1">
                <a:solidFill>
                  <a:srgbClr val="000000"/>
                </a:solidFill>
                <a:latin typeface="Times New Roman"/>
              </a:rPr>
              <a:t>Formale</a:t>
            </a:r>
            <a:r>
              <a:rPr sz="2000" dirty="0">
                <a:solidFill>
                  <a:srgbClr val="000000"/>
                </a:solidFill>
                <a:latin typeface="Times New Roman"/>
              </a:rPr>
              <a:t> </a:t>
            </a:r>
            <a:r>
              <a:rPr sz="2000" dirty="0" err="1">
                <a:solidFill>
                  <a:srgbClr val="000000"/>
                </a:solidFill>
                <a:latin typeface="Times New Roman"/>
              </a:rPr>
              <a:t>Korrektheit</a:t>
            </a:r>
            <a:r>
              <a:rPr sz="2000" dirty="0">
                <a:solidFill>
                  <a:srgbClr val="000000"/>
                </a:solidFill>
                <a:latin typeface="Times New Roman"/>
              </a:rPr>
              <a:t> </a:t>
            </a:r>
            <a:r>
              <a:rPr sz="2000" dirty="0" err="1">
                <a:solidFill>
                  <a:srgbClr val="000000"/>
                </a:solidFill>
                <a:latin typeface="Times New Roman"/>
              </a:rPr>
              <a:t>ersetzt</a:t>
            </a:r>
            <a:r>
              <a:rPr sz="2000" dirty="0">
                <a:solidFill>
                  <a:srgbClr val="000000"/>
                </a:solidFill>
                <a:latin typeface="Times New Roman"/>
              </a:rPr>
              <a:t> </a:t>
            </a:r>
            <a:r>
              <a:rPr sz="2000" dirty="0" err="1">
                <a:solidFill>
                  <a:srgbClr val="000000"/>
                </a:solidFill>
                <a:latin typeface="Times New Roman"/>
              </a:rPr>
              <a:t>nicht</a:t>
            </a:r>
            <a:r>
              <a:rPr sz="2000" dirty="0">
                <a:solidFill>
                  <a:srgbClr val="000000"/>
                </a:solidFill>
                <a:latin typeface="Times New Roman"/>
              </a:rPr>
              <a:t> die </a:t>
            </a:r>
            <a:r>
              <a:rPr sz="2000" dirty="0" err="1">
                <a:solidFill>
                  <a:srgbClr val="000000"/>
                </a:solidFill>
                <a:latin typeface="Times New Roman"/>
              </a:rPr>
              <a:t>Einsicht</a:t>
            </a:r>
            <a:r>
              <a:rPr sz="2000" dirty="0">
                <a:solidFill>
                  <a:srgbClr val="000000"/>
                </a:solidFill>
                <a:latin typeface="Times New Roman"/>
              </a:rPr>
              <a:t> in </a:t>
            </a:r>
            <a:r>
              <a:rPr sz="2000" dirty="0" err="1">
                <a:solidFill>
                  <a:srgbClr val="000000"/>
                </a:solidFill>
                <a:latin typeface="Times New Roman"/>
              </a:rPr>
              <a:t>eine</a:t>
            </a:r>
            <a:r>
              <a:rPr sz="2000" dirty="0">
                <a:solidFill>
                  <a:srgbClr val="000000"/>
                </a:solidFill>
                <a:latin typeface="Times New Roman"/>
              </a:rPr>
              <a:t> </a:t>
            </a:r>
            <a:r>
              <a:rPr sz="2000" dirty="0" err="1">
                <a:solidFill>
                  <a:srgbClr val="000000"/>
                </a:solidFill>
                <a:latin typeface="Times New Roman"/>
              </a:rPr>
              <a:t>Konstruktion</a:t>
            </a:r>
            <a:r>
              <a:rPr sz="2000" dirty="0">
                <a:solidFill>
                  <a:srgbClr val="000000"/>
                </a:solidFill>
                <a:latin typeface="Times New Roman"/>
              </a:rPr>
              <a:t>.</a:t>
            </a:r>
          </a:p>
        </p:txBody>
      </p:sp>
      <p:sp>
        <p:nvSpPr>
          <p:cNvPr id="8" name="TextBox 7"/>
          <p:cNvSpPr txBox="1"/>
          <p:nvPr/>
        </p:nvSpPr>
        <p:spPr>
          <a:xfrm>
            <a:off x="4910328" y="1499616"/>
            <a:ext cx="3849624" cy="1828800"/>
          </a:xfrm>
          <a:prstGeom prst="rect">
            <a:avLst/>
          </a:prstGeom>
          <a:noFill/>
        </p:spPr>
        <p:txBody>
          <a:bodyPr wrap="square" lIns="0" tIns="0" rIns="0" bIns="0" anchor="t">
            <a:noAutofit/>
          </a:bodyPr>
          <a:lstStyle/>
          <a:p>
            <a:pPr marL="182880" indent="-182880" algn="l">
              <a:lnSpc>
                <a:spcPct val="106000"/>
              </a:lnSpc>
              <a:spcBef>
                <a:spcPts val="0"/>
              </a:spcBef>
              <a:spcAft>
                <a:spcPts val="2000"/>
              </a:spcAft>
              <a:buChar char="•"/>
            </a:pPr>
            <a:r>
              <a:rPr sz="2000">
                <a:solidFill>
                  <a:srgbClr val="000000"/>
                </a:solidFill>
                <a:latin typeface="Times New Roman"/>
              </a:rPr>
              <a:t>Keine fertig bestehende mathematische Welt unabhängig vom erkennenden Subjekt.</a:t>
            </a:r>
          </a:p>
          <a:p>
            <a:pPr marL="182880" indent="-182880" algn="l">
              <a:lnSpc>
                <a:spcPct val="106000"/>
              </a:lnSpc>
              <a:spcBef>
                <a:spcPts val="0"/>
              </a:spcBef>
              <a:spcAft>
                <a:spcPts val="2000"/>
              </a:spcAft>
              <a:buChar char="•"/>
            </a:pPr>
            <a:r>
              <a:rPr sz="2000">
                <a:solidFill>
                  <a:srgbClr val="000000"/>
                </a:solidFill>
                <a:latin typeface="Times New Roman"/>
              </a:rPr>
              <a:t>Wahrheit wird im Vollzug einer Konstruktion gerechtfertigt.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Intuitionismus</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274320" y="813816"/>
            <a:ext cx="2651760" cy="640080"/>
          </a:xfrm>
          <a:prstGeom prst="rect">
            <a:avLst/>
          </a:prstGeom>
          <a:noFill/>
        </p:spPr>
        <p:txBody>
          <a:bodyPr wrap="square" lIns="0" tIns="0" rIns="0" bIns="0" rtlCol="0">
            <a:noAutofit/>
          </a:bodyPr>
          <a:lstStyle/>
          <a:p>
            <a:pPr algn="l"/>
            <a:r>
              <a:rPr lang="de-DE" sz="2000" b="1" dirty="0" smtClean="0">
                <a:latin typeface="Times New Roman" panose="02020603050405020304" pitchFamily="18" charset="0"/>
                <a:cs typeface="Times New Roman" panose="02020603050405020304" pitchFamily="18" charset="0"/>
              </a:rPr>
              <a:t>Mathematik als Tätigkeit</a:t>
            </a:r>
            <a:endParaRPr lang="de-DE" sz="2000" b="1" dirty="0">
              <a:latin typeface="Times New Roman" panose="02020603050405020304" pitchFamily="18" charset="0"/>
              <a:cs typeface="Times New Roman" panose="02020603050405020304" pitchFamily="18" charset="0"/>
            </a:endParaRPr>
          </a:p>
        </p:txBody>
      </p:sp>
      <p:sp>
        <p:nvSpPr>
          <p:cNvPr id="4" name="Textfeld 3"/>
          <p:cNvSpPr txBox="1"/>
          <p:nvPr/>
        </p:nvSpPr>
        <p:spPr>
          <a:xfrm>
            <a:off x="274320" y="1591056"/>
            <a:ext cx="2651760" cy="3090672"/>
          </a:xfrm>
          <a:prstGeom prst="rect">
            <a:avLst/>
          </a:prstGeom>
          <a:noFill/>
        </p:spPr>
        <p:txBody>
          <a:bodyPr wrap="square" lIns="0" tIns="0" rIns="0" bIns="0" rtlCol="0">
            <a:noAutofit/>
          </a:bodyPr>
          <a:lstStyle/>
          <a:p>
            <a:pPr algn="l">
              <a:defRPr sz="1800"/>
            </a:pPr>
            <a:r>
              <a:rPr lang="de-DE" sz="1800" dirty="0" smtClean="0">
                <a:latin typeface="Times New Roman" panose="02020603050405020304" pitchFamily="18" charset="0"/>
                <a:cs typeface="Times New Roman" panose="02020603050405020304" pitchFamily="18" charset="0"/>
              </a:rPr>
              <a:t>Mathematik ist eine vom menschlichen Geist vollzogene, sprachlose Konstruktion</a:t>
            </a:r>
            <a:endParaRPr lang="de-DE" sz="2000" dirty="0">
              <a:latin typeface="Times New Roman" panose="02020603050405020304" pitchFamily="18" charset="0"/>
              <a:cs typeface="Times New Roman" panose="02020603050405020304" pitchFamily="18" charset="0"/>
            </a:endParaRPr>
          </a:p>
        </p:txBody>
      </p:sp>
      <p:cxnSp>
        <p:nvCxnSpPr>
          <p:cNvPr id="6" name="Gerade Verbindung 5"/>
          <p:cNvCxnSpPr/>
          <p:nvPr/>
        </p:nvCxnSpPr>
        <p:spPr>
          <a:xfrm>
            <a:off x="3072384" y="822960"/>
            <a:ext cx="0" cy="38679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9" name="Textfeld 8"/>
          <p:cNvSpPr txBox="1"/>
          <p:nvPr/>
        </p:nvSpPr>
        <p:spPr>
          <a:xfrm>
            <a:off x="3264408" y="813816"/>
            <a:ext cx="2615184" cy="640080"/>
          </a:xfrm>
          <a:prstGeom prst="rect">
            <a:avLst/>
          </a:prstGeom>
          <a:noFill/>
        </p:spPr>
        <p:txBody>
          <a:bodyPr wrap="square" lIns="0" tIns="0" rIns="0" bIns="0" rtlCol="0">
            <a:noAutofit/>
          </a:bodyPr>
          <a:lstStyle/>
          <a:p>
            <a:pPr algn="l"/>
            <a:r>
              <a:rPr lang="de-DE" sz="2000" b="1" dirty="0" smtClean="0">
                <a:latin typeface="Times New Roman" panose="02020603050405020304" pitchFamily="18" charset="0"/>
                <a:cs typeface="Times New Roman" panose="02020603050405020304" pitchFamily="18" charset="0"/>
              </a:rPr>
              <a:t>Wahrheit als Vollzug</a:t>
            </a:r>
            <a:endParaRPr lang="de-DE" sz="2000" b="1" dirty="0">
              <a:latin typeface="Times New Roman" panose="02020603050405020304" pitchFamily="18" charset="0"/>
              <a:cs typeface="Times New Roman" panose="02020603050405020304" pitchFamily="18" charset="0"/>
            </a:endParaRPr>
          </a:p>
        </p:txBody>
      </p:sp>
      <p:sp>
        <p:nvSpPr>
          <p:cNvPr id="10" name="Textfeld 9"/>
          <p:cNvSpPr txBox="1"/>
          <p:nvPr/>
        </p:nvSpPr>
        <p:spPr>
          <a:xfrm>
            <a:off x="3264408" y="1425294"/>
            <a:ext cx="2615184" cy="3090672"/>
          </a:xfrm>
          <a:prstGeom prst="rect">
            <a:avLst/>
          </a:prstGeom>
          <a:noFill/>
        </p:spPr>
        <p:txBody>
          <a:bodyPr wrap="square" lIns="0" tIns="0" rIns="0" bIns="0" rtlCol="0">
            <a:noAutofit/>
          </a:bodyPr>
          <a:lstStyle/>
          <a:p>
            <a:pPr algn="l"/>
            <a:r>
              <a:rPr lang="de-DE" dirty="0" smtClean="0">
                <a:latin typeface="Times New Roman" panose="02020603050405020304" pitchFamily="18" charset="0"/>
                <a:cs typeface="Times New Roman" panose="02020603050405020304" pitchFamily="18" charset="0"/>
              </a:rPr>
              <a:t>„</a:t>
            </a:r>
            <a:r>
              <a:rPr lang="de-DE" dirty="0" err="1" smtClean="0">
                <a:latin typeface="Times New Roman" panose="02020603050405020304" pitchFamily="18" charset="0"/>
                <a:cs typeface="Times New Roman" panose="02020603050405020304" pitchFamily="18" charset="0"/>
              </a:rPr>
              <a:t>Truth</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is</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only</a:t>
            </a:r>
            <a:r>
              <a:rPr lang="de-DE" dirty="0" smtClean="0">
                <a:latin typeface="Times New Roman" panose="02020603050405020304" pitchFamily="18" charset="0"/>
                <a:cs typeface="Times New Roman" panose="02020603050405020304" pitchFamily="18" charset="0"/>
              </a:rPr>
              <a:t> in </a:t>
            </a:r>
            <a:r>
              <a:rPr lang="de-DE" dirty="0" err="1" smtClean="0">
                <a:latin typeface="Times New Roman" panose="02020603050405020304" pitchFamily="18" charset="0"/>
                <a:cs typeface="Times New Roman" panose="02020603050405020304" pitchFamily="18" charset="0"/>
              </a:rPr>
              <a:t>reality</a:t>
            </a:r>
            <a:r>
              <a:rPr lang="de-DE" dirty="0" smtClean="0">
                <a:latin typeface="Times New Roman" panose="02020603050405020304" pitchFamily="18" charset="0"/>
                <a:cs typeface="Times New Roman" panose="02020603050405020304" pitchFamily="18" charset="0"/>
              </a:rPr>
              <a:t>, i. e. in </a:t>
            </a:r>
            <a:r>
              <a:rPr lang="de-DE" dirty="0" err="1" smtClean="0">
                <a:latin typeface="Times New Roman" panose="02020603050405020304" pitchFamily="18" charset="0"/>
                <a:cs typeface="Times New Roman" panose="02020603050405020304" pitchFamily="18" charset="0"/>
              </a:rPr>
              <a:t>the</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present</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and</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past</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experiences</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of</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consciousness</a:t>
            </a:r>
            <a:r>
              <a:rPr lang="de-DE" dirty="0" smtClean="0">
                <a:latin typeface="Times New Roman" panose="02020603050405020304" pitchFamily="18" charset="0"/>
                <a:cs typeface="Times New Roman" panose="02020603050405020304" pitchFamily="18" charset="0"/>
              </a:rPr>
              <a:t>“</a:t>
            </a:r>
          </a:p>
          <a:p>
            <a:pPr algn="l"/>
            <a:endParaRPr lang="de-DE" dirty="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rPr>
              <a:t>„</a:t>
            </a:r>
            <a:r>
              <a:rPr lang="de-DE" dirty="0" err="1" smtClean="0">
                <a:latin typeface="Times New Roman" panose="02020603050405020304" pitchFamily="18" charset="0"/>
                <a:cs typeface="Times New Roman" panose="02020603050405020304" pitchFamily="18" charset="0"/>
              </a:rPr>
              <a:t>there</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are</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no</a:t>
            </a:r>
            <a:r>
              <a:rPr lang="de-DE" dirty="0" smtClean="0">
                <a:latin typeface="Times New Roman" panose="02020603050405020304" pitchFamily="18" charset="0"/>
                <a:cs typeface="Times New Roman" panose="02020603050405020304" pitchFamily="18" charset="0"/>
              </a:rPr>
              <a:t> non-</a:t>
            </a:r>
            <a:r>
              <a:rPr lang="de-DE" dirty="0" err="1" smtClean="0">
                <a:latin typeface="Times New Roman" panose="02020603050405020304" pitchFamily="18" charset="0"/>
                <a:cs typeface="Times New Roman" panose="02020603050405020304" pitchFamily="18" charset="0"/>
              </a:rPr>
              <a:t>experienced</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truths</a:t>
            </a:r>
            <a:r>
              <a:rPr lang="de-DE" dirty="0" smtClean="0">
                <a:latin typeface="Times New Roman" panose="02020603050405020304" pitchFamily="18" charset="0"/>
                <a:cs typeface="Times New Roman" panose="02020603050405020304" pitchFamily="18" charset="0"/>
              </a:rPr>
              <a:t>“</a:t>
            </a:r>
          </a:p>
          <a:p>
            <a:pPr algn="l"/>
            <a:endParaRPr lang="de-DE" dirty="0">
              <a:latin typeface="Times New Roman" panose="02020603050405020304" pitchFamily="18" charset="0"/>
              <a:cs typeface="Times New Roman" panose="02020603050405020304" pitchFamily="18" charset="0"/>
            </a:endParaRPr>
          </a:p>
          <a:p>
            <a:pPr algn="l"/>
            <a:r>
              <a:rPr lang="de-DE" b="1" dirty="0" smtClean="0">
                <a:latin typeface="Times New Roman" panose="02020603050405020304" pitchFamily="18" charset="0"/>
                <a:cs typeface="Times New Roman" panose="02020603050405020304" pitchFamily="18" charset="0"/>
              </a:rPr>
              <a:t>Also:</a:t>
            </a:r>
          </a:p>
          <a:p>
            <a:pPr algn="l"/>
            <a:r>
              <a:rPr lang="de-DE" dirty="0" smtClean="0">
                <a:latin typeface="Times New Roman" panose="02020603050405020304" pitchFamily="18" charset="0"/>
                <a:cs typeface="Times New Roman" panose="02020603050405020304" pitchFamily="18" charset="0"/>
              </a:rPr>
              <a:t>Wahrheit ist nicht unabhängig vom Erkennenden gegeben.</a:t>
            </a:r>
            <a:endParaRPr lang="de-DE" dirty="0">
              <a:latin typeface="Times New Roman" panose="02020603050405020304" pitchFamily="18" charset="0"/>
              <a:cs typeface="Times New Roman" panose="02020603050405020304" pitchFamily="18" charset="0"/>
            </a:endParaRPr>
          </a:p>
        </p:txBody>
      </p:sp>
      <p:cxnSp>
        <p:nvCxnSpPr>
          <p:cNvPr id="11" name="Gerade Verbindung 10"/>
          <p:cNvCxnSpPr/>
          <p:nvPr/>
        </p:nvCxnSpPr>
        <p:spPr>
          <a:xfrm>
            <a:off x="6053328" y="822960"/>
            <a:ext cx="0" cy="3867912"/>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2" name="Textfeld 11"/>
          <p:cNvSpPr txBox="1"/>
          <p:nvPr/>
        </p:nvSpPr>
        <p:spPr>
          <a:xfrm>
            <a:off x="6236208" y="813816"/>
            <a:ext cx="2624328" cy="640080"/>
          </a:xfrm>
          <a:prstGeom prst="rect">
            <a:avLst/>
          </a:prstGeom>
          <a:noFill/>
        </p:spPr>
        <p:txBody>
          <a:bodyPr wrap="square" lIns="0" tIns="0" rIns="0" bIns="0" rtlCol="0">
            <a:noAutofit/>
          </a:bodyPr>
          <a:lstStyle/>
          <a:p>
            <a:pPr algn="l"/>
            <a:r>
              <a:rPr lang="de-DE" sz="2000" b="1" dirty="0" smtClean="0">
                <a:latin typeface="Times New Roman" panose="02020603050405020304" pitchFamily="18" charset="0"/>
                <a:cs typeface="Times New Roman" panose="02020603050405020304" pitchFamily="18" charset="0"/>
              </a:rPr>
              <a:t>Grenze von Formalisierungen</a:t>
            </a:r>
            <a:endParaRPr lang="de-DE" sz="2000" b="1" dirty="0">
              <a:latin typeface="Times New Roman" panose="02020603050405020304" pitchFamily="18" charset="0"/>
              <a:cs typeface="Times New Roman" panose="02020603050405020304" pitchFamily="18" charset="0"/>
            </a:endParaRPr>
          </a:p>
        </p:txBody>
      </p:sp>
      <p:sp>
        <p:nvSpPr>
          <p:cNvPr id="13" name="Rechteck 12"/>
          <p:cNvSpPr/>
          <p:nvPr/>
        </p:nvSpPr>
        <p:spPr>
          <a:xfrm>
            <a:off x="6236208" y="1591056"/>
            <a:ext cx="2624328" cy="3090672"/>
          </a:xfrm>
          <a:prstGeom prst="rect">
            <a:avLst/>
          </a:prstGeom>
        </p:spPr>
        <p:txBody>
          <a:bodyPr wrap="square" lIns="0" tIns="0" rIns="0" bIns="0">
            <a:noAutofit/>
          </a:bodyPr>
          <a:lstStyle/>
          <a:p>
            <a:r>
              <a:rPr lang="de-DE" dirty="0" smtClean="0">
                <a:latin typeface="Times New Roman" panose="02020603050405020304" pitchFamily="18" charset="0"/>
                <a:cs typeface="Times New Roman" panose="02020603050405020304" pitchFamily="18" charset="0"/>
              </a:rPr>
              <a:t>Korrektheit „auf dem Papier“ versus „im menschlichen Verstand“ </a:t>
            </a:r>
          </a:p>
          <a:p>
            <a:endParaRPr lang="de-DE" dirty="0">
              <a:latin typeface="Times New Roman" panose="02020603050405020304" pitchFamily="18" charset="0"/>
              <a:cs typeface="Times New Roman" panose="02020603050405020304" pitchFamily="18" charset="0"/>
            </a:endParaRPr>
          </a:p>
          <a:p>
            <a:pPr algn="l"/>
            <a:r>
              <a:rPr lang="de-DE" sz="1600" dirty="0">
                <a:latin typeface="Times New Roman" panose="02020603050405020304" pitchFamily="18" charset="0"/>
                <a:cs typeface="Times New Roman" panose="02020603050405020304" pitchFamily="18" charset="0"/>
              </a:rPr>
              <a:t>Vergeblichkeit, die Kontinuität unserer Gedanken erschöpfend in einem diskreten Ausdrucksmedium darzustellen – das lückenlose Nacheinander unserer Gedanken in ein disjunktives Nebeneinander von Zeichen zu übersetzen.</a:t>
            </a:r>
          </a:p>
        </p:txBody>
      </p:sp>
      <p:sp>
        <p:nvSpPr>
          <p:cNvPr id="14" name="Quellenangabe 14" descr="Brouwer, zit. nach van Dalen (2005): Mystic, Geometer, and Intuitionist, Bd. 2, S. 833."/>
          <p:cNvSpPr txBox="1"/>
          <p:nvPr/>
        </p:nvSpPr>
        <p:spPr>
          <a:xfrm>
            <a:off x="310896" y="4901184"/>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Brouwer, zit. nach van Dalen (2005): Mystic, Geometer, and Intuitionist, Bd. 2, S. 833.</a:t>
            </a:r>
            <a:endParaRPr lang="de-DE" sz="800"/>
          </a:p>
        </p:txBody>
      </p:sp>
    </p:spTree>
    <p:extLst>
      <p:ext uri="{BB962C8B-B14F-4D97-AF65-F5344CB8AC3E}">
        <p14:creationId xmlns:p14="http://schemas.microsoft.com/office/powerpoint/2010/main" val="3643761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9" grpId="0"/>
      <p:bldP spid="1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Der </a:t>
            </a:r>
            <a:r>
              <a:rPr lang="en-CA" sz="3200" dirty="0" err="1" smtClean="0">
                <a:solidFill>
                  <a:schemeClr val="bg1"/>
                </a:solidFill>
                <a:effectLst>
                  <a:outerShdw blurRad="38100" dist="38100" dir="2700000" algn="tl">
                    <a:srgbClr val="000000">
                      <a:alpha val="43137"/>
                    </a:srgbClr>
                  </a:outerShdw>
                </a:effectLst>
              </a:rPr>
              <a:t>offene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Horizont</a:t>
            </a:r>
            <a:r>
              <a:rPr lang="en-CA" sz="3200" dirty="0" smtClean="0">
                <a:solidFill>
                  <a:schemeClr val="bg1"/>
                </a:solidFill>
                <a:effectLst>
                  <a:outerShdw blurRad="38100" dist="38100" dir="2700000" algn="tl">
                    <a:srgbClr val="000000">
                      <a:alpha val="43137"/>
                    </a:srgbClr>
                  </a:outerShdw>
                </a:effectLst>
              </a:rPr>
              <a:t> und das </a:t>
            </a:r>
            <a:r>
              <a:rPr lang="en-CA" sz="3200" dirty="0" err="1" smtClean="0">
                <a:solidFill>
                  <a:schemeClr val="bg1"/>
                </a:solidFill>
                <a:effectLst>
                  <a:outerShdw blurRad="38100" dist="38100" dir="2700000" algn="tl">
                    <a:srgbClr val="000000">
                      <a:alpha val="43137"/>
                    </a:srgbClr>
                  </a:outerShdw>
                </a:effectLst>
              </a:rPr>
              <a:t>Tertium</a:t>
            </a:r>
            <a:r>
              <a:rPr lang="en-CA" sz="3200" dirty="0" smtClean="0">
                <a:solidFill>
                  <a:schemeClr val="bg1"/>
                </a:solidFill>
                <a:effectLst>
                  <a:outerShdw blurRad="38100" dist="38100" dir="2700000" algn="tl">
                    <a:srgbClr val="000000">
                      <a:alpha val="43137"/>
                    </a:srgbClr>
                  </a:outerShdw>
                </a:effectLst>
              </a:rPr>
              <a:t> non </a:t>
            </a:r>
            <a:r>
              <a:rPr lang="en-CA" sz="3200" dirty="0" err="1" smtClean="0">
                <a:solidFill>
                  <a:schemeClr val="bg1"/>
                </a:solidFill>
                <a:effectLst>
                  <a:outerShdw blurRad="38100" dist="38100" dir="2700000" algn="tl">
                    <a:srgbClr val="000000">
                      <a:alpha val="43137"/>
                    </a:srgbClr>
                  </a:outerShdw>
                </a:effectLst>
              </a:rPr>
              <a:t>datur</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228600" y="768096"/>
            <a:ext cx="8686800" cy="4023360"/>
          </a:xfrm>
          <a:prstGeom prst="rect">
            <a:avLst/>
          </a:prstGeom>
          <a:noFill/>
          <a:ln>
            <a:noFill/>
          </a:ln>
        </p:spPr>
        <p:txBody>
          <a:bodyPr wrap="square" rtlCol="0">
            <a:noAutofit/>
          </a:bodyPr>
          <a:lstStyle/>
          <a:p>
            <a:pPr algn="just"/>
            <a:r>
              <a:rPr lang="de-DE" dirty="0" err="1" smtClean="0">
                <a:latin typeface="Times New Roman" panose="02020603050405020304" pitchFamily="18" charset="0"/>
                <a:cs typeface="Times New Roman" panose="02020603050405020304" pitchFamily="18" charset="0"/>
              </a:rPr>
              <a:t>Brouwer</a:t>
            </a:r>
            <a:r>
              <a:rPr lang="de-DE" dirty="0" smtClean="0">
                <a:latin typeface="Times New Roman" panose="02020603050405020304" pitchFamily="18" charset="0"/>
                <a:cs typeface="Times New Roman" panose="02020603050405020304" pitchFamily="18" charset="0"/>
              </a:rPr>
              <a:t> identifiziert das </a:t>
            </a:r>
            <a:r>
              <a:rPr lang="de-DE" b="1" dirty="0" err="1" smtClean="0">
                <a:latin typeface="Times New Roman" panose="02020603050405020304" pitchFamily="18" charset="0"/>
                <a:cs typeface="Times New Roman" panose="02020603050405020304" pitchFamily="18" charset="0"/>
              </a:rPr>
              <a:t>Tertium</a:t>
            </a:r>
            <a:r>
              <a:rPr lang="de-DE" b="1" dirty="0" smtClean="0">
                <a:latin typeface="Times New Roman" panose="02020603050405020304" pitchFamily="18" charset="0"/>
                <a:cs typeface="Times New Roman" panose="02020603050405020304" pitchFamily="18" charset="0"/>
              </a:rPr>
              <a:t> non </a:t>
            </a:r>
            <a:r>
              <a:rPr lang="de-DE" b="1" dirty="0" err="1" smtClean="0">
                <a:latin typeface="Times New Roman" panose="02020603050405020304" pitchFamily="18" charset="0"/>
                <a:cs typeface="Times New Roman" panose="02020603050405020304" pitchFamily="18" charset="0"/>
              </a:rPr>
              <a:t>datur</a:t>
            </a:r>
            <a:r>
              <a:rPr lang="de-DE" b="1" dirty="0" smtClean="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mit dem </a:t>
            </a:r>
            <a:r>
              <a:rPr lang="de-DE" b="1" dirty="0" smtClean="0">
                <a:latin typeface="Times New Roman" panose="02020603050405020304" pitchFamily="18" charset="0"/>
                <a:cs typeface="Times New Roman" panose="02020603050405020304" pitchFamily="18" charset="0"/>
              </a:rPr>
              <a:t>Prinzip der Lösbarkeit mathematischer Aussagen</a:t>
            </a:r>
            <a:r>
              <a:rPr lang="de-DE" dirty="0" smtClean="0">
                <a:latin typeface="Times New Roman" panose="02020603050405020304" pitchFamily="18" charset="0"/>
                <a:cs typeface="Times New Roman" panose="02020603050405020304" pitchFamily="18" charset="0"/>
              </a:rPr>
              <a:t>; dies ist eines seiner „Besinnungsergebnisse“, die „kein diskutables Element enthalten und zu denen jedermann, der sie einmal verstanden hat, sich bekennen muss“</a:t>
            </a:r>
          </a:p>
          <a:p>
            <a:pPr algn="l"/>
            <a:endParaRPr lang="de-DE" dirty="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rPr>
              <a:t>Nach der </a:t>
            </a:r>
            <a:r>
              <a:rPr lang="de-DE" u="sng" dirty="0" smtClean="0">
                <a:latin typeface="Times New Roman" panose="02020603050405020304" pitchFamily="18" charset="0"/>
                <a:cs typeface="Times New Roman" panose="02020603050405020304" pitchFamily="18" charset="0"/>
              </a:rPr>
              <a:t>BHK-Interpretation</a:t>
            </a:r>
            <a:r>
              <a:rPr lang="de-DE" dirty="0" smtClean="0">
                <a:latin typeface="Times New Roman" panose="02020603050405020304" pitchFamily="18" charset="0"/>
                <a:cs typeface="Times New Roman" panose="02020603050405020304" pitchFamily="18" charset="0"/>
              </a:rPr>
              <a:t> bedeutet „A</a:t>
            </a:r>
            <a:r>
              <a:rPr lang="de-DE" dirty="0">
                <a:latin typeface="Times New Roman" panose="02020603050405020304" pitchFamily="18" charset="0"/>
                <a:cs typeface="Times New Roman" panose="02020603050405020304" pitchFamily="18" charset="0"/>
              </a:rPr>
              <a:t>∨</a:t>
            </a:r>
            <a:r>
              <a:rPr lang="de-DE" dirty="0" smtClean="0">
                <a:latin typeface="Times New Roman" panose="02020603050405020304" pitchFamily="18" charset="0"/>
                <a:cs typeface="Times New Roman" panose="02020603050405020304" pitchFamily="18" charset="0"/>
              </a:rPr>
              <a:t>¬A“:</a:t>
            </a:r>
          </a:p>
          <a:p>
            <a:pPr algn="l"/>
            <a:endParaRPr lang="de-DE" dirty="0">
              <a:latin typeface="Times New Roman" panose="02020603050405020304" pitchFamily="18" charset="0"/>
              <a:cs typeface="Times New Roman" panose="02020603050405020304" pitchFamily="18" charset="0"/>
            </a:endParaRPr>
          </a:p>
          <a:p>
            <a:pPr algn="ctr"/>
            <a:r>
              <a:rPr lang="de-DE" sz="1500" i="1" dirty="0">
                <a:latin typeface="Times New Roman" panose="02020603050405020304" pitchFamily="18" charset="0"/>
                <a:cs typeface="Times New Roman" panose="02020603050405020304" pitchFamily="18" charset="0"/>
              </a:rPr>
              <a:t>Ich kann entweder einen Beweis von </a:t>
            </a:r>
            <a:r>
              <a:rPr lang="de-DE" sz="1500" i="1" dirty="0" smtClean="0">
                <a:latin typeface="Times New Roman" panose="02020603050405020304" pitchFamily="18" charset="0"/>
                <a:cs typeface="Times New Roman" panose="02020603050405020304" pitchFamily="18" charset="0"/>
              </a:rPr>
              <a:t>A </a:t>
            </a:r>
            <a:r>
              <a:rPr lang="de-DE" sz="1500" i="1" dirty="0">
                <a:latin typeface="Times New Roman" panose="02020603050405020304" pitchFamily="18" charset="0"/>
                <a:cs typeface="Times New Roman" panose="02020603050405020304" pitchFamily="18" charset="0"/>
              </a:rPr>
              <a:t>angeben oder einen Beweis </a:t>
            </a:r>
            <a:r>
              <a:rPr lang="de-DE" sz="1500" i="1" dirty="0" smtClean="0">
                <a:latin typeface="Times New Roman" panose="02020603050405020304" pitchFamily="18" charset="0"/>
                <a:cs typeface="Times New Roman" panose="02020603050405020304" pitchFamily="18" charset="0"/>
              </a:rPr>
              <a:t>dafür, </a:t>
            </a:r>
            <a:r>
              <a:rPr lang="de-DE" sz="1500" i="1" dirty="0">
                <a:latin typeface="Times New Roman" panose="02020603050405020304" pitchFamily="18" charset="0"/>
                <a:cs typeface="Times New Roman" panose="02020603050405020304" pitchFamily="18" charset="0"/>
              </a:rPr>
              <a:t>dass </a:t>
            </a:r>
            <a:r>
              <a:rPr lang="de-DE" sz="1500" i="1" dirty="0" smtClean="0">
                <a:latin typeface="Times New Roman" panose="02020603050405020304" pitchFamily="18" charset="0"/>
                <a:cs typeface="Times New Roman" panose="02020603050405020304" pitchFamily="18" charset="0"/>
              </a:rPr>
              <a:t>A </a:t>
            </a:r>
            <a:r>
              <a:rPr lang="de-DE" sz="1500" i="1" dirty="0">
                <a:latin typeface="Times New Roman" panose="02020603050405020304" pitchFamily="18" charset="0"/>
                <a:cs typeface="Times New Roman" panose="02020603050405020304" pitchFamily="18" charset="0"/>
              </a:rPr>
              <a:t>zum Widerspruch führt</a:t>
            </a:r>
            <a:r>
              <a:rPr lang="de-DE" sz="1500" i="1" dirty="0" smtClean="0">
                <a:latin typeface="Times New Roman" panose="02020603050405020304" pitchFamily="18" charset="0"/>
                <a:cs typeface="Times New Roman" panose="02020603050405020304" pitchFamily="18" charset="0"/>
              </a:rPr>
              <a:t>.</a:t>
            </a:r>
          </a:p>
          <a:p>
            <a:pPr algn="ctr"/>
            <a:endParaRPr lang="de-DE" sz="1500" i="1" dirty="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rPr>
              <a:t>A priori kann nicht gesagt werden, ob so ein Beweis je existieren wird. </a:t>
            </a:r>
            <a:endParaRPr lang="de-DE" dirty="0">
              <a:latin typeface="Times New Roman" panose="02020603050405020304" pitchFamily="18" charset="0"/>
              <a:cs typeface="Times New Roman" panose="02020603050405020304" pitchFamily="18" charset="0"/>
            </a:endParaRPr>
          </a:p>
          <a:p>
            <a:endParaRPr lang="de-DE" dirty="0" smtClean="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sym typeface="Wingdings" panose="05000000000000000000" pitchFamily="2" charset="2"/>
              </a:rPr>
              <a:t>Bei einem offenen Problem wie der </a:t>
            </a:r>
            <a:r>
              <a:rPr lang="de-DE" dirty="0" err="1">
                <a:latin typeface="Times New Roman" panose="02020603050405020304" pitchFamily="18" charset="0"/>
                <a:cs typeface="Times New Roman" panose="02020603050405020304" pitchFamily="18" charset="0"/>
                <a:sym typeface="Wingdings" panose="05000000000000000000" pitchFamily="2" charset="2"/>
              </a:rPr>
              <a:t>Riemannschen</a:t>
            </a:r>
            <a:r>
              <a:rPr lang="de-DE" dirty="0">
                <a:latin typeface="Times New Roman" panose="02020603050405020304" pitchFamily="18" charset="0"/>
                <a:cs typeface="Times New Roman" panose="02020603050405020304" pitchFamily="18" charset="0"/>
                <a:sym typeface="Wingdings" panose="05000000000000000000" pitchFamily="2" charset="2"/>
              </a:rPr>
              <a:t> </a:t>
            </a:r>
            <a:r>
              <a:rPr lang="de-DE" dirty="0" smtClean="0">
                <a:latin typeface="Times New Roman" panose="02020603050405020304" pitchFamily="18" charset="0"/>
                <a:cs typeface="Times New Roman" panose="02020603050405020304" pitchFamily="18" charset="0"/>
                <a:sym typeface="Wingdings" panose="05000000000000000000" pitchFamily="2" charset="2"/>
              </a:rPr>
              <a:t>Vermutung (RV) </a:t>
            </a:r>
            <a:r>
              <a:rPr lang="de-DE" dirty="0">
                <a:latin typeface="Times New Roman" panose="02020603050405020304" pitchFamily="18" charset="0"/>
                <a:cs typeface="Times New Roman" panose="02020603050405020304" pitchFamily="18" charset="0"/>
                <a:sym typeface="Wingdings" panose="05000000000000000000" pitchFamily="2" charset="2"/>
              </a:rPr>
              <a:t>kann man </a:t>
            </a:r>
            <a:r>
              <a:rPr lang="de-DE" dirty="0" err="1" smtClean="0">
                <a:latin typeface="Times New Roman" panose="02020603050405020304" pitchFamily="18" charset="0"/>
                <a:cs typeface="Times New Roman" panose="02020603050405020304" pitchFamily="18" charset="0"/>
                <a:sym typeface="Wingdings" panose="05000000000000000000" pitchFamily="2" charset="2"/>
              </a:rPr>
              <a:t>intuitionistisch</a:t>
            </a:r>
            <a:r>
              <a:rPr lang="de-DE" dirty="0" smtClean="0">
                <a:latin typeface="Times New Roman" panose="02020603050405020304" pitchFamily="18" charset="0"/>
                <a:cs typeface="Times New Roman" panose="02020603050405020304" pitchFamily="18" charset="0"/>
                <a:sym typeface="Wingdings" panose="05000000000000000000" pitchFamily="2" charset="2"/>
              </a:rPr>
              <a:t> nicht </a:t>
            </a:r>
            <a:r>
              <a:rPr lang="de-DE" dirty="0">
                <a:latin typeface="Times New Roman" panose="02020603050405020304" pitchFamily="18" charset="0"/>
                <a:cs typeface="Times New Roman" panose="02020603050405020304" pitchFamily="18" charset="0"/>
                <a:sym typeface="Wingdings" panose="05000000000000000000" pitchFamily="2" charset="2"/>
              </a:rPr>
              <a:t>einfach behaupten: </a:t>
            </a:r>
            <a:endParaRPr lang="de-DE" dirty="0" smtClean="0">
              <a:latin typeface="Times New Roman" panose="02020603050405020304" pitchFamily="18" charset="0"/>
              <a:cs typeface="Times New Roman" panose="02020603050405020304" pitchFamily="18" charset="0"/>
              <a:sym typeface="Wingdings" panose="05000000000000000000" pitchFamily="2" charset="2"/>
            </a:endParaRPr>
          </a:p>
          <a:p>
            <a:endParaRPr lang="de-DE" dirty="0">
              <a:latin typeface="Times New Roman" panose="02020603050405020304" pitchFamily="18" charset="0"/>
              <a:cs typeface="Times New Roman" panose="02020603050405020304" pitchFamily="18" charset="0"/>
              <a:sym typeface="Wingdings" panose="05000000000000000000" pitchFamily="2" charset="2"/>
            </a:endParaRPr>
          </a:p>
          <a:p>
            <a:pPr algn="ctr"/>
            <a:r>
              <a:rPr lang="de-DE" dirty="0" smtClean="0">
                <a:latin typeface="Times New Roman" panose="02020603050405020304" pitchFamily="18" charset="0"/>
                <a:cs typeface="Times New Roman" panose="02020603050405020304" pitchFamily="18" charset="0"/>
                <a:sym typeface="Wingdings" panose="05000000000000000000" pitchFamily="2" charset="2"/>
              </a:rPr>
              <a:t>RV</a:t>
            </a:r>
            <a:r>
              <a:rPr lang="de-DE" dirty="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a:t>
            </a:r>
            <a:r>
              <a:rPr lang="de-DE" dirty="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 RV</a:t>
            </a:r>
          </a:p>
        </p:txBody>
      </p:sp>
      <p:sp>
        <p:nvSpPr>
          <p:cNvPr id="9" name="Quellenangabe 9" descr="Brouwer, L. E. J. (1928): Intuitionistische Betrachtungen über den Formalismus, S. 374–375."/>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Brouwer, L. E. J. (1928): Intuitionistische Betrachtungen über den Formalismus, S. 374–375.</a:t>
            </a:r>
            <a:endParaRPr lang="de-DE" sz="800"/>
          </a:p>
        </p:txBody>
      </p:sp>
    </p:spTree>
    <p:extLst>
      <p:ext uri="{BB962C8B-B14F-4D97-AF65-F5344CB8AC3E}">
        <p14:creationId xmlns:p14="http://schemas.microsoft.com/office/powerpoint/2010/main" val="2013977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Beispiele</a:t>
            </a:r>
            <a:endParaRPr lang="en-CA" sz="3200" dirty="0">
              <a:solidFill>
                <a:schemeClr val="bg1"/>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Textfeld 2"/>
              <p:cNvSpPr txBox="1"/>
              <p:nvPr/>
            </p:nvSpPr>
            <p:spPr>
              <a:xfrm>
                <a:off x="107504" y="699544"/>
                <a:ext cx="8928992" cy="4174733"/>
              </a:xfrm>
              <a:prstGeom prst="rect">
                <a:avLst/>
              </a:prstGeom>
              <a:noFill/>
              <a:ln>
                <a:noFill/>
              </a:ln>
            </p:spPr>
            <p:txBody>
              <a:bodyPr wrap="square" rtlCol="0">
                <a:spAutoFit/>
              </a:bodyPr>
              <a:lstStyle/>
              <a:p>
                <a:pPr marL="457200" indent="-457200" algn="just">
                  <a:buAutoNum type="arabicParenR"/>
                </a:pPr>
                <a:r>
                  <a:rPr lang="de-DE" sz="2000" b="1" dirty="0" smtClean="0">
                    <a:latin typeface="Times New Roman" panose="02020603050405020304" pitchFamily="18" charset="0"/>
                    <a:cs typeface="Times New Roman" panose="02020603050405020304" pitchFamily="18" charset="0"/>
                  </a:rPr>
                  <a:t>Primzahlzwillinge </a:t>
                </a:r>
                <a:endParaRPr lang="de-DE" sz="2000" b="1" dirty="0">
                  <a:latin typeface="Times New Roman" panose="02020603050405020304" pitchFamily="18" charset="0"/>
                  <a:cs typeface="Times New Roman" panose="02020603050405020304" pitchFamily="18" charset="0"/>
                </a:endParaRPr>
              </a:p>
              <a:p>
                <a:pPr algn="just"/>
                <a:r>
                  <a:rPr lang="de-DE" sz="2000" dirty="0" smtClean="0">
                    <a:latin typeface="Times New Roman" panose="02020603050405020304" pitchFamily="18" charset="0"/>
                    <a:cs typeface="Times New Roman" panose="02020603050405020304" pitchFamily="18" charset="0"/>
                  </a:rPr>
                  <a:t>Definiere </a:t>
                </a:r>
                <a:r>
                  <a:rPr lang="de-DE" sz="2000" i="1" dirty="0" smtClean="0">
                    <a:latin typeface="Times New Roman" panose="02020603050405020304" pitchFamily="18" charset="0"/>
                    <a:cs typeface="Times New Roman" panose="02020603050405020304" pitchFamily="18" charset="0"/>
                  </a:rPr>
                  <a:t>x</a:t>
                </a:r>
                <a:r>
                  <a:rPr lang="de-DE" sz="2000" dirty="0" smtClean="0">
                    <a:latin typeface="Times New Roman" panose="02020603050405020304" pitchFamily="18" charset="0"/>
                    <a:cs typeface="Times New Roman" panose="02020603050405020304" pitchFamily="18" charset="0"/>
                  </a:rPr>
                  <a:t> als „größte Primzahl </a:t>
                </a:r>
                <a:r>
                  <a:rPr lang="de-DE" sz="2000" i="1" dirty="0" smtClean="0">
                    <a:latin typeface="Times New Roman" panose="02020603050405020304" pitchFamily="18" charset="0"/>
                    <a:cs typeface="Times New Roman" panose="02020603050405020304" pitchFamily="18" charset="0"/>
                  </a:rPr>
                  <a:t>x</a:t>
                </a:r>
                <a:r>
                  <a:rPr lang="de-DE" sz="2000" dirty="0" smtClean="0">
                    <a:latin typeface="Times New Roman" panose="02020603050405020304" pitchFamily="18" charset="0"/>
                    <a:cs typeface="Times New Roman" panose="02020603050405020304" pitchFamily="18" charset="0"/>
                  </a:rPr>
                  <a:t>, für die auch x-2 prim ist; falls es eine solche größte Primzahl nicht gibt, sei </a:t>
                </a:r>
                <a:r>
                  <a:rPr lang="de-DE" sz="2000" i="1" dirty="0" smtClean="0">
                    <a:latin typeface="Times New Roman" panose="02020603050405020304" pitchFamily="18" charset="0"/>
                    <a:cs typeface="Times New Roman" panose="02020603050405020304" pitchFamily="18" charset="0"/>
                  </a:rPr>
                  <a:t>x</a:t>
                </a:r>
                <a:r>
                  <a:rPr lang="de-DE" sz="2000" dirty="0" smtClean="0">
                    <a:latin typeface="Times New Roman" panose="02020603050405020304" pitchFamily="18" charset="0"/>
                    <a:cs typeface="Times New Roman" panose="02020603050405020304" pitchFamily="18" charset="0"/>
                  </a:rPr>
                  <a:t>=1“.</a:t>
                </a:r>
              </a:p>
              <a:p>
                <a:pPr algn="ctr"/>
                <a:endParaRPr lang="de-DE" sz="2000" dirty="0" smtClean="0">
                  <a:latin typeface="Times New Roman" panose="02020603050405020304" pitchFamily="18" charset="0"/>
                  <a:cs typeface="Times New Roman" panose="02020603050405020304" pitchFamily="18" charset="0"/>
                </a:endParaRPr>
              </a:p>
              <a:p>
                <a:r>
                  <a:rPr lang="de-DE" b="1" dirty="0" smtClean="0">
                    <a:latin typeface="Times New Roman" panose="02020603050405020304" pitchFamily="18" charset="0"/>
                    <a:cs typeface="Times New Roman" panose="02020603050405020304" pitchFamily="18" charset="0"/>
                  </a:rPr>
                  <a:t>Problem</a:t>
                </a:r>
                <a:r>
                  <a:rPr lang="de-DE" b="1" dirty="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Ob es unendlich viele Primzahlzwillinge gibt, ist offen</a:t>
                </a:r>
                <a:r>
                  <a:rPr lang="de-DE" dirty="0" smtClean="0">
                    <a:latin typeface="Times New Roman" panose="02020603050405020304" pitchFamily="18" charset="0"/>
                    <a:cs typeface="Times New Roman" panose="02020603050405020304" pitchFamily="18" charset="0"/>
                  </a:rPr>
                  <a:t>.</a:t>
                </a:r>
                <a:endParaRPr lang="de-DE" dirty="0">
                  <a:latin typeface="Times New Roman" panose="02020603050405020304" pitchFamily="18" charset="0"/>
                  <a:cs typeface="Times New Roman" panose="02020603050405020304" pitchFamily="18" charset="0"/>
                </a:endParaRPr>
              </a:p>
              <a:p>
                <a:r>
                  <a:rPr lang="de-DE" b="1" dirty="0" smtClean="0">
                    <a:latin typeface="Times New Roman" panose="02020603050405020304" pitchFamily="18" charset="0"/>
                    <a:cs typeface="Times New Roman" panose="02020603050405020304" pitchFamily="18" charset="0"/>
                  </a:rPr>
                  <a:t>Frage: </a:t>
                </a:r>
                <a:r>
                  <a:rPr lang="de-DE" dirty="0" smtClean="0">
                    <a:latin typeface="Times New Roman" panose="02020603050405020304" pitchFamily="18" charset="0"/>
                    <a:cs typeface="Times New Roman" panose="02020603050405020304" pitchFamily="18" charset="0"/>
                  </a:rPr>
                  <a:t>Wenn 2027 bewiesen wird, dass es unendlich viele Primzahlzwillinge gibt, ist </a:t>
                </a:r>
                <a:r>
                  <a:rPr lang="de-DE" i="1" dirty="0" smtClean="0">
                    <a:latin typeface="Times New Roman" panose="02020603050405020304" pitchFamily="18" charset="0"/>
                    <a:cs typeface="Times New Roman" panose="02020603050405020304" pitchFamily="18" charset="0"/>
                  </a:rPr>
                  <a:t>x</a:t>
                </a:r>
                <a:r>
                  <a:rPr lang="de-DE" dirty="0" smtClean="0">
                    <a:latin typeface="Times New Roman" panose="02020603050405020304" pitchFamily="18" charset="0"/>
                    <a:cs typeface="Times New Roman" panose="02020603050405020304" pitchFamily="18" charset="0"/>
                  </a:rPr>
                  <a:t>=1 – war das auch schon vorher so? </a:t>
                </a:r>
              </a:p>
              <a:p>
                <a:pPr algn="just"/>
                <a:endParaRPr lang="de-DE" dirty="0">
                  <a:latin typeface="Times New Roman" panose="02020603050405020304" pitchFamily="18" charset="0"/>
                  <a:cs typeface="Times New Roman" panose="02020603050405020304" pitchFamily="18" charset="0"/>
                </a:endParaRPr>
              </a:p>
              <a:p>
                <a:pPr algn="just"/>
                <a:r>
                  <a:rPr lang="de-DE" sz="2000" b="1" dirty="0" smtClean="0">
                    <a:latin typeface="Times New Roman" panose="02020603050405020304" pitchFamily="18" charset="0"/>
                    <a:cs typeface="Times New Roman" panose="02020603050405020304" pitchFamily="18" charset="0"/>
                  </a:rPr>
                  <a:t>2) Fermat-Primzahlen (Wahlfolge)</a:t>
                </a:r>
                <a:endParaRPr lang="de-DE" sz="2000" b="1"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Es ist derzeit unbekannt, ob es unendlich viele Primzahlen der Form </a:t>
                </a:r>
                <a14:m>
                  <m:oMath xmlns:m="http://schemas.openxmlformats.org/officeDocument/2006/math">
                    <m:sSup>
                      <m:sSupPr>
                        <m:ctrlPr>
                          <a:rPr lang="de-DE" i="1">
                            <a:latin typeface="Cambria Math"/>
                          </a:rPr>
                        </m:ctrlPr>
                      </m:sSupPr>
                      <m:e>
                        <m:r>
                          <a:rPr lang="de-DE" i="1">
                            <a:latin typeface="Cambria Math"/>
                          </a:rPr>
                          <m:t>2</m:t>
                        </m:r>
                      </m:e>
                      <m:sup>
                        <m:sSup>
                          <m:sSupPr>
                            <m:ctrlPr>
                              <a:rPr lang="de-DE" i="1">
                                <a:latin typeface="Cambria Math"/>
                              </a:rPr>
                            </m:ctrlPr>
                          </m:sSupPr>
                          <m:e>
                            <m:r>
                              <a:rPr lang="de-DE" i="1">
                                <a:latin typeface="Cambria Math"/>
                              </a:rPr>
                              <m:t>2</m:t>
                            </m:r>
                          </m:e>
                          <m:sup>
                            <m:r>
                              <a:rPr lang="de-DE" i="1">
                                <a:latin typeface="Cambria Math"/>
                              </a:rPr>
                              <m:t>𝑛</m:t>
                            </m:r>
                          </m:sup>
                        </m:sSup>
                      </m:sup>
                    </m:sSup>
                    <m:r>
                      <a:rPr lang="de-DE" i="1">
                        <a:latin typeface="Cambria Math"/>
                      </a:rPr>
                      <m:t>+1</m:t>
                    </m:r>
                  </m:oMath>
                </a14:m>
                <a:r>
                  <a:rPr lang="de-DE" dirty="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gibt.</a:t>
                </a:r>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Definiere nun eine Folge </a:t>
                </a:r>
                <a14:m>
                  <m:oMath xmlns:m="http://schemas.openxmlformats.org/officeDocument/2006/math">
                    <m:sSub>
                      <m:sSubPr>
                        <m:ctrlPr>
                          <a:rPr lang="de-DE" i="1">
                            <a:latin typeface="Cambria Math"/>
                          </a:rPr>
                        </m:ctrlPr>
                      </m:sSubPr>
                      <m:e>
                        <m:r>
                          <a:rPr lang="de-DE" i="1">
                            <a:latin typeface="Cambria Math"/>
                          </a:rPr>
                          <m:t>𝑎</m:t>
                        </m:r>
                      </m:e>
                      <m:sub>
                        <m:r>
                          <a:rPr lang="de-DE" i="1">
                            <a:latin typeface="Cambria Math"/>
                          </a:rPr>
                          <m:t>1</m:t>
                        </m:r>
                      </m:sub>
                    </m:sSub>
                    <m:r>
                      <a:rPr lang="de-DE" i="1">
                        <a:latin typeface="Cambria Math"/>
                      </a:rPr>
                      <m:t>,</m:t>
                    </m:r>
                    <m:sSub>
                      <m:sSubPr>
                        <m:ctrlPr>
                          <a:rPr lang="de-DE" i="1">
                            <a:latin typeface="Cambria Math"/>
                          </a:rPr>
                        </m:ctrlPr>
                      </m:sSubPr>
                      <m:e>
                        <m:r>
                          <a:rPr lang="de-DE" i="1">
                            <a:latin typeface="Cambria Math"/>
                          </a:rPr>
                          <m:t>𝑎</m:t>
                        </m:r>
                      </m:e>
                      <m:sub>
                        <m:r>
                          <a:rPr lang="de-DE" i="1">
                            <a:latin typeface="Cambria Math"/>
                          </a:rPr>
                          <m:t>2</m:t>
                        </m:r>
                      </m:sub>
                    </m:sSub>
                    <m:r>
                      <a:rPr lang="de-DE" i="1">
                        <a:latin typeface="Cambria Math"/>
                      </a:rPr>
                      <m:t>,</m:t>
                    </m:r>
                    <m:sSub>
                      <m:sSubPr>
                        <m:ctrlPr>
                          <a:rPr lang="de-DE" i="1">
                            <a:latin typeface="Cambria Math"/>
                          </a:rPr>
                        </m:ctrlPr>
                      </m:sSubPr>
                      <m:e>
                        <m:r>
                          <a:rPr lang="de-DE" i="1">
                            <a:latin typeface="Cambria Math"/>
                          </a:rPr>
                          <m:t>𝑎</m:t>
                        </m:r>
                      </m:e>
                      <m:sub>
                        <m:r>
                          <a:rPr lang="de-DE" i="1">
                            <a:latin typeface="Cambria Math"/>
                          </a:rPr>
                          <m:t>3</m:t>
                        </m:r>
                      </m:sub>
                    </m:sSub>
                    <m:r>
                      <a:rPr lang="de-DE" i="1">
                        <a:latin typeface="Cambria Math"/>
                      </a:rPr>
                      <m:t>, …</m:t>
                    </m:r>
                  </m:oMath>
                </a14:m>
                <a:r>
                  <a:rPr lang="de-DE" dirty="0">
                    <a:latin typeface="Times New Roman" panose="02020603050405020304" pitchFamily="18" charset="0"/>
                    <a:cs typeface="Times New Roman" panose="02020603050405020304" pitchFamily="18" charset="0"/>
                  </a:rPr>
                  <a:t> derart, dass </a:t>
                </a:r>
                <a14:m>
                  <m:oMath xmlns:m="http://schemas.openxmlformats.org/officeDocument/2006/math">
                    <m:sSub>
                      <m:sSubPr>
                        <m:ctrlPr>
                          <a:rPr lang="de-DE" i="1">
                            <a:latin typeface="Cambria Math"/>
                          </a:rPr>
                        </m:ctrlPr>
                      </m:sSubPr>
                      <m:e>
                        <m:r>
                          <a:rPr lang="de-DE" i="1">
                            <a:latin typeface="Cambria Math"/>
                          </a:rPr>
                          <m:t>𝑎</m:t>
                        </m:r>
                      </m:e>
                      <m:sub>
                        <m:r>
                          <a:rPr lang="de-DE" i="1">
                            <a:latin typeface="Cambria Math"/>
                          </a:rPr>
                          <m:t>𝑛</m:t>
                        </m:r>
                      </m:sub>
                    </m:sSub>
                    <m:r>
                      <a:rPr lang="de-DE" i="1">
                        <a:latin typeface="Cambria Math"/>
                      </a:rPr>
                      <m:t>=1</m:t>
                    </m:r>
                  </m:oMath>
                </a14:m>
                <a:r>
                  <a:rPr lang="de-DE" dirty="0">
                    <a:latin typeface="Times New Roman" panose="02020603050405020304" pitchFamily="18" charset="0"/>
                    <a:cs typeface="Times New Roman" panose="02020603050405020304" pitchFamily="18" charset="0"/>
                  </a:rPr>
                  <a:t> ist, wenn </a:t>
                </a:r>
                <a14:m>
                  <m:oMath xmlns:m="http://schemas.openxmlformats.org/officeDocument/2006/math">
                    <m:sSup>
                      <m:sSupPr>
                        <m:ctrlPr>
                          <a:rPr lang="de-DE" i="1">
                            <a:latin typeface="Cambria Math"/>
                          </a:rPr>
                        </m:ctrlPr>
                      </m:sSupPr>
                      <m:e>
                        <m:r>
                          <a:rPr lang="de-DE" i="1">
                            <a:latin typeface="Cambria Math"/>
                          </a:rPr>
                          <m:t>2</m:t>
                        </m:r>
                      </m:e>
                      <m:sup>
                        <m:sSup>
                          <m:sSupPr>
                            <m:ctrlPr>
                              <a:rPr lang="de-DE" i="1">
                                <a:latin typeface="Cambria Math"/>
                              </a:rPr>
                            </m:ctrlPr>
                          </m:sSupPr>
                          <m:e>
                            <m:r>
                              <a:rPr lang="de-DE" i="1">
                                <a:latin typeface="Cambria Math"/>
                              </a:rPr>
                              <m:t>2</m:t>
                            </m:r>
                          </m:e>
                          <m:sup>
                            <m:r>
                              <a:rPr lang="de-DE" i="1">
                                <a:latin typeface="Cambria Math"/>
                              </a:rPr>
                              <m:t>𝑛</m:t>
                            </m:r>
                          </m:sup>
                        </m:sSup>
                      </m:sup>
                    </m:sSup>
                    <m:r>
                      <a:rPr lang="de-DE" i="1">
                        <a:latin typeface="Cambria Math"/>
                      </a:rPr>
                      <m:t>+1</m:t>
                    </m:r>
                  </m:oMath>
                </a14:m>
                <a:r>
                  <a:rPr lang="de-DE" dirty="0">
                    <a:latin typeface="Times New Roman" panose="02020603050405020304" pitchFamily="18" charset="0"/>
                    <a:cs typeface="Times New Roman" panose="02020603050405020304" pitchFamily="18" charset="0"/>
                  </a:rPr>
                  <a:t> prim ist und </a:t>
                </a:r>
                <a14:m>
                  <m:oMath xmlns:m="http://schemas.openxmlformats.org/officeDocument/2006/math">
                    <m:sSub>
                      <m:sSubPr>
                        <m:ctrlPr>
                          <a:rPr lang="de-DE" i="1">
                            <a:latin typeface="Cambria Math"/>
                          </a:rPr>
                        </m:ctrlPr>
                      </m:sSubPr>
                      <m:e>
                        <m:r>
                          <a:rPr lang="de-DE" i="1">
                            <a:latin typeface="Cambria Math"/>
                          </a:rPr>
                          <m:t>𝑎</m:t>
                        </m:r>
                      </m:e>
                      <m:sub>
                        <m:r>
                          <a:rPr lang="de-DE" i="1">
                            <a:latin typeface="Cambria Math"/>
                          </a:rPr>
                          <m:t>𝑛</m:t>
                        </m:r>
                      </m:sub>
                    </m:sSub>
                    <m:r>
                      <a:rPr lang="de-DE" i="1">
                        <a:latin typeface="Cambria Math"/>
                      </a:rPr>
                      <m:t>=0</m:t>
                    </m:r>
                  </m:oMath>
                </a14:m>
                <a:r>
                  <a:rPr lang="de-DE" dirty="0">
                    <a:latin typeface="Times New Roman" panose="02020603050405020304" pitchFamily="18" charset="0"/>
                    <a:cs typeface="Times New Roman" panose="02020603050405020304" pitchFamily="18" charset="0"/>
                  </a:rPr>
                  <a:t> sonst. Sie beginnt mit </a:t>
                </a:r>
                <a14:m>
                  <m:oMath xmlns:m="http://schemas.openxmlformats.org/officeDocument/2006/math">
                    <m:r>
                      <a:rPr lang="de-DE" i="1">
                        <a:latin typeface="Cambria Math"/>
                      </a:rPr>
                      <m:t>1,1,1,1,1,0,0,…</m:t>
                    </m:r>
                  </m:oMath>
                </a14:m>
                <a:r>
                  <a:rPr lang="de-DE" dirty="0">
                    <a:latin typeface="Times New Roman" panose="02020603050405020304" pitchFamily="18" charset="0"/>
                    <a:cs typeface="Times New Roman" panose="02020603050405020304" pitchFamily="18" charset="0"/>
                  </a:rPr>
                  <a:t>. </a:t>
                </a:r>
                <a:r>
                  <a:rPr lang="de-DE" dirty="0" smtClean="0">
                    <a:latin typeface="Times New Roman" panose="02020603050405020304" pitchFamily="18" charset="0"/>
                    <a:cs typeface="Times New Roman" panose="02020603050405020304" pitchFamily="18" charset="0"/>
                  </a:rPr>
                  <a:t> </a:t>
                </a:r>
              </a:p>
              <a:p>
                <a:endParaRPr lang="de-DE" dirty="0">
                  <a:latin typeface="Times New Roman" panose="02020603050405020304" pitchFamily="18" charset="0"/>
                  <a:cs typeface="Times New Roman" panose="02020603050405020304" pitchFamily="18" charset="0"/>
                  <a:sym typeface="Wingdings" panose="05000000000000000000" pitchFamily="2" charset="2"/>
                </a:endParaRPr>
              </a:p>
              <a:p>
                <a:pPr algn="ctr"/>
                <a:r>
                  <a:rPr lang="de-DE" dirty="0" smtClean="0">
                    <a:latin typeface="Times New Roman" panose="02020603050405020304" pitchFamily="18" charset="0"/>
                    <a:cs typeface="Times New Roman" panose="02020603050405020304" pitchFamily="18" charset="0"/>
                    <a:sym typeface="Wingdings" panose="05000000000000000000" pitchFamily="2" charset="2"/>
                  </a:rPr>
                  <a:t> Unendlich viele Einsen oder Nullen? </a:t>
                </a:r>
                <a:r>
                  <a:rPr lang="de-DE" dirty="0" err="1" smtClean="0">
                    <a:latin typeface="Times New Roman" panose="02020603050405020304" pitchFamily="18" charset="0"/>
                    <a:cs typeface="Times New Roman" panose="02020603050405020304" pitchFamily="18" charset="0"/>
                    <a:sym typeface="Wingdings" panose="05000000000000000000" pitchFamily="2" charset="2"/>
                  </a:rPr>
                  <a:t>Intuitionistisch</a:t>
                </a:r>
                <a:r>
                  <a:rPr lang="de-DE" dirty="0" smtClean="0">
                    <a:latin typeface="Times New Roman" panose="02020603050405020304" pitchFamily="18" charset="0"/>
                    <a:cs typeface="Times New Roman" panose="02020603050405020304" pitchFamily="18" charset="0"/>
                    <a:sym typeface="Wingdings" panose="05000000000000000000" pitchFamily="2" charset="2"/>
                  </a:rPr>
                  <a:t> darf keines ausgesagt werden!</a:t>
                </a:r>
              </a:p>
            </p:txBody>
          </p:sp>
        </mc:Choice>
        <mc:Fallback xmlns="">
          <p:sp>
            <p:nvSpPr>
              <p:cNvPr id="3" name="Textfeld 2"/>
              <p:cNvSpPr txBox="1">
                <a:spLocks noRot="1" noChangeAspect="1" noMove="1" noResize="1" noEditPoints="1" noAdjustHandles="1" noChangeArrowheads="1" noChangeShapeType="1" noTextEdit="1"/>
              </p:cNvSpPr>
              <p:nvPr/>
            </p:nvSpPr>
            <p:spPr>
              <a:xfrm>
                <a:off x="107504" y="699542"/>
                <a:ext cx="8928992" cy="4231415"/>
              </a:xfrm>
              <a:prstGeom prst="rect">
                <a:avLst/>
              </a:prstGeom>
              <a:blipFill rotWithShape="1">
                <a:blip r:embed="rId2"/>
                <a:stretch>
                  <a:fillRect l="-751" t="-720" r="-751" b="-1441"/>
                </a:stretch>
              </a:blipFill>
              <a:ln>
                <a:noFill/>
              </a:ln>
            </p:spPr>
            <p:txBody>
              <a:bodyPr/>
              <a:lstStyle/>
              <a:p>
                <a:r>
                  <a:rPr lang="de-DE">
                    <a:noFill/>
                  </a:rPr>
                  <a:t> </a:t>
                </a:r>
              </a:p>
            </p:txBody>
          </p:sp>
        </mc:Fallback>
      </mc:AlternateContent>
    </p:spTree>
    <p:extLst>
      <p:ext uri="{BB962C8B-B14F-4D97-AF65-F5344CB8AC3E}">
        <p14:creationId xmlns:p14="http://schemas.microsoft.com/office/powerpoint/2010/main" val="3230420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Tertium non datur: zwei Lesarten</a:t>
            </a:r>
            <a:endParaRPr lang="en-CA" sz="32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365760" y="758952"/>
            <a:ext cx="8412480" cy="530352"/>
          </a:xfrm>
          <a:prstGeom prst="rect">
            <a:avLst/>
          </a:prstGeom>
          <a:noFill/>
        </p:spPr>
        <p:txBody>
          <a:bodyPr wrap="square" lIns="0" tIns="0" rIns="0" bIns="0" anchor="t">
            <a:noAutofit/>
          </a:bodyPr>
          <a:lstStyle/>
          <a:p>
            <a:pPr algn="ctr">
              <a:lnSpc>
                <a:spcPct val="105000"/>
              </a:lnSpc>
              <a:spcBef>
                <a:spcPts val="0"/>
              </a:spcBef>
              <a:spcAft>
                <a:spcPts val="0"/>
              </a:spcAft>
            </a:pPr>
            <a:r>
              <a:rPr lang="de-DE" sz="3200" b="0" i="0">
                <a:solidFill>
                  <a:srgbClr val="000000"/>
                </a:solidFill>
                <a:latin typeface="Cambria Math"/>
              </a:rPr>
              <a:t>A ∨ ¬A</a:t>
            </a:r>
          </a:p>
        </p:txBody>
      </p:sp>
      <p:sp>
        <p:nvSpPr>
          <p:cNvPr id="5" name="TextBox 4"/>
          <p:cNvSpPr txBox="1"/>
          <p:nvPr/>
        </p:nvSpPr>
        <p:spPr>
          <a:xfrm>
            <a:off x="365760" y="1435608"/>
            <a:ext cx="3867912" cy="365760"/>
          </a:xfrm>
          <a:prstGeom prst="rect">
            <a:avLst/>
          </a:prstGeom>
          <a:noFill/>
        </p:spPr>
        <p:txBody>
          <a:bodyPr wrap="square" lIns="0" tIns="0" rIns="0" bIns="0" anchor="t">
            <a:noAutofit/>
          </a:bodyPr>
          <a:lstStyle/>
          <a:p>
            <a:pPr algn="l">
              <a:lnSpc>
                <a:spcPct val="105000"/>
              </a:lnSpc>
              <a:spcBef>
                <a:spcPts val="0"/>
              </a:spcBef>
              <a:spcAft>
                <a:spcPts val="0"/>
              </a:spcAft>
            </a:pPr>
            <a:r>
              <a:rPr lang="de-DE" sz="2100" b="1" i="0">
                <a:solidFill>
                  <a:srgbClr val="000000"/>
                </a:solidFill>
                <a:latin typeface="Times New Roman"/>
              </a:rPr>
              <a:t>Klassische Interpretation</a:t>
            </a:r>
          </a:p>
        </p:txBody>
      </p:sp>
      <p:sp>
        <p:nvSpPr>
          <p:cNvPr id="6" name="TextBox 5"/>
          <p:cNvSpPr txBox="1"/>
          <p:nvPr/>
        </p:nvSpPr>
        <p:spPr>
          <a:xfrm>
            <a:off x="4901184" y="1435608"/>
            <a:ext cx="3867912" cy="365760"/>
          </a:xfrm>
          <a:prstGeom prst="rect">
            <a:avLst/>
          </a:prstGeom>
          <a:noFill/>
        </p:spPr>
        <p:txBody>
          <a:bodyPr wrap="square" lIns="0" tIns="0" rIns="0" bIns="0" anchor="t">
            <a:noAutofit/>
          </a:bodyPr>
          <a:lstStyle/>
          <a:p>
            <a:pPr algn="l">
              <a:lnSpc>
                <a:spcPct val="105000"/>
              </a:lnSpc>
              <a:spcBef>
                <a:spcPts val="0"/>
              </a:spcBef>
              <a:spcAft>
                <a:spcPts val="0"/>
              </a:spcAft>
            </a:pPr>
            <a:r>
              <a:rPr lang="de-DE" sz="2100" b="1" i="0">
                <a:solidFill>
                  <a:srgbClr val="000000"/>
                </a:solidFill>
                <a:latin typeface="Times New Roman"/>
              </a:rPr>
              <a:t>Intuitionistische Interpretation</a:t>
            </a:r>
          </a:p>
        </p:txBody>
      </p:sp>
      <p:cxnSp>
        <p:nvCxnSpPr>
          <p:cNvPr id="7" name="Connector 6"/>
          <p:cNvCxnSpPr/>
          <p:nvPr/>
        </p:nvCxnSpPr>
        <p:spPr>
          <a:xfrm>
            <a:off x="4572000" y="1426464"/>
            <a:ext cx="0" cy="1984248"/>
          </a:xfrm>
          <a:prstGeom prst="line">
            <a:avLst/>
          </a:prstGeom>
          <a:ln w="10160">
            <a:solidFill>
              <a:srgbClr val="4F81B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65760" y="1993392"/>
            <a:ext cx="3858768" cy="1417320"/>
          </a:xfrm>
          <a:prstGeom prst="rect">
            <a:avLst/>
          </a:prstGeom>
          <a:noFill/>
        </p:spPr>
        <p:txBody>
          <a:bodyPr wrap="square" lIns="0" tIns="0" rIns="0" bIns="0" anchor="t">
            <a:noAutofit/>
          </a:bodyPr>
          <a:lstStyle/>
          <a:p>
            <a:pPr marL="182880" indent="-182880" algn="l">
              <a:lnSpc>
                <a:spcPct val="106000"/>
              </a:lnSpc>
              <a:spcBef>
                <a:spcPts val="0"/>
              </a:spcBef>
              <a:spcAft>
                <a:spcPts val="1700"/>
              </a:spcAft>
              <a:buChar char="•"/>
            </a:pPr>
            <a:r>
              <a:rPr sz="1900">
                <a:solidFill>
                  <a:srgbClr val="000000"/>
                </a:solidFill>
                <a:latin typeface="Times New Roman"/>
              </a:rPr>
              <a:t>A trifft zu, oder A trifft nicht zu.</a:t>
            </a:r>
          </a:p>
          <a:p>
            <a:pPr marL="182880" indent="-182880" algn="l">
              <a:lnSpc>
                <a:spcPct val="106000"/>
              </a:lnSpc>
              <a:spcBef>
                <a:spcPts val="0"/>
              </a:spcBef>
              <a:spcAft>
                <a:spcPts val="1700"/>
              </a:spcAft>
              <a:buChar char="•"/>
            </a:pPr>
            <a:r>
              <a:rPr sz="1900">
                <a:solidFill>
                  <a:srgbClr val="000000"/>
                </a:solidFill>
                <a:latin typeface="Times New Roman"/>
              </a:rPr>
              <a:t>Gültig unabhängig davon, ob wir eine der beiden Alternativen beweisen können.</a:t>
            </a:r>
          </a:p>
        </p:txBody>
      </p:sp>
      <p:sp>
        <p:nvSpPr>
          <p:cNvPr id="9" name="TextBox 8"/>
          <p:cNvSpPr txBox="1"/>
          <p:nvPr/>
        </p:nvSpPr>
        <p:spPr>
          <a:xfrm>
            <a:off x="4901184" y="1993392"/>
            <a:ext cx="3867912" cy="1463040"/>
          </a:xfrm>
          <a:prstGeom prst="rect">
            <a:avLst/>
          </a:prstGeom>
          <a:noFill/>
        </p:spPr>
        <p:txBody>
          <a:bodyPr wrap="square" lIns="0" tIns="0" rIns="0" bIns="0" anchor="t">
            <a:noAutofit/>
          </a:bodyPr>
          <a:lstStyle/>
          <a:p>
            <a:pPr marL="182880" indent="-182880" algn="l">
              <a:lnSpc>
                <a:spcPct val="106000"/>
              </a:lnSpc>
              <a:spcBef>
                <a:spcPts val="0"/>
              </a:spcBef>
              <a:spcAft>
                <a:spcPts val="1700"/>
              </a:spcAft>
              <a:buChar char="•"/>
            </a:pPr>
            <a:r>
              <a:rPr sz="1900">
                <a:solidFill>
                  <a:srgbClr val="000000"/>
                </a:solidFill>
                <a:latin typeface="Times New Roman"/>
              </a:rPr>
              <a:t>Ein Beweis von A oder eine Widerlegung von A (A → ⊥).</a:t>
            </a:r>
          </a:p>
          <a:p>
            <a:pPr marL="182880" indent="-182880" algn="l">
              <a:lnSpc>
                <a:spcPct val="106000"/>
              </a:lnSpc>
              <a:spcBef>
                <a:spcPts val="0"/>
              </a:spcBef>
              <a:spcAft>
                <a:spcPts val="1700"/>
              </a:spcAft>
              <a:buChar char="•"/>
            </a:pPr>
            <a:r>
              <a:rPr sz="1900">
                <a:solidFill>
                  <a:srgbClr val="000000"/>
                </a:solidFill>
                <a:latin typeface="Times New Roman"/>
              </a:rPr>
              <a:t>Es muss erkennbar sein, welche Alternative bewiesen wurde.</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Zeit</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Arithmetik</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Brouwer</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699543"/>
            <a:ext cx="8686800" cy="3416320"/>
          </a:xfrm>
          <a:prstGeom prst="rect">
            <a:avLst/>
          </a:prstGeom>
          <a:noFill/>
        </p:spPr>
        <p:txBody>
          <a:bodyPr wrap="square" rtlCol="0">
            <a:noAutofit/>
          </a:bodyPr>
          <a:lstStyle/>
          <a:p>
            <a:r>
              <a:rPr lang="de-DE" sz="2400" b="1" dirty="0">
                <a:latin typeface="Times New Roman" panose="02020603050405020304" pitchFamily="18" charset="0"/>
                <a:cs typeface="Times New Roman" panose="02020603050405020304" pitchFamily="18" charset="0"/>
              </a:rPr>
              <a:t>Urintuition der </a:t>
            </a:r>
            <a:r>
              <a:rPr lang="de-DE" sz="2400" b="1" dirty="0" smtClean="0">
                <a:latin typeface="Times New Roman" panose="02020603050405020304" pitchFamily="18" charset="0"/>
                <a:cs typeface="Times New Roman" panose="02020603050405020304" pitchFamily="18" charset="0"/>
              </a:rPr>
              <a:t>Zeit</a:t>
            </a:r>
          </a:p>
          <a:p>
            <a:r>
              <a:rPr lang="de-DE" dirty="0" err="1">
                <a:latin typeface="Times New Roman" panose="02020603050405020304" pitchFamily="18" charset="0"/>
                <a:cs typeface="Times New Roman" panose="02020603050405020304" pitchFamily="18" charset="0"/>
              </a:rPr>
              <a:t>Brouwers</a:t>
            </a:r>
            <a:r>
              <a:rPr lang="de-DE" dirty="0">
                <a:latin typeface="Times New Roman" panose="02020603050405020304" pitchFamily="18" charset="0"/>
                <a:cs typeface="Times New Roman" panose="02020603050405020304" pitchFamily="18" charset="0"/>
              </a:rPr>
              <a:t> Ausgangspunkt ist die Erfahrung, dass ein Lebensmoment vergeht, während er im Gedächtnis festgehalten wird und ein neuer Moment hervortritt. Abstrahiert man von allen konkreten Inhalten, bleibt eine elementare Struktur zurück: </a:t>
            </a:r>
            <a:endParaRPr lang="de-DE" dirty="0" smtClean="0">
              <a:latin typeface="Times New Roman" panose="02020603050405020304" pitchFamily="18" charset="0"/>
              <a:cs typeface="Times New Roman" panose="02020603050405020304" pitchFamily="18" charset="0"/>
            </a:endParaRPr>
          </a:p>
          <a:p>
            <a:endParaRPr lang="de-DE" dirty="0">
              <a:latin typeface="Times New Roman" panose="02020603050405020304" pitchFamily="18" charset="0"/>
              <a:cs typeface="Times New Roman" panose="02020603050405020304" pitchFamily="18" charset="0"/>
            </a:endParaRPr>
          </a:p>
          <a:p>
            <a:pPr algn="ctr"/>
            <a:r>
              <a:rPr lang="de-DE" sz="2400" dirty="0">
                <a:latin typeface="Times New Roman" panose="02020603050405020304" pitchFamily="18" charset="0"/>
                <a:cs typeface="Times New Roman" panose="02020603050405020304" pitchFamily="18" charset="0"/>
              </a:rPr>
              <a:t>eines </a:t>
            </a:r>
            <a:r>
              <a:rPr lang="de-DE" sz="2400" dirty="0" smtClean="0">
                <a:latin typeface="Times New Roman" panose="02020603050405020304" pitchFamily="18" charset="0"/>
                <a:cs typeface="Times New Roman" panose="02020603050405020304" pitchFamily="18" charset="0"/>
              </a:rPr>
              <a:t>→ </a:t>
            </a:r>
            <a:r>
              <a:rPr lang="de-DE" sz="2400" dirty="0">
                <a:latin typeface="Times New Roman" panose="02020603050405020304" pitchFamily="18" charset="0"/>
                <a:cs typeface="Times New Roman" panose="02020603050405020304" pitchFamily="18" charset="0"/>
              </a:rPr>
              <a:t>ein </a:t>
            </a:r>
            <a:r>
              <a:rPr lang="de-DE" sz="2400" dirty="0" smtClean="0">
                <a:latin typeface="Times New Roman" panose="02020603050405020304" pitchFamily="18" charset="0"/>
                <a:cs typeface="Times New Roman" panose="02020603050405020304" pitchFamily="18" charset="0"/>
              </a:rPr>
              <a:t>anderes</a:t>
            </a:r>
          </a:p>
          <a:p>
            <a:pPr algn="ctr"/>
            <a:r>
              <a:rPr lang="en-US" dirty="0">
                <a:latin typeface="Times New Roman" panose="02020603050405020304" pitchFamily="18" charset="0"/>
                <a:cs typeface="Times New Roman" panose="02020603050405020304" pitchFamily="18" charset="0"/>
              </a:rPr>
              <a:t>“one thing and again a thing, and a continuum in between”</a:t>
            </a:r>
            <a:endParaRPr lang="de-DE" dirty="0" smtClean="0">
              <a:latin typeface="Times New Roman" panose="02020603050405020304" pitchFamily="18" charset="0"/>
              <a:cs typeface="Times New Roman" panose="02020603050405020304" pitchFamily="18" charset="0"/>
            </a:endParaRPr>
          </a:p>
          <a:p>
            <a:pPr algn="ctr"/>
            <a:endParaRPr lang="de-DE" sz="2400" dirty="0">
              <a:latin typeface="Times New Roman" panose="02020603050405020304" pitchFamily="18" charset="0"/>
              <a:cs typeface="Times New Roman" panose="02020603050405020304" pitchFamily="18" charset="0"/>
            </a:endParaRPr>
          </a:p>
          <a:p>
            <a:r>
              <a:rPr lang="de-DE" dirty="0" err="1">
                <a:latin typeface="Times New Roman" panose="02020603050405020304" pitchFamily="18" charset="0"/>
                <a:cs typeface="Times New Roman" panose="02020603050405020304" pitchFamily="18" charset="0"/>
              </a:rPr>
              <a:t>Brouwer</a:t>
            </a:r>
            <a:r>
              <a:rPr lang="de-DE" dirty="0">
                <a:latin typeface="Times New Roman" panose="02020603050405020304" pitchFamily="18" charset="0"/>
                <a:cs typeface="Times New Roman" panose="02020603050405020304" pitchFamily="18" charset="0"/>
              </a:rPr>
              <a:t> nennt diese Struktur </a:t>
            </a:r>
            <a:r>
              <a:rPr lang="de-DE" b="1" dirty="0">
                <a:latin typeface="Times New Roman" panose="02020603050405020304" pitchFamily="18" charset="0"/>
                <a:cs typeface="Times New Roman" panose="02020603050405020304" pitchFamily="18" charset="0"/>
              </a:rPr>
              <a:t>die Zwei-Einheit </a:t>
            </a:r>
            <a:r>
              <a:rPr lang="de-DE" dirty="0">
                <a:latin typeface="Times New Roman" panose="02020603050405020304" pitchFamily="18" charset="0"/>
                <a:cs typeface="Times New Roman" panose="02020603050405020304" pitchFamily="18" charset="0"/>
              </a:rPr>
              <a:t>(</a:t>
            </a:r>
            <a:r>
              <a:rPr lang="de-DE" dirty="0" err="1">
                <a:latin typeface="Times New Roman" panose="02020603050405020304" pitchFamily="18" charset="0"/>
                <a:cs typeface="Times New Roman" panose="02020603050405020304" pitchFamily="18" charset="0"/>
              </a:rPr>
              <a:t>two-ity</a:t>
            </a:r>
            <a:r>
              <a:rPr lang="de-DE" dirty="0" smtClean="0">
                <a:latin typeface="Times New Roman" panose="02020603050405020304" pitchFamily="18" charset="0"/>
                <a:cs typeface="Times New Roman" panose="02020603050405020304" pitchFamily="18" charset="0"/>
              </a:rPr>
              <a:t>).</a:t>
            </a:r>
          </a:p>
          <a:p>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Eine bereits erzeugte Einheit kann erneut mit einem weiteren Element verbunden werden: </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7784" y="4227934"/>
            <a:ext cx="350520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2" name="Quellenangabe 2052" descr="Formulierung: van Atten, M. (2022): The Development of Intuitionistic Logic, SEP, § 2.1."/>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Formulierung: van Atten, M. (2022): The Development of Intuitionistic Logic, SEP, § 2.1.</a:t>
            </a:r>
            <a:endParaRPr lang="de-DE" sz="800"/>
          </a:p>
        </p:txBody>
      </p:sp>
    </p:spTree>
    <p:extLst>
      <p:ext uri="{BB962C8B-B14F-4D97-AF65-F5344CB8AC3E}">
        <p14:creationId xmlns:p14="http://schemas.microsoft.com/office/powerpoint/2010/main" val="2187903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Zeit</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Arithmetik</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Brouwer</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038051"/>
            <a:ext cx="8568952" cy="2685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896625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Wahlfolgen</a:t>
            </a:r>
            <a:endParaRPr lang="en-CA" sz="3200"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246888" y="699543"/>
            <a:ext cx="8650224" cy="1200329"/>
          </a:xfrm>
          <a:prstGeom prst="rect">
            <a:avLst/>
          </a:prstGeom>
        </p:spPr>
        <p:txBody>
          <a:bodyPr wrap="square">
            <a:spAutoFit/>
          </a:bodyPr>
          <a:lstStyle/>
          <a:p>
            <a:pPr algn="l"/>
            <a:r>
              <a:rPr lang="de-DE" dirty="0">
                <a:latin typeface="Times New Roman" panose="02020603050405020304" pitchFamily="18" charset="0"/>
                <a:cs typeface="Times New Roman" panose="02020603050405020304" pitchFamily="18" charset="0"/>
              </a:rPr>
              <a:t>Eine </a:t>
            </a:r>
            <a:r>
              <a:rPr lang="de-DE" b="1" dirty="0">
                <a:latin typeface="Times New Roman" panose="02020603050405020304" pitchFamily="18" charset="0"/>
                <a:cs typeface="Times New Roman" panose="02020603050405020304" pitchFamily="18" charset="0"/>
              </a:rPr>
              <a:t>Wahlfolge</a:t>
            </a:r>
            <a:r>
              <a:rPr lang="de-DE" dirty="0">
                <a:latin typeface="Times New Roman" panose="02020603050405020304" pitchFamily="18" charset="0"/>
                <a:cs typeface="Times New Roman" panose="02020603050405020304" pitchFamily="18" charset="0"/>
              </a:rPr>
              <a:t> ist eine potentiell unendliche Folge, deren Glieder nacheinander erzeugt werden. Dabei muss nicht schon im Voraus ein Gesetz festliegen, das alle zukünftigen Glieder bestimmt. Zu jedem Zeitpunkt ist deshalb nur ein endliches Anfangsstück tatsächlich gegeben.</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1917813"/>
            <a:ext cx="8136904" cy="1590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feld 2"/>
          <p:cNvSpPr txBox="1"/>
          <p:nvPr/>
        </p:nvSpPr>
        <p:spPr>
          <a:xfrm>
            <a:off x="246888" y="3507856"/>
            <a:ext cx="8650224" cy="1200329"/>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 choice sequence is a potentially infinite sequence of which the subject chooses the elements, one after the other.“ </a:t>
            </a:r>
            <a:r>
              <a:rPr lang="en-US" sz="1200" dirty="0" smtClean="0">
                <a:latin typeface="Times New Roman" panose="02020603050405020304" pitchFamily="18" charset="0"/>
                <a:cs typeface="Times New Roman" panose="02020603050405020304" pitchFamily="18" charset="0"/>
              </a:rPr>
              <a:t>(Van </a:t>
            </a:r>
            <a:r>
              <a:rPr lang="en-US" sz="1200" dirty="0" err="1" smtClean="0">
                <a:latin typeface="Times New Roman" panose="02020603050405020304" pitchFamily="18" charset="0"/>
                <a:cs typeface="Times New Roman" panose="02020603050405020304" pitchFamily="18" charset="0"/>
              </a:rPr>
              <a:t>Atten</a:t>
            </a:r>
            <a:r>
              <a:rPr lang="en-US" sz="1200" dirty="0" smtClean="0">
                <a:latin typeface="Times New Roman" panose="02020603050405020304" pitchFamily="18" charset="0"/>
                <a:cs typeface="Times New Roman" panose="02020603050405020304" pitchFamily="18" charset="0"/>
              </a:rPr>
              <a:t> (2007), S</a:t>
            </a:r>
            <a:r>
              <a:rPr lang="en-US" sz="1200" dirty="0">
                <a:latin typeface="Times New Roman" panose="02020603050405020304" pitchFamily="18" charset="0"/>
                <a:cs typeface="Times New Roman" panose="02020603050405020304" pitchFamily="18" charset="0"/>
              </a:rPr>
              <a:t>. 85</a:t>
            </a:r>
            <a:r>
              <a:rPr lang="en-US" sz="1200"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de-DE" dirty="0" err="1" smtClean="0">
                <a:latin typeface="Times New Roman" panose="02020603050405020304" pitchFamily="18" charset="0"/>
                <a:cs typeface="Times New Roman" panose="02020603050405020304" pitchFamily="18" charset="0"/>
              </a:rPr>
              <a:t>Brouwer</a:t>
            </a:r>
            <a:r>
              <a:rPr lang="de-DE" dirty="0" smtClean="0">
                <a:latin typeface="Times New Roman" panose="02020603050405020304" pitchFamily="18" charset="0"/>
                <a:cs typeface="Times New Roman" panose="02020603050405020304" pitchFamily="18" charset="0"/>
              </a:rPr>
              <a:t> nennt </a:t>
            </a:r>
            <a:r>
              <a:rPr lang="de-DE" dirty="0">
                <a:latin typeface="Times New Roman" panose="02020603050405020304" pitchFamily="18" charset="0"/>
                <a:cs typeface="Times New Roman" panose="02020603050405020304" pitchFamily="18" charset="0"/>
              </a:rPr>
              <a:t>das erzeugte Element „im allgemeinen nicht fertig darstellbar</a:t>
            </a:r>
            <a:r>
              <a:rPr lang="de-DE" dirty="0" smtClean="0">
                <a:latin typeface="Times New Roman" panose="02020603050405020304" pitchFamily="18" charset="0"/>
                <a:cs typeface="Times New Roman" panose="02020603050405020304" pitchFamily="18" charset="0"/>
              </a:rPr>
              <a:t>“.</a:t>
            </a:r>
            <a:endParaRPr lang="de-DE" dirty="0">
              <a:latin typeface="Times New Roman" panose="02020603050405020304" pitchFamily="18" charset="0"/>
              <a:cs typeface="Times New Roman" panose="02020603050405020304" pitchFamily="18" charset="0"/>
            </a:endParaRPr>
          </a:p>
        </p:txBody>
      </p:sp>
      <p:sp>
        <p:nvSpPr>
          <p:cNvPr id="1027" name="Quellenangabe 1027" descr="van Atten (2007), S. 85; Brouwer, zit. nach van Atten (2007), S. 143, Anm. 97."/>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van Atten (2007), S. 85; Brouwer, zit. nach van Atten (2007), S. 143, Anm. 97.</a:t>
            </a:r>
            <a:endParaRPr lang="de-DE" sz="800"/>
          </a:p>
        </p:txBody>
      </p:sp>
    </p:spTree>
    <p:extLst>
      <p:ext uri="{BB962C8B-B14F-4D97-AF65-F5344CB8AC3E}">
        <p14:creationId xmlns:p14="http://schemas.microsoft.com/office/powerpoint/2010/main" val="206174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2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Wahlfolgen</a:t>
            </a:r>
            <a:endParaRPr lang="en-CA" sz="3200" dirty="0">
              <a:solidFill>
                <a:schemeClr val="bg1"/>
              </a:solidFill>
              <a:effectLst>
                <a:outerShdw blurRad="38100" dist="38100" dir="2700000" algn="tl">
                  <a:srgbClr val="000000">
                    <a:alpha val="43137"/>
                  </a:srgbClr>
                </a:outerShdw>
              </a:effectLst>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576" y="1419623"/>
            <a:ext cx="7668852" cy="355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feld 3"/>
          <p:cNvSpPr txBox="1"/>
          <p:nvPr/>
        </p:nvSpPr>
        <p:spPr>
          <a:xfrm>
            <a:off x="107504" y="627536"/>
            <a:ext cx="8856984" cy="646331"/>
          </a:xfrm>
          <a:prstGeom prst="rect">
            <a:avLst/>
          </a:prstGeom>
          <a:noFill/>
        </p:spPr>
        <p:txBody>
          <a:bodyPr wrap="square" rtlCol="0">
            <a:spAutoFit/>
          </a:bodyPr>
          <a:lstStyle/>
          <a:p>
            <a:pPr algn="just"/>
            <a:r>
              <a:rPr lang="de-DE" dirty="0">
                <a:latin typeface="Times New Roman" panose="02020603050405020304" pitchFamily="18" charset="0"/>
                <a:cs typeface="Times New Roman" panose="02020603050405020304" pitchFamily="18" charset="0"/>
              </a:rPr>
              <a:t>Eine hilfreiche </a:t>
            </a:r>
            <a:r>
              <a:rPr lang="de-DE" dirty="0" smtClean="0">
                <a:latin typeface="Times New Roman" panose="02020603050405020304" pitchFamily="18" charset="0"/>
                <a:cs typeface="Times New Roman" panose="02020603050405020304" pitchFamily="18" charset="0"/>
              </a:rPr>
              <a:t>Darstellung </a:t>
            </a:r>
            <a:r>
              <a:rPr lang="de-DE" dirty="0">
                <a:latin typeface="Times New Roman" panose="02020603050405020304" pitchFamily="18" charset="0"/>
                <a:cs typeface="Times New Roman" panose="02020603050405020304" pitchFamily="18" charset="0"/>
              </a:rPr>
              <a:t>ist ein </a:t>
            </a:r>
            <a:r>
              <a:rPr lang="de-DE" b="1" dirty="0">
                <a:latin typeface="Times New Roman" panose="02020603050405020304" pitchFamily="18" charset="0"/>
                <a:cs typeface="Times New Roman" panose="02020603050405020304" pitchFamily="18" charset="0"/>
              </a:rPr>
              <a:t>Baum endlicher Anfangsstücke</a:t>
            </a:r>
            <a:r>
              <a:rPr lang="de-DE" dirty="0">
                <a:latin typeface="Times New Roman" panose="02020603050405020304" pitchFamily="18" charset="0"/>
                <a:cs typeface="Times New Roman" panose="02020603050405020304" pitchFamily="18" charset="0"/>
              </a:rPr>
              <a:t>. Jeder Knoten steht für das bisher erzeugte Segment; eine Fortsetzung entspricht einer neuen Wahl.</a:t>
            </a:r>
          </a:p>
        </p:txBody>
      </p:sp>
      <p:sp>
        <p:nvSpPr>
          <p:cNvPr id="5" name="Rechteck 4"/>
          <p:cNvSpPr/>
          <p:nvPr/>
        </p:nvSpPr>
        <p:spPr>
          <a:xfrm>
            <a:off x="6156176" y="1491632"/>
            <a:ext cx="2664296" cy="646331"/>
          </a:xfrm>
          <a:prstGeom prst="rect">
            <a:avLst/>
          </a:prstGeom>
        </p:spPr>
        <p:txBody>
          <a:bodyPr wrap="square">
            <a:spAutoFit/>
          </a:bodyPr>
          <a:lstStyle/>
          <a:p>
            <a:r>
              <a:rPr lang="en-US" dirty="0">
                <a:solidFill>
                  <a:schemeClr val="bg1">
                    <a:lumMod val="50000"/>
                  </a:schemeClr>
                </a:solidFill>
                <a:latin typeface="Times New Roman" panose="02020603050405020304" pitchFamily="18" charset="0"/>
                <a:cs typeface="Times New Roman" panose="02020603050405020304" pitchFamily="18" charset="0"/>
              </a:rPr>
              <a:t>„the object isn’t there until I begin choosing“ (S. 90).</a:t>
            </a:r>
            <a:endParaRPr lang="de-DE" dirty="0">
              <a:solidFill>
                <a:schemeClr val="bg1">
                  <a:lumMod val="50000"/>
                </a:schemeClr>
              </a:solidFill>
              <a:latin typeface="Times New Roman" panose="02020603050405020304" pitchFamily="18" charset="0"/>
              <a:cs typeface="Times New Roman" panose="02020603050405020304" pitchFamily="18" charset="0"/>
            </a:endParaRPr>
          </a:p>
        </p:txBody>
      </p:sp>
      <p:sp>
        <p:nvSpPr>
          <p:cNvPr id="6" name="Rechteck 5"/>
          <p:cNvSpPr/>
          <p:nvPr/>
        </p:nvSpPr>
        <p:spPr>
          <a:xfrm>
            <a:off x="341784" y="1491630"/>
            <a:ext cx="2718048" cy="923330"/>
          </a:xfrm>
          <a:prstGeom prst="rect">
            <a:avLst/>
          </a:prstGeom>
        </p:spPr>
        <p:txBody>
          <a:bodyPr wrap="square">
            <a:spAutoFit/>
          </a:bodyPr>
          <a:lstStyle/>
          <a:p>
            <a:r>
              <a:rPr lang="en-US" dirty="0" smtClean="0">
                <a:solidFill>
                  <a:schemeClr val="bg1">
                    <a:lumMod val="50000"/>
                  </a:schemeClr>
                </a:solidFill>
                <a:latin typeface="Times New Roman" panose="02020603050405020304" pitchFamily="18" charset="0"/>
                <a:cs typeface="Times New Roman" panose="02020603050405020304" pitchFamily="18" charset="0"/>
              </a:rPr>
              <a:t>„</a:t>
            </a:r>
            <a:r>
              <a:rPr lang="en-US" dirty="0" smtClean="0">
                <a:solidFill>
                  <a:schemeClr val="bg1">
                    <a:lumMod val="50000"/>
                  </a:schemeClr>
                </a:solidFill>
              </a:rPr>
              <a:t>The </a:t>
            </a:r>
            <a:r>
              <a:rPr lang="en-US" dirty="0">
                <a:solidFill>
                  <a:schemeClr val="bg1">
                    <a:lumMod val="50000"/>
                  </a:schemeClr>
                </a:solidFill>
              </a:rPr>
              <a:t>object grows but it is the same object that grows</a:t>
            </a:r>
            <a:r>
              <a:rPr lang="en-US" dirty="0" smtClean="0">
                <a:solidFill>
                  <a:schemeClr val="bg1">
                    <a:lumMod val="50000"/>
                  </a:schemeClr>
                </a:solidFill>
              </a:rPr>
              <a:t>.</a:t>
            </a:r>
            <a:r>
              <a:rPr lang="en-US" dirty="0" smtClean="0">
                <a:solidFill>
                  <a:schemeClr val="bg1">
                    <a:lumMod val="50000"/>
                  </a:schemeClr>
                </a:solidFill>
                <a:latin typeface="Times New Roman" panose="02020603050405020304" pitchFamily="18" charset="0"/>
                <a:cs typeface="Times New Roman" panose="02020603050405020304" pitchFamily="18" charset="0"/>
              </a:rPr>
              <a:t>“</a:t>
            </a:r>
            <a:r>
              <a:rPr lang="en-US" dirty="0" smtClean="0">
                <a:solidFill>
                  <a:schemeClr val="bg1">
                    <a:lumMod val="50000"/>
                  </a:schemeClr>
                </a:solidFill>
              </a:rPr>
              <a:t> </a:t>
            </a:r>
            <a:r>
              <a:rPr lang="en-US" dirty="0">
                <a:solidFill>
                  <a:schemeClr val="bg1">
                    <a:lumMod val="50000"/>
                  </a:schemeClr>
                </a:solidFill>
              </a:rPr>
              <a:t>(S. 91).</a:t>
            </a:r>
            <a:endParaRPr lang="de-DE" dirty="0">
              <a:solidFill>
                <a:schemeClr val="bg1">
                  <a:lumMod val="50000"/>
                </a:schemeClr>
              </a:solidFill>
            </a:endParaRPr>
          </a:p>
        </p:txBody>
      </p:sp>
      <p:sp>
        <p:nvSpPr>
          <p:cNvPr id="9" name="Rechteck 8"/>
          <p:cNvSpPr/>
          <p:nvPr/>
        </p:nvSpPr>
        <p:spPr>
          <a:xfrm>
            <a:off x="3563888" y="2283719"/>
            <a:ext cx="2286000" cy="738664"/>
          </a:xfrm>
          <a:prstGeom prst="rect">
            <a:avLst/>
          </a:prstGeom>
        </p:spPr>
        <p:txBody>
          <a:bodyPr wrap="square">
            <a:spAutoFit/>
          </a:bodyPr>
          <a:lstStyle/>
          <a:p>
            <a:r>
              <a:rPr lang="de-DE" sz="1400" dirty="0">
                <a:solidFill>
                  <a:schemeClr val="bg1">
                    <a:lumMod val="50000"/>
                  </a:schemeClr>
                </a:solidFill>
              </a:rPr>
              <a:t>„immer etwas Werdendes und manchmal etwas dauerhaft Unbestimmtes“ </a:t>
            </a:r>
          </a:p>
        </p:txBody>
      </p:sp>
      <p:sp>
        <p:nvSpPr>
          <p:cNvPr id="2051" name="Quellenangabe 2051" descr="van Atten (2007), S. 90–91; Brouwer, zit. nach van Atten (2007), S. 130, Anm. 16."/>
          <p:cNvSpPr txBox="1"/>
          <p:nvPr/>
        </p:nvSpPr>
        <p:spPr>
          <a:xfrm>
            <a:off x="310896" y="4992624"/>
            <a:ext cx="8522208" cy="128016"/>
          </a:xfrm>
          <a:prstGeom prst="rect">
            <a:avLst/>
          </a:prstGeom>
          <a:noFill/>
          <a:ln>
            <a:noFill/>
          </a:ln>
        </p:spPr>
        <p:txBody>
          <a:bodyPr wrap="none" lIns="0" tIns="0" rIns="0" bIns="0" anchor="t">
            <a:noAutofit/>
          </a:bodyPr>
          <a:lstStyle/>
          <a:p>
            <a:pPr marL="0" marR="0" indent="0" algn="r">
              <a:lnSpc>
                <a:spcPts val="828"/>
              </a:lnSpc>
              <a:spcBef>
                <a:spcPts val="0"/>
              </a:spcBef>
              <a:spcAft>
                <a:spcPts val="0"/>
              </a:spcAft>
              <a:buNone/>
            </a:pPr>
            <a:r>
              <a:rPr lang="de-DE" sz="720" b="0" i="0" u="none" dirty="0">
                <a:solidFill>
                  <a:srgbClr val="6B6B6B"/>
                </a:solidFill>
                <a:latin typeface="Times New Roman"/>
                <a:ea typeface="Times New Roman"/>
                <a:cs typeface="Times New Roman"/>
              </a:rPr>
              <a:t>van Atten (2007), S. 90–91; Brouwer, zit. nach van Atten (2007), S. 130, Anm. 16.</a:t>
            </a:r>
            <a:endParaRPr lang="de-DE" sz="720"/>
          </a:p>
        </p:txBody>
      </p:sp>
    </p:spTree>
    <p:extLst>
      <p:ext uri="{BB962C8B-B14F-4D97-AF65-F5344CB8AC3E}">
        <p14:creationId xmlns:p14="http://schemas.microsoft.com/office/powerpoint/2010/main" val="4040505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a:solidFill>
                  <a:schemeClr val="bg1"/>
                </a:solidFill>
                <a:effectLst>
                  <a:outerShdw blurRad="38100" dist="38100" dir="2700000" algn="tl">
                    <a:srgbClr val="000000">
                      <a:alpha val="43137"/>
                    </a:srgbClr>
                  </a:outerShdw>
                </a:effectLst>
              </a:rPr>
              <a:t>Drei</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wichtige</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Typen</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246888" y="786384"/>
            <a:ext cx="8650224" cy="4059936"/>
          </a:xfrm>
          <a:prstGeom prst="rect">
            <a:avLst/>
          </a:prstGeom>
          <a:noFill/>
        </p:spPr>
        <p:txBody>
          <a:bodyPr wrap="square" rtlCol="0">
            <a:noAutofit/>
          </a:bodyPr>
          <a:lstStyle/>
          <a:p>
            <a:pPr marL="342900" indent="-342900">
              <a:lnSpc>
                <a:spcPct val="104000"/>
              </a:lnSpc>
              <a:spcBef>
                <a:spcPts val="0"/>
              </a:spcBef>
              <a:spcAft>
                <a:spcPts val="300"/>
              </a:spcAft>
              <a:buAutoNum type="arabicParenR"/>
            </a:pPr>
            <a:r>
              <a:rPr lang="de-DE" sz="1800" b="1" dirty="0" smtClean="0">
                <a:latin typeface="Times New Roman" panose="02020603050405020304" pitchFamily="18" charset="0"/>
                <a:cs typeface="Times New Roman" panose="02020603050405020304" pitchFamily="18" charset="0"/>
              </a:rPr>
              <a:t>Gesetzmäßige Folgen: </a:t>
            </a:r>
            <a:r>
              <a:rPr lang="de-DE" sz="1800" dirty="0" smtClean="0">
                <a:latin typeface="Times New Roman" panose="02020603050405020304" pitchFamily="18" charset="0"/>
                <a:cs typeface="Times New Roman" panose="02020603050405020304" pitchFamily="18" charset="0"/>
              </a:rPr>
              <a:t>a(n)=n², etc.</a:t>
            </a:r>
          </a:p>
          <a:p>
            <a:pPr marL="342900" indent="-342900">
              <a:lnSpc>
                <a:spcPct val="104000"/>
              </a:lnSpc>
              <a:spcBef>
                <a:spcPts val="1300"/>
              </a:spcBef>
              <a:spcAft>
                <a:spcPts val="300"/>
              </a:spcAft>
              <a:buAutoNum type="arabicParenR" startAt="2"/>
            </a:pPr>
            <a:r>
              <a:rPr lang="de-DE" sz="1800" b="1" dirty="0" smtClean="0">
                <a:latin typeface="Times New Roman" panose="02020603050405020304" pitchFamily="18" charset="0"/>
                <a:cs typeface="Times New Roman" panose="02020603050405020304" pitchFamily="18" charset="0"/>
              </a:rPr>
              <a:t>Gesetzlose/Freie Wahlfolge</a:t>
            </a:r>
          </a:p>
          <a:p>
            <a:pPr>
              <a:lnSpc>
                <a:spcPct val="104000"/>
              </a:lnSpc>
              <a:spcBef>
                <a:spcPts val="0"/>
              </a:spcBef>
              <a:spcAft>
                <a:spcPts val="300"/>
              </a:spcAft>
            </a:pPr>
            <a:r>
              <a:rPr lang="de-DE" sz="1800" dirty="0" smtClean="0">
                <a:latin typeface="Times New Roman" panose="02020603050405020304" pitchFamily="18" charset="0"/>
                <a:cs typeface="Times New Roman" panose="02020603050405020304" pitchFamily="18" charset="0"/>
              </a:rPr>
              <a:t>- “</a:t>
            </a:r>
            <a:r>
              <a:rPr lang="de-DE" sz="1800" dirty="0" err="1" smtClean="0">
                <a:latin typeface="Times New Roman" panose="02020603050405020304" pitchFamily="18" charset="0"/>
                <a:cs typeface="Times New Roman" panose="02020603050405020304" pitchFamily="18" charset="0"/>
              </a:rPr>
              <a:t>lawless</a:t>
            </a:r>
            <a:r>
              <a:rPr lang="de-DE" sz="1800" dirty="0" smtClean="0">
                <a:latin typeface="Times New Roman" panose="02020603050405020304" pitchFamily="18" charset="0"/>
                <a:cs typeface="Times New Roman" panose="02020603050405020304" pitchFamily="18" charset="0"/>
              </a:rPr>
              <a:t>“ heißt nicht: irrational, grundlos, willkürlich, zufällig, …</a:t>
            </a:r>
          </a:p>
          <a:p>
            <a:pPr marL="285750" indent="-285750">
              <a:lnSpc>
                <a:spcPct val="104000"/>
              </a:lnSpc>
              <a:spcBef>
                <a:spcPts val="0"/>
              </a:spcBef>
              <a:spcAft>
                <a:spcPts val="300"/>
              </a:spcAft>
              <a:buFontTx/>
              <a:buChar char="-"/>
            </a:pPr>
            <a:r>
              <a:rPr lang="de-DE" sz="1800" dirty="0" smtClean="0">
                <a:latin typeface="Times New Roman" panose="02020603050405020304" pitchFamily="18" charset="0"/>
                <a:cs typeface="Times New Roman" panose="02020603050405020304" pitchFamily="18" charset="0"/>
              </a:rPr>
              <a:t>Es </a:t>
            </a:r>
            <a:r>
              <a:rPr lang="de-DE" sz="1800" dirty="0">
                <a:latin typeface="Times New Roman" panose="02020603050405020304" pitchFamily="18" charset="0"/>
                <a:cs typeface="Times New Roman" panose="02020603050405020304" pitchFamily="18" charset="0"/>
              </a:rPr>
              <a:t>gibt kein einheitliches vorausliegendes Bildungsgesetz, aus dem alle Werte folgen</a:t>
            </a:r>
            <a:r>
              <a:rPr lang="de-DE" sz="1800" dirty="0" smtClean="0">
                <a:latin typeface="Times New Roman" panose="02020603050405020304" pitchFamily="18" charset="0"/>
                <a:cs typeface="Times New Roman" panose="02020603050405020304" pitchFamily="18" charset="0"/>
              </a:rPr>
              <a:t>.</a:t>
            </a:r>
            <a:endParaRPr lang="de-DE" dirty="0" smtClean="0">
              <a:latin typeface="Times New Roman" panose="02020603050405020304" pitchFamily="18" charset="0"/>
              <a:cs typeface="Times New Roman" panose="02020603050405020304" pitchFamily="18" charset="0"/>
            </a:endParaRPr>
          </a:p>
          <a:p>
            <a:pPr marL="342900" indent="-342900">
              <a:lnSpc>
                <a:spcPct val="104000"/>
              </a:lnSpc>
              <a:spcBef>
                <a:spcPts val="0"/>
              </a:spcBef>
              <a:spcAft>
                <a:spcPts val="300"/>
              </a:spcAft>
              <a:buFontTx/>
              <a:buChar char="-"/>
            </a:pPr>
            <a:r>
              <a:rPr lang="de-DE" sz="1800" dirty="0">
                <a:latin typeface="Times New Roman" panose="02020603050405020304" pitchFamily="18" charset="0"/>
                <a:cs typeface="Times New Roman" panose="02020603050405020304" pitchFamily="18" charset="0"/>
              </a:rPr>
              <a:t>Das Subjekt kann tatsächlich ein nächstes Glied wählen und dadurch den Gegenstand </a:t>
            </a:r>
            <a:r>
              <a:rPr lang="de-DE" sz="1800" dirty="0" smtClean="0">
                <a:latin typeface="Times New Roman" panose="02020603050405020304" pitchFamily="18" charset="0"/>
                <a:cs typeface="Times New Roman" panose="02020603050405020304" pitchFamily="18" charset="0"/>
              </a:rPr>
              <a:t>erweitern (</a:t>
            </a:r>
            <a:r>
              <a:rPr lang="de-DE" sz="1800" i="1" dirty="0" smtClean="0">
                <a:latin typeface="Times New Roman" panose="02020603050405020304" pitchFamily="18" charset="0"/>
                <a:cs typeface="Times New Roman" panose="02020603050405020304" pitchFamily="18" charset="0"/>
              </a:rPr>
              <a:t>Freiheit des Prozesses</a:t>
            </a:r>
            <a:r>
              <a:rPr lang="de-DE" sz="1800" dirty="0" smtClean="0">
                <a:latin typeface="Times New Roman" panose="02020603050405020304" pitchFamily="18" charset="0"/>
                <a:cs typeface="Times New Roman" panose="02020603050405020304" pitchFamily="18" charset="0"/>
              </a:rPr>
              <a:t>)</a:t>
            </a:r>
            <a:endParaRPr lang="de-DE" dirty="0">
              <a:latin typeface="Times New Roman" panose="02020603050405020304" pitchFamily="18" charset="0"/>
              <a:cs typeface="Times New Roman" panose="02020603050405020304" pitchFamily="18" charset="0"/>
            </a:endParaRPr>
          </a:p>
          <a:p>
            <a:pPr>
              <a:lnSpc>
                <a:spcPct val="104000"/>
              </a:lnSpc>
              <a:spcBef>
                <a:spcPts val="1300"/>
              </a:spcBef>
              <a:spcAft>
                <a:spcPts val="300"/>
              </a:spcAft>
            </a:pPr>
            <a:r>
              <a:rPr lang="de-DE" sz="1800" b="1" dirty="0" smtClean="0">
                <a:latin typeface="Times New Roman" panose="02020603050405020304" pitchFamily="18" charset="0"/>
                <a:cs typeface="Times New Roman" panose="02020603050405020304" pitchFamily="18" charset="0"/>
              </a:rPr>
              <a:t>3) Eingeschränkte/gemischte Wahlfolgen</a:t>
            </a:r>
            <a:endParaRPr lang="de-DE" b="1" dirty="0">
              <a:latin typeface="Times New Roman" panose="02020603050405020304" pitchFamily="18" charset="0"/>
              <a:cs typeface="Times New Roman" panose="02020603050405020304" pitchFamily="18" charset="0"/>
            </a:endParaRPr>
          </a:p>
          <a:p>
            <a:pPr marL="285750" indent="-285750">
              <a:lnSpc>
                <a:spcPct val="104000"/>
              </a:lnSpc>
              <a:spcBef>
                <a:spcPts val="0"/>
              </a:spcBef>
              <a:spcAft>
                <a:spcPts val="300"/>
              </a:spcAft>
              <a:buFontTx/>
              <a:buChar char="-"/>
            </a:pPr>
            <a:r>
              <a:rPr lang="de-DE" sz="1800" b="1" dirty="0" smtClean="0">
                <a:latin typeface="Times New Roman" panose="02020603050405020304" pitchFamily="18" charset="0"/>
                <a:cs typeface="Times New Roman" panose="02020603050405020304" pitchFamily="18" charset="0"/>
              </a:rPr>
              <a:t>provisorisch</a:t>
            </a:r>
            <a:r>
              <a:rPr lang="de-DE" sz="1800" dirty="0" smtClean="0">
                <a:latin typeface="Times New Roman" panose="02020603050405020304" pitchFamily="18" charset="0"/>
                <a:cs typeface="Times New Roman" panose="02020603050405020304" pitchFamily="18" charset="0"/>
              </a:rPr>
              <a:t>: „Ich setze vorläufig nur Nullen, behalte mir aber vor, später anders fortzufahren“</a:t>
            </a:r>
          </a:p>
          <a:p>
            <a:pPr marL="285750" indent="-285750">
              <a:lnSpc>
                <a:spcPct val="104000"/>
              </a:lnSpc>
              <a:spcBef>
                <a:spcPts val="0"/>
              </a:spcBef>
              <a:spcAft>
                <a:spcPts val="300"/>
              </a:spcAft>
              <a:buFontTx/>
              <a:buChar char="-"/>
            </a:pPr>
            <a:r>
              <a:rPr lang="de-DE" sz="1800" b="1" dirty="0" smtClean="0">
                <a:latin typeface="Times New Roman" panose="02020603050405020304" pitchFamily="18" charset="0"/>
                <a:cs typeface="Times New Roman" panose="02020603050405020304" pitchFamily="18" charset="0"/>
              </a:rPr>
              <a:t>Endgültig</a:t>
            </a:r>
            <a:r>
              <a:rPr lang="de-DE" sz="1800" dirty="0" smtClean="0">
                <a:latin typeface="Times New Roman" panose="02020603050405020304" pitchFamily="18" charset="0"/>
                <a:cs typeface="Times New Roman" panose="02020603050405020304" pitchFamily="18" charset="0"/>
              </a:rPr>
              <a:t>: „Von jetzt an wähle ich nur noch gerade Zahlen“</a:t>
            </a:r>
          </a:p>
          <a:p>
            <a:pPr marL="285750" indent="-285750">
              <a:lnSpc>
                <a:spcPct val="104000"/>
              </a:lnSpc>
              <a:spcBef>
                <a:spcPts val="0"/>
              </a:spcBef>
              <a:spcAft>
                <a:spcPts val="300"/>
              </a:spcAft>
              <a:buFontTx/>
              <a:buChar char="-"/>
            </a:pPr>
            <a:r>
              <a:rPr lang="de-DE" sz="1800" b="1" dirty="0" smtClean="0">
                <a:latin typeface="Times New Roman" panose="02020603050405020304" pitchFamily="18" charset="0"/>
                <a:cs typeface="Times New Roman" panose="02020603050405020304" pitchFamily="18" charset="0"/>
              </a:rPr>
              <a:t>Einschränkungen höherer Ordnung: </a:t>
            </a:r>
            <a:r>
              <a:rPr lang="de-DE" sz="1800" dirty="0" smtClean="0">
                <a:latin typeface="Times New Roman" panose="02020603050405020304" pitchFamily="18" charset="0"/>
                <a:cs typeface="Times New Roman" panose="02020603050405020304" pitchFamily="18" charset="0"/>
              </a:rPr>
              <a:t>„Ich werde mir auch später keine weiteren Beschränkungen meiner Zahlenwahlen auferlegen“</a:t>
            </a:r>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801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Formalisierung</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Wahlfolge</a:t>
            </a:r>
            <a:endParaRPr lang="en-CA" sz="32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365760" y="685782"/>
            <a:ext cx="8421624" cy="365760"/>
          </a:xfrm>
          <a:prstGeom prst="rect">
            <a:avLst/>
          </a:prstGeom>
          <a:noFill/>
        </p:spPr>
        <p:txBody>
          <a:bodyPr wrap="square" lIns="0" tIns="0" rIns="0" bIns="0" anchor="t">
            <a:noAutofit/>
          </a:bodyPr>
          <a:lstStyle/>
          <a:p>
            <a:pPr algn="l">
              <a:lnSpc>
                <a:spcPct val="105000"/>
              </a:lnSpc>
              <a:spcBef>
                <a:spcPts val="0"/>
              </a:spcBef>
              <a:spcAft>
                <a:spcPts val="0"/>
              </a:spcAft>
            </a:pPr>
            <a:r>
              <a:rPr lang="de-DE" sz="2800" b="1" i="0" dirty="0" smtClean="0">
                <a:solidFill>
                  <a:srgbClr val="000000"/>
                </a:solidFill>
                <a:latin typeface="Times New Roman"/>
              </a:rPr>
              <a:t>Axiom </a:t>
            </a:r>
            <a:r>
              <a:rPr lang="de-DE" sz="2800" b="1" i="0" dirty="0" err="1" smtClean="0">
                <a:solidFill>
                  <a:srgbClr val="000000"/>
                </a:solidFill>
                <a:latin typeface="Times New Roman"/>
              </a:rPr>
              <a:t>of</a:t>
            </a:r>
            <a:r>
              <a:rPr lang="de-DE" sz="2800" b="1" i="0" dirty="0" smtClean="0">
                <a:solidFill>
                  <a:srgbClr val="000000"/>
                </a:solidFill>
                <a:latin typeface="Times New Roman"/>
              </a:rPr>
              <a:t> Open Data</a:t>
            </a:r>
            <a:endParaRPr lang="de-DE" sz="2800" b="1" i="0" dirty="0">
              <a:solidFill>
                <a:srgbClr val="000000"/>
              </a:solidFill>
              <a:latin typeface="Times New Roman"/>
            </a:endParaRPr>
          </a:p>
        </p:txBody>
      </p:sp>
      <p:sp>
        <p:nvSpPr>
          <p:cNvPr id="5" name="TextBox 4"/>
          <p:cNvSpPr txBox="1"/>
          <p:nvPr/>
        </p:nvSpPr>
        <p:spPr>
          <a:xfrm>
            <a:off x="374904" y="1298430"/>
            <a:ext cx="8348472" cy="1289304"/>
          </a:xfrm>
          <a:prstGeom prst="rect">
            <a:avLst/>
          </a:prstGeom>
          <a:noFill/>
        </p:spPr>
        <p:txBody>
          <a:bodyPr wrap="square" lIns="0" tIns="0" rIns="0" bIns="0" anchor="t">
            <a:noAutofit/>
          </a:bodyPr>
          <a:lstStyle/>
          <a:p>
            <a:pPr marL="182880" indent="-182880">
              <a:lnSpc>
                <a:spcPct val="106000"/>
              </a:lnSpc>
              <a:spcAft>
                <a:spcPts val="1700"/>
              </a:spcAft>
              <a:buChar char="•"/>
            </a:pPr>
            <a:r>
              <a:rPr sz="2000" dirty="0">
                <a:solidFill>
                  <a:srgbClr val="000000"/>
                </a:solidFill>
                <a:latin typeface="Times New Roman"/>
              </a:rPr>
              <a:t>Gilt </a:t>
            </a:r>
            <a:r>
              <a:rPr sz="2000" dirty="0" err="1">
                <a:solidFill>
                  <a:srgbClr val="000000"/>
                </a:solidFill>
                <a:latin typeface="Times New Roman"/>
              </a:rPr>
              <a:t>eine</a:t>
            </a:r>
            <a:r>
              <a:rPr sz="2000" dirty="0">
                <a:solidFill>
                  <a:srgbClr val="000000"/>
                </a:solidFill>
                <a:latin typeface="Times New Roman"/>
              </a:rPr>
              <a:t> </a:t>
            </a:r>
            <a:r>
              <a:rPr sz="2000" dirty="0" err="1">
                <a:solidFill>
                  <a:srgbClr val="000000"/>
                </a:solidFill>
                <a:latin typeface="Times New Roman"/>
              </a:rPr>
              <a:t>zulässige</a:t>
            </a:r>
            <a:r>
              <a:rPr sz="2000" dirty="0">
                <a:solidFill>
                  <a:srgbClr val="000000"/>
                </a:solidFill>
                <a:latin typeface="Times New Roman"/>
              </a:rPr>
              <a:t> </a:t>
            </a:r>
            <a:r>
              <a:rPr sz="2000" dirty="0" err="1">
                <a:solidFill>
                  <a:srgbClr val="000000"/>
                </a:solidFill>
                <a:latin typeface="Times New Roman"/>
              </a:rPr>
              <a:t>Eigenschaft</a:t>
            </a:r>
            <a:r>
              <a:rPr sz="2000" dirty="0">
                <a:solidFill>
                  <a:srgbClr val="000000"/>
                </a:solidFill>
                <a:latin typeface="Times New Roman"/>
              </a:rPr>
              <a:t> A </a:t>
            </a:r>
            <a:r>
              <a:rPr sz="2000" dirty="0" err="1">
                <a:solidFill>
                  <a:srgbClr val="000000"/>
                </a:solidFill>
                <a:latin typeface="Times New Roman"/>
              </a:rPr>
              <a:t>für</a:t>
            </a:r>
            <a:r>
              <a:rPr sz="2000" dirty="0">
                <a:solidFill>
                  <a:srgbClr val="000000"/>
                </a:solidFill>
                <a:latin typeface="Times New Roman"/>
              </a:rPr>
              <a:t> </a:t>
            </a:r>
            <a:r>
              <a:rPr sz="2000" dirty="0" err="1">
                <a:solidFill>
                  <a:srgbClr val="000000"/>
                </a:solidFill>
                <a:latin typeface="Times New Roman"/>
              </a:rPr>
              <a:t>eine</a:t>
            </a:r>
            <a:r>
              <a:rPr sz="2000" dirty="0">
                <a:solidFill>
                  <a:srgbClr val="000000"/>
                </a:solidFill>
                <a:latin typeface="Times New Roman"/>
              </a:rPr>
              <a:t> </a:t>
            </a:r>
            <a:r>
              <a:rPr lang="en-CA" sz="2000" dirty="0" err="1" smtClean="0">
                <a:solidFill>
                  <a:srgbClr val="000000"/>
                </a:solidFill>
                <a:latin typeface="Times New Roman"/>
              </a:rPr>
              <a:t>freie</a:t>
            </a:r>
            <a:r>
              <a:rPr lang="en-CA" sz="2000" dirty="0" smtClean="0">
                <a:solidFill>
                  <a:srgbClr val="000000"/>
                </a:solidFill>
                <a:latin typeface="Times New Roman"/>
              </a:rPr>
              <a:t> </a:t>
            </a:r>
            <a:r>
              <a:rPr lang="en-CA" sz="2000" dirty="0" err="1" smtClean="0">
                <a:solidFill>
                  <a:srgbClr val="000000"/>
                </a:solidFill>
                <a:latin typeface="Times New Roman"/>
              </a:rPr>
              <a:t>Wahlfolge</a:t>
            </a:r>
            <a:r>
              <a:rPr lang="en-CA" sz="2000" dirty="0" smtClean="0">
                <a:solidFill>
                  <a:srgbClr val="000000"/>
                </a:solidFill>
                <a:latin typeface="Times New Roman"/>
              </a:rPr>
              <a:t> </a:t>
            </a:r>
            <a:r>
              <a:rPr sz="2000" dirty="0" smtClean="0">
                <a:solidFill>
                  <a:srgbClr val="000000"/>
                </a:solidFill>
                <a:latin typeface="Times New Roman"/>
              </a:rPr>
              <a:t>α</a:t>
            </a:r>
            <a:r>
              <a:rPr sz="2000" dirty="0">
                <a:solidFill>
                  <a:srgbClr val="000000"/>
                </a:solidFill>
                <a:latin typeface="Times New Roman"/>
              </a:rPr>
              <a:t>, so </a:t>
            </a:r>
            <a:r>
              <a:rPr sz="2000" dirty="0" err="1">
                <a:solidFill>
                  <a:srgbClr val="000000"/>
                </a:solidFill>
                <a:latin typeface="Times New Roman"/>
              </a:rPr>
              <a:t>genügt</a:t>
            </a:r>
            <a:r>
              <a:rPr sz="2000" dirty="0">
                <a:solidFill>
                  <a:srgbClr val="000000"/>
                </a:solidFill>
                <a:latin typeface="Times New Roman"/>
              </a:rPr>
              <a:t> </a:t>
            </a:r>
            <a:r>
              <a:rPr sz="2000" dirty="0" err="1">
                <a:solidFill>
                  <a:srgbClr val="000000"/>
                </a:solidFill>
                <a:latin typeface="Times New Roman"/>
              </a:rPr>
              <a:t>bereits</a:t>
            </a:r>
            <a:r>
              <a:rPr sz="2000" dirty="0">
                <a:solidFill>
                  <a:srgbClr val="000000"/>
                </a:solidFill>
                <a:latin typeface="Times New Roman"/>
              </a:rPr>
              <a:t> </a:t>
            </a:r>
            <a:r>
              <a:rPr sz="2000" dirty="0" err="1">
                <a:solidFill>
                  <a:srgbClr val="000000"/>
                </a:solidFill>
                <a:latin typeface="Times New Roman"/>
              </a:rPr>
              <a:t>ein</a:t>
            </a:r>
            <a:r>
              <a:rPr sz="2000" dirty="0">
                <a:solidFill>
                  <a:srgbClr val="000000"/>
                </a:solidFill>
                <a:latin typeface="Times New Roman"/>
              </a:rPr>
              <a:t> </a:t>
            </a:r>
            <a:r>
              <a:rPr sz="2000" dirty="0" err="1">
                <a:solidFill>
                  <a:srgbClr val="000000"/>
                </a:solidFill>
                <a:latin typeface="Times New Roman"/>
              </a:rPr>
              <a:t>endliches</a:t>
            </a:r>
            <a:r>
              <a:rPr sz="2000" dirty="0">
                <a:solidFill>
                  <a:srgbClr val="000000"/>
                </a:solidFill>
                <a:latin typeface="Times New Roman"/>
              </a:rPr>
              <a:t> </a:t>
            </a:r>
            <a:r>
              <a:rPr sz="2000" dirty="0" err="1">
                <a:solidFill>
                  <a:srgbClr val="000000"/>
                </a:solidFill>
                <a:latin typeface="Times New Roman"/>
              </a:rPr>
              <a:t>Anfangsstück</a:t>
            </a:r>
            <a:r>
              <a:rPr sz="2000" dirty="0" smtClean="0">
                <a:solidFill>
                  <a:srgbClr val="000000"/>
                </a:solidFill>
                <a:latin typeface="Times New Roman"/>
              </a:rPr>
              <a:t>.</a:t>
            </a:r>
            <a:r>
              <a:rPr lang="en-CA" sz="2000" dirty="0" smtClean="0">
                <a:solidFill>
                  <a:srgbClr val="000000"/>
                </a:solidFill>
                <a:latin typeface="Times New Roman"/>
              </a:rPr>
              <a:t> </a:t>
            </a:r>
            <a:r>
              <a:rPr lang="de-DE" sz="2000" dirty="0">
                <a:solidFill>
                  <a:srgbClr val="000000"/>
                </a:solidFill>
                <a:latin typeface="Times New Roman"/>
              </a:rPr>
              <a:t>Jede </a:t>
            </a:r>
            <a:r>
              <a:rPr lang="de-DE" sz="2000" dirty="0" smtClean="0">
                <a:solidFill>
                  <a:srgbClr val="000000"/>
                </a:solidFill>
                <a:latin typeface="Times New Roman"/>
              </a:rPr>
              <a:t>Eigenschaft </a:t>
            </a:r>
            <a:r>
              <a:rPr lang="de-DE" sz="2000" dirty="0">
                <a:solidFill>
                  <a:srgbClr val="000000"/>
                </a:solidFill>
                <a:latin typeface="Times New Roman"/>
              </a:rPr>
              <a:t>beruht auf endlicher </a:t>
            </a:r>
            <a:r>
              <a:rPr lang="de-DE" sz="2000" dirty="0" smtClean="0">
                <a:solidFill>
                  <a:srgbClr val="000000"/>
                </a:solidFill>
                <a:latin typeface="Times New Roman"/>
              </a:rPr>
              <a:t>Information.</a:t>
            </a:r>
            <a:endParaRPr sz="2000" dirty="0">
              <a:solidFill>
                <a:srgbClr val="000000"/>
              </a:solidFill>
              <a:latin typeface="Times New Roman"/>
            </a:endParaRPr>
          </a:p>
          <a:p>
            <a:pPr marL="182880" indent="-182880" algn="l">
              <a:lnSpc>
                <a:spcPct val="106000"/>
              </a:lnSpc>
              <a:spcBef>
                <a:spcPts val="0"/>
              </a:spcBef>
              <a:spcAft>
                <a:spcPts val="1700"/>
              </a:spcAft>
              <a:buChar char="•"/>
            </a:pPr>
            <a:r>
              <a:rPr sz="2000" dirty="0" err="1">
                <a:solidFill>
                  <a:srgbClr val="000000"/>
                </a:solidFill>
                <a:latin typeface="Times New Roman"/>
              </a:rPr>
              <a:t>Jede</a:t>
            </a:r>
            <a:r>
              <a:rPr sz="2000" dirty="0">
                <a:solidFill>
                  <a:srgbClr val="000000"/>
                </a:solidFill>
                <a:latin typeface="Times New Roman"/>
              </a:rPr>
              <a:t> </a:t>
            </a:r>
            <a:r>
              <a:rPr lang="en-CA" sz="2000" dirty="0" err="1" smtClean="0">
                <a:solidFill>
                  <a:srgbClr val="000000"/>
                </a:solidFill>
                <a:latin typeface="Times New Roman"/>
              </a:rPr>
              <a:t>freie</a:t>
            </a:r>
            <a:r>
              <a:rPr lang="en-CA" sz="2000" dirty="0" smtClean="0">
                <a:solidFill>
                  <a:srgbClr val="000000"/>
                </a:solidFill>
                <a:latin typeface="Times New Roman"/>
              </a:rPr>
              <a:t> </a:t>
            </a:r>
            <a:r>
              <a:rPr sz="2000" dirty="0" err="1" smtClean="0">
                <a:solidFill>
                  <a:srgbClr val="000000"/>
                </a:solidFill>
                <a:latin typeface="Times New Roman"/>
              </a:rPr>
              <a:t>Fortsetzung</a:t>
            </a:r>
            <a:r>
              <a:rPr sz="2000" dirty="0" smtClean="0">
                <a:solidFill>
                  <a:srgbClr val="000000"/>
                </a:solidFill>
                <a:latin typeface="Times New Roman"/>
              </a:rPr>
              <a:t> </a:t>
            </a:r>
            <a:r>
              <a:rPr sz="2000" dirty="0" err="1">
                <a:solidFill>
                  <a:srgbClr val="000000"/>
                </a:solidFill>
                <a:latin typeface="Times New Roman"/>
              </a:rPr>
              <a:t>mit</a:t>
            </a:r>
            <a:r>
              <a:rPr sz="2000" dirty="0">
                <a:solidFill>
                  <a:srgbClr val="000000"/>
                </a:solidFill>
                <a:latin typeface="Times New Roman"/>
              </a:rPr>
              <a:t> </a:t>
            </a:r>
            <a:r>
              <a:rPr sz="2000" dirty="0" err="1">
                <a:solidFill>
                  <a:srgbClr val="000000"/>
                </a:solidFill>
                <a:latin typeface="Times New Roman"/>
              </a:rPr>
              <a:t>demselben</a:t>
            </a:r>
            <a:r>
              <a:rPr sz="2000" dirty="0">
                <a:solidFill>
                  <a:srgbClr val="000000"/>
                </a:solidFill>
                <a:latin typeface="Times New Roman"/>
              </a:rPr>
              <a:t> </a:t>
            </a:r>
            <a:r>
              <a:rPr sz="2000" dirty="0" err="1">
                <a:solidFill>
                  <a:srgbClr val="000000"/>
                </a:solidFill>
                <a:latin typeface="Times New Roman"/>
              </a:rPr>
              <a:t>Anfangsstück</a:t>
            </a:r>
            <a:r>
              <a:rPr sz="2000" dirty="0">
                <a:solidFill>
                  <a:srgbClr val="000000"/>
                </a:solidFill>
                <a:latin typeface="Times New Roman"/>
              </a:rPr>
              <a:t> </a:t>
            </a:r>
            <a:r>
              <a:rPr sz="2000" dirty="0" err="1">
                <a:solidFill>
                  <a:srgbClr val="000000"/>
                </a:solidFill>
                <a:latin typeface="Times New Roman"/>
              </a:rPr>
              <a:t>erfüllt</a:t>
            </a:r>
            <a:r>
              <a:rPr sz="2000" dirty="0">
                <a:solidFill>
                  <a:srgbClr val="000000"/>
                </a:solidFill>
                <a:latin typeface="Times New Roman"/>
              </a:rPr>
              <a:t> A </a:t>
            </a:r>
            <a:r>
              <a:rPr sz="2000" dirty="0" err="1">
                <a:solidFill>
                  <a:srgbClr val="000000"/>
                </a:solidFill>
                <a:latin typeface="Times New Roman"/>
              </a:rPr>
              <a:t>ebenfalls</a:t>
            </a:r>
            <a:r>
              <a:rPr sz="2000" dirty="0">
                <a:solidFill>
                  <a:srgbClr val="000000"/>
                </a:solidFill>
                <a:latin typeface="Times New Roman"/>
              </a:rPr>
              <a:t>.</a:t>
            </a:r>
          </a:p>
        </p:txBody>
      </p:sp>
      <p:sp>
        <p:nvSpPr>
          <p:cNvPr id="6" name="TextBox 5"/>
          <p:cNvSpPr txBox="1"/>
          <p:nvPr/>
        </p:nvSpPr>
        <p:spPr>
          <a:xfrm>
            <a:off x="356616" y="2834622"/>
            <a:ext cx="8430768" cy="484632"/>
          </a:xfrm>
          <a:prstGeom prst="rect">
            <a:avLst/>
          </a:prstGeom>
          <a:noFill/>
        </p:spPr>
        <p:txBody>
          <a:bodyPr wrap="square" lIns="0" tIns="0" rIns="0" bIns="0" anchor="t">
            <a:noAutofit/>
          </a:bodyPr>
          <a:lstStyle/>
          <a:p>
            <a:pPr algn="ctr">
              <a:lnSpc>
                <a:spcPct val="105000"/>
              </a:lnSpc>
              <a:spcBef>
                <a:spcPts val="0"/>
              </a:spcBef>
              <a:spcAft>
                <a:spcPts val="0"/>
              </a:spcAft>
            </a:pPr>
            <a:r>
              <a:rPr lang="de-DE" sz="2600" b="0" i="0">
                <a:solidFill>
                  <a:srgbClr val="000000"/>
                </a:solidFill>
                <a:latin typeface="Cambria Math"/>
              </a:rPr>
              <a:t>A(α) → ∃n ∀β [β↾n = α↾n → A(β)]</a:t>
            </a:r>
          </a:p>
        </p:txBody>
      </p:sp>
      <p:sp>
        <p:nvSpPr>
          <p:cNvPr id="7" name="TextBox 6"/>
          <p:cNvSpPr txBox="1"/>
          <p:nvPr/>
        </p:nvSpPr>
        <p:spPr>
          <a:xfrm>
            <a:off x="365760" y="3511278"/>
            <a:ext cx="8412480" cy="356616"/>
          </a:xfrm>
          <a:prstGeom prst="rect">
            <a:avLst/>
          </a:prstGeom>
          <a:noFill/>
        </p:spPr>
        <p:txBody>
          <a:bodyPr wrap="square" lIns="0" tIns="0" rIns="0" bIns="0" anchor="t">
            <a:noAutofit/>
          </a:bodyPr>
          <a:lstStyle/>
          <a:p>
            <a:pPr algn="ctr">
              <a:lnSpc>
                <a:spcPct val="105000"/>
              </a:lnSpc>
              <a:spcBef>
                <a:spcPts val="0"/>
              </a:spcBef>
              <a:spcAft>
                <a:spcPts val="0"/>
              </a:spcAft>
            </a:pPr>
            <a:r>
              <a:rPr lang="de-DE" sz="1800" b="0" i="0" dirty="0">
                <a:solidFill>
                  <a:srgbClr val="000000"/>
                </a:solidFill>
                <a:latin typeface="Times New Roman"/>
              </a:rPr>
              <a:t>α, β </a:t>
            </a:r>
            <a:r>
              <a:rPr lang="de-DE" sz="1800" b="0" i="0" dirty="0" smtClean="0">
                <a:solidFill>
                  <a:srgbClr val="000000"/>
                </a:solidFill>
                <a:latin typeface="Times New Roman"/>
              </a:rPr>
              <a:t>freie Wahlfolgen;  </a:t>
            </a:r>
            <a:r>
              <a:rPr lang="de-DE" sz="1800" b="0" i="0" dirty="0">
                <a:solidFill>
                  <a:srgbClr val="000000"/>
                </a:solidFill>
                <a:latin typeface="Times New Roman"/>
              </a:rPr>
              <a:t>α↾n bezeichnet das endliche Anfangsstück.</a:t>
            </a:r>
          </a:p>
        </p:txBody>
      </p:sp>
      <p:sp>
        <p:nvSpPr>
          <p:cNvPr id="8" name="AOD compact examples textbox"/>
          <p:cNvSpPr txBox="1"/>
          <p:nvPr/>
        </p:nvSpPr>
        <p:spPr>
          <a:xfrm>
            <a:off x="566928" y="4114800"/>
            <a:ext cx="8266878" cy="477054"/>
          </a:xfrm>
          <a:prstGeom prst="rect">
            <a:avLst/>
          </a:prstGeom>
          <a:noFill/>
        </p:spPr>
        <p:txBody>
          <a:bodyPr wrap="none" lIns="0" tIns="0" rIns="0" bIns="0" anchor="t">
            <a:spAutoFit/>
          </a:bodyPr>
          <a:lstStyle/>
          <a:p>
            <a:pPr algn="l">
              <a:spcBef>
                <a:spcPts val="0"/>
              </a:spcBef>
              <a:spcAft>
                <a:spcPts val="0"/>
              </a:spcAft>
            </a:pPr>
            <a:r>
              <a:rPr sz="1550" b="1" dirty="0" err="1">
                <a:solidFill>
                  <a:srgbClr val="000000"/>
                </a:solidFill>
                <a:latin typeface="Times New Roman"/>
              </a:rPr>
              <a:t>Beispiele</a:t>
            </a:r>
            <a:r>
              <a:rPr sz="1550" b="1" dirty="0">
                <a:solidFill>
                  <a:srgbClr val="000000"/>
                </a:solidFill>
                <a:latin typeface="Times New Roman"/>
              </a:rPr>
              <a:t>: </a:t>
            </a:r>
            <a:r>
              <a:rPr sz="1550" b="0" dirty="0">
                <a:solidFill>
                  <a:srgbClr val="000000"/>
                </a:solidFill>
                <a:latin typeface="Cambria Math"/>
              </a:rPr>
              <a:t>A(α):=∃k(αₖ=1): </a:t>
            </a:r>
            <a:r>
              <a:rPr sz="1550" b="0" dirty="0" err="1">
                <a:solidFill>
                  <a:srgbClr val="000000"/>
                </a:solidFill>
                <a:latin typeface="Cambria Math"/>
              </a:rPr>
              <a:t>Bei</a:t>
            </a:r>
            <a:r>
              <a:rPr sz="1550" b="0" dirty="0">
                <a:solidFill>
                  <a:srgbClr val="000000"/>
                </a:solidFill>
                <a:latin typeface="Cambria Math"/>
              </a:rPr>
              <a:t> α₁₇=1 </a:t>
            </a:r>
            <a:r>
              <a:rPr sz="1550" b="0" dirty="0" err="1">
                <a:solidFill>
                  <a:srgbClr val="000000"/>
                </a:solidFill>
                <a:latin typeface="Cambria Math"/>
              </a:rPr>
              <a:t>genügt</a:t>
            </a:r>
            <a:r>
              <a:rPr sz="1550" b="0" dirty="0">
                <a:solidFill>
                  <a:srgbClr val="000000"/>
                </a:solidFill>
                <a:latin typeface="Cambria Math"/>
              </a:rPr>
              <a:t> α↾18.</a:t>
            </a:r>
          </a:p>
          <a:p>
            <a:pPr algn="l">
              <a:spcBef>
                <a:spcPts val="0"/>
              </a:spcBef>
              <a:spcAft>
                <a:spcPts val="0"/>
              </a:spcAft>
            </a:pPr>
            <a:r>
              <a:rPr sz="1550" b="1" dirty="0" err="1">
                <a:solidFill>
                  <a:srgbClr val="000000"/>
                </a:solidFill>
                <a:latin typeface="Times New Roman"/>
              </a:rPr>
              <a:t>Dagegen</a:t>
            </a:r>
            <a:r>
              <a:rPr sz="1550" b="1" dirty="0">
                <a:solidFill>
                  <a:srgbClr val="000000"/>
                </a:solidFill>
                <a:latin typeface="Times New Roman"/>
              </a:rPr>
              <a:t>: </a:t>
            </a:r>
            <a:r>
              <a:rPr sz="1550" b="0" dirty="0">
                <a:solidFill>
                  <a:srgbClr val="000000"/>
                </a:solidFill>
                <a:latin typeface="Cambria Math"/>
              </a:rPr>
              <a:t>B(α):=∀k(αₖ=0): </a:t>
            </a:r>
            <a:r>
              <a:rPr lang="en-CA" sz="1550" b="0" dirty="0" err="1" smtClean="0">
                <a:solidFill>
                  <a:srgbClr val="000000"/>
                </a:solidFill>
                <a:latin typeface="Cambria Math"/>
              </a:rPr>
              <a:t>bei</a:t>
            </a:r>
            <a:r>
              <a:rPr lang="en-CA" sz="1550" b="0" dirty="0" smtClean="0">
                <a:solidFill>
                  <a:srgbClr val="000000"/>
                </a:solidFill>
                <a:latin typeface="Cambria Math"/>
              </a:rPr>
              <a:t> </a:t>
            </a:r>
            <a:r>
              <a:rPr lang="en-CA" sz="1550" b="0" dirty="0" err="1" smtClean="0">
                <a:solidFill>
                  <a:srgbClr val="000000"/>
                </a:solidFill>
                <a:latin typeface="Cambria Math"/>
              </a:rPr>
              <a:t>einer</a:t>
            </a:r>
            <a:r>
              <a:rPr lang="en-CA" sz="1550" b="0" dirty="0" smtClean="0">
                <a:solidFill>
                  <a:srgbClr val="000000"/>
                </a:solidFill>
                <a:latin typeface="Cambria Math"/>
              </a:rPr>
              <a:t> </a:t>
            </a:r>
            <a:r>
              <a:rPr lang="en-CA" sz="1550" b="0" dirty="0" err="1" smtClean="0">
                <a:solidFill>
                  <a:srgbClr val="000000"/>
                </a:solidFill>
                <a:latin typeface="Cambria Math"/>
              </a:rPr>
              <a:t>freien</a:t>
            </a:r>
            <a:r>
              <a:rPr lang="en-CA" sz="1550" b="0" dirty="0" smtClean="0">
                <a:solidFill>
                  <a:srgbClr val="000000"/>
                </a:solidFill>
                <a:latin typeface="Cambria Math"/>
              </a:rPr>
              <a:t> </a:t>
            </a:r>
            <a:r>
              <a:rPr lang="en-CA" sz="1550" b="0" dirty="0" err="1" smtClean="0">
                <a:solidFill>
                  <a:srgbClr val="000000"/>
                </a:solidFill>
                <a:latin typeface="Cambria Math"/>
              </a:rPr>
              <a:t>Wahlfolge</a:t>
            </a:r>
            <a:r>
              <a:rPr lang="en-CA" sz="1550" b="0" dirty="0" smtClean="0">
                <a:solidFill>
                  <a:srgbClr val="000000"/>
                </a:solidFill>
                <a:latin typeface="Cambria Math"/>
              </a:rPr>
              <a:t> </a:t>
            </a:r>
            <a:r>
              <a:rPr lang="en-CA" sz="1550" b="0" dirty="0" err="1" smtClean="0">
                <a:solidFill>
                  <a:srgbClr val="000000"/>
                </a:solidFill>
                <a:latin typeface="Cambria Math"/>
              </a:rPr>
              <a:t>problematisch</a:t>
            </a:r>
            <a:r>
              <a:rPr sz="1550" b="0" dirty="0" smtClean="0">
                <a:solidFill>
                  <a:srgbClr val="000000"/>
                </a:solidFill>
                <a:latin typeface="Cambria Math"/>
              </a:rPr>
              <a:t>; </a:t>
            </a:r>
            <a:r>
              <a:rPr sz="1550" b="0" dirty="0" err="1">
                <a:solidFill>
                  <a:srgbClr val="000000"/>
                </a:solidFill>
                <a:latin typeface="Cambria Math"/>
              </a:rPr>
              <a:t>nächste</a:t>
            </a:r>
            <a:r>
              <a:rPr sz="1550" b="0" dirty="0">
                <a:solidFill>
                  <a:srgbClr val="000000"/>
                </a:solidFill>
                <a:latin typeface="Cambria Math"/>
              </a:rPr>
              <a:t> Wahl </a:t>
            </a:r>
            <a:r>
              <a:rPr sz="1550" b="0" dirty="0" err="1">
                <a:solidFill>
                  <a:srgbClr val="000000"/>
                </a:solidFill>
                <a:latin typeface="Cambria Math"/>
              </a:rPr>
              <a:t>könnte</a:t>
            </a:r>
            <a:r>
              <a:rPr sz="1550" b="0" dirty="0">
                <a:solidFill>
                  <a:srgbClr val="000000"/>
                </a:solidFill>
                <a:latin typeface="Cambria Math"/>
              </a:rPr>
              <a:t> 1 sein.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Formalisierung</a:t>
            </a:r>
            <a:r>
              <a:rPr lang="en-CA" sz="3200" dirty="0" smtClean="0">
                <a:solidFill>
                  <a:schemeClr val="bg1"/>
                </a:solidFill>
                <a:effectLst>
                  <a:outerShdw blurRad="38100" dist="38100" dir="2700000" algn="tl">
                    <a:srgbClr val="000000">
                      <a:alpha val="43137"/>
                    </a:srgbClr>
                  </a:outerShdw>
                </a:effectLst>
              </a:rPr>
              <a:t> der </a:t>
            </a:r>
            <a:r>
              <a:rPr lang="en-CA" sz="3200" dirty="0" err="1" smtClean="0">
                <a:solidFill>
                  <a:schemeClr val="bg1"/>
                </a:solidFill>
                <a:effectLst>
                  <a:outerShdw blurRad="38100" dist="38100" dir="2700000" algn="tl">
                    <a:srgbClr val="000000">
                      <a:alpha val="43137"/>
                    </a:srgbClr>
                  </a:outerShdw>
                </a:effectLst>
              </a:rPr>
              <a:t>Wahlfolge</a:t>
            </a:r>
            <a:endParaRPr lang="en-CA" sz="32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365760" y="685782"/>
            <a:ext cx="8421624" cy="365760"/>
          </a:xfrm>
          <a:prstGeom prst="rect">
            <a:avLst/>
          </a:prstGeom>
          <a:noFill/>
        </p:spPr>
        <p:txBody>
          <a:bodyPr wrap="square" lIns="0" tIns="0" rIns="0" bIns="0" anchor="t">
            <a:noAutofit/>
          </a:bodyPr>
          <a:lstStyle/>
          <a:p>
            <a:pPr algn="l">
              <a:lnSpc>
                <a:spcPct val="105000"/>
              </a:lnSpc>
              <a:spcBef>
                <a:spcPts val="0"/>
              </a:spcBef>
              <a:spcAft>
                <a:spcPts val="0"/>
              </a:spcAft>
            </a:pPr>
            <a:endParaRPr lang="de-DE" sz="2200" b="1" i="0" dirty="0">
              <a:solidFill>
                <a:srgbClr val="000000"/>
              </a:solidFill>
              <a:latin typeface="Times New Roman"/>
            </a:endParaRPr>
          </a:p>
        </p:txBody>
      </p:sp>
      <p:sp>
        <p:nvSpPr>
          <p:cNvPr id="5" name="TextBox 4"/>
          <p:cNvSpPr txBox="1"/>
          <p:nvPr/>
        </p:nvSpPr>
        <p:spPr>
          <a:xfrm>
            <a:off x="356616" y="713232"/>
            <a:ext cx="7955279" cy="420624"/>
          </a:xfrm>
          <a:prstGeom prst="rect">
            <a:avLst/>
          </a:prstGeom>
          <a:noFill/>
        </p:spPr>
        <p:txBody>
          <a:bodyPr wrap="square" lIns="18288" tIns="0" rIns="18288" bIns="0" anchor="t">
            <a:spAutoFit/>
          </a:bodyPr>
          <a:lstStyle/>
          <a:p>
            <a:pPr algn="l"/>
            <a:r>
              <a:rPr sz="3050" b="1">
                <a:solidFill>
                  <a:srgbClr val="000000"/>
                </a:solidFill>
                <a:latin typeface="Times New Roman"/>
              </a:rPr>
              <a:t>Axiom of Density</a:t>
            </a:r>
          </a:p>
        </p:txBody>
      </p:sp>
      <p:sp>
        <p:nvSpPr>
          <p:cNvPr id="6" name="TextBox 5"/>
          <p:cNvSpPr txBox="1"/>
          <p:nvPr/>
        </p:nvSpPr>
        <p:spPr>
          <a:xfrm>
            <a:off x="393192" y="1261872"/>
            <a:ext cx="8499288" cy="1274708"/>
          </a:xfrm>
          <a:prstGeom prst="rect">
            <a:avLst/>
          </a:prstGeom>
          <a:noFill/>
        </p:spPr>
        <p:txBody>
          <a:bodyPr wrap="square" lIns="18288" tIns="0" rIns="18288" bIns="0">
            <a:spAutoFit/>
          </a:bodyPr>
          <a:lstStyle/>
          <a:p>
            <a:pPr algn="l">
              <a:spcAft>
                <a:spcPts val="1100"/>
              </a:spcAft>
            </a:pPr>
            <a:r>
              <a:rPr sz="2150" dirty="0">
                <a:solidFill>
                  <a:srgbClr val="000000"/>
                </a:solidFill>
                <a:latin typeface="Times New Roman"/>
              </a:rPr>
              <a:t>•  </a:t>
            </a:r>
            <a:r>
              <a:rPr sz="2150" dirty="0" err="1">
                <a:solidFill>
                  <a:srgbClr val="000000"/>
                </a:solidFill>
                <a:latin typeface="Times New Roman"/>
              </a:rPr>
              <a:t>Jedes</a:t>
            </a:r>
            <a:r>
              <a:rPr sz="2150" dirty="0">
                <a:solidFill>
                  <a:srgbClr val="000000"/>
                </a:solidFill>
                <a:latin typeface="Times New Roman"/>
              </a:rPr>
              <a:t> </a:t>
            </a:r>
            <a:r>
              <a:rPr sz="2150" dirty="0" err="1">
                <a:solidFill>
                  <a:srgbClr val="000000"/>
                </a:solidFill>
                <a:latin typeface="Times New Roman"/>
              </a:rPr>
              <a:t>endliche</a:t>
            </a:r>
            <a:r>
              <a:rPr sz="2150" dirty="0">
                <a:solidFill>
                  <a:srgbClr val="000000"/>
                </a:solidFill>
                <a:latin typeface="Times New Roman"/>
              </a:rPr>
              <a:t> </a:t>
            </a:r>
            <a:r>
              <a:rPr sz="2150" dirty="0" err="1">
                <a:solidFill>
                  <a:srgbClr val="000000"/>
                </a:solidFill>
                <a:latin typeface="Times New Roman"/>
              </a:rPr>
              <a:t>Anfangsstück</a:t>
            </a:r>
            <a:r>
              <a:rPr sz="2150" dirty="0">
                <a:solidFill>
                  <a:srgbClr val="000000"/>
                </a:solidFill>
                <a:latin typeface="Times New Roman"/>
              </a:rPr>
              <a:t> s </a:t>
            </a:r>
            <a:r>
              <a:rPr sz="2150" dirty="0" err="1">
                <a:solidFill>
                  <a:srgbClr val="000000"/>
                </a:solidFill>
                <a:latin typeface="Times New Roman"/>
              </a:rPr>
              <a:t>darf</a:t>
            </a:r>
            <a:r>
              <a:rPr sz="2150" dirty="0">
                <a:solidFill>
                  <a:srgbClr val="000000"/>
                </a:solidFill>
                <a:latin typeface="Times New Roman"/>
              </a:rPr>
              <a:t> </a:t>
            </a:r>
            <a:r>
              <a:rPr sz="2150" dirty="0" err="1">
                <a:solidFill>
                  <a:srgbClr val="000000"/>
                </a:solidFill>
                <a:latin typeface="Times New Roman"/>
              </a:rPr>
              <a:t>vorgegeben</a:t>
            </a:r>
            <a:r>
              <a:rPr sz="2150" dirty="0">
                <a:solidFill>
                  <a:srgbClr val="000000"/>
                </a:solidFill>
                <a:latin typeface="Times New Roman"/>
              </a:rPr>
              <a:t> </a:t>
            </a:r>
            <a:r>
              <a:rPr sz="2150" dirty="0" err="1">
                <a:solidFill>
                  <a:srgbClr val="000000"/>
                </a:solidFill>
                <a:latin typeface="Times New Roman"/>
              </a:rPr>
              <a:t>werden</a:t>
            </a:r>
            <a:r>
              <a:rPr sz="2150" dirty="0">
                <a:solidFill>
                  <a:srgbClr val="000000"/>
                </a:solidFill>
                <a:latin typeface="Times New Roman"/>
              </a:rPr>
              <a:t>.</a:t>
            </a:r>
          </a:p>
          <a:p>
            <a:pPr algn="l">
              <a:spcAft>
                <a:spcPts val="1100"/>
              </a:spcAft>
            </a:pPr>
            <a:r>
              <a:rPr sz="2150" dirty="0">
                <a:solidFill>
                  <a:srgbClr val="000000"/>
                </a:solidFill>
                <a:latin typeface="Times New Roman"/>
              </a:rPr>
              <a:t>•  </a:t>
            </a:r>
            <a:r>
              <a:rPr sz="2150" dirty="0" err="1">
                <a:solidFill>
                  <a:srgbClr val="000000"/>
                </a:solidFill>
                <a:latin typeface="Times New Roman"/>
              </a:rPr>
              <a:t>Es</a:t>
            </a:r>
            <a:r>
              <a:rPr sz="2150" dirty="0">
                <a:solidFill>
                  <a:srgbClr val="000000"/>
                </a:solidFill>
                <a:latin typeface="Times New Roman"/>
              </a:rPr>
              <a:t> </a:t>
            </a:r>
            <a:r>
              <a:rPr sz="2150" dirty="0" err="1">
                <a:solidFill>
                  <a:srgbClr val="000000"/>
                </a:solidFill>
                <a:latin typeface="Times New Roman"/>
              </a:rPr>
              <a:t>existiert</a:t>
            </a:r>
            <a:r>
              <a:rPr sz="2150" dirty="0">
                <a:solidFill>
                  <a:srgbClr val="000000"/>
                </a:solidFill>
                <a:latin typeface="Times New Roman"/>
              </a:rPr>
              <a:t> </a:t>
            </a:r>
            <a:r>
              <a:rPr sz="2150" dirty="0" err="1">
                <a:solidFill>
                  <a:srgbClr val="000000"/>
                </a:solidFill>
                <a:latin typeface="Times New Roman"/>
              </a:rPr>
              <a:t>eine</a:t>
            </a:r>
            <a:r>
              <a:rPr sz="2150" dirty="0">
                <a:solidFill>
                  <a:srgbClr val="000000"/>
                </a:solidFill>
                <a:latin typeface="Times New Roman"/>
              </a:rPr>
              <a:t> </a:t>
            </a:r>
            <a:r>
              <a:rPr sz="2150" dirty="0" err="1">
                <a:solidFill>
                  <a:srgbClr val="000000"/>
                </a:solidFill>
                <a:latin typeface="Times New Roman"/>
              </a:rPr>
              <a:t>freie</a:t>
            </a:r>
            <a:r>
              <a:rPr sz="2150" dirty="0">
                <a:solidFill>
                  <a:srgbClr val="000000"/>
                </a:solidFill>
                <a:latin typeface="Times New Roman"/>
              </a:rPr>
              <a:t> </a:t>
            </a:r>
            <a:r>
              <a:rPr sz="2150" dirty="0" err="1">
                <a:solidFill>
                  <a:srgbClr val="000000"/>
                </a:solidFill>
                <a:latin typeface="Times New Roman"/>
              </a:rPr>
              <a:t>Wahlfolge</a:t>
            </a:r>
            <a:r>
              <a:rPr sz="2150" dirty="0">
                <a:solidFill>
                  <a:srgbClr val="000000"/>
                </a:solidFill>
                <a:latin typeface="Times New Roman"/>
              </a:rPr>
              <a:t> α, die </a:t>
            </a:r>
            <a:r>
              <a:rPr sz="2150" dirty="0" err="1">
                <a:solidFill>
                  <a:srgbClr val="000000"/>
                </a:solidFill>
                <a:latin typeface="Times New Roman"/>
              </a:rPr>
              <a:t>mit</a:t>
            </a:r>
            <a:r>
              <a:rPr sz="2150" dirty="0">
                <a:solidFill>
                  <a:srgbClr val="000000"/>
                </a:solidFill>
                <a:latin typeface="Times New Roman"/>
              </a:rPr>
              <a:t> </a:t>
            </a:r>
            <a:r>
              <a:rPr sz="2150" dirty="0" err="1">
                <a:solidFill>
                  <a:srgbClr val="000000"/>
                </a:solidFill>
                <a:latin typeface="Times New Roman"/>
              </a:rPr>
              <a:t>genau</a:t>
            </a:r>
            <a:r>
              <a:rPr sz="2150" dirty="0">
                <a:solidFill>
                  <a:srgbClr val="000000"/>
                </a:solidFill>
                <a:latin typeface="Times New Roman"/>
              </a:rPr>
              <a:t> </a:t>
            </a:r>
            <a:r>
              <a:rPr sz="2150" dirty="0" err="1">
                <a:solidFill>
                  <a:srgbClr val="000000"/>
                </a:solidFill>
                <a:latin typeface="Times New Roman"/>
              </a:rPr>
              <a:t>diesem</a:t>
            </a:r>
            <a:r>
              <a:rPr sz="2150" dirty="0">
                <a:solidFill>
                  <a:srgbClr val="000000"/>
                </a:solidFill>
                <a:latin typeface="Times New Roman"/>
              </a:rPr>
              <a:t> </a:t>
            </a:r>
            <a:r>
              <a:rPr sz="2150" dirty="0" err="1">
                <a:solidFill>
                  <a:srgbClr val="000000"/>
                </a:solidFill>
                <a:latin typeface="Times New Roman"/>
              </a:rPr>
              <a:t>Anfang</a:t>
            </a:r>
            <a:r>
              <a:rPr sz="2150" dirty="0">
                <a:solidFill>
                  <a:srgbClr val="000000"/>
                </a:solidFill>
                <a:latin typeface="Times New Roman"/>
              </a:rPr>
              <a:t> </a:t>
            </a:r>
            <a:r>
              <a:rPr sz="2150" dirty="0" err="1">
                <a:solidFill>
                  <a:srgbClr val="000000"/>
                </a:solidFill>
                <a:latin typeface="Times New Roman"/>
              </a:rPr>
              <a:t>beginnt</a:t>
            </a:r>
            <a:r>
              <a:rPr sz="2150" dirty="0">
                <a:solidFill>
                  <a:srgbClr val="000000"/>
                </a:solidFill>
                <a:latin typeface="Times New Roman"/>
              </a:rPr>
              <a:t>.</a:t>
            </a:r>
          </a:p>
          <a:p>
            <a:pPr algn="l">
              <a:spcAft>
                <a:spcPts val="1100"/>
              </a:spcAft>
            </a:pPr>
            <a:r>
              <a:rPr sz="2150" dirty="0">
                <a:solidFill>
                  <a:srgbClr val="000000"/>
                </a:solidFill>
                <a:latin typeface="Times New Roman"/>
              </a:rPr>
              <a:t>•  Der </a:t>
            </a:r>
            <a:r>
              <a:rPr sz="2150" dirty="0" err="1">
                <a:solidFill>
                  <a:srgbClr val="000000"/>
                </a:solidFill>
                <a:latin typeface="Times New Roman"/>
              </a:rPr>
              <a:t>Wahlfolgenbaum</a:t>
            </a:r>
            <a:r>
              <a:rPr sz="2150" dirty="0">
                <a:solidFill>
                  <a:srgbClr val="000000"/>
                </a:solidFill>
                <a:latin typeface="Times New Roman"/>
              </a:rPr>
              <a:t> hat </a:t>
            </a:r>
            <a:r>
              <a:rPr sz="2150" dirty="0" err="1">
                <a:solidFill>
                  <a:srgbClr val="000000"/>
                </a:solidFill>
                <a:latin typeface="Times New Roman"/>
              </a:rPr>
              <a:t>keine</a:t>
            </a:r>
            <a:r>
              <a:rPr sz="2150" dirty="0">
                <a:solidFill>
                  <a:srgbClr val="000000"/>
                </a:solidFill>
                <a:latin typeface="Times New Roman"/>
              </a:rPr>
              <a:t> „</a:t>
            </a:r>
            <a:r>
              <a:rPr sz="2150" dirty="0" err="1">
                <a:solidFill>
                  <a:srgbClr val="000000"/>
                </a:solidFill>
                <a:latin typeface="Times New Roman"/>
              </a:rPr>
              <a:t>toten</a:t>
            </a:r>
            <a:r>
              <a:rPr sz="2150" dirty="0">
                <a:solidFill>
                  <a:srgbClr val="000000"/>
                </a:solidFill>
                <a:latin typeface="Times New Roman"/>
              </a:rPr>
              <a:t> </a:t>
            </a:r>
            <a:r>
              <a:rPr sz="2150" dirty="0" err="1">
                <a:solidFill>
                  <a:srgbClr val="000000"/>
                </a:solidFill>
                <a:latin typeface="Times New Roman"/>
              </a:rPr>
              <a:t>Äste</a:t>
            </a:r>
            <a:r>
              <a:rPr sz="2150" dirty="0">
                <a:solidFill>
                  <a:srgbClr val="000000"/>
                </a:solidFill>
                <a:latin typeface="Times New Roman"/>
              </a:rPr>
              <a:t>“.</a:t>
            </a:r>
          </a:p>
        </p:txBody>
      </p:sp>
      <p:sp>
        <p:nvSpPr>
          <p:cNvPr id="7" name="TextBox 6"/>
          <p:cNvSpPr txBox="1"/>
          <p:nvPr/>
        </p:nvSpPr>
        <p:spPr>
          <a:xfrm>
            <a:off x="1234440" y="2817486"/>
            <a:ext cx="6675120" cy="402336"/>
          </a:xfrm>
          <a:prstGeom prst="rect">
            <a:avLst/>
          </a:prstGeom>
          <a:noFill/>
        </p:spPr>
        <p:txBody>
          <a:bodyPr wrap="square" lIns="18288" tIns="0" rIns="18288" bIns="0" anchor="t">
            <a:spAutoFit/>
          </a:bodyPr>
          <a:lstStyle/>
          <a:p>
            <a:pPr algn="ctr"/>
            <a:r>
              <a:rPr sz="2750" b="0" dirty="0">
                <a:solidFill>
                  <a:srgbClr val="000000"/>
                </a:solidFill>
                <a:latin typeface="Cambria Math"/>
              </a:rPr>
              <a:t>∀</a:t>
            </a:r>
            <a:r>
              <a:rPr sz="2750" b="0" dirty="0" err="1">
                <a:solidFill>
                  <a:srgbClr val="000000"/>
                </a:solidFill>
                <a:latin typeface="Cambria Math"/>
              </a:rPr>
              <a:t>s∈FinSeq</a:t>
            </a:r>
            <a:r>
              <a:rPr sz="2750" b="0" dirty="0">
                <a:solidFill>
                  <a:srgbClr val="000000"/>
                </a:solidFill>
                <a:latin typeface="Cambria Math"/>
              </a:rPr>
              <a:t>   ∃α [ α↾|s| = s ]</a:t>
            </a:r>
          </a:p>
        </p:txBody>
      </p:sp>
      <p:sp>
        <p:nvSpPr>
          <p:cNvPr id="8" name="TextBox 7"/>
          <p:cNvSpPr txBox="1"/>
          <p:nvPr/>
        </p:nvSpPr>
        <p:spPr>
          <a:xfrm>
            <a:off x="1043608" y="3363838"/>
            <a:ext cx="7113976" cy="233910"/>
          </a:xfrm>
          <a:prstGeom prst="rect">
            <a:avLst/>
          </a:prstGeom>
          <a:noFill/>
        </p:spPr>
        <p:txBody>
          <a:bodyPr wrap="square" lIns="18288" tIns="0" rIns="18288" bIns="0" anchor="t">
            <a:spAutoFit/>
          </a:bodyPr>
          <a:lstStyle/>
          <a:p>
            <a:pPr algn="ctr"/>
            <a:r>
              <a:rPr sz="1520" b="0" dirty="0" err="1">
                <a:solidFill>
                  <a:srgbClr val="000000"/>
                </a:solidFill>
                <a:latin typeface="Times New Roman"/>
              </a:rPr>
              <a:t>FinSeq</a:t>
            </a:r>
            <a:r>
              <a:rPr sz="1520" b="0" dirty="0">
                <a:solidFill>
                  <a:srgbClr val="000000"/>
                </a:solidFill>
                <a:latin typeface="Times New Roman"/>
              </a:rPr>
              <a:t>: </a:t>
            </a:r>
            <a:r>
              <a:rPr sz="1520" b="0" dirty="0" err="1">
                <a:solidFill>
                  <a:srgbClr val="000000"/>
                </a:solidFill>
                <a:latin typeface="Times New Roman"/>
              </a:rPr>
              <a:t>endliche</a:t>
            </a:r>
            <a:r>
              <a:rPr sz="1520" b="0" dirty="0">
                <a:solidFill>
                  <a:srgbClr val="000000"/>
                </a:solidFill>
                <a:latin typeface="Times New Roman"/>
              </a:rPr>
              <a:t> </a:t>
            </a:r>
            <a:r>
              <a:rPr sz="1520" b="0" dirty="0" err="1">
                <a:solidFill>
                  <a:srgbClr val="000000"/>
                </a:solidFill>
                <a:latin typeface="Times New Roman"/>
              </a:rPr>
              <a:t>Anfangsstücke</a:t>
            </a:r>
            <a:r>
              <a:rPr sz="1520" b="0" dirty="0">
                <a:solidFill>
                  <a:srgbClr val="000000"/>
                </a:solidFill>
                <a:latin typeface="Times New Roman"/>
              </a:rPr>
              <a:t>; α↾|s| </a:t>
            </a:r>
            <a:r>
              <a:rPr sz="1520" b="0" dirty="0" err="1">
                <a:solidFill>
                  <a:srgbClr val="000000"/>
                </a:solidFill>
                <a:latin typeface="Times New Roman"/>
              </a:rPr>
              <a:t>bezeichnet</a:t>
            </a:r>
            <a:r>
              <a:rPr sz="1520" b="0" dirty="0">
                <a:solidFill>
                  <a:srgbClr val="000000"/>
                </a:solidFill>
                <a:latin typeface="Times New Roman"/>
              </a:rPr>
              <a:t> den </a:t>
            </a:r>
            <a:r>
              <a:rPr sz="1520" b="0" dirty="0" err="1">
                <a:solidFill>
                  <a:srgbClr val="000000"/>
                </a:solidFill>
                <a:latin typeface="Times New Roman"/>
              </a:rPr>
              <a:t>Anfang</a:t>
            </a:r>
            <a:r>
              <a:rPr sz="1520" b="0" dirty="0">
                <a:solidFill>
                  <a:srgbClr val="000000"/>
                </a:solidFill>
                <a:latin typeface="Times New Roman"/>
              </a:rPr>
              <a:t> von α der </a:t>
            </a:r>
            <a:r>
              <a:rPr sz="1520" b="0" dirty="0" err="1">
                <a:solidFill>
                  <a:srgbClr val="000000"/>
                </a:solidFill>
                <a:latin typeface="Times New Roman"/>
              </a:rPr>
              <a:t>Länge</a:t>
            </a:r>
            <a:r>
              <a:rPr sz="1520" b="0" dirty="0">
                <a:solidFill>
                  <a:srgbClr val="000000"/>
                </a:solidFill>
                <a:latin typeface="Times New Roman"/>
              </a:rPr>
              <a:t> |s|.</a:t>
            </a:r>
          </a:p>
        </p:txBody>
      </p:sp>
      <p:sp>
        <p:nvSpPr>
          <p:cNvPr id="9" name="TextBox 8"/>
          <p:cNvSpPr txBox="1"/>
          <p:nvPr/>
        </p:nvSpPr>
        <p:spPr>
          <a:xfrm>
            <a:off x="700608" y="3935326"/>
            <a:ext cx="7543800" cy="292608"/>
          </a:xfrm>
          <a:prstGeom prst="rect">
            <a:avLst/>
          </a:prstGeom>
          <a:noFill/>
        </p:spPr>
        <p:txBody>
          <a:bodyPr wrap="square" lIns="18288" tIns="0" rIns="18288" bIns="0">
            <a:spAutoFit/>
          </a:bodyPr>
          <a:lstStyle/>
          <a:p>
            <a:pPr algn="ctr"/>
            <a:r>
              <a:rPr sz="1780" b="1" dirty="0" err="1">
                <a:solidFill>
                  <a:srgbClr val="000000"/>
                </a:solidFill>
                <a:latin typeface="Times New Roman"/>
              </a:rPr>
              <a:t>Beispiel</a:t>
            </a:r>
            <a:r>
              <a:rPr sz="1780" b="1" dirty="0">
                <a:solidFill>
                  <a:srgbClr val="000000"/>
                </a:solidFill>
                <a:latin typeface="Times New Roman"/>
              </a:rPr>
              <a:t>: </a:t>
            </a:r>
            <a:r>
              <a:rPr sz="1780" b="0" dirty="0">
                <a:solidFill>
                  <a:srgbClr val="000000"/>
                </a:solidFill>
                <a:latin typeface="Cambria Math"/>
              </a:rPr>
              <a:t>s = (0,0,1,0)  ⇒  α = (0,0,1,0, ?, ?, …)</a:t>
            </a:r>
          </a:p>
        </p:txBody>
      </p:sp>
      <p:sp>
        <p:nvSpPr>
          <p:cNvPr id="10" name="TextBox 9"/>
          <p:cNvSpPr txBox="1"/>
          <p:nvPr/>
        </p:nvSpPr>
        <p:spPr>
          <a:xfrm>
            <a:off x="640080" y="4371950"/>
            <a:ext cx="7543800" cy="365760"/>
          </a:xfrm>
          <a:prstGeom prst="rect">
            <a:avLst/>
          </a:prstGeom>
          <a:noFill/>
        </p:spPr>
        <p:txBody>
          <a:bodyPr wrap="square" lIns="18288" tIns="0" rIns="18288" bIns="0">
            <a:spAutoFit/>
          </a:bodyPr>
          <a:lstStyle/>
          <a:p>
            <a:pPr algn="ctr"/>
            <a:r>
              <a:rPr sz="1750" b="1" dirty="0">
                <a:solidFill>
                  <a:srgbClr val="000000"/>
                </a:solidFill>
                <a:latin typeface="Times New Roman"/>
              </a:rPr>
              <a:t>Open Data: </a:t>
            </a:r>
            <a:r>
              <a:rPr sz="1750" b="0" dirty="0" err="1">
                <a:solidFill>
                  <a:srgbClr val="000000"/>
                </a:solidFill>
                <a:latin typeface="Times New Roman"/>
              </a:rPr>
              <a:t>lokal</a:t>
            </a:r>
            <a:r>
              <a:rPr sz="1750" b="0" dirty="0">
                <a:solidFill>
                  <a:srgbClr val="000000"/>
                </a:solidFill>
                <a:latin typeface="Times New Roman"/>
              </a:rPr>
              <a:t> </a:t>
            </a:r>
            <a:r>
              <a:rPr sz="1750" b="0" dirty="0" err="1">
                <a:solidFill>
                  <a:srgbClr val="000000"/>
                </a:solidFill>
                <a:latin typeface="Times New Roman"/>
              </a:rPr>
              <a:t>bestimmt</a:t>
            </a:r>
            <a:r>
              <a:rPr sz="1750" b="0" dirty="0">
                <a:solidFill>
                  <a:srgbClr val="000000"/>
                </a:solidFill>
                <a:latin typeface="Times New Roman"/>
              </a:rPr>
              <a:t>.  </a:t>
            </a:r>
            <a:r>
              <a:rPr sz="1750" b="1" dirty="0">
                <a:solidFill>
                  <a:srgbClr val="000000"/>
                </a:solidFill>
                <a:latin typeface="Times New Roman"/>
              </a:rPr>
              <a:t>Density: </a:t>
            </a:r>
            <a:r>
              <a:rPr sz="1750" b="0" dirty="0" err="1">
                <a:solidFill>
                  <a:srgbClr val="000000"/>
                </a:solidFill>
                <a:latin typeface="Times New Roman"/>
              </a:rPr>
              <a:t>lokal</a:t>
            </a:r>
            <a:r>
              <a:rPr sz="1750" b="0" dirty="0">
                <a:solidFill>
                  <a:srgbClr val="000000"/>
                </a:solidFill>
                <a:latin typeface="Times New Roman"/>
              </a:rPr>
              <a:t> </a:t>
            </a:r>
            <a:r>
              <a:rPr sz="1750" b="0" dirty="0" err="1">
                <a:solidFill>
                  <a:srgbClr val="000000"/>
                </a:solidFill>
                <a:latin typeface="Times New Roman"/>
              </a:rPr>
              <a:t>realisierbar</a:t>
            </a:r>
            <a:r>
              <a:rPr sz="1750" b="0" dirty="0">
                <a:solidFill>
                  <a:srgbClr val="000000"/>
                </a:solidFill>
                <a:latin typeface="Times New Roman"/>
              </a:rPr>
              <a:t>.</a:t>
            </a:r>
          </a:p>
        </p:txBody>
      </p:sp>
      <p:sp>
        <p:nvSpPr>
          <p:cNvPr id="11" name="TextBox 10"/>
          <p:cNvSpPr txBox="1"/>
          <p:nvPr/>
        </p:nvSpPr>
        <p:spPr>
          <a:xfrm>
            <a:off x="1218376" y="4890862"/>
            <a:ext cx="7818120" cy="201168"/>
          </a:xfrm>
          <a:prstGeom prst="rect">
            <a:avLst/>
          </a:prstGeom>
          <a:noFill/>
        </p:spPr>
        <p:txBody>
          <a:bodyPr wrap="square" lIns="18288" tIns="0" rIns="18288" bIns="0" anchor="t">
            <a:spAutoFit/>
          </a:bodyPr>
          <a:lstStyle/>
          <a:p>
            <a:pPr algn="r"/>
            <a:r>
              <a:rPr sz="850" b="0" dirty="0" err="1">
                <a:solidFill>
                  <a:srgbClr val="5A5A5A"/>
                </a:solidFill>
                <a:latin typeface="Times New Roman"/>
              </a:rPr>
              <a:t>Vgl</a:t>
            </a:r>
            <a:r>
              <a:rPr sz="850" b="0" dirty="0">
                <a:solidFill>
                  <a:srgbClr val="5A5A5A"/>
                </a:solidFill>
                <a:latin typeface="Times New Roman"/>
              </a:rPr>
              <a:t>. </a:t>
            </a:r>
            <a:r>
              <a:rPr sz="850" b="0" dirty="0" err="1">
                <a:solidFill>
                  <a:srgbClr val="5A5A5A"/>
                </a:solidFill>
                <a:latin typeface="Times New Roman"/>
              </a:rPr>
              <a:t>Troelstra</a:t>
            </a:r>
            <a:r>
              <a:rPr sz="850" b="0" dirty="0">
                <a:solidFill>
                  <a:srgbClr val="5A5A5A"/>
                </a:solidFill>
                <a:latin typeface="Times New Roman"/>
              </a:rPr>
              <a:t> (1982): Choice Sequences; </a:t>
            </a:r>
            <a:r>
              <a:rPr sz="850" b="0" dirty="0" err="1">
                <a:solidFill>
                  <a:srgbClr val="5A5A5A"/>
                </a:solidFill>
                <a:latin typeface="Times New Roman"/>
              </a:rPr>
              <a:t>Linnebo</a:t>
            </a:r>
            <a:r>
              <a:rPr sz="850" b="0" dirty="0">
                <a:solidFill>
                  <a:srgbClr val="5A5A5A"/>
                </a:solidFill>
                <a:latin typeface="Times New Roman"/>
              </a:rPr>
              <a:t>/Shapiro (2020), § Axiomatization.</a:t>
            </a:r>
          </a:p>
        </p:txBody>
      </p:sp>
    </p:spTree>
    <p:extLst>
      <p:ext uri="{BB962C8B-B14F-4D97-AF65-F5344CB8AC3E}">
        <p14:creationId xmlns:p14="http://schemas.microsoft.com/office/powerpoint/2010/main" val="1768606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Das intuitionistische Kontinuum</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467544" y="699542"/>
            <a:ext cx="3744416" cy="461665"/>
          </a:xfrm>
          <a:prstGeom prst="rect">
            <a:avLst/>
          </a:prstGeom>
          <a:noFill/>
        </p:spPr>
        <p:txBody>
          <a:bodyPr wrap="square" rtlCol="0">
            <a:spAutoFit/>
          </a:bodyPr>
          <a:lstStyle/>
          <a:p>
            <a:r>
              <a:rPr lang="de-DE" sz="2400" b="1" dirty="0" smtClean="0">
                <a:latin typeface="Times New Roman" panose="02020603050405020304" pitchFamily="18" charset="0"/>
                <a:cs typeface="Times New Roman" panose="02020603050405020304" pitchFamily="18" charset="0"/>
              </a:rPr>
              <a:t>Klassisches Kontinuum</a:t>
            </a:r>
            <a:endParaRPr lang="de-DE" sz="2400" b="1" dirty="0">
              <a:latin typeface="Times New Roman" panose="02020603050405020304" pitchFamily="18" charset="0"/>
              <a:cs typeface="Times New Roman" panose="02020603050405020304" pitchFamily="18" charset="0"/>
            </a:endParaRPr>
          </a:p>
        </p:txBody>
      </p:sp>
      <p:sp>
        <p:nvSpPr>
          <p:cNvPr id="5" name="Textfeld 4"/>
          <p:cNvSpPr txBox="1"/>
          <p:nvPr/>
        </p:nvSpPr>
        <p:spPr>
          <a:xfrm>
            <a:off x="4788024" y="699542"/>
            <a:ext cx="4248472" cy="461665"/>
          </a:xfrm>
          <a:prstGeom prst="rect">
            <a:avLst/>
          </a:prstGeom>
          <a:noFill/>
        </p:spPr>
        <p:txBody>
          <a:bodyPr wrap="square" rtlCol="0">
            <a:spAutoFit/>
          </a:bodyPr>
          <a:lstStyle/>
          <a:p>
            <a:r>
              <a:rPr lang="de-DE" sz="2400" b="1" dirty="0" err="1" smtClean="0">
                <a:latin typeface="Times New Roman" panose="02020603050405020304" pitchFamily="18" charset="0"/>
                <a:cs typeface="Times New Roman" panose="02020603050405020304" pitchFamily="18" charset="0"/>
              </a:rPr>
              <a:t>Intuitionistisches</a:t>
            </a:r>
            <a:r>
              <a:rPr lang="de-DE" sz="2400" b="1" dirty="0" smtClean="0">
                <a:latin typeface="Times New Roman" panose="02020603050405020304" pitchFamily="18" charset="0"/>
                <a:cs typeface="Times New Roman" panose="02020603050405020304" pitchFamily="18" charset="0"/>
              </a:rPr>
              <a:t> Kontinuum</a:t>
            </a:r>
            <a:endParaRPr lang="de-DE" sz="2400" b="1" dirty="0">
              <a:latin typeface="Times New Roman" panose="02020603050405020304" pitchFamily="18" charset="0"/>
              <a:cs typeface="Times New Roman" panose="02020603050405020304" pitchFamily="18" charset="0"/>
            </a:endParaRPr>
          </a:p>
        </p:txBody>
      </p:sp>
      <p:sp>
        <p:nvSpPr>
          <p:cNvPr id="6" name="Textfeld 5"/>
          <p:cNvSpPr txBox="1"/>
          <p:nvPr/>
        </p:nvSpPr>
        <p:spPr>
          <a:xfrm>
            <a:off x="539552" y="1338322"/>
            <a:ext cx="3744416" cy="369332"/>
          </a:xfrm>
          <a:prstGeom prst="rect">
            <a:avLst/>
          </a:prstGeom>
          <a:noFill/>
        </p:spPr>
        <p:txBody>
          <a:bodyPr wrap="square" rtlCol="0">
            <a:spAutoFit/>
          </a:bodyPr>
          <a:lstStyle/>
          <a:p>
            <a:r>
              <a:rPr lang="en-US" b="1" dirty="0">
                <a:solidFill>
                  <a:srgbClr val="111111"/>
                </a:solidFill>
                <a:latin typeface="Times New Roman" panose="02020603050405020304" pitchFamily="18" charset="0"/>
                <a:ea typeface="Georgia" pitchFamily="34" charset="-122"/>
                <a:cs typeface="Times New Roman" panose="02020603050405020304" pitchFamily="18" charset="0"/>
              </a:rPr>
              <a:t>ℝ </a:t>
            </a:r>
            <a:r>
              <a:rPr lang="en-US" b="1" dirty="0" err="1">
                <a:solidFill>
                  <a:srgbClr val="111111"/>
                </a:solidFill>
                <a:latin typeface="Times New Roman" panose="02020603050405020304" pitchFamily="18" charset="0"/>
                <a:ea typeface="Georgia" pitchFamily="34" charset="-122"/>
                <a:cs typeface="Times New Roman" panose="02020603050405020304" pitchFamily="18" charset="0"/>
              </a:rPr>
              <a:t>als</a:t>
            </a:r>
            <a:r>
              <a:rPr lang="en-US" b="1"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b="1" dirty="0" err="1">
                <a:solidFill>
                  <a:srgbClr val="111111"/>
                </a:solidFill>
                <a:latin typeface="Times New Roman" panose="02020603050405020304" pitchFamily="18" charset="0"/>
                <a:ea typeface="Georgia" pitchFamily="34" charset="-122"/>
                <a:cs typeface="Times New Roman" panose="02020603050405020304" pitchFamily="18" charset="0"/>
              </a:rPr>
              <a:t>fertige</a:t>
            </a:r>
            <a:r>
              <a:rPr lang="en-US" b="1"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b="1" dirty="0" err="1" smtClean="0">
                <a:solidFill>
                  <a:srgbClr val="111111"/>
                </a:solidFill>
                <a:latin typeface="Times New Roman" panose="02020603050405020304" pitchFamily="18" charset="0"/>
                <a:ea typeface="Georgia" pitchFamily="34" charset="-122"/>
                <a:cs typeface="Times New Roman" panose="02020603050405020304" pitchFamily="18" charset="0"/>
              </a:rPr>
              <a:t>Totalität</a:t>
            </a:r>
            <a:endParaRPr lang="en-US" dirty="0">
              <a:latin typeface="Times New Roman" panose="02020603050405020304" pitchFamily="18" charset="0"/>
              <a:cs typeface="Times New Roman" panose="02020603050405020304" pitchFamily="18" charset="0"/>
            </a:endParaRPr>
          </a:p>
        </p:txBody>
      </p:sp>
      <p:sp>
        <p:nvSpPr>
          <p:cNvPr id="7" name="Text 8"/>
          <p:cNvSpPr/>
          <p:nvPr/>
        </p:nvSpPr>
        <p:spPr>
          <a:xfrm>
            <a:off x="611560" y="1971678"/>
            <a:ext cx="3336424" cy="384048"/>
          </a:xfrm>
          <a:prstGeom prst="rect">
            <a:avLst/>
          </a:prstGeom>
          <a:noFill/>
          <a:ln/>
        </p:spPr>
        <p:txBody>
          <a:bodyPr wrap="square" lIns="0" tIns="0" rIns="0" bIns="0" rtlCol="0" anchor="ctr">
            <a:normAutofit fontScale="70000" lnSpcReduction="20000"/>
          </a:bodyPr>
          <a:lstStyle/>
          <a:p>
            <a:pPr marL="0" indent="0" algn="ctr">
              <a:buNone/>
            </a:pPr>
            <a:r>
              <a:rPr lang="en-US" sz="2600" dirty="0">
                <a:latin typeface="Cambria Math" pitchFamily="34" charset="0"/>
                <a:ea typeface="Cambria Math" pitchFamily="34" charset="-122"/>
                <a:cs typeface="Cambria Math" pitchFamily="34" charset="-120"/>
              </a:rPr>
              <a:t>●──●──●──●──●──●──●</a:t>
            </a:r>
            <a:endParaRPr lang="en-US" sz="2600" dirty="0"/>
          </a:p>
        </p:txBody>
      </p:sp>
      <p:sp>
        <p:nvSpPr>
          <p:cNvPr id="8" name="Rechteck 7"/>
          <p:cNvSpPr/>
          <p:nvPr/>
        </p:nvSpPr>
        <p:spPr>
          <a:xfrm>
            <a:off x="539552" y="2787774"/>
            <a:ext cx="3672408" cy="1200329"/>
          </a:xfrm>
          <a:prstGeom prst="rect">
            <a:avLst/>
          </a:prstGeom>
        </p:spPr>
        <p:txBody>
          <a:bodyPr wrap="square">
            <a:spAutoFit/>
          </a:bodyPr>
          <a:lstStyle/>
          <a:p>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reelle</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Zahlen</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als</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Elemente</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einer</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überabzählbaren</a:t>
            </a:r>
            <a:r>
              <a:rPr lang="en-US" dirty="0" smtClean="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Punktmenge</a:t>
            </a:r>
            <a:endParaRPr lang="en-US" dirty="0">
              <a:latin typeface="Times New Roman" panose="02020603050405020304" pitchFamily="18" charset="0"/>
              <a:cs typeface="Times New Roman" panose="02020603050405020304" pitchFamily="18" charset="0"/>
            </a:endParaRPr>
          </a:p>
          <a:p>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Unendlichkeit</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aktual</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ℝ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ist</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als</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Ganzes</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gegeben</a:t>
            </a:r>
            <a:endParaRPr lang="en-US" dirty="0">
              <a:latin typeface="Times New Roman" panose="02020603050405020304" pitchFamily="18" charset="0"/>
              <a:cs typeface="Times New Roman" panose="02020603050405020304" pitchFamily="18" charset="0"/>
            </a:endParaRPr>
          </a:p>
        </p:txBody>
      </p:sp>
      <p:sp>
        <p:nvSpPr>
          <p:cNvPr id="9" name="Text 10"/>
          <p:cNvSpPr/>
          <p:nvPr/>
        </p:nvSpPr>
        <p:spPr>
          <a:xfrm>
            <a:off x="5652120" y="1762502"/>
            <a:ext cx="2448272" cy="1097280"/>
          </a:xfrm>
          <a:prstGeom prst="rect">
            <a:avLst/>
          </a:prstGeom>
          <a:noFill/>
          <a:ln/>
        </p:spPr>
        <p:txBody>
          <a:bodyPr wrap="square" lIns="254" tIns="254" rIns="254" bIns="254" rtlCol="0" anchor="ctr">
            <a:normAutofit lnSpcReduction="10000"/>
          </a:bodyPr>
          <a:lstStyle/>
          <a:p>
            <a:pPr marL="0" indent="0">
              <a:buNone/>
            </a:pPr>
            <a:r>
              <a:rPr lang="en-US" sz="1580" dirty="0">
                <a:latin typeface="Consolas" pitchFamily="34" charset="0"/>
                <a:ea typeface="Consolas" pitchFamily="34" charset="-122"/>
                <a:cs typeface="Consolas" pitchFamily="34" charset="-120"/>
              </a:rPr>
              <a:t>∅</a:t>
            </a:r>
            <a:endParaRPr lang="en-US" sz="1580" dirty="0"/>
          </a:p>
          <a:p>
            <a:pPr marL="0" indent="0">
              <a:buNone/>
            </a:pPr>
            <a:r>
              <a:rPr lang="en-US" sz="1580" dirty="0">
                <a:latin typeface="Consolas" pitchFamily="34" charset="0"/>
                <a:ea typeface="Consolas" pitchFamily="34" charset="-122"/>
                <a:cs typeface="Consolas" pitchFamily="34" charset="-120"/>
              </a:rPr>
              <a:t>├─ 0 ─ 00 ─ 000 ─ …</a:t>
            </a:r>
            <a:endParaRPr lang="en-US" sz="1580" dirty="0"/>
          </a:p>
          <a:p>
            <a:pPr marL="0" indent="0">
              <a:buNone/>
            </a:pPr>
            <a:r>
              <a:rPr lang="en-US" sz="1580" dirty="0">
                <a:latin typeface="Consolas" pitchFamily="34" charset="0"/>
                <a:ea typeface="Consolas" pitchFamily="34" charset="-122"/>
                <a:cs typeface="Consolas" pitchFamily="34" charset="-120"/>
              </a:rPr>
              <a:t>│   └─ 01 ─ 011 ─ …</a:t>
            </a:r>
            <a:endParaRPr lang="en-US" sz="1580" dirty="0"/>
          </a:p>
          <a:p>
            <a:pPr marL="0" indent="0">
              <a:buNone/>
            </a:pPr>
            <a:r>
              <a:rPr lang="en-US" sz="1580" dirty="0">
                <a:latin typeface="Consolas" pitchFamily="34" charset="0"/>
                <a:ea typeface="Consolas" pitchFamily="34" charset="-122"/>
                <a:cs typeface="Consolas" pitchFamily="34" charset="-120"/>
              </a:rPr>
              <a:t>└─ 1 ─ 10 ─ 101 ─ …</a:t>
            </a:r>
            <a:endParaRPr lang="en-US" sz="1580" dirty="0"/>
          </a:p>
          <a:p>
            <a:pPr marL="0" indent="0">
              <a:buNone/>
            </a:pPr>
            <a:r>
              <a:rPr lang="en-US" sz="1580" dirty="0">
                <a:latin typeface="Consolas" pitchFamily="34" charset="0"/>
                <a:ea typeface="Consolas" pitchFamily="34" charset="-122"/>
                <a:cs typeface="Consolas" pitchFamily="34" charset="-120"/>
              </a:rPr>
              <a:t>    └─ 11 ─ 111 ─ …</a:t>
            </a:r>
            <a:endParaRPr lang="en-US" sz="1580" dirty="0"/>
          </a:p>
        </p:txBody>
      </p:sp>
      <p:sp>
        <p:nvSpPr>
          <p:cNvPr id="10" name="Rechteck 9"/>
          <p:cNvSpPr/>
          <p:nvPr/>
        </p:nvSpPr>
        <p:spPr>
          <a:xfrm>
            <a:off x="5292080" y="1275606"/>
            <a:ext cx="4608512" cy="338554"/>
          </a:xfrm>
          <a:prstGeom prst="rect">
            <a:avLst/>
          </a:prstGeom>
        </p:spPr>
        <p:txBody>
          <a:bodyPr wrap="square">
            <a:spAutoFit/>
          </a:bodyPr>
          <a:lstStyle/>
          <a:p>
            <a:r>
              <a:rPr lang="en-US" sz="1600" b="1" dirty="0" smtClean="0">
                <a:solidFill>
                  <a:srgbClr val="111111"/>
                </a:solidFill>
                <a:latin typeface="Times New Roman" panose="02020603050405020304" pitchFamily="18" charset="0"/>
                <a:ea typeface="Georgia" pitchFamily="34" charset="-122"/>
                <a:cs typeface="Times New Roman" panose="02020603050405020304" pitchFamily="18" charset="0"/>
              </a:rPr>
              <a:t>Medium </a:t>
            </a:r>
            <a:r>
              <a:rPr lang="en-US" sz="1600" b="1" dirty="0" err="1" smtClean="0">
                <a:solidFill>
                  <a:srgbClr val="111111"/>
                </a:solidFill>
                <a:latin typeface="Times New Roman" panose="02020603050405020304" pitchFamily="18" charset="0"/>
                <a:ea typeface="Georgia" pitchFamily="34" charset="-122"/>
                <a:cs typeface="Times New Roman" panose="02020603050405020304" pitchFamily="18" charset="0"/>
              </a:rPr>
              <a:t>möglicher</a:t>
            </a:r>
            <a:r>
              <a:rPr lang="en-US" sz="1600" b="1" dirty="0" smtClean="0">
                <a:solidFill>
                  <a:srgbClr val="111111"/>
                </a:solidFill>
                <a:latin typeface="Times New Roman" panose="02020603050405020304" pitchFamily="18" charset="0"/>
                <a:ea typeface="Georgia" pitchFamily="34" charset="-122"/>
                <a:cs typeface="Times New Roman" panose="02020603050405020304" pitchFamily="18" charset="0"/>
              </a:rPr>
              <a:t> </a:t>
            </a:r>
            <a:r>
              <a:rPr lang="en-US" sz="1600" b="1" dirty="0" err="1">
                <a:solidFill>
                  <a:srgbClr val="111111"/>
                </a:solidFill>
                <a:latin typeface="Times New Roman" panose="02020603050405020304" pitchFamily="18" charset="0"/>
                <a:ea typeface="Georgia" pitchFamily="34" charset="-122"/>
                <a:cs typeface="Times New Roman" panose="02020603050405020304" pitchFamily="18" charset="0"/>
              </a:rPr>
              <a:t>Fortsetzungen</a:t>
            </a:r>
            <a:endParaRPr lang="en-US" sz="1600" dirty="0">
              <a:latin typeface="Times New Roman" panose="02020603050405020304" pitchFamily="18" charset="0"/>
              <a:cs typeface="Times New Roman" panose="02020603050405020304" pitchFamily="18" charset="0"/>
            </a:endParaRPr>
          </a:p>
        </p:txBody>
      </p:sp>
      <p:sp>
        <p:nvSpPr>
          <p:cNvPr id="11" name="Rechteck 10"/>
          <p:cNvSpPr/>
          <p:nvPr/>
        </p:nvSpPr>
        <p:spPr>
          <a:xfrm>
            <a:off x="5636332" y="3014831"/>
            <a:ext cx="2398413" cy="261610"/>
          </a:xfrm>
          <a:prstGeom prst="rect">
            <a:avLst/>
          </a:prstGeom>
        </p:spPr>
        <p:txBody>
          <a:bodyPr wrap="none">
            <a:spAutoFit/>
          </a:bodyPr>
          <a:lstStyle/>
          <a:p>
            <a:pPr algn="ctr"/>
            <a:r>
              <a:rPr lang="en-US" sz="1100" i="1" dirty="0" err="1">
                <a:solidFill>
                  <a:srgbClr val="666666"/>
                </a:solidFill>
                <a:latin typeface="Times New Roman" panose="02020603050405020304" pitchFamily="18" charset="0"/>
                <a:ea typeface="Georgia" pitchFamily="34" charset="-122"/>
                <a:cs typeface="Times New Roman" panose="02020603050405020304" pitchFamily="18" charset="0"/>
              </a:rPr>
              <a:t>endliche</a:t>
            </a:r>
            <a:r>
              <a:rPr lang="en-US" sz="1100" i="1" dirty="0">
                <a:solidFill>
                  <a:srgbClr val="666666"/>
                </a:solidFill>
                <a:latin typeface="Times New Roman" panose="02020603050405020304" pitchFamily="18" charset="0"/>
                <a:ea typeface="Georgia" pitchFamily="34" charset="-122"/>
                <a:cs typeface="Times New Roman" panose="02020603050405020304" pitchFamily="18" charset="0"/>
              </a:rPr>
              <a:t> </a:t>
            </a:r>
            <a:r>
              <a:rPr lang="en-US" sz="1100" i="1" dirty="0" err="1">
                <a:solidFill>
                  <a:srgbClr val="666666"/>
                </a:solidFill>
                <a:latin typeface="Times New Roman" panose="02020603050405020304" pitchFamily="18" charset="0"/>
                <a:ea typeface="Georgia" pitchFamily="34" charset="-122"/>
                <a:cs typeface="Times New Roman" panose="02020603050405020304" pitchFamily="18" charset="0"/>
              </a:rPr>
              <a:t>Anfangsstücke</a:t>
            </a:r>
            <a:r>
              <a:rPr lang="en-US" sz="1100" i="1" dirty="0">
                <a:solidFill>
                  <a:srgbClr val="666666"/>
                </a:solidFill>
                <a:latin typeface="Times New Roman" panose="02020603050405020304" pitchFamily="18" charset="0"/>
                <a:ea typeface="Georgia" pitchFamily="34" charset="-122"/>
                <a:cs typeface="Times New Roman" panose="02020603050405020304" pitchFamily="18" charset="0"/>
              </a:rPr>
              <a:t>; </a:t>
            </a:r>
            <a:r>
              <a:rPr lang="en-US" sz="1100" i="1" dirty="0" err="1">
                <a:solidFill>
                  <a:srgbClr val="666666"/>
                </a:solidFill>
                <a:latin typeface="Times New Roman" panose="02020603050405020304" pitchFamily="18" charset="0"/>
                <a:ea typeface="Georgia" pitchFamily="34" charset="-122"/>
                <a:cs typeface="Times New Roman" panose="02020603050405020304" pitchFamily="18" charset="0"/>
              </a:rPr>
              <a:t>offene</a:t>
            </a:r>
            <a:r>
              <a:rPr lang="en-US" sz="1100" i="1" dirty="0">
                <a:solidFill>
                  <a:srgbClr val="666666"/>
                </a:solidFill>
                <a:latin typeface="Times New Roman" panose="02020603050405020304" pitchFamily="18" charset="0"/>
                <a:ea typeface="Georgia" pitchFamily="34" charset="-122"/>
                <a:cs typeface="Times New Roman" panose="02020603050405020304" pitchFamily="18" charset="0"/>
              </a:rPr>
              <a:t> </a:t>
            </a:r>
            <a:r>
              <a:rPr lang="en-US" sz="1100" i="1" dirty="0" err="1">
                <a:solidFill>
                  <a:srgbClr val="666666"/>
                </a:solidFill>
                <a:latin typeface="Times New Roman" panose="02020603050405020304" pitchFamily="18" charset="0"/>
                <a:ea typeface="Georgia" pitchFamily="34" charset="-122"/>
                <a:cs typeface="Times New Roman" panose="02020603050405020304" pitchFamily="18" charset="0"/>
              </a:rPr>
              <a:t>Zukunft</a:t>
            </a:r>
            <a:endParaRPr lang="en-US" sz="1100" dirty="0">
              <a:latin typeface="Times New Roman" panose="02020603050405020304" pitchFamily="18" charset="0"/>
              <a:cs typeface="Times New Roman" panose="02020603050405020304" pitchFamily="18" charset="0"/>
            </a:endParaRPr>
          </a:p>
        </p:txBody>
      </p:sp>
      <p:sp>
        <p:nvSpPr>
          <p:cNvPr id="12" name="Rechteck 11"/>
          <p:cNvSpPr/>
          <p:nvPr/>
        </p:nvSpPr>
        <p:spPr>
          <a:xfrm>
            <a:off x="1331640" y="2355726"/>
            <a:ext cx="1838965" cy="261610"/>
          </a:xfrm>
          <a:prstGeom prst="rect">
            <a:avLst/>
          </a:prstGeom>
        </p:spPr>
        <p:txBody>
          <a:bodyPr wrap="none">
            <a:spAutoFit/>
          </a:bodyPr>
          <a:lstStyle/>
          <a:p>
            <a:pPr algn="ctr"/>
            <a:r>
              <a:rPr lang="de-DE" sz="1100" i="1" dirty="0">
                <a:solidFill>
                  <a:srgbClr val="666666"/>
                </a:solidFill>
                <a:latin typeface="Times New Roman" panose="02020603050405020304" pitchFamily="18" charset="0"/>
                <a:ea typeface="Georgia" pitchFamily="34" charset="-122"/>
                <a:cs typeface="Times New Roman" panose="02020603050405020304" pitchFamily="18" charset="0"/>
              </a:rPr>
              <a:t>alle Punkte liegen bereits vor</a:t>
            </a:r>
            <a:endParaRPr lang="en-US" sz="1100" dirty="0">
              <a:latin typeface="Times New Roman" panose="02020603050405020304" pitchFamily="18" charset="0"/>
              <a:cs typeface="Times New Roman" panose="02020603050405020304" pitchFamily="18" charset="0"/>
            </a:endParaRPr>
          </a:p>
        </p:txBody>
      </p:sp>
      <p:sp>
        <p:nvSpPr>
          <p:cNvPr id="13" name="Rechteck 12"/>
          <p:cNvSpPr/>
          <p:nvPr/>
        </p:nvSpPr>
        <p:spPr>
          <a:xfrm>
            <a:off x="5436096" y="3418423"/>
            <a:ext cx="3312368" cy="1200329"/>
          </a:xfrm>
          <a:prstGeom prst="rect">
            <a:avLst/>
          </a:prstGeom>
        </p:spPr>
        <p:txBody>
          <a:bodyPr wrap="square">
            <a:spAutoFit/>
          </a:bodyPr>
          <a:lstStyle/>
          <a:p>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Punkte</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entstehen</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als</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Wahlfolgen</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α =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a₀,a</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₁, …)</a:t>
            </a:r>
            <a:endParaRPr lang="en-US" dirty="0">
              <a:latin typeface="Times New Roman" panose="02020603050405020304" pitchFamily="18" charset="0"/>
              <a:cs typeface="Times New Roman" panose="02020603050405020304" pitchFamily="18" charset="0"/>
            </a:endParaRPr>
          </a:p>
          <a:p>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zu</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jedem</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Zeitpunkt</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ist</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a:solidFill>
                  <a:srgbClr val="111111"/>
                </a:solidFill>
                <a:latin typeface="Times New Roman" panose="02020603050405020304" pitchFamily="18" charset="0"/>
                <a:ea typeface="Georgia" pitchFamily="34" charset="-122"/>
                <a:cs typeface="Times New Roman" panose="02020603050405020304" pitchFamily="18" charset="0"/>
              </a:rPr>
              <a:t>nur</a:t>
            </a:r>
            <a:r>
              <a:rPr lang="en-US" dirty="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smtClean="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ein</a:t>
            </a:r>
            <a:r>
              <a:rPr lang="en-US" dirty="0" smtClean="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Anfangsteil</a:t>
            </a:r>
            <a:r>
              <a:rPr lang="en-US" dirty="0" smtClean="0">
                <a:solidFill>
                  <a:srgbClr val="111111"/>
                </a:solidFill>
                <a:latin typeface="Times New Roman" panose="02020603050405020304" pitchFamily="18" charset="0"/>
                <a:ea typeface="Georgia" pitchFamily="34" charset="-122"/>
                <a:cs typeface="Times New Roman" panose="02020603050405020304" pitchFamily="18" charset="0"/>
              </a:rPr>
              <a:t> </a:t>
            </a:r>
            <a:r>
              <a:rPr lang="en-US" dirty="0" err="1" smtClean="0">
                <a:solidFill>
                  <a:srgbClr val="111111"/>
                </a:solidFill>
                <a:latin typeface="Times New Roman" panose="02020603050405020304" pitchFamily="18" charset="0"/>
                <a:ea typeface="Georgia" pitchFamily="34" charset="-122"/>
                <a:cs typeface="Times New Roman" panose="02020603050405020304" pitchFamily="18" charset="0"/>
              </a:rPr>
              <a:t>bekannt</a:t>
            </a:r>
            <a:endParaRPr lang="en-US" dirty="0" smtClean="0">
              <a:solidFill>
                <a:srgbClr val="111111"/>
              </a:solidFill>
              <a:latin typeface="Times New Roman" panose="02020603050405020304" pitchFamily="18" charset="0"/>
              <a:ea typeface="Georgia" pitchFamily="34" charset="-122"/>
              <a:cs typeface="Times New Roman" panose="02020603050405020304" pitchFamily="18" charset="0"/>
            </a:endParaRPr>
          </a:p>
        </p:txBody>
      </p:sp>
      <p:cxnSp>
        <p:nvCxnSpPr>
          <p:cNvPr id="15" name="Gerade Verbindung 14"/>
          <p:cNvCxnSpPr/>
          <p:nvPr/>
        </p:nvCxnSpPr>
        <p:spPr>
          <a:xfrm>
            <a:off x="4355976" y="915566"/>
            <a:ext cx="0" cy="3688378"/>
          </a:xfrm>
          <a:prstGeom prst="line">
            <a:avLst/>
          </a:prstGeom>
          <a:ln w="28575"/>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animBg="1"/>
      <p:bldP spid="8" grpId="0"/>
      <p:bldP spid="9" grpId="0" animBg="1"/>
      <p:bldP spid="10" grpId="0"/>
      <p:bldP spid="11" grpId="0"/>
      <p:bldP spid="12" grpId="0"/>
      <p:bldP spid="1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hteck 1"/>
          <p:cNvSpPr/>
          <p:nvPr/>
        </p:nvSpPr>
        <p:spPr>
          <a:xfrm>
            <a:off x="432048" y="1578154"/>
            <a:ext cx="8388424" cy="1569660"/>
          </a:xfrm>
          <a:prstGeom prst="rect">
            <a:avLst/>
          </a:prstGeom>
        </p:spPr>
        <p:txBody>
          <a:bodyPr wrap="square">
            <a:spAutoFit/>
          </a:bodyPr>
          <a:lstStyle/>
          <a:p>
            <a:r>
              <a:rPr lang="en-US" sz="4800" dirty="0">
                <a:latin typeface="Times New Roman" panose="02020603050405020304" pitchFamily="18" charset="0"/>
                <a:cs typeface="Times New Roman" panose="02020603050405020304" pitchFamily="18" charset="0"/>
              </a:rPr>
              <a:t>„Some mathematical objects are omnitemporal, some are </a:t>
            </a:r>
            <a:r>
              <a:rPr lang="en-US" sz="4800" dirty="0" smtClean="0">
                <a:latin typeface="Times New Roman" panose="02020603050405020304" pitchFamily="18" charset="0"/>
                <a:cs typeface="Times New Roman" panose="02020603050405020304" pitchFamily="18" charset="0"/>
              </a:rPr>
              <a:t>not.“</a:t>
            </a:r>
            <a:endParaRPr lang="de-DE" sz="4800" dirty="0">
              <a:latin typeface="Times New Roman" panose="02020603050405020304" pitchFamily="18" charset="0"/>
              <a:cs typeface="Times New Roman" panose="02020603050405020304" pitchFamily="18" charset="0"/>
            </a:endParaRPr>
          </a:p>
        </p:txBody>
      </p:sp>
      <p:sp>
        <p:nvSpPr>
          <p:cNvPr id="3" name="Quellenangabe 3" descr="Mark van Atten (2007): Brouwer Meets Husserl, S. 51."/>
          <p:cNvSpPr txBox="1"/>
          <p:nvPr/>
        </p:nvSpPr>
        <p:spPr>
          <a:xfrm>
            <a:off x="557784" y="3383280"/>
            <a:ext cx="8001000" cy="228600"/>
          </a:xfrm>
          <a:prstGeom prst="rect">
            <a:avLst/>
          </a:prstGeom>
          <a:noFill/>
          <a:ln>
            <a:noFill/>
          </a:ln>
        </p:spPr>
        <p:txBody>
          <a:bodyPr wrap="none" lIns="0" tIns="0" rIns="0" bIns="0" anchor="t">
            <a:noAutofit/>
          </a:bodyPr>
          <a:lstStyle/>
          <a:p>
            <a:pPr marL="0" marR="0" indent="0" algn="l">
              <a:lnSpc>
                <a:spcPts val="1150"/>
              </a:lnSpc>
              <a:spcBef>
                <a:spcPts val="0"/>
              </a:spcBef>
              <a:spcAft>
                <a:spcPts val="0"/>
              </a:spcAft>
              <a:buNone/>
            </a:pPr>
            <a:r>
              <a:rPr lang="de-DE" sz="1000" b="0" i="0" u="none" dirty="0">
                <a:solidFill>
                  <a:srgbClr val="6B6B6B"/>
                </a:solidFill>
                <a:latin typeface="Times New Roman"/>
                <a:ea typeface="Times New Roman"/>
                <a:cs typeface="Times New Roman"/>
              </a:rPr>
              <a:t>Mark van Atten (2007): Brouwer Meets Husserl, S. 51.</a:t>
            </a:r>
            <a:endParaRPr lang="de-DE" sz="1000"/>
          </a:p>
        </p:txBody>
      </p:sp>
    </p:spTree>
    <p:extLst>
      <p:ext uri="{BB962C8B-B14F-4D97-AF65-F5344CB8AC3E}">
        <p14:creationId xmlns:p14="http://schemas.microsoft.com/office/powerpoint/2010/main" val="31871864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Wahlfolgen</a:t>
            </a:r>
            <a:endParaRPr lang="en-CA" sz="3200" dirty="0">
              <a:solidFill>
                <a:schemeClr val="bg1"/>
              </a:solidFill>
              <a:effectLst>
                <a:outerShdw blurRad="38100" dist="38100" dir="2700000" algn="tl">
                  <a:srgbClr val="000000">
                    <a:alpha val="43137"/>
                  </a:srgbClr>
                </a:outerShdw>
              </a:effectLst>
            </a:endParaRPr>
          </a:p>
        </p:txBody>
      </p:sp>
      <p:pic>
        <p:nvPicPr>
          <p:cNvPr id="4" name="Picture 2" descr="C:\Users\Anton\Desktop\a455fb16-c876-4cda-8f73-83b7c4a06e3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699542"/>
            <a:ext cx="8640960"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1709116"/>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Das </a:t>
            </a:r>
            <a:r>
              <a:rPr lang="en-CA" sz="3200" dirty="0" err="1" smtClean="0">
                <a:solidFill>
                  <a:schemeClr val="bg1"/>
                </a:solidFill>
                <a:effectLst>
                  <a:outerShdw blurRad="38100" dist="38100" dir="2700000" algn="tl">
                    <a:srgbClr val="000000">
                      <a:alpha val="43137"/>
                    </a:srgbClr>
                  </a:outerShdw>
                </a:effectLst>
              </a:rPr>
              <a:t>schöpferische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Subjekt</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r>
              <a:rPr lang="de-DE" dirty="0">
                <a:latin typeface="Times New Roman" panose="02020603050405020304" pitchFamily="18" charset="0"/>
                <a:cs typeface="Times New Roman" panose="02020603050405020304" pitchFamily="18" charset="0"/>
              </a:rPr>
              <a:t>Das </a:t>
            </a:r>
            <a:r>
              <a:rPr lang="de-DE" b="1" dirty="0">
                <a:latin typeface="Times New Roman" panose="02020603050405020304" pitchFamily="18" charset="0"/>
                <a:cs typeface="Times New Roman" panose="02020603050405020304" pitchFamily="18" charset="0"/>
              </a:rPr>
              <a:t>„</a:t>
            </a:r>
            <a:r>
              <a:rPr lang="de-DE" b="1" dirty="0" err="1">
                <a:latin typeface="Times New Roman" panose="02020603050405020304" pitchFamily="18" charset="0"/>
                <a:cs typeface="Times New Roman" panose="02020603050405020304" pitchFamily="18" charset="0"/>
              </a:rPr>
              <a:t>scheppend</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subject</a:t>
            </a:r>
            <a:r>
              <a:rPr lang="de-DE" b="1" dirty="0">
                <a:latin typeface="Times New Roman" panose="02020603050405020304" pitchFamily="18" charset="0"/>
                <a:cs typeface="Times New Roman" panose="02020603050405020304" pitchFamily="18" charset="0"/>
              </a:rPr>
              <a:t> “ </a:t>
            </a:r>
            <a:r>
              <a:rPr lang="de-DE" dirty="0" smtClean="0">
                <a:latin typeface="Times New Roman" panose="02020603050405020304" pitchFamily="18" charset="0"/>
                <a:cs typeface="Times New Roman" panose="02020603050405020304" pitchFamily="18" charset="0"/>
              </a:rPr>
              <a:t>ist </a:t>
            </a:r>
            <a:r>
              <a:rPr lang="de-DE" dirty="0">
                <a:latin typeface="Times New Roman" panose="02020603050405020304" pitchFamily="18" charset="0"/>
                <a:cs typeface="Times New Roman" panose="02020603050405020304" pitchFamily="18" charset="0"/>
              </a:rPr>
              <a:t>das mathematisierende Ich unter </a:t>
            </a:r>
            <a:r>
              <a:rPr lang="de-DE" dirty="0" smtClean="0">
                <a:latin typeface="Times New Roman" panose="02020603050405020304" pitchFamily="18" charset="0"/>
                <a:cs typeface="Times New Roman" panose="02020603050405020304" pitchFamily="18" charset="0"/>
              </a:rPr>
              <a:t>idealen Bedingungen:</a:t>
            </a:r>
          </a:p>
          <a:p>
            <a:endParaRPr lang="de-DE"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dirty="0" smtClean="0">
                <a:latin typeface="Times New Roman" panose="02020603050405020304" pitchFamily="18" charset="0"/>
                <a:cs typeface="Times New Roman" panose="02020603050405020304" pitchFamily="18" charset="0"/>
              </a:rPr>
              <a:t>Endliche Lebenszeit, begrenztes Gedächtnis, etc. werden ausgeschlossen</a:t>
            </a:r>
          </a:p>
          <a:p>
            <a:pPr marL="285750" indent="-285750">
              <a:buFont typeface="Arial" panose="020B0604020202020204" pitchFamily="34" charset="0"/>
              <a:buChar char="•"/>
            </a:pPr>
            <a:r>
              <a:rPr lang="de-DE" dirty="0" smtClean="0">
                <a:latin typeface="Times New Roman" panose="02020603050405020304" pitchFamily="18" charset="0"/>
                <a:cs typeface="Times New Roman" panose="02020603050405020304" pitchFamily="18" charset="0"/>
              </a:rPr>
              <a:t>Aktual unendliche Akte bleiben aber ausgeschlossen.</a:t>
            </a:r>
          </a:p>
          <a:p>
            <a:pPr marL="285750" indent="-285750">
              <a:buFont typeface="Arial" panose="020B0604020202020204" pitchFamily="34" charset="0"/>
              <a:buChar char="•"/>
            </a:pPr>
            <a:r>
              <a:rPr lang="de-DE" dirty="0">
                <a:latin typeface="Times New Roman" panose="02020603050405020304" pitchFamily="18" charset="0"/>
                <a:cs typeface="Times New Roman" panose="02020603050405020304" pitchFamily="18" charset="0"/>
              </a:rPr>
              <a:t>Das Subjekt kann zukünftige Konstruktionsschritte wählen, ohne dass sie durch ein bereits vorhandenes Gesetz determiniert sein müssen</a:t>
            </a:r>
            <a:r>
              <a:rPr lang="de-DE"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de-DE" dirty="0" smtClean="0">
                <a:latin typeface="Times New Roman" panose="02020603050405020304" pitchFamily="18" charset="0"/>
                <a:cs typeface="Times New Roman" panose="02020603050405020304" pitchFamily="18" charset="0"/>
              </a:rPr>
              <a:t>Das </a:t>
            </a:r>
            <a:r>
              <a:rPr lang="de-DE" dirty="0">
                <a:latin typeface="Times New Roman" panose="02020603050405020304" pitchFamily="18" charset="0"/>
                <a:cs typeface="Times New Roman" panose="02020603050405020304" pitchFamily="18" charset="0"/>
              </a:rPr>
              <a:t>Subjekt weiß nicht im Voraus, was es später beweisen oder wählen wird</a:t>
            </a:r>
            <a:r>
              <a:rPr lang="de-DE"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de-DE"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de-DE" dirty="0" smtClean="0">
              <a:latin typeface="Times New Roman" panose="02020603050405020304" pitchFamily="18" charset="0"/>
              <a:cs typeface="Times New Roman" panose="02020603050405020304" pitchFamily="18" charset="0"/>
            </a:endParaRPr>
          </a:p>
          <a:p>
            <a:pPr algn="ctr"/>
            <a:r>
              <a:rPr lang="de-DE" sz="2400" b="1" dirty="0" smtClean="0">
                <a:latin typeface="Times New Roman" panose="02020603050405020304" pitchFamily="18" charset="0"/>
                <a:cs typeface="Times New Roman" panose="02020603050405020304" pitchFamily="18" charset="0"/>
              </a:rPr>
              <a:t>Keine praxisunabhängige Ontologie der Mathematik!</a:t>
            </a:r>
            <a:endParaRPr lang="de-DE"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43498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000" dirty="0" err="1" smtClean="0">
                <a:solidFill>
                  <a:schemeClr val="bg1"/>
                </a:solidFill>
                <a:effectLst>
                  <a:outerShdw blurRad="38100" dist="38100" dir="2700000" algn="tl">
                    <a:srgbClr val="000000">
                      <a:alpha val="43137"/>
                    </a:srgbClr>
                  </a:outerShdw>
                </a:effectLst>
              </a:rPr>
              <a:t>Formalisierung des schöpferischen Subjekts</a:t>
            </a:r>
            <a:endParaRPr lang="en-CA" sz="32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356616" y="822960"/>
            <a:ext cx="8421624" cy="694944"/>
          </a:xfrm>
          <a:prstGeom prst="rect">
            <a:avLst/>
          </a:prstGeom>
          <a:noFill/>
        </p:spPr>
        <p:txBody>
          <a:bodyPr wrap="square" lIns="0" tIns="0" rIns="0" bIns="0" anchor="t">
            <a:noAutofit/>
          </a:bodyPr>
          <a:lstStyle/>
          <a:p>
            <a:pPr algn="l">
              <a:lnSpc>
                <a:spcPct val="105000"/>
              </a:lnSpc>
              <a:spcBef>
                <a:spcPts val="0"/>
              </a:spcBef>
              <a:spcAft>
                <a:spcPts val="0"/>
              </a:spcAft>
            </a:pPr>
            <a:r>
              <a:rPr lang="de-DE" sz="2200" b="0" i="0">
                <a:solidFill>
                  <a:srgbClr val="000000"/>
                </a:solidFill>
                <a:latin typeface="Times New Roman"/>
              </a:rPr>
              <a:t>□ₙA: Bis zur Stufe n hat das Subjekt A einsichtig gemacht.</a:t>
            </a:r>
          </a:p>
        </p:txBody>
      </p:sp>
      <p:sp>
        <p:nvSpPr>
          <p:cNvPr id="5" name="TextBox 4"/>
          <p:cNvSpPr txBox="1"/>
          <p:nvPr/>
        </p:nvSpPr>
        <p:spPr>
          <a:xfrm>
            <a:off x="365760" y="1635646"/>
            <a:ext cx="3858768" cy="649224"/>
          </a:xfrm>
          <a:prstGeom prst="rect">
            <a:avLst/>
          </a:prstGeom>
          <a:noFill/>
        </p:spPr>
        <p:txBody>
          <a:bodyPr wrap="square" lIns="0" tIns="0" rIns="0" bIns="0" anchor="t">
            <a:noAutofit/>
          </a:bodyPr>
          <a:lstStyle/>
          <a:p>
            <a:pPr algn="l">
              <a:lnSpc>
                <a:spcPct val="105000"/>
              </a:lnSpc>
              <a:spcBef>
                <a:spcPts val="0"/>
              </a:spcBef>
              <a:spcAft>
                <a:spcPts val="0"/>
              </a:spcAft>
            </a:pPr>
            <a:r>
              <a:rPr lang="de-DE" sz="2000" b="1" i="0" dirty="0">
                <a:solidFill>
                  <a:srgbClr val="000000"/>
                </a:solidFill>
                <a:latin typeface="Times New Roman"/>
              </a:rPr>
              <a:t>Entscheidbarkeit der</a:t>
            </a:r>
          </a:p>
          <a:p>
            <a:pPr algn="l">
              <a:lnSpc>
                <a:spcPct val="105000"/>
              </a:lnSpc>
              <a:spcBef>
                <a:spcPts val="0"/>
              </a:spcBef>
              <a:spcAft>
                <a:spcPts val="0"/>
              </a:spcAft>
            </a:pPr>
            <a:r>
              <a:rPr lang="de-DE" sz="2000" b="1" i="0" dirty="0">
                <a:solidFill>
                  <a:srgbClr val="000000"/>
                </a:solidFill>
                <a:latin typeface="Times New Roman"/>
              </a:rPr>
              <a:t>bisherigen Evidenz</a:t>
            </a:r>
          </a:p>
        </p:txBody>
      </p:sp>
      <p:sp>
        <p:nvSpPr>
          <p:cNvPr id="6" name="TextBox 5"/>
          <p:cNvSpPr txBox="1"/>
          <p:nvPr/>
        </p:nvSpPr>
        <p:spPr>
          <a:xfrm>
            <a:off x="4672584" y="1672222"/>
            <a:ext cx="4069080" cy="512064"/>
          </a:xfrm>
          <a:prstGeom prst="rect">
            <a:avLst/>
          </a:prstGeom>
          <a:noFill/>
        </p:spPr>
        <p:txBody>
          <a:bodyPr wrap="square" lIns="0" tIns="0" rIns="0" bIns="0" anchor="t">
            <a:noAutofit/>
          </a:bodyPr>
          <a:lstStyle/>
          <a:p>
            <a:pPr algn="l">
              <a:lnSpc>
                <a:spcPct val="105000"/>
              </a:lnSpc>
              <a:spcBef>
                <a:spcPts val="0"/>
              </a:spcBef>
              <a:spcAft>
                <a:spcPts val="0"/>
              </a:spcAft>
            </a:pPr>
            <a:r>
              <a:rPr lang="de-DE" sz="2500" b="0" i="0" dirty="0">
                <a:solidFill>
                  <a:srgbClr val="000000"/>
                </a:solidFill>
                <a:latin typeface="Cambria Math"/>
              </a:rPr>
              <a:t>□ₙA ∨ ¬□ₙA</a:t>
            </a:r>
          </a:p>
        </p:txBody>
      </p:sp>
      <p:sp>
        <p:nvSpPr>
          <p:cNvPr id="7" name="TextBox 6"/>
          <p:cNvSpPr txBox="1"/>
          <p:nvPr/>
        </p:nvSpPr>
        <p:spPr>
          <a:xfrm>
            <a:off x="365760" y="2586622"/>
            <a:ext cx="3858768" cy="649224"/>
          </a:xfrm>
          <a:prstGeom prst="rect">
            <a:avLst/>
          </a:prstGeom>
          <a:noFill/>
        </p:spPr>
        <p:txBody>
          <a:bodyPr wrap="square" lIns="0" tIns="0" rIns="0" bIns="0" anchor="t">
            <a:noAutofit/>
          </a:bodyPr>
          <a:lstStyle/>
          <a:p>
            <a:pPr algn="l">
              <a:lnSpc>
                <a:spcPct val="105000"/>
              </a:lnSpc>
              <a:spcBef>
                <a:spcPts val="0"/>
              </a:spcBef>
              <a:spcAft>
                <a:spcPts val="0"/>
              </a:spcAft>
            </a:pPr>
            <a:r>
              <a:rPr lang="de-DE" sz="2000" b="1" i="0" dirty="0">
                <a:solidFill>
                  <a:srgbClr val="000000"/>
                </a:solidFill>
                <a:latin typeface="Times New Roman"/>
              </a:rPr>
              <a:t>Bewahrung der</a:t>
            </a:r>
          </a:p>
          <a:p>
            <a:pPr algn="l">
              <a:lnSpc>
                <a:spcPct val="105000"/>
              </a:lnSpc>
              <a:spcBef>
                <a:spcPts val="0"/>
              </a:spcBef>
              <a:spcAft>
                <a:spcPts val="0"/>
              </a:spcAft>
            </a:pPr>
            <a:r>
              <a:rPr lang="de-DE" sz="2000" b="1" i="0" dirty="0">
                <a:solidFill>
                  <a:srgbClr val="000000"/>
                </a:solidFill>
                <a:latin typeface="Times New Roman"/>
              </a:rPr>
              <a:t>Evidenz</a:t>
            </a:r>
          </a:p>
        </p:txBody>
      </p:sp>
      <p:sp>
        <p:nvSpPr>
          <p:cNvPr id="8" name="TextBox 7"/>
          <p:cNvSpPr txBox="1"/>
          <p:nvPr/>
        </p:nvSpPr>
        <p:spPr>
          <a:xfrm>
            <a:off x="4672584" y="2623198"/>
            <a:ext cx="4069080" cy="512064"/>
          </a:xfrm>
          <a:prstGeom prst="rect">
            <a:avLst/>
          </a:prstGeom>
          <a:noFill/>
        </p:spPr>
        <p:txBody>
          <a:bodyPr wrap="square" lIns="0" tIns="0" rIns="0" bIns="0" anchor="t">
            <a:noAutofit/>
          </a:bodyPr>
          <a:lstStyle/>
          <a:p>
            <a:pPr algn="l">
              <a:lnSpc>
                <a:spcPct val="105000"/>
              </a:lnSpc>
              <a:spcBef>
                <a:spcPts val="0"/>
              </a:spcBef>
              <a:spcAft>
                <a:spcPts val="0"/>
              </a:spcAft>
            </a:pPr>
            <a:r>
              <a:rPr lang="de-DE" sz="2500" b="0" i="0" dirty="0">
                <a:solidFill>
                  <a:srgbClr val="000000"/>
                </a:solidFill>
                <a:latin typeface="Cambria Math"/>
              </a:rPr>
              <a:t>□ₙA → □ₙ₊ₘA</a:t>
            </a:r>
          </a:p>
        </p:txBody>
      </p:sp>
      <p:sp>
        <p:nvSpPr>
          <p:cNvPr id="9" name="TextBox 8"/>
          <p:cNvSpPr txBox="1"/>
          <p:nvPr/>
        </p:nvSpPr>
        <p:spPr>
          <a:xfrm>
            <a:off x="365760" y="3537598"/>
            <a:ext cx="3858768" cy="649224"/>
          </a:xfrm>
          <a:prstGeom prst="rect">
            <a:avLst/>
          </a:prstGeom>
          <a:noFill/>
        </p:spPr>
        <p:txBody>
          <a:bodyPr wrap="square" lIns="0" tIns="0" rIns="0" bIns="0" anchor="t">
            <a:noAutofit/>
          </a:bodyPr>
          <a:lstStyle/>
          <a:p>
            <a:pPr algn="l">
              <a:lnSpc>
                <a:spcPct val="105000"/>
              </a:lnSpc>
              <a:spcBef>
                <a:spcPts val="0"/>
              </a:spcBef>
              <a:spcAft>
                <a:spcPts val="0"/>
              </a:spcAft>
            </a:pPr>
            <a:r>
              <a:rPr lang="de-DE" sz="2000" b="1" i="0" dirty="0">
                <a:solidFill>
                  <a:srgbClr val="000000"/>
                </a:solidFill>
                <a:latin typeface="Times New Roman"/>
              </a:rPr>
              <a:t>Korrektheit der</a:t>
            </a:r>
          </a:p>
          <a:p>
            <a:pPr algn="l">
              <a:lnSpc>
                <a:spcPct val="105000"/>
              </a:lnSpc>
              <a:spcBef>
                <a:spcPts val="0"/>
              </a:spcBef>
              <a:spcAft>
                <a:spcPts val="0"/>
              </a:spcAft>
            </a:pPr>
            <a:r>
              <a:rPr lang="de-DE" sz="2000" b="1" i="0" dirty="0">
                <a:solidFill>
                  <a:srgbClr val="000000"/>
                </a:solidFill>
                <a:latin typeface="Times New Roman"/>
              </a:rPr>
              <a:t>Evidenz</a:t>
            </a:r>
          </a:p>
        </p:txBody>
      </p:sp>
      <p:sp>
        <p:nvSpPr>
          <p:cNvPr id="10" name="TextBox 9"/>
          <p:cNvSpPr txBox="1"/>
          <p:nvPr/>
        </p:nvSpPr>
        <p:spPr>
          <a:xfrm>
            <a:off x="4672584" y="3574174"/>
            <a:ext cx="4069080" cy="512064"/>
          </a:xfrm>
          <a:prstGeom prst="rect">
            <a:avLst/>
          </a:prstGeom>
          <a:noFill/>
        </p:spPr>
        <p:txBody>
          <a:bodyPr wrap="square" lIns="0" tIns="0" rIns="0" bIns="0" anchor="t">
            <a:noAutofit/>
          </a:bodyPr>
          <a:lstStyle/>
          <a:p>
            <a:pPr algn="l">
              <a:lnSpc>
                <a:spcPct val="105000"/>
              </a:lnSpc>
              <a:spcBef>
                <a:spcPts val="0"/>
              </a:spcBef>
              <a:spcAft>
                <a:spcPts val="0"/>
              </a:spcAft>
            </a:pPr>
            <a:r>
              <a:rPr lang="de-DE" sz="2500" b="0" i="0">
                <a:solidFill>
                  <a:srgbClr val="000000"/>
                </a:solidFill>
                <a:latin typeface="Cambria Math"/>
              </a:rPr>
              <a:t>(∃n □ₙA) → A</a:t>
            </a:r>
          </a:p>
        </p:txBody>
      </p:sp>
      <p:sp>
        <p:nvSpPr>
          <p:cNvPr id="11" name="TextBox 10"/>
          <p:cNvSpPr txBox="1"/>
          <p:nvPr/>
        </p:nvSpPr>
        <p:spPr>
          <a:xfrm>
            <a:off x="320040" y="4809744"/>
            <a:ext cx="8503920" cy="173736"/>
          </a:xfrm>
          <a:prstGeom prst="rect">
            <a:avLst/>
          </a:prstGeom>
          <a:noFill/>
        </p:spPr>
        <p:txBody>
          <a:bodyPr wrap="square" lIns="0" tIns="0" rIns="0" bIns="0" anchor="t">
            <a:noAutofit/>
          </a:bodyPr>
          <a:lstStyle/>
          <a:p>
            <a:pPr algn="l">
              <a:lnSpc>
                <a:spcPct val="105000"/>
              </a:lnSpc>
              <a:spcBef>
                <a:spcPts val="0"/>
              </a:spcBef>
              <a:spcAft>
                <a:spcPts val="0"/>
              </a:spcAft>
            </a:pPr>
            <a:r>
              <a:rPr lang="de-DE" sz="1050" b="0" i="0">
                <a:solidFill>
                  <a:srgbClr val="595959"/>
                </a:solidFill>
                <a:latin typeface="Times New Roman"/>
              </a:rPr>
              <a:t>Kreisel–Troelstra-Theorie; vgl. van Atten (2018), § 4.2, S. 32–33 der Preprint-Fassung.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P spid="9" grpId="0"/>
      <p:bldP spid="10" grpId="0"/>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hteck 6 – Kopie"/>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3" name="Textfeld 7 – Kopie"/>
          <p:cNvSpPr txBox="1"/>
          <p:nvPr/>
        </p:nvSpPr>
        <p:spPr>
          <a:xfrm>
            <a:off x="0" y="1"/>
            <a:ext cx="9144000" cy="555955"/>
          </a:xfrm>
          <a:prstGeom prst="rect">
            <a:avLst/>
          </a:prstGeom>
          <a:noFill/>
        </p:spPr>
        <p:txBody>
          <a:bodyPr wrap="square" rtlCol="0" anchor="ctr">
            <a:noAutofit/>
          </a:bodyPr>
          <a:lstStyle/>
          <a:p>
            <a:pPr algn="ctr"/>
            <a:r>
              <a:rPr lang="en-CA" sz="3200" dirty="0" err="1">
                <a:solidFill>
                  <a:schemeClr val="bg1"/>
                </a:solidFill>
                <a:effectLst>
                  <a:outerShdw blurRad="38100" dist="38100" dir="2700000" algn="tl">
                    <a:srgbClr val="000000">
                      <a:alpha val="43137"/>
                    </a:srgbClr>
                  </a:outerShdw>
                </a:effectLst>
              </a:rPr>
              <a:t>Formalisierung</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schöpferischen</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Subjekts</a:t>
            </a:r>
            <a:endParaRPr lang="en-CA" sz="3600" dirty="0">
              <a:solidFill>
                <a:schemeClr val="bg1"/>
              </a:solidFill>
              <a:effectLst>
                <a:outerShdw blurRad="38100" dist="38100" dir="2700000" algn="tl">
                  <a:srgbClr val="000000">
                    <a:alpha val="43137"/>
                  </a:srgbClr>
                </a:outerShdw>
              </a:effectLst>
            </a:endParaRPr>
          </a:p>
        </p:txBody>
      </p:sp>
      <p:sp>
        <p:nvSpPr>
          <p:cNvPr id="4" name="TextBox 3"/>
          <p:cNvSpPr txBox="1"/>
          <p:nvPr/>
        </p:nvSpPr>
        <p:spPr>
          <a:xfrm>
            <a:off x="444568" y="1419622"/>
            <a:ext cx="3813048" cy="365760"/>
          </a:xfrm>
          <a:prstGeom prst="rect">
            <a:avLst/>
          </a:prstGeom>
          <a:noFill/>
        </p:spPr>
        <p:txBody>
          <a:bodyPr wrap="square" lIns="0" tIns="0" rIns="0" bIns="0" anchor="t">
            <a:noAutofit/>
          </a:bodyPr>
          <a:lstStyle/>
          <a:p>
            <a:pPr algn="l">
              <a:lnSpc>
                <a:spcPct val="105000"/>
              </a:lnSpc>
              <a:spcBef>
                <a:spcPts val="0"/>
              </a:spcBef>
              <a:spcAft>
                <a:spcPts val="0"/>
              </a:spcAft>
            </a:pPr>
            <a:r>
              <a:rPr lang="de-DE" sz="2100" b="1" i="0">
                <a:solidFill>
                  <a:srgbClr val="000000"/>
                </a:solidFill>
                <a:latin typeface="Times New Roman"/>
              </a:rPr>
              <a:t>Schwache Fassung</a:t>
            </a:r>
          </a:p>
        </p:txBody>
      </p:sp>
      <p:sp>
        <p:nvSpPr>
          <p:cNvPr id="5" name="TextBox 4"/>
          <p:cNvSpPr txBox="1"/>
          <p:nvPr/>
        </p:nvSpPr>
        <p:spPr>
          <a:xfrm>
            <a:off x="5007424" y="1419622"/>
            <a:ext cx="3813048" cy="365760"/>
          </a:xfrm>
          <a:prstGeom prst="rect">
            <a:avLst/>
          </a:prstGeom>
          <a:noFill/>
        </p:spPr>
        <p:txBody>
          <a:bodyPr wrap="square" lIns="0" tIns="0" rIns="0" bIns="0" anchor="t">
            <a:noAutofit/>
          </a:bodyPr>
          <a:lstStyle/>
          <a:p>
            <a:pPr algn="l">
              <a:lnSpc>
                <a:spcPct val="105000"/>
              </a:lnSpc>
              <a:spcBef>
                <a:spcPts val="0"/>
              </a:spcBef>
              <a:spcAft>
                <a:spcPts val="0"/>
              </a:spcAft>
            </a:pPr>
            <a:r>
              <a:rPr lang="de-DE" sz="2100" b="1" i="0">
                <a:solidFill>
                  <a:srgbClr val="000000"/>
                </a:solidFill>
                <a:latin typeface="Times New Roman"/>
              </a:rPr>
              <a:t>Starke Fassung</a:t>
            </a:r>
          </a:p>
        </p:txBody>
      </p:sp>
      <p:cxnSp>
        <p:nvCxnSpPr>
          <p:cNvPr id="6" name="Connector 5"/>
          <p:cNvCxnSpPr/>
          <p:nvPr/>
        </p:nvCxnSpPr>
        <p:spPr>
          <a:xfrm>
            <a:off x="4650808" y="1456198"/>
            <a:ext cx="0" cy="2642616"/>
          </a:xfrm>
          <a:prstGeom prst="line">
            <a:avLst/>
          </a:prstGeom>
          <a:ln w="1016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453712" y="2096278"/>
            <a:ext cx="3803904" cy="557784"/>
          </a:xfrm>
          <a:prstGeom prst="rect">
            <a:avLst/>
          </a:prstGeom>
          <a:noFill/>
        </p:spPr>
        <p:txBody>
          <a:bodyPr wrap="square" lIns="0" tIns="0" rIns="0" bIns="0" anchor="t">
            <a:noAutofit/>
          </a:bodyPr>
          <a:lstStyle/>
          <a:p>
            <a:pPr algn="ctr">
              <a:lnSpc>
                <a:spcPct val="105000"/>
              </a:lnSpc>
              <a:spcBef>
                <a:spcPts val="0"/>
              </a:spcBef>
              <a:spcAft>
                <a:spcPts val="0"/>
              </a:spcAft>
            </a:pPr>
            <a:r>
              <a:rPr lang="de-DE" sz="2500" b="0" i="0">
                <a:solidFill>
                  <a:srgbClr val="000000"/>
                </a:solidFill>
                <a:latin typeface="Cambria Math"/>
              </a:rPr>
              <a:t>A → ¬¬∃n □ₙA</a:t>
            </a:r>
          </a:p>
        </p:txBody>
      </p:sp>
      <p:sp>
        <p:nvSpPr>
          <p:cNvPr id="8" name="TextBox 7"/>
          <p:cNvSpPr txBox="1"/>
          <p:nvPr/>
        </p:nvSpPr>
        <p:spPr>
          <a:xfrm>
            <a:off x="5016568" y="2096278"/>
            <a:ext cx="3803904" cy="557784"/>
          </a:xfrm>
          <a:prstGeom prst="rect">
            <a:avLst/>
          </a:prstGeom>
          <a:noFill/>
        </p:spPr>
        <p:txBody>
          <a:bodyPr wrap="square" lIns="0" tIns="0" rIns="0" bIns="0" anchor="t">
            <a:noAutofit/>
          </a:bodyPr>
          <a:lstStyle/>
          <a:p>
            <a:pPr algn="ctr">
              <a:lnSpc>
                <a:spcPct val="105000"/>
              </a:lnSpc>
              <a:spcBef>
                <a:spcPts val="0"/>
              </a:spcBef>
              <a:spcAft>
                <a:spcPts val="0"/>
              </a:spcAft>
            </a:pPr>
            <a:r>
              <a:rPr lang="de-DE" sz="2500" b="0" i="0">
                <a:solidFill>
                  <a:srgbClr val="000000"/>
                </a:solidFill>
                <a:latin typeface="Cambria Math"/>
              </a:rPr>
              <a:t>A ↔ ∃n □ₙA</a:t>
            </a:r>
          </a:p>
        </p:txBody>
      </p:sp>
      <p:sp>
        <p:nvSpPr>
          <p:cNvPr id="9" name="TextBox 8"/>
          <p:cNvSpPr txBox="1"/>
          <p:nvPr/>
        </p:nvSpPr>
        <p:spPr>
          <a:xfrm>
            <a:off x="453712" y="2992390"/>
            <a:ext cx="3803904" cy="1005840"/>
          </a:xfrm>
          <a:prstGeom prst="rect">
            <a:avLst/>
          </a:prstGeom>
          <a:noFill/>
        </p:spPr>
        <p:txBody>
          <a:bodyPr wrap="square" lIns="0" tIns="0" rIns="0" bIns="0" anchor="t">
            <a:noAutofit/>
          </a:bodyPr>
          <a:lstStyle/>
          <a:p>
            <a:pPr algn="l">
              <a:lnSpc>
                <a:spcPct val="105000"/>
              </a:lnSpc>
              <a:spcBef>
                <a:spcPts val="0"/>
              </a:spcBef>
              <a:spcAft>
                <a:spcPts val="0"/>
              </a:spcAft>
            </a:pPr>
            <a:r>
              <a:rPr lang="de-DE" sz="2000" b="0" i="0">
                <a:solidFill>
                  <a:srgbClr val="000000"/>
                </a:solidFill>
                <a:latin typeface="Times New Roman"/>
              </a:rPr>
              <a:t>Ist A wahr, kann seine Evidenz nicht für immer ausgeschlossen sein.</a:t>
            </a:r>
          </a:p>
        </p:txBody>
      </p:sp>
      <p:sp>
        <p:nvSpPr>
          <p:cNvPr id="10" name="TextBox 9"/>
          <p:cNvSpPr txBox="1"/>
          <p:nvPr/>
        </p:nvSpPr>
        <p:spPr>
          <a:xfrm>
            <a:off x="5016568" y="2992390"/>
            <a:ext cx="3803904" cy="1005840"/>
          </a:xfrm>
          <a:prstGeom prst="rect">
            <a:avLst/>
          </a:prstGeom>
          <a:noFill/>
        </p:spPr>
        <p:txBody>
          <a:bodyPr wrap="square" lIns="0" tIns="0" rIns="0" bIns="0" anchor="t">
            <a:noAutofit/>
          </a:bodyPr>
          <a:lstStyle/>
          <a:p>
            <a:pPr algn="l">
              <a:lnSpc>
                <a:spcPct val="105000"/>
              </a:lnSpc>
              <a:spcBef>
                <a:spcPts val="0"/>
              </a:spcBef>
              <a:spcAft>
                <a:spcPts val="0"/>
              </a:spcAft>
            </a:pPr>
            <a:r>
              <a:rPr lang="de-DE" sz="2000" b="0" i="0">
                <a:solidFill>
                  <a:srgbClr val="000000"/>
                </a:solidFill>
                <a:latin typeface="Times New Roman"/>
              </a:rPr>
              <a:t>Wahrheit von A wird mit Evidenz auf irgendeiner Stufe verbunden.</a:t>
            </a:r>
          </a:p>
        </p:txBody>
      </p:sp>
      <p:sp>
        <p:nvSpPr>
          <p:cNvPr id="11" name="TextBox 10"/>
          <p:cNvSpPr txBox="1"/>
          <p:nvPr/>
        </p:nvSpPr>
        <p:spPr>
          <a:xfrm>
            <a:off x="696024" y="699542"/>
            <a:ext cx="7476376" cy="585216"/>
          </a:xfrm>
          <a:prstGeom prst="rect">
            <a:avLst/>
          </a:prstGeom>
          <a:noFill/>
        </p:spPr>
        <p:txBody>
          <a:bodyPr wrap="square" lIns="0" tIns="0" rIns="0" bIns="0" anchor="t">
            <a:noAutofit/>
          </a:bodyPr>
          <a:lstStyle/>
          <a:p>
            <a:pPr algn="l">
              <a:lnSpc>
                <a:spcPct val="105000"/>
              </a:lnSpc>
              <a:spcBef>
                <a:spcPts val="0"/>
              </a:spcBef>
              <a:spcAft>
                <a:spcPts val="0"/>
              </a:spcAft>
            </a:pPr>
            <a:r>
              <a:rPr lang="de-DE" sz="2000" b="1" i="0" dirty="0">
                <a:solidFill>
                  <a:srgbClr val="000000"/>
                </a:solidFill>
                <a:latin typeface="Times New Roman"/>
              </a:rPr>
              <a:t>Keine Allwissenheit: Nicht jede Aussage ist bereits heute entschieden.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P spid="8" grpId="0"/>
      <p:bldP spid="9" grpId="0"/>
      <p:bldP spid="10"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Mensch und Mathematik</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r>
              <a:rPr lang="de-DE" dirty="0" smtClean="0">
                <a:latin typeface="Times New Roman" panose="02020603050405020304" pitchFamily="18" charset="0"/>
                <a:cs typeface="Times New Roman" panose="02020603050405020304" pitchFamily="18" charset="0"/>
              </a:rPr>
              <a:t>1) Fragen der </a:t>
            </a:r>
            <a:r>
              <a:rPr lang="de-DE" b="1" dirty="0" smtClean="0">
                <a:latin typeface="Times New Roman" panose="02020603050405020304" pitchFamily="18" charset="0"/>
                <a:cs typeface="Times New Roman" panose="02020603050405020304" pitchFamily="18" charset="0"/>
              </a:rPr>
              <a:t>Unendlichkeit</a:t>
            </a:r>
            <a:r>
              <a:rPr lang="de-DE" dirty="0" smtClean="0">
                <a:latin typeface="Times New Roman" panose="02020603050405020304" pitchFamily="18" charset="0"/>
                <a:cs typeface="Times New Roman" panose="02020603050405020304" pitchFamily="18" charset="0"/>
              </a:rPr>
              <a:t>, die Paradoxie der Mengenlehre, Unterschied zwischen gesetzmäßigen und freien Folgen, … stellen sich nur einem </a:t>
            </a:r>
            <a:r>
              <a:rPr lang="de-DE" b="1" dirty="0" smtClean="0">
                <a:latin typeface="Times New Roman" panose="02020603050405020304" pitchFamily="18" charset="0"/>
                <a:cs typeface="Times New Roman" panose="02020603050405020304" pitchFamily="18" charset="0"/>
              </a:rPr>
              <a:t>endlichen Vernunftwesen</a:t>
            </a:r>
            <a:r>
              <a:rPr lang="de-DE" dirty="0" smtClean="0">
                <a:latin typeface="Times New Roman" panose="02020603050405020304" pitchFamily="18" charset="0"/>
                <a:cs typeface="Times New Roman" panose="02020603050405020304" pitchFamily="18" charset="0"/>
              </a:rPr>
              <a:t>.</a:t>
            </a:r>
          </a:p>
          <a:p>
            <a:endParaRPr lang="de-DE" dirty="0" smtClean="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rPr>
              <a:t>2) </a:t>
            </a:r>
            <a:r>
              <a:rPr lang="de-DE" dirty="0">
                <a:latin typeface="Times New Roman" panose="02020603050405020304" pitchFamily="18" charset="0"/>
                <a:cs typeface="Times New Roman" panose="02020603050405020304" pitchFamily="18" charset="0"/>
              </a:rPr>
              <a:t>Mathematische Sätze sind </a:t>
            </a:r>
            <a:r>
              <a:rPr lang="de-DE" b="1" dirty="0">
                <a:latin typeface="Times New Roman" panose="02020603050405020304" pitchFamily="18" charset="0"/>
                <a:cs typeface="Times New Roman" panose="02020603050405020304" pitchFamily="18" charset="0"/>
              </a:rPr>
              <a:t>Kompressionsleistungen</a:t>
            </a:r>
            <a:r>
              <a:rPr lang="de-DE" dirty="0">
                <a:latin typeface="Times New Roman" panose="02020603050405020304" pitchFamily="18" charset="0"/>
                <a:cs typeface="Times New Roman" panose="02020603050405020304" pitchFamily="18" charset="0"/>
              </a:rPr>
              <a:t> eines endlichen Vernunftwesens; menschliche Mathematik ist nach </a:t>
            </a:r>
            <a:r>
              <a:rPr lang="de-DE" b="1" dirty="0">
                <a:latin typeface="Times New Roman" panose="02020603050405020304" pitchFamily="18" charset="0"/>
                <a:cs typeface="Times New Roman" panose="02020603050405020304" pitchFamily="18" charset="0"/>
              </a:rPr>
              <a:t>ästhetischen und denkökonomischen Kriterien </a:t>
            </a:r>
            <a:r>
              <a:rPr lang="de-DE" dirty="0">
                <a:latin typeface="Times New Roman" panose="02020603050405020304" pitchFamily="18" charset="0"/>
                <a:cs typeface="Times New Roman" panose="02020603050405020304" pitchFamily="18" charset="0"/>
              </a:rPr>
              <a:t>selektiert.</a:t>
            </a:r>
          </a:p>
          <a:p>
            <a:endParaRPr lang="de-DE" dirty="0" smtClean="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rPr>
              <a:t>3) </a:t>
            </a:r>
            <a:r>
              <a:rPr lang="de-DE" b="1" dirty="0" smtClean="0">
                <a:latin typeface="Times New Roman" panose="02020603050405020304" pitchFamily="18" charset="0"/>
                <a:cs typeface="Times New Roman" panose="02020603050405020304" pitchFamily="18" charset="0"/>
              </a:rPr>
              <a:t>Wäre der Mensch unsterblich</a:t>
            </a:r>
            <a:r>
              <a:rPr lang="de-DE" dirty="0" smtClean="0">
                <a:latin typeface="Times New Roman" panose="02020603050405020304" pitchFamily="18" charset="0"/>
                <a:cs typeface="Times New Roman" panose="02020603050405020304" pitchFamily="18" charset="0"/>
              </a:rPr>
              <a:t>, so verschwände der ganze Sinn der mathematischen Gesetzlichkeit: das Endlose mit endlichen Mitteln zu beherrschen. </a:t>
            </a:r>
          </a:p>
          <a:p>
            <a:endParaRPr lang="de-DE"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4</a:t>
            </a:r>
            <a:r>
              <a:rPr lang="de-DE" dirty="0" smtClean="0">
                <a:latin typeface="Times New Roman" panose="02020603050405020304" pitchFamily="18" charset="0"/>
                <a:cs typeface="Times New Roman" panose="02020603050405020304" pitchFamily="18" charset="0"/>
              </a:rPr>
              <a:t>) </a:t>
            </a:r>
            <a:r>
              <a:rPr lang="de-DE" b="1" dirty="0" smtClean="0">
                <a:latin typeface="Times New Roman" panose="02020603050405020304" pitchFamily="18" charset="0"/>
                <a:cs typeface="Times New Roman" panose="02020603050405020304" pitchFamily="18" charset="0"/>
              </a:rPr>
              <a:t>Spezifische Wahrnehmungsformen? </a:t>
            </a:r>
            <a:r>
              <a:rPr lang="de-DE" dirty="0" smtClean="0">
                <a:latin typeface="Times New Roman" panose="02020603050405020304" pitchFamily="18" charset="0"/>
                <a:cs typeface="Times New Roman" panose="02020603050405020304" pitchFamily="18" charset="0"/>
              </a:rPr>
              <a:t>(Diskret/Kontinuierlich, mikroskopisch feine Sinne, usw.)</a:t>
            </a:r>
          </a:p>
        </p:txBody>
      </p:sp>
    </p:spTree>
    <p:extLst>
      <p:ext uri="{BB962C8B-B14F-4D97-AF65-F5344CB8AC3E}">
        <p14:creationId xmlns:p14="http://schemas.microsoft.com/office/powerpoint/2010/main" val="1457399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Brückenprinzip</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Vollständige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Induktion</a:t>
            </a:r>
            <a:endParaRPr lang="en-CA" sz="3200" dirty="0">
              <a:solidFill>
                <a:schemeClr val="bg1"/>
              </a:solidFill>
              <a:effectLst>
                <a:outerShdw blurRad="38100" dist="38100" dir="2700000" algn="tl">
                  <a:srgbClr val="000000">
                    <a:alpha val="43137"/>
                  </a:srgbClr>
                </a:outerShdw>
              </a:effectLst>
            </a:endParaRPr>
          </a:p>
        </p:txBody>
      </p:sp>
      <p:sp>
        <p:nvSpPr>
          <p:cNvPr id="4" name="Textfeld 3"/>
          <p:cNvSpPr txBox="1"/>
          <p:nvPr/>
        </p:nvSpPr>
        <p:spPr>
          <a:xfrm>
            <a:off x="228600" y="768096"/>
            <a:ext cx="8686800" cy="4023360"/>
          </a:xfrm>
          <a:prstGeom prst="rect">
            <a:avLst/>
          </a:prstGeom>
          <a:noFill/>
        </p:spPr>
        <p:txBody>
          <a:bodyPr wrap="square" rtlCol="0">
            <a:noAutofit/>
          </a:bodyPr>
          <a:lstStyle/>
          <a:p>
            <a:pPr algn="just"/>
            <a:r>
              <a:rPr lang="de-DE" dirty="0">
                <a:latin typeface="Times New Roman" panose="02020603050405020304" pitchFamily="18" charset="0"/>
                <a:cs typeface="Times New Roman" panose="02020603050405020304" pitchFamily="18" charset="0"/>
              </a:rPr>
              <a:t>Das Unendliche ist dem Menschen, als endlichem Wesen, prinzipiell nur im Modus eines „Immer-Weiter“ wirklich anschaulich </a:t>
            </a:r>
            <a:r>
              <a:rPr lang="de-DE" dirty="0" smtClean="0">
                <a:latin typeface="Times New Roman" panose="02020603050405020304" pitchFamily="18" charset="0"/>
                <a:cs typeface="Times New Roman" panose="02020603050405020304" pitchFamily="18" charset="0"/>
              </a:rPr>
              <a:t>gegeben. </a:t>
            </a:r>
            <a:r>
              <a:rPr lang="de-DE" b="1" dirty="0" smtClean="0">
                <a:latin typeface="Times New Roman" panose="02020603050405020304" pitchFamily="18" charset="0"/>
                <a:cs typeface="Times New Roman" panose="02020603050405020304" pitchFamily="18" charset="0"/>
              </a:rPr>
              <a:t>Die vollständige Induktion entspringt der Conditio </a:t>
            </a:r>
            <a:r>
              <a:rPr lang="de-DE" b="1" dirty="0" err="1" smtClean="0">
                <a:latin typeface="Times New Roman" panose="02020603050405020304" pitchFamily="18" charset="0"/>
                <a:cs typeface="Times New Roman" panose="02020603050405020304" pitchFamily="18" charset="0"/>
              </a:rPr>
              <a:t>humana</a:t>
            </a:r>
            <a:r>
              <a:rPr lang="de-DE" dirty="0" smtClean="0">
                <a:latin typeface="Times New Roman" panose="02020603050405020304" pitchFamily="18" charset="0"/>
                <a:cs typeface="Times New Roman" panose="02020603050405020304" pitchFamily="18" charset="0"/>
              </a:rPr>
              <a:t>, insofern sie dem endlichen Menschen erlaubt, das Unendlich durch die Einsicht in die unbegrenzte Wiederholbarkeit eines endlichen Schrittes zu erfassen.</a:t>
            </a:r>
          </a:p>
          <a:p>
            <a:pPr algn="l"/>
            <a:endParaRPr lang="de-DE" dirty="0">
              <a:latin typeface="Times New Roman" panose="02020603050405020304" pitchFamily="18" charset="0"/>
              <a:cs typeface="Times New Roman" panose="02020603050405020304" pitchFamily="18" charset="0"/>
            </a:endParaRPr>
          </a:p>
          <a:p>
            <a:pPr algn="l"/>
            <a:r>
              <a:rPr lang="de-DE" b="1" dirty="0" err="1" smtClean="0">
                <a:latin typeface="Times New Roman" panose="02020603050405020304" pitchFamily="18" charset="0"/>
                <a:cs typeface="Times New Roman" panose="02020603050405020304" pitchFamily="18" charset="0"/>
              </a:rPr>
              <a:t>Poincaré</a:t>
            </a:r>
            <a:r>
              <a:rPr lang="de-DE" b="1" dirty="0" smtClean="0">
                <a:latin typeface="Times New Roman" panose="02020603050405020304" pitchFamily="18" charset="0"/>
                <a:cs typeface="Times New Roman" panose="02020603050405020304" pitchFamily="18" charset="0"/>
              </a:rPr>
              <a:t> in „Wissenschaft und Hypothese“:</a:t>
            </a:r>
          </a:p>
          <a:p>
            <a:pPr algn="l"/>
            <a:endParaRPr lang="de-DE" dirty="0">
              <a:latin typeface="Times New Roman" panose="02020603050405020304" pitchFamily="18" charset="0"/>
              <a:cs typeface="Times New Roman" panose="02020603050405020304" pitchFamily="18" charset="0"/>
            </a:endParaRPr>
          </a:p>
          <a:p>
            <a:pPr algn="l"/>
            <a:r>
              <a:rPr lang="de-DE" dirty="0">
                <a:latin typeface="Times New Roman" panose="02020603050405020304" pitchFamily="18" charset="0"/>
                <a:cs typeface="Times New Roman" panose="02020603050405020304" pitchFamily="18" charset="0"/>
              </a:rPr>
              <a:t>„Dieses Gesetz, welches dem analytischen Beweise ebenso unzugänglich ist wie der Erfahrung, gibt den eigentlichen Typus des synthetischen Urteils a priori.“ </a:t>
            </a:r>
            <a:r>
              <a:rPr lang="de-DE" sz="1400" dirty="0">
                <a:latin typeface="Times New Roman" panose="02020603050405020304" pitchFamily="18" charset="0"/>
                <a:cs typeface="Times New Roman" panose="02020603050405020304" pitchFamily="18" charset="0"/>
              </a:rPr>
              <a:t>(</a:t>
            </a:r>
            <a:r>
              <a:rPr lang="de-DE" sz="1400" dirty="0" err="1">
                <a:latin typeface="Times New Roman" panose="02020603050405020304" pitchFamily="18" charset="0"/>
                <a:cs typeface="Times New Roman" panose="02020603050405020304" pitchFamily="18" charset="0"/>
              </a:rPr>
              <a:t>Poincaré</a:t>
            </a:r>
            <a:r>
              <a:rPr lang="de-DE" sz="1400" dirty="0">
                <a:latin typeface="Times New Roman" panose="02020603050405020304" pitchFamily="18" charset="0"/>
                <a:cs typeface="Times New Roman" panose="02020603050405020304" pitchFamily="18" charset="0"/>
              </a:rPr>
              <a:t>, 1904, S. 13</a:t>
            </a:r>
            <a:r>
              <a:rPr lang="de-DE" sz="1400" dirty="0" smtClean="0">
                <a:latin typeface="Times New Roman" panose="02020603050405020304" pitchFamily="18" charset="0"/>
                <a:cs typeface="Times New Roman" panose="02020603050405020304" pitchFamily="18" charset="0"/>
              </a:rPr>
              <a:t>)</a:t>
            </a:r>
          </a:p>
          <a:p>
            <a:pPr algn="l"/>
            <a:endParaRPr lang="de-DE" dirty="0">
              <a:latin typeface="Times New Roman" panose="02020603050405020304" pitchFamily="18" charset="0"/>
              <a:cs typeface="Times New Roman" panose="02020603050405020304" pitchFamily="18" charset="0"/>
            </a:endParaRPr>
          </a:p>
          <a:p>
            <a:pPr algn="l"/>
            <a:r>
              <a:rPr lang="de-DE" dirty="0">
                <a:latin typeface="Times New Roman" panose="02020603050405020304" pitchFamily="18" charset="0"/>
                <a:cs typeface="Times New Roman" panose="02020603050405020304" pitchFamily="18" charset="0"/>
              </a:rPr>
              <a:t>„Das kommt daher, weil es nur die Bestätigung der Geisteskraft ist, welche überzeugt ist, sich die unendliche Wiederholung eines und desselben Schrittes vorstellen zu können […]“</a:t>
            </a:r>
            <a:br>
              <a:rPr lang="de-DE" dirty="0">
                <a:latin typeface="Times New Roman" panose="02020603050405020304" pitchFamily="18" charset="0"/>
                <a:cs typeface="Times New Roman" panose="02020603050405020304" pitchFamily="18" charset="0"/>
              </a:rPr>
            </a:br>
            <a:r>
              <a:rPr lang="de-DE" sz="1400" dirty="0">
                <a:latin typeface="Times New Roman" panose="02020603050405020304" pitchFamily="18" charset="0"/>
                <a:cs typeface="Times New Roman" panose="02020603050405020304" pitchFamily="18" charset="0"/>
              </a:rPr>
              <a:t>(</a:t>
            </a:r>
            <a:r>
              <a:rPr lang="de-DE" sz="1400" dirty="0" err="1">
                <a:latin typeface="Times New Roman" panose="02020603050405020304" pitchFamily="18" charset="0"/>
                <a:cs typeface="Times New Roman" panose="02020603050405020304" pitchFamily="18" charset="0"/>
              </a:rPr>
              <a:t>Poincaré</a:t>
            </a:r>
            <a:r>
              <a:rPr lang="de-DE" sz="1400" dirty="0">
                <a:latin typeface="Times New Roman" panose="02020603050405020304" pitchFamily="18" charset="0"/>
                <a:cs typeface="Times New Roman" panose="02020603050405020304" pitchFamily="18" charset="0"/>
              </a:rPr>
              <a:t>, 1904, S. 13)</a:t>
            </a:r>
          </a:p>
        </p:txBody>
      </p:sp>
      <p:sp>
        <p:nvSpPr>
          <p:cNvPr id="9" name="Quellenangabe 9" descr="Poincaré, H. (1904): Wissenschaft und Hypothese, übers. von F. und L. Lindemann, S. 13."/>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Poincaré, H. (1904): Wissenschaft und Hypothese, übers. von F. und L. Lindemann, S. 13.</a:t>
            </a:r>
            <a:endParaRPr lang="de-DE" sz="800"/>
          </a:p>
        </p:txBody>
      </p:sp>
    </p:spTree>
    <p:extLst>
      <p:ext uri="{BB962C8B-B14F-4D97-AF65-F5344CB8AC3E}">
        <p14:creationId xmlns:p14="http://schemas.microsoft.com/office/powerpoint/2010/main" val="3336265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Ruelle-Hypothese</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pPr algn="l"/>
            <a:r>
              <a:rPr lang="de-DE" sz="2800" b="1" dirty="0" smtClean="0">
                <a:latin typeface="Times New Roman" panose="02020603050405020304" pitchFamily="18" charset="0"/>
                <a:cs typeface="Times New Roman" panose="02020603050405020304" pitchFamily="18" charset="0"/>
              </a:rPr>
              <a:t>„</a:t>
            </a:r>
            <a:r>
              <a:rPr lang="de-DE" sz="2800" b="1" dirty="0" err="1" smtClean="0">
                <a:latin typeface="Times New Roman" panose="02020603050405020304" pitchFamily="18" charset="0"/>
                <a:cs typeface="Times New Roman" panose="02020603050405020304" pitchFamily="18" charset="0"/>
              </a:rPr>
              <a:t>Properly</a:t>
            </a:r>
            <a:r>
              <a:rPr lang="de-DE" sz="2800" b="1" dirty="0" smtClean="0">
                <a:latin typeface="Times New Roman" panose="02020603050405020304" pitchFamily="18" charset="0"/>
                <a:cs typeface="Times New Roman" panose="02020603050405020304" pitchFamily="18" charset="0"/>
              </a:rPr>
              <a:t> Human </a:t>
            </a:r>
            <a:r>
              <a:rPr lang="de-DE" sz="2800" b="1" dirty="0" err="1" smtClean="0">
                <a:latin typeface="Times New Roman" panose="02020603050405020304" pitchFamily="18" charset="0"/>
                <a:cs typeface="Times New Roman" panose="02020603050405020304" pitchFamily="18" charset="0"/>
              </a:rPr>
              <a:t>Mathematics</a:t>
            </a:r>
            <a:r>
              <a:rPr lang="de-DE" sz="2800" b="1" dirty="0" smtClean="0">
                <a:latin typeface="Times New Roman" panose="02020603050405020304" pitchFamily="18" charset="0"/>
                <a:cs typeface="Times New Roman" panose="02020603050405020304" pitchFamily="18" charset="0"/>
              </a:rPr>
              <a:t>“</a:t>
            </a:r>
          </a:p>
          <a:p>
            <a:pPr algn="l"/>
            <a:endParaRPr lang="de-DE" sz="2000" dirty="0" smtClean="0">
              <a:latin typeface="Times New Roman" panose="02020603050405020304" pitchFamily="18" charset="0"/>
              <a:cs typeface="Times New Roman" panose="02020603050405020304" pitchFamily="18" charset="0"/>
            </a:endParaRPr>
          </a:p>
          <a:p>
            <a:pPr algn="l"/>
            <a:r>
              <a:rPr lang="en-US" sz="2000" dirty="0" smtClean="0">
                <a:latin typeface="Times New Roman" panose="02020603050405020304" pitchFamily="18" charset="0"/>
                <a:cs typeface="Times New Roman" panose="02020603050405020304" pitchFamily="18" charset="0"/>
              </a:rPr>
              <a:t>“[…] human </a:t>
            </a:r>
            <a:r>
              <a:rPr lang="en-US" sz="2000" dirty="0">
                <a:latin typeface="Times New Roman" panose="02020603050405020304" pitchFamily="18" charset="0"/>
                <a:cs typeface="Times New Roman" panose="02020603050405020304" pitchFamily="18" charset="0"/>
              </a:rPr>
              <a:t>mathematics is only a limited part of the consequences of the chosen basic axioms.” </a:t>
            </a:r>
            <a:r>
              <a:rPr lang="en-US" sz="2000" dirty="0" smtClean="0">
                <a:latin typeface="Times New Roman" panose="02020603050405020304" pitchFamily="18" charset="0"/>
                <a:cs typeface="Times New Roman" panose="02020603050405020304" pitchFamily="18" charset="0"/>
              </a:rPr>
              <a:t>(</a:t>
            </a:r>
            <a:r>
              <a:rPr lang="en-US" sz="2000" dirty="0" err="1" smtClean="0">
                <a:latin typeface="Times New Roman" panose="02020603050405020304" pitchFamily="18" charset="0"/>
                <a:cs typeface="Times New Roman" panose="02020603050405020304" pitchFamily="18" charset="0"/>
              </a:rPr>
              <a:t>Ruelle</a:t>
            </a:r>
            <a:r>
              <a:rPr lang="en-US" sz="2000" dirty="0" smtClean="0">
                <a:latin typeface="Times New Roman" panose="02020603050405020304" pitchFamily="18" charset="0"/>
                <a:cs typeface="Times New Roman" panose="02020603050405020304" pitchFamily="18" charset="0"/>
              </a:rPr>
              <a:t>, 2022)</a:t>
            </a:r>
          </a:p>
          <a:p>
            <a:pPr algn="l"/>
            <a:endParaRPr lang="de-DE" sz="2400" dirty="0">
              <a:latin typeface="Times New Roman" panose="02020603050405020304" pitchFamily="18" charset="0"/>
              <a:cs typeface="Times New Roman" panose="02020603050405020304" pitchFamily="18" charset="0"/>
            </a:endParaRPr>
          </a:p>
          <a:p>
            <a:pPr algn="l"/>
            <a:r>
              <a:rPr lang="de-DE" sz="2000" b="1" dirty="0" smtClean="0">
                <a:latin typeface="Times New Roman" panose="02020603050405020304" pitchFamily="18" charset="0"/>
                <a:cs typeface="Times New Roman" panose="02020603050405020304" pitchFamily="18" charset="0"/>
              </a:rPr>
              <a:t>These: </a:t>
            </a:r>
            <a:r>
              <a:rPr lang="de-DE" sz="2000" dirty="0" smtClean="0">
                <a:latin typeface="Times New Roman" panose="02020603050405020304" pitchFamily="18" charset="0"/>
                <a:cs typeface="Times New Roman" panose="02020603050405020304" pitchFamily="18" charset="0"/>
              </a:rPr>
              <a:t>Unsere mathematische Landschaft ist nicht nur durch Logik, sondern auch durch die menschliche Kognition selektiert.</a:t>
            </a:r>
          </a:p>
          <a:p>
            <a:pPr algn="l"/>
            <a:endParaRPr lang="de-DE" sz="2400" dirty="0">
              <a:latin typeface="Times New Roman" panose="02020603050405020304" pitchFamily="18" charset="0"/>
              <a:cs typeface="Times New Roman" panose="02020603050405020304" pitchFamily="18" charset="0"/>
            </a:endParaRPr>
          </a:p>
          <a:p>
            <a:pPr algn="l"/>
            <a:r>
              <a:rPr lang="de-DE" sz="2000" dirty="0" smtClean="0">
                <a:latin typeface="Times New Roman" panose="02020603050405020304" pitchFamily="18" charset="0"/>
                <a:cs typeface="Times New Roman" panose="02020603050405020304" pitchFamily="18" charset="0"/>
                <a:sym typeface="Wingdings" panose="05000000000000000000" pitchFamily="2" charset="2"/>
              </a:rPr>
              <a:t> Menschliche Kognition bevorzugt z. B. leicht benennbare Begriffe, kurze Formulierungen, strukturell verdaubare und wiederverwendbare Einsichten.</a:t>
            </a:r>
            <a:endParaRPr lang="de-DE" sz="1200" dirty="0">
              <a:latin typeface="Times New Roman" panose="02020603050405020304" pitchFamily="18" charset="0"/>
              <a:cs typeface="Times New Roman" panose="02020603050405020304" pitchFamily="18" charset="0"/>
            </a:endParaRPr>
          </a:p>
        </p:txBody>
      </p:sp>
      <p:sp>
        <p:nvSpPr>
          <p:cNvPr id="5" name="Quellenangabe 5" descr="Ruelle, D. (2022): The nature of properly human mathematics, arXiv:2207.00859, Abstract."/>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Ruelle, D. (2022): The nature of properly human mathematics, arXiv:2207.00859, Abstract.</a:t>
            </a:r>
            <a:endParaRPr lang="de-DE" sz="800"/>
          </a:p>
        </p:txBody>
      </p:sp>
    </p:spTree>
    <p:extLst>
      <p:ext uri="{BB962C8B-B14F-4D97-AF65-F5344CB8AC3E}">
        <p14:creationId xmlns:p14="http://schemas.microsoft.com/office/powerpoint/2010/main" val="1022874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1779663"/>
            <a:ext cx="9144000" cy="923330"/>
          </a:xfrm>
          <a:prstGeom prst="rect">
            <a:avLst/>
          </a:prstGeom>
        </p:spPr>
        <p:txBody>
          <a:bodyPr wrap="square">
            <a:spAutoFit/>
          </a:bodyPr>
          <a:lstStyle/>
          <a:p>
            <a:pPr algn="ctr"/>
            <a:r>
              <a:rPr lang="en-CA" sz="5400" b="1" dirty="0" smtClean="0">
                <a:latin typeface="Times New Roman" panose="02020603050405020304" pitchFamily="18" charset="0"/>
                <a:cs typeface="Times New Roman" panose="02020603050405020304" pitchFamily="18" charset="0"/>
              </a:rPr>
              <a:t>Was </a:t>
            </a:r>
            <a:r>
              <a:rPr lang="en-CA" sz="5400" b="1" dirty="0" err="1" smtClean="0">
                <a:latin typeface="Times New Roman" panose="02020603050405020304" pitchFamily="18" charset="0"/>
                <a:cs typeface="Times New Roman" panose="02020603050405020304" pitchFamily="18" charset="0"/>
              </a:rPr>
              <a:t>heißt</a:t>
            </a:r>
            <a:r>
              <a:rPr lang="en-CA" sz="5400" b="1" dirty="0" smtClean="0">
                <a:latin typeface="Times New Roman" panose="02020603050405020304" pitchFamily="18" charset="0"/>
                <a:cs typeface="Times New Roman" panose="02020603050405020304" pitchFamily="18" charset="0"/>
              </a:rPr>
              <a:t> “</a:t>
            </a:r>
            <a:r>
              <a:rPr lang="en-CA" sz="5400" b="1" dirty="0" err="1" smtClean="0">
                <a:latin typeface="Times New Roman" panose="02020603050405020304" pitchFamily="18" charset="0"/>
                <a:cs typeface="Times New Roman" panose="02020603050405020304" pitchFamily="18" charset="0"/>
              </a:rPr>
              <a:t>Schlussfolgern</a:t>
            </a:r>
            <a:r>
              <a:rPr lang="en-CA" sz="5400" b="1" dirty="0" smtClean="0">
                <a:latin typeface="Times New Roman" panose="02020603050405020304" pitchFamily="18" charset="0"/>
                <a:cs typeface="Times New Roman" panose="02020603050405020304" pitchFamily="18" charset="0"/>
              </a:rPr>
              <a:t>”?</a:t>
            </a:r>
            <a:endParaRPr lang="en-CA" sz="5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098763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Textfeld 9"/>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Descartes’ </a:t>
            </a:r>
            <a:r>
              <a:rPr lang="en-CA" sz="3200" i="1" dirty="0" err="1" smtClean="0">
                <a:solidFill>
                  <a:schemeClr val="bg1"/>
                </a:solidFill>
                <a:effectLst>
                  <a:outerShdw blurRad="38100" dist="38100" dir="2700000" algn="tl">
                    <a:srgbClr val="000000">
                      <a:alpha val="43137"/>
                    </a:srgbClr>
                  </a:outerShdw>
                </a:effectLst>
              </a:rPr>
              <a:t>Regeln</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zur</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Ausrichtung</a:t>
            </a:r>
            <a:r>
              <a:rPr lang="en-CA" sz="3200" i="1" dirty="0" smtClean="0">
                <a:solidFill>
                  <a:schemeClr val="bg1"/>
                </a:solidFill>
                <a:effectLst>
                  <a:outerShdw blurRad="38100" dist="38100" dir="2700000" algn="tl">
                    <a:srgbClr val="000000">
                      <a:alpha val="43137"/>
                    </a:srgbClr>
                  </a:outerShdw>
                </a:effectLst>
              </a:rPr>
              <a:t> der </a:t>
            </a:r>
            <a:r>
              <a:rPr lang="en-CA" sz="3200" i="1" dirty="0" err="1" smtClean="0">
                <a:solidFill>
                  <a:schemeClr val="bg1"/>
                </a:solidFill>
                <a:effectLst>
                  <a:outerShdw blurRad="38100" dist="38100" dir="2700000" algn="tl">
                    <a:srgbClr val="000000">
                      <a:alpha val="43137"/>
                    </a:srgbClr>
                  </a:outerShdw>
                </a:effectLst>
              </a:rPr>
              <a:t>Geisteskraft</a:t>
            </a:r>
            <a:endParaRPr lang="en-CA" sz="3200" i="1"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3054096" y="786384"/>
            <a:ext cx="5806440" cy="4041648"/>
          </a:xfrm>
          <a:prstGeom prst="rect">
            <a:avLst/>
          </a:prstGeom>
        </p:spPr>
        <p:txBody>
          <a:bodyPr wrap="square">
            <a:noAutofit/>
          </a:bodyPr>
          <a:lstStyle/>
          <a:p>
            <a:pPr algn="l"/>
            <a:r>
              <a:rPr lang="de-DE" sz="2400" b="1" dirty="0" smtClean="0">
                <a:latin typeface="Times New Roman" panose="02020603050405020304" pitchFamily="18" charset="0"/>
                <a:cs typeface="Times New Roman" panose="02020603050405020304" pitchFamily="18" charset="0"/>
              </a:rPr>
              <a:t>Regel III</a:t>
            </a:r>
          </a:p>
          <a:p>
            <a:pPr algn="l"/>
            <a:r>
              <a:rPr lang="de-DE" dirty="0" smtClean="0">
                <a:latin typeface="Times New Roman" panose="02020603050405020304" pitchFamily="18" charset="0"/>
                <a:cs typeface="Times New Roman" panose="02020603050405020304" pitchFamily="18" charset="0"/>
              </a:rPr>
              <a:t>Bei den vorgelegten Objekten ist danach zu fragen, was wir klar und evident intuitiv erkennen oder sicher deduzieren können.</a:t>
            </a:r>
          </a:p>
          <a:p>
            <a:pPr algn="l"/>
            <a:endParaRPr lang="de-DE" dirty="0" smtClean="0">
              <a:latin typeface="Times New Roman" panose="02020603050405020304" pitchFamily="18" charset="0"/>
              <a:cs typeface="Times New Roman" panose="02020603050405020304" pitchFamily="18" charset="0"/>
            </a:endParaRPr>
          </a:p>
          <a:p>
            <a:pPr algn="l"/>
            <a:r>
              <a:rPr lang="de-DE" sz="2400" b="1" dirty="0" smtClean="0">
                <a:latin typeface="Times New Roman" panose="02020603050405020304" pitchFamily="18" charset="0"/>
                <a:cs typeface="Times New Roman" panose="02020603050405020304" pitchFamily="18" charset="0"/>
              </a:rPr>
              <a:t>Regel VIII</a:t>
            </a:r>
          </a:p>
          <a:p>
            <a:pPr algn="l"/>
            <a:r>
              <a:rPr lang="de-DE" dirty="0" smtClean="0">
                <a:latin typeface="Times New Roman" panose="02020603050405020304" pitchFamily="18" charset="0"/>
                <a:cs typeface="Times New Roman" panose="02020603050405020304" pitchFamily="18" charset="0"/>
              </a:rPr>
              <a:t>Gibt es in der Serie der Dinge etwas, was unser Verstand nicht intuitiv erkennen kann, </a:t>
            </a:r>
            <a:r>
              <a:rPr lang="de-DE" dirty="0" err="1" smtClean="0">
                <a:latin typeface="Times New Roman" panose="02020603050405020304" pitchFamily="18" charset="0"/>
                <a:cs typeface="Times New Roman" panose="02020603050405020304" pitchFamily="18" charset="0"/>
              </a:rPr>
              <a:t>muß</a:t>
            </a:r>
            <a:r>
              <a:rPr lang="de-DE" dirty="0" smtClean="0">
                <a:latin typeface="Times New Roman" panose="02020603050405020304" pitchFamily="18" charset="0"/>
                <a:cs typeface="Times New Roman" panose="02020603050405020304" pitchFamily="18" charset="0"/>
              </a:rPr>
              <a:t> man dort stehenbleiben.</a:t>
            </a:r>
          </a:p>
          <a:p>
            <a:pPr algn="l"/>
            <a:endParaRPr lang="de-DE" dirty="0" smtClean="0">
              <a:latin typeface="Times New Roman" panose="02020603050405020304" pitchFamily="18" charset="0"/>
              <a:cs typeface="Times New Roman" panose="02020603050405020304" pitchFamily="18" charset="0"/>
            </a:endParaRPr>
          </a:p>
          <a:p>
            <a:pPr algn="l"/>
            <a:r>
              <a:rPr lang="de-DE" sz="2400" b="1" dirty="0" smtClean="0">
                <a:latin typeface="Times New Roman" panose="02020603050405020304" pitchFamily="18" charset="0"/>
                <a:cs typeface="Times New Roman" panose="02020603050405020304" pitchFamily="18" charset="0"/>
              </a:rPr>
              <a:t>Regel IX</a:t>
            </a:r>
          </a:p>
          <a:p>
            <a:pPr algn="l"/>
            <a:r>
              <a:rPr lang="de-DE" dirty="0" smtClean="0">
                <a:latin typeface="Times New Roman" panose="02020603050405020304" pitchFamily="18" charset="0"/>
                <a:cs typeface="Times New Roman" panose="02020603050405020304" pitchFamily="18" charset="0"/>
              </a:rPr>
              <a:t>Wir müssen die Geisteskraft solange ganz auf die kleinsten und allereinfachsten Dinge richten, bis wir die Wahrheit deutlich und transparent intuitiv erkennen.</a:t>
            </a:r>
            <a:endParaRPr lang="de-DE" dirty="0">
              <a:latin typeface="Times New Roman" panose="02020603050405020304" pitchFamily="18" charset="0"/>
              <a:cs typeface="Times New Roman" panose="02020603050405020304" pitchFamily="18" charset="0"/>
            </a:endParaRPr>
          </a:p>
        </p:txBody>
      </p:sp>
      <p:pic>
        <p:nvPicPr>
          <p:cNvPr id="7"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0" y="556869"/>
            <a:ext cx="2926080" cy="4586630"/>
          </a:xfrm>
          <a:prstGeom prst="rect">
            <a:avLst/>
          </a:prstGeom>
          <a:noFill/>
          <a:extLst>
            <a:ext uri="{909E8E84-426E-40DD-AFC4-6F175D3DCCD1}">
              <a14:hiddenFill xmlns:a14="http://schemas.microsoft.com/office/drawing/2010/main">
                <a:solidFill>
                  <a:srgbClr val="FFFFFF"/>
                </a:solidFill>
              </a14:hiddenFill>
            </a:ext>
          </a:extLst>
        </p:spPr>
      </p:pic>
      <p:sp>
        <p:nvSpPr>
          <p:cNvPr id="11" name="Quellenangabe 11" descr="Descartes (2011), Übers. C. Wohlers: Regeln III / VIII / IX, S. 15 / 59 / 73."/>
          <p:cNvSpPr txBox="1"/>
          <p:nvPr/>
        </p:nvSpPr>
        <p:spPr>
          <a:xfrm>
            <a:off x="3163824" y="4928616"/>
            <a:ext cx="5632704" cy="164592"/>
          </a:xfrm>
          <a:prstGeom prst="rect">
            <a:avLst/>
          </a:prstGeom>
          <a:noFill/>
          <a:ln>
            <a:noFill/>
          </a:ln>
        </p:spPr>
        <p:txBody>
          <a:bodyPr wrap="none" lIns="0" tIns="0" rIns="0" bIns="0" anchor="t">
            <a:noAutofit/>
          </a:bodyPr>
          <a:lstStyle/>
          <a:p>
            <a:pPr marL="0" marR="0" indent="0" algn="r">
              <a:lnSpc>
                <a:spcPts val="862"/>
              </a:lnSpc>
              <a:spcBef>
                <a:spcPts val="0"/>
              </a:spcBef>
              <a:spcAft>
                <a:spcPts val="0"/>
              </a:spcAft>
              <a:buNone/>
            </a:pPr>
            <a:r>
              <a:rPr lang="de-DE" sz="750" b="0" i="0" u="none" dirty="0">
                <a:solidFill>
                  <a:srgbClr val="6B6B6B"/>
                </a:solidFill>
                <a:latin typeface="Times New Roman"/>
                <a:ea typeface="Times New Roman"/>
                <a:cs typeface="Times New Roman"/>
              </a:rPr>
              <a:t>Descartes (2011), Übers. C. Wohlers: Regeln III / VIII / IX, S. 15 / 59 / 73.</a:t>
            </a:r>
            <a:endParaRPr lang="de-DE" sz="750"/>
          </a:p>
        </p:txBody>
      </p:sp>
    </p:spTree>
    <p:extLst>
      <p:ext uri="{BB962C8B-B14F-4D97-AF65-F5344CB8AC3E}">
        <p14:creationId xmlns:p14="http://schemas.microsoft.com/office/powerpoint/2010/main" val="3570915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Textfeld 9"/>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Descartes’ </a:t>
            </a:r>
            <a:r>
              <a:rPr lang="en-CA" sz="3200" i="1" dirty="0" err="1" smtClean="0">
                <a:solidFill>
                  <a:schemeClr val="bg1"/>
                </a:solidFill>
                <a:effectLst>
                  <a:outerShdw blurRad="38100" dist="38100" dir="2700000" algn="tl">
                    <a:srgbClr val="000000">
                      <a:alpha val="43137"/>
                    </a:srgbClr>
                  </a:outerShdw>
                </a:effectLst>
              </a:rPr>
              <a:t>Regeln</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zur</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Ausrichtung</a:t>
            </a:r>
            <a:r>
              <a:rPr lang="en-CA" sz="3200" i="1" dirty="0" smtClean="0">
                <a:solidFill>
                  <a:schemeClr val="bg1"/>
                </a:solidFill>
                <a:effectLst>
                  <a:outerShdw blurRad="38100" dist="38100" dir="2700000" algn="tl">
                    <a:srgbClr val="000000">
                      <a:alpha val="43137"/>
                    </a:srgbClr>
                  </a:outerShdw>
                </a:effectLst>
              </a:rPr>
              <a:t> der </a:t>
            </a:r>
            <a:r>
              <a:rPr lang="en-CA" sz="3200" i="1" dirty="0" err="1" smtClean="0">
                <a:solidFill>
                  <a:schemeClr val="bg1"/>
                </a:solidFill>
                <a:effectLst>
                  <a:outerShdw blurRad="38100" dist="38100" dir="2700000" algn="tl">
                    <a:srgbClr val="000000">
                      <a:alpha val="43137"/>
                    </a:srgbClr>
                  </a:outerShdw>
                </a:effectLst>
              </a:rPr>
              <a:t>Geisteskraft</a:t>
            </a:r>
            <a:endParaRPr lang="en-CA" sz="3200" i="1"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3054096" y="786384"/>
            <a:ext cx="5806440" cy="4041648"/>
          </a:xfrm>
          <a:prstGeom prst="rect">
            <a:avLst/>
          </a:prstGeom>
        </p:spPr>
        <p:txBody>
          <a:bodyPr wrap="square">
            <a:noAutofit/>
          </a:bodyPr>
          <a:lstStyle/>
          <a:p>
            <a:r>
              <a:rPr lang="de-DE" sz="2400" b="1" dirty="0" smtClean="0">
                <a:solidFill>
                  <a:srgbClr val="FF0000"/>
                </a:solidFill>
                <a:latin typeface="Times New Roman" panose="02020603050405020304" pitchFamily="18" charset="0"/>
                <a:cs typeface="Times New Roman" panose="02020603050405020304" pitchFamily="18" charset="0"/>
              </a:rPr>
              <a:t>Regel XI</a:t>
            </a:r>
          </a:p>
          <a:p>
            <a:endParaRPr lang="de-DE" dirty="0" smtClean="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rPr>
              <a:t>Nachdem </a:t>
            </a:r>
            <a:r>
              <a:rPr lang="de-DE" dirty="0">
                <a:latin typeface="Times New Roman" panose="02020603050405020304" pitchFamily="18" charset="0"/>
                <a:cs typeface="Times New Roman" panose="02020603050405020304" pitchFamily="18" charset="0"/>
              </a:rPr>
              <a:t>wir einige einfache Propositionen intuitiv erkannt haben, ist es nützlich, wenn wir aus ihnen etwas anderes schließen wollen, sie </a:t>
            </a:r>
            <a:r>
              <a:rPr lang="de-DE" b="1" dirty="0">
                <a:latin typeface="Times New Roman" panose="02020603050405020304" pitchFamily="18" charset="0"/>
                <a:cs typeface="Times New Roman" panose="02020603050405020304" pitchFamily="18" charset="0"/>
              </a:rPr>
              <a:t>in einer kontinuierlichen und nirgendwo unterbrochenen Bewegung des Denkens </a:t>
            </a:r>
            <a:r>
              <a:rPr lang="de-DE" dirty="0">
                <a:latin typeface="Times New Roman" panose="02020603050405020304" pitchFamily="18" charset="0"/>
                <a:cs typeface="Times New Roman" panose="02020603050405020304" pitchFamily="18" charset="0"/>
              </a:rPr>
              <a:t>zu durchlaufen, über ihre wechselseitigen Beziehungen nachzudenken, und so viele wie möglich zugleich deutlich zu begreifen: So wird nämlich nicht nur unsere Erkenntnis viel sicherer, sondern auch das Fassungsvermögen unserer Geisteskraft sehr vergrößert.</a:t>
            </a:r>
          </a:p>
        </p:txBody>
      </p:sp>
      <p:pic>
        <p:nvPicPr>
          <p:cNvPr id="7"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0" y="556869"/>
            <a:ext cx="2926080" cy="4586630"/>
          </a:xfrm>
          <a:prstGeom prst="rect">
            <a:avLst/>
          </a:prstGeom>
          <a:noFill/>
          <a:extLst>
            <a:ext uri="{909E8E84-426E-40DD-AFC4-6F175D3DCCD1}">
              <a14:hiddenFill xmlns:a14="http://schemas.microsoft.com/office/drawing/2010/main">
                <a:solidFill>
                  <a:srgbClr val="FFFFFF"/>
                </a:solidFill>
              </a14:hiddenFill>
            </a:ext>
          </a:extLst>
        </p:spPr>
      </p:pic>
      <p:sp>
        <p:nvSpPr>
          <p:cNvPr id="11" name="Quellenangabe 11" descr="Descartes (2011), Übers. C. Wohlers, Regel XI, S. 85 (nicht Regel VII)."/>
          <p:cNvSpPr txBox="1"/>
          <p:nvPr/>
        </p:nvSpPr>
        <p:spPr>
          <a:xfrm>
            <a:off x="3163824" y="4910328"/>
            <a:ext cx="5632704" cy="164592"/>
          </a:xfrm>
          <a:prstGeom prst="rect">
            <a:avLst/>
          </a:prstGeom>
          <a:noFill/>
          <a:ln>
            <a:noFill/>
          </a:ln>
        </p:spPr>
        <p:txBody>
          <a:bodyPr wrap="none" lIns="0" tIns="0" rIns="0" bIns="0" anchor="t">
            <a:noAutofit/>
          </a:bodyPr>
          <a:lstStyle/>
          <a:p>
            <a:pPr marL="0" marR="0" indent="0" algn="r">
              <a:lnSpc>
                <a:spcPts val="897"/>
              </a:lnSpc>
              <a:spcBef>
                <a:spcPts val="0"/>
              </a:spcBef>
              <a:spcAft>
                <a:spcPts val="0"/>
              </a:spcAft>
              <a:buNone/>
            </a:pPr>
            <a:r>
              <a:rPr lang="de-DE" sz="780" b="0" i="0" u="none" dirty="0">
                <a:solidFill>
                  <a:srgbClr val="6B6B6B"/>
                </a:solidFill>
                <a:latin typeface="Times New Roman"/>
                <a:ea typeface="Times New Roman"/>
                <a:cs typeface="Times New Roman"/>
              </a:rPr>
              <a:t>Descartes (2011), Übers. C. </a:t>
            </a:r>
            <a:r>
              <a:rPr lang="de-DE" sz="780" b="0" i="0" u="none" dirty="0" smtClean="0">
                <a:solidFill>
                  <a:srgbClr val="6B6B6B"/>
                </a:solidFill>
                <a:latin typeface="Times New Roman"/>
                <a:ea typeface="Times New Roman"/>
                <a:cs typeface="Times New Roman"/>
              </a:rPr>
              <a:t>Wohlers, </a:t>
            </a:r>
            <a:r>
              <a:rPr lang="de-DE" sz="780" b="0" i="0" u="none" dirty="0">
                <a:solidFill>
                  <a:srgbClr val="6B6B6B"/>
                </a:solidFill>
                <a:latin typeface="Times New Roman"/>
                <a:ea typeface="Times New Roman"/>
                <a:cs typeface="Times New Roman"/>
              </a:rPr>
              <a:t>S. </a:t>
            </a:r>
            <a:r>
              <a:rPr lang="de-DE" sz="780" b="0" i="0" u="none" dirty="0" smtClean="0">
                <a:solidFill>
                  <a:srgbClr val="6B6B6B"/>
                </a:solidFill>
                <a:latin typeface="Times New Roman"/>
                <a:ea typeface="Times New Roman"/>
                <a:cs typeface="Times New Roman"/>
              </a:rPr>
              <a:t>85</a:t>
            </a:r>
            <a:endParaRPr lang="de-DE" sz="780" dirty="0"/>
          </a:p>
        </p:txBody>
      </p:sp>
    </p:spTree>
    <p:extLst>
      <p:ext uri="{BB962C8B-B14F-4D97-AF65-F5344CB8AC3E}">
        <p14:creationId xmlns:p14="http://schemas.microsoft.com/office/powerpoint/2010/main" val="964274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hteck 8"/>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10" name="Textfeld 9"/>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Descartes’ </a:t>
            </a:r>
            <a:r>
              <a:rPr lang="en-CA" sz="3200" i="1" dirty="0" err="1" smtClean="0">
                <a:solidFill>
                  <a:schemeClr val="bg1"/>
                </a:solidFill>
                <a:effectLst>
                  <a:outerShdw blurRad="38100" dist="38100" dir="2700000" algn="tl">
                    <a:srgbClr val="000000">
                      <a:alpha val="43137"/>
                    </a:srgbClr>
                  </a:outerShdw>
                </a:effectLst>
              </a:rPr>
              <a:t>Regeln</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zur</a:t>
            </a:r>
            <a:r>
              <a:rPr lang="en-CA" sz="3200" i="1" dirty="0" smtClean="0">
                <a:solidFill>
                  <a:schemeClr val="bg1"/>
                </a:solidFill>
                <a:effectLst>
                  <a:outerShdw blurRad="38100" dist="38100" dir="2700000" algn="tl">
                    <a:srgbClr val="000000">
                      <a:alpha val="43137"/>
                    </a:srgbClr>
                  </a:outerShdw>
                </a:effectLst>
              </a:rPr>
              <a:t> </a:t>
            </a:r>
            <a:r>
              <a:rPr lang="en-CA" sz="3200" i="1" dirty="0" err="1" smtClean="0">
                <a:solidFill>
                  <a:schemeClr val="bg1"/>
                </a:solidFill>
                <a:effectLst>
                  <a:outerShdw blurRad="38100" dist="38100" dir="2700000" algn="tl">
                    <a:srgbClr val="000000">
                      <a:alpha val="43137"/>
                    </a:srgbClr>
                  </a:outerShdw>
                </a:effectLst>
              </a:rPr>
              <a:t>Ausrichtung</a:t>
            </a:r>
            <a:r>
              <a:rPr lang="en-CA" sz="3200" i="1" dirty="0" smtClean="0">
                <a:solidFill>
                  <a:schemeClr val="bg1"/>
                </a:solidFill>
                <a:effectLst>
                  <a:outerShdw blurRad="38100" dist="38100" dir="2700000" algn="tl">
                    <a:srgbClr val="000000">
                      <a:alpha val="43137"/>
                    </a:srgbClr>
                  </a:outerShdw>
                </a:effectLst>
              </a:rPr>
              <a:t> der </a:t>
            </a:r>
            <a:r>
              <a:rPr lang="en-CA" sz="3200" i="1" dirty="0" err="1" smtClean="0">
                <a:solidFill>
                  <a:schemeClr val="bg1"/>
                </a:solidFill>
                <a:effectLst>
                  <a:outerShdw blurRad="38100" dist="38100" dir="2700000" algn="tl">
                    <a:srgbClr val="000000">
                      <a:alpha val="43137"/>
                    </a:srgbClr>
                  </a:outerShdw>
                </a:effectLst>
              </a:rPr>
              <a:t>Geisteskraft</a:t>
            </a:r>
            <a:endParaRPr lang="en-CA" sz="3200" i="1" dirty="0">
              <a:solidFill>
                <a:schemeClr val="bg1"/>
              </a:solidFill>
              <a:effectLst>
                <a:outerShdw blurRad="38100" dist="38100" dir="2700000" algn="tl">
                  <a:srgbClr val="000000">
                    <a:alpha val="43137"/>
                  </a:srgbClr>
                </a:outerShdw>
              </a:effectLst>
            </a:endParaRPr>
          </a:p>
        </p:txBody>
      </p:sp>
      <p:sp>
        <p:nvSpPr>
          <p:cNvPr id="2" name="Rechteck 1"/>
          <p:cNvSpPr/>
          <p:nvPr/>
        </p:nvSpPr>
        <p:spPr>
          <a:xfrm>
            <a:off x="3054096" y="786384"/>
            <a:ext cx="5806440" cy="4041648"/>
          </a:xfrm>
          <a:prstGeom prst="rect">
            <a:avLst/>
          </a:prstGeom>
        </p:spPr>
        <p:txBody>
          <a:bodyPr wrap="square">
            <a:noAutofit/>
          </a:bodyPr>
          <a:lstStyle/>
          <a:p>
            <a:pPr algn="l"/>
            <a:r>
              <a:rPr lang="de-DE" sz="2400" b="1" dirty="0" smtClean="0">
                <a:latin typeface="Times New Roman" panose="02020603050405020304" pitchFamily="18" charset="0"/>
                <a:cs typeface="Times New Roman" panose="02020603050405020304" pitchFamily="18" charset="0"/>
              </a:rPr>
              <a:t>Regel XI</a:t>
            </a:r>
            <a:endParaRPr lang="de-DE" dirty="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rPr>
              <a:t>Nachdem </a:t>
            </a:r>
            <a:r>
              <a:rPr lang="de-DE" dirty="0">
                <a:latin typeface="Times New Roman" panose="02020603050405020304" pitchFamily="18" charset="0"/>
                <a:cs typeface="Times New Roman" panose="02020603050405020304" pitchFamily="18" charset="0"/>
              </a:rPr>
              <a:t>wir einige einfache Propositionen intuitiv erkannt haben, ist es nützlich, über ihre wechselseitigen </a:t>
            </a:r>
            <a:r>
              <a:rPr lang="de-DE" dirty="0" smtClean="0">
                <a:latin typeface="Times New Roman" panose="02020603050405020304" pitchFamily="18" charset="0"/>
                <a:cs typeface="Times New Roman" panose="02020603050405020304" pitchFamily="18" charset="0"/>
              </a:rPr>
              <a:t>Beziehungen nachzudenken.</a:t>
            </a:r>
          </a:p>
          <a:p>
            <a:pPr algn="l"/>
            <a:endParaRPr lang="de-DE" sz="1400" dirty="0">
              <a:latin typeface="Times New Roman" panose="02020603050405020304" pitchFamily="18" charset="0"/>
              <a:cs typeface="Times New Roman" panose="02020603050405020304" pitchFamily="18" charset="0"/>
            </a:endParaRPr>
          </a:p>
          <a:p>
            <a:pPr algn="l"/>
            <a:r>
              <a:rPr lang="de-DE" sz="2400" b="1" dirty="0" smtClean="0">
                <a:latin typeface="Times New Roman" panose="02020603050405020304" pitchFamily="18" charset="0"/>
                <a:cs typeface="Times New Roman" panose="02020603050405020304" pitchFamily="18" charset="0"/>
              </a:rPr>
              <a:t>Regel XIII</a:t>
            </a:r>
            <a:endParaRPr lang="de-DE" sz="1400" dirty="0" smtClean="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rPr>
              <a:t>Wenn </a:t>
            </a:r>
            <a:r>
              <a:rPr lang="de-DE" dirty="0">
                <a:latin typeface="Times New Roman" panose="02020603050405020304" pitchFamily="18" charset="0"/>
                <a:cs typeface="Times New Roman" panose="02020603050405020304" pitchFamily="18" charset="0"/>
              </a:rPr>
              <a:t>wir eine Frage vollkommen einsehen wollen, müssen wir sie von jedem </a:t>
            </a:r>
            <a:r>
              <a:rPr lang="de-DE" dirty="0" smtClean="0">
                <a:latin typeface="Times New Roman" panose="02020603050405020304" pitchFamily="18" charset="0"/>
                <a:cs typeface="Times New Roman" panose="02020603050405020304" pitchFamily="18" charset="0"/>
              </a:rPr>
              <a:t>überflüssigen </a:t>
            </a:r>
            <a:r>
              <a:rPr lang="de-DE" dirty="0">
                <a:latin typeface="Times New Roman" panose="02020603050405020304" pitchFamily="18" charset="0"/>
                <a:cs typeface="Times New Roman" panose="02020603050405020304" pitchFamily="18" charset="0"/>
              </a:rPr>
              <a:t>Begriff abstrahieren, sie auf die einfachste Frage zurückführen und in einer Aufzählung in möglichst kleine Teile </a:t>
            </a:r>
            <a:r>
              <a:rPr lang="de-DE" dirty="0" smtClean="0">
                <a:latin typeface="Times New Roman" panose="02020603050405020304" pitchFamily="18" charset="0"/>
                <a:cs typeface="Times New Roman" panose="02020603050405020304" pitchFamily="18" charset="0"/>
              </a:rPr>
              <a:t>teilen.</a:t>
            </a:r>
          </a:p>
          <a:p>
            <a:pPr algn="l"/>
            <a:endParaRPr lang="de-DE" dirty="0">
              <a:latin typeface="Times New Roman" panose="02020603050405020304" pitchFamily="18" charset="0"/>
              <a:cs typeface="Times New Roman" panose="02020603050405020304" pitchFamily="18" charset="0"/>
            </a:endParaRPr>
          </a:p>
          <a:p>
            <a:pPr algn="l"/>
            <a:r>
              <a:rPr lang="de-DE" sz="2000" b="1" dirty="0" smtClean="0">
                <a:latin typeface="Times New Roman" panose="02020603050405020304" pitchFamily="18" charset="0"/>
                <a:cs typeface="Times New Roman" panose="02020603050405020304" pitchFamily="18" charset="0"/>
              </a:rPr>
              <a:t>Regel XIV</a:t>
            </a:r>
          </a:p>
          <a:p>
            <a:pPr algn="l"/>
            <a:r>
              <a:rPr lang="de-DE" dirty="0">
                <a:latin typeface="Times New Roman" panose="02020603050405020304" pitchFamily="18" charset="0"/>
                <a:cs typeface="Times New Roman" panose="02020603050405020304" pitchFamily="18" charset="0"/>
              </a:rPr>
              <a:t>Die Frage </a:t>
            </a:r>
            <a:r>
              <a:rPr lang="de-DE" dirty="0" err="1">
                <a:latin typeface="Times New Roman" panose="02020603050405020304" pitchFamily="18" charset="0"/>
                <a:cs typeface="Times New Roman" panose="02020603050405020304" pitchFamily="18" charset="0"/>
              </a:rPr>
              <a:t>muß</a:t>
            </a:r>
            <a:r>
              <a:rPr lang="de-DE" dirty="0">
                <a:latin typeface="Times New Roman" panose="02020603050405020304" pitchFamily="18" charset="0"/>
                <a:cs typeface="Times New Roman" panose="02020603050405020304" pitchFamily="18" charset="0"/>
              </a:rPr>
              <a:t> der Anschauung ganz durch bloße Figuren vorgelegt </a:t>
            </a:r>
            <a:r>
              <a:rPr lang="de-DE" dirty="0" smtClean="0">
                <a:latin typeface="Times New Roman" panose="02020603050405020304" pitchFamily="18" charset="0"/>
                <a:cs typeface="Times New Roman" panose="02020603050405020304" pitchFamily="18" charset="0"/>
              </a:rPr>
              <a:t>werden.</a:t>
            </a:r>
            <a:endParaRPr lang="de-DE" dirty="0">
              <a:latin typeface="Times New Roman" panose="02020603050405020304" pitchFamily="18" charset="0"/>
              <a:cs typeface="Times New Roman" panose="02020603050405020304" pitchFamily="18" charset="0"/>
            </a:endParaRPr>
          </a:p>
        </p:txBody>
      </p:sp>
      <p:pic>
        <p:nvPicPr>
          <p:cNvPr id="7" name="Picture 4" descr="Big Thinker: French philosopher René Descartes - The Ethics Centre"/>
          <p:cNvPicPr>
            <a:picLocks noChangeAspect="1" noChangeArrowheads="1"/>
          </p:cNvPicPr>
          <p:nvPr/>
        </p:nvPicPr>
        <p:blipFill rotWithShape="1">
          <a:blip r:embed="rId3">
            <a:extLst>
              <a:ext uri="{BEBA8EAE-BF5A-486C-A8C5-ECC9F3942E4B}">
                <a14:imgProps xmlns:a14="http://schemas.microsoft.com/office/drawing/2010/main">
                  <a14:imgLayer r:embed="rId4">
                    <a14:imgEffect>
                      <a14:backgroundRemoval t="0" b="100000" l="23786" r="65786"/>
                    </a14:imgEffect>
                  </a14:imgLayer>
                </a14:imgProps>
              </a:ext>
              <a:ext uri="{28A0092B-C50C-407E-A947-70E740481C1C}">
                <a14:useLocalDpi xmlns:a14="http://schemas.microsoft.com/office/drawing/2010/main" val="0"/>
              </a:ext>
            </a:extLst>
          </a:blip>
          <a:srcRect l="37667" r="34609"/>
          <a:stretch/>
        </p:blipFill>
        <p:spPr bwMode="auto">
          <a:xfrm>
            <a:off x="0" y="556869"/>
            <a:ext cx="2926080" cy="4586630"/>
          </a:xfrm>
          <a:prstGeom prst="rect">
            <a:avLst/>
          </a:prstGeom>
          <a:noFill/>
          <a:extLst>
            <a:ext uri="{909E8E84-426E-40DD-AFC4-6F175D3DCCD1}">
              <a14:hiddenFill xmlns:a14="http://schemas.microsoft.com/office/drawing/2010/main">
                <a:solidFill>
                  <a:srgbClr val="FFFFFF"/>
                </a:solidFill>
              </a14:hiddenFill>
            </a:ext>
          </a:extLst>
        </p:spPr>
      </p:pic>
      <p:sp>
        <p:nvSpPr>
          <p:cNvPr id="11" name="Quellenangabe 11" descr="Descartes (2011), Übers. C. Wohlers: Regeln XI / XIII / XIV, S. 85 / 125 / 137."/>
          <p:cNvSpPr txBox="1"/>
          <p:nvPr/>
        </p:nvSpPr>
        <p:spPr>
          <a:xfrm>
            <a:off x="3163824" y="4928616"/>
            <a:ext cx="5632704" cy="164592"/>
          </a:xfrm>
          <a:prstGeom prst="rect">
            <a:avLst/>
          </a:prstGeom>
          <a:noFill/>
          <a:ln>
            <a:noFill/>
          </a:ln>
        </p:spPr>
        <p:txBody>
          <a:bodyPr wrap="none" lIns="0" tIns="0" rIns="0" bIns="0" anchor="t">
            <a:noAutofit/>
          </a:bodyPr>
          <a:lstStyle/>
          <a:p>
            <a:pPr marL="0" marR="0" indent="0" algn="r">
              <a:lnSpc>
                <a:spcPts val="862"/>
              </a:lnSpc>
              <a:spcBef>
                <a:spcPts val="0"/>
              </a:spcBef>
              <a:spcAft>
                <a:spcPts val="0"/>
              </a:spcAft>
              <a:buNone/>
            </a:pPr>
            <a:r>
              <a:rPr lang="de-DE" sz="750" b="0" i="0" u="none" dirty="0">
                <a:solidFill>
                  <a:srgbClr val="6B6B6B"/>
                </a:solidFill>
                <a:latin typeface="Times New Roman"/>
                <a:ea typeface="Times New Roman"/>
                <a:cs typeface="Times New Roman"/>
              </a:rPr>
              <a:t>Descartes (2011), Übers. C. Wohlers: Regeln XI / XIII / XIV, S. 85 / 125 / 137.</a:t>
            </a:r>
            <a:endParaRPr lang="de-DE" sz="750"/>
          </a:p>
        </p:txBody>
      </p:sp>
    </p:spTree>
    <p:extLst>
      <p:ext uri="{BB962C8B-B14F-4D97-AF65-F5344CB8AC3E}">
        <p14:creationId xmlns:p14="http://schemas.microsoft.com/office/powerpoint/2010/main" val="4125881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Zeitlichkeit</a:t>
            </a:r>
            <a:r>
              <a:rPr lang="en-CA" sz="3200" dirty="0" smtClean="0">
                <a:solidFill>
                  <a:schemeClr val="bg1"/>
                </a:solidFill>
                <a:effectLst>
                  <a:outerShdw blurRad="38100" dist="38100" dir="2700000" algn="tl">
                    <a:srgbClr val="000000">
                      <a:alpha val="43137"/>
                    </a:srgbClr>
                  </a:outerShdw>
                </a:effectLst>
              </a:rPr>
              <a:t> des </a:t>
            </a:r>
            <a:r>
              <a:rPr lang="en-CA" sz="3200" dirty="0" err="1" smtClean="0">
                <a:solidFill>
                  <a:schemeClr val="bg1"/>
                </a:solidFill>
                <a:effectLst>
                  <a:outerShdw blurRad="38100" dist="38100" dir="2700000" algn="tl">
                    <a:srgbClr val="000000">
                      <a:alpha val="43137"/>
                    </a:srgbClr>
                  </a:outerShdw>
                </a:effectLst>
              </a:rPr>
              <a:t>Schließens</a:t>
            </a:r>
            <a:r>
              <a:rPr lang="en-CA" sz="3200" dirty="0" smtClean="0">
                <a:solidFill>
                  <a:schemeClr val="bg1"/>
                </a:solidFill>
                <a:effectLst>
                  <a:outerShdw blurRad="38100" dist="38100" dir="2700000" algn="tl">
                    <a:srgbClr val="000000">
                      <a:alpha val="43137"/>
                    </a:srgbClr>
                  </a:outerShdw>
                </a:effectLst>
              </a:rPr>
              <a:t> / </a:t>
            </a:r>
            <a:r>
              <a:rPr lang="en-CA" sz="3200" dirty="0" err="1" smtClean="0">
                <a:solidFill>
                  <a:schemeClr val="bg1"/>
                </a:solidFill>
                <a:effectLst>
                  <a:outerShdw blurRad="38100" dist="38100" dir="2700000" algn="tl">
                    <a:srgbClr val="000000">
                      <a:alpha val="43137"/>
                    </a:srgbClr>
                  </a:outerShdw>
                </a:effectLst>
              </a:rPr>
              <a:t>Lückenlosigkeit</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82880" y="713232"/>
            <a:ext cx="8778240" cy="4242816"/>
          </a:xfrm>
          <a:prstGeom prst="rect">
            <a:avLst/>
          </a:prstGeom>
          <a:noFill/>
        </p:spPr>
        <p:txBody>
          <a:bodyPr wrap="square" rtlCol="0">
            <a:noAutofit/>
          </a:bodyPr>
          <a:lstStyle/>
          <a:p>
            <a:pPr algn="just"/>
            <a:r>
              <a:rPr lang="de-DE" sz="1500" dirty="0">
                <a:latin typeface="Times New Roman" panose="02020603050405020304" pitchFamily="18" charset="0"/>
                <a:cs typeface="Times New Roman" panose="02020603050405020304" pitchFamily="18" charset="0"/>
              </a:rPr>
              <a:t>„In dem Syllogismus: S ist M; M ist P; S ist P - verdeckt der Ausdruck, der </a:t>
            </a:r>
            <a:r>
              <a:rPr lang="de-DE" sz="1500" dirty="0" err="1">
                <a:latin typeface="Times New Roman" panose="02020603050405020304" pitchFamily="18" charset="0"/>
                <a:cs typeface="Times New Roman" panose="02020603050405020304" pitchFamily="18" charset="0"/>
              </a:rPr>
              <a:t>Schlußsatz</a:t>
            </a:r>
            <a:r>
              <a:rPr lang="de-DE" sz="1500" dirty="0">
                <a:latin typeface="Times New Roman" panose="02020603050405020304" pitchFamily="18" charset="0"/>
                <a:cs typeface="Times New Roman" panose="02020603050405020304" pitchFamily="18" charset="0"/>
              </a:rPr>
              <a:t> S ist P </a:t>
            </a:r>
            <a:r>
              <a:rPr lang="de-DE" sz="1500" i="1" dirty="0">
                <a:latin typeface="Times New Roman" panose="02020603050405020304" pitchFamily="18" charset="0"/>
                <a:cs typeface="Times New Roman" panose="02020603050405020304" pitchFamily="18" charset="0"/>
              </a:rPr>
              <a:t>ergebe</a:t>
            </a:r>
            <a:r>
              <a:rPr lang="de-DE" sz="1500" dirty="0">
                <a:latin typeface="Times New Roman" panose="02020603050405020304" pitchFamily="18" charset="0"/>
                <a:cs typeface="Times New Roman" panose="02020603050405020304" pitchFamily="18" charset="0"/>
              </a:rPr>
              <a:t> </a:t>
            </a:r>
            <a:r>
              <a:rPr lang="de-DE" sz="1500" i="1" dirty="0">
                <a:latin typeface="Times New Roman" panose="02020603050405020304" pitchFamily="18" charset="0"/>
                <a:cs typeface="Times New Roman" panose="02020603050405020304" pitchFamily="18" charset="0"/>
              </a:rPr>
              <a:t>sich</a:t>
            </a:r>
            <a:r>
              <a:rPr lang="de-DE" sz="1500" dirty="0">
                <a:latin typeface="Times New Roman" panose="02020603050405020304" pitchFamily="18" charset="0"/>
                <a:cs typeface="Times New Roman" panose="02020603050405020304" pitchFamily="18" charset="0"/>
              </a:rPr>
              <a:t> oder </a:t>
            </a:r>
            <a:r>
              <a:rPr lang="de-DE" sz="1500" i="1" dirty="0">
                <a:latin typeface="Times New Roman" panose="02020603050405020304" pitchFamily="18" charset="0"/>
                <a:cs typeface="Times New Roman" panose="02020603050405020304" pitchFamily="18" charset="0"/>
              </a:rPr>
              <a:t>folge</a:t>
            </a:r>
            <a:r>
              <a:rPr lang="de-DE" sz="1500" dirty="0">
                <a:latin typeface="Times New Roman" panose="02020603050405020304" pitchFamily="18" charset="0"/>
                <a:cs typeface="Times New Roman" panose="02020603050405020304" pitchFamily="18" charset="0"/>
              </a:rPr>
              <a:t> aus den beiden Prämissen, eine außerordentliche Schwierigkeit. Zunächst ist jeder der drei Sätze eine in sich geschlossene Wahrheit, für sich gültig, ohne eines Weiteren zu bedürfen oder in ein Weiteres hinauszugreifen. Und dann hat die </a:t>
            </a:r>
            <a:r>
              <a:rPr lang="de-DE" sz="1500" dirty="0" err="1">
                <a:latin typeface="Times New Roman" panose="02020603050405020304" pitchFamily="18" charset="0"/>
                <a:cs typeface="Times New Roman" panose="02020603050405020304" pitchFamily="18" charset="0"/>
              </a:rPr>
              <a:t>Nacheinanderreihung</a:t>
            </a:r>
            <a:r>
              <a:rPr lang="de-DE" sz="1500" dirty="0">
                <a:latin typeface="Times New Roman" panose="02020603050405020304" pitchFamily="18" charset="0"/>
                <a:cs typeface="Times New Roman" panose="02020603050405020304" pitchFamily="18" charset="0"/>
              </a:rPr>
              <a:t>, in der sie sich zum Syllogismus vereinigen, mit ihnen selbst gar nichts zu tun, da alle drei gleichmäßig zeitlos sind. Nicht ihr eigener Sachgehalt, den das sie denkende </a:t>
            </a:r>
            <a:r>
              <a:rPr lang="de-DE" sz="1500" dirty="0" err="1">
                <a:latin typeface="Times New Roman" panose="02020603050405020304" pitchFamily="18" charset="0"/>
                <a:cs typeface="Times New Roman" panose="02020603050405020304" pitchFamily="18" charset="0"/>
              </a:rPr>
              <a:t>Bewußtsein</a:t>
            </a:r>
            <a:r>
              <a:rPr lang="de-DE" sz="1500" dirty="0">
                <a:latin typeface="Times New Roman" panose="02020603050405020304" pitchFamily="18" charset="0"/>
                <a:cs typeface="Times New Roman" panose="02020603050405020304" pitchFamily="18" charset="0"/>
              </a:rPr>
              <a:t> meint, sondern nur dieses </a:t>
            </a:r>
            <a:r>
              <a:rPr lang="de-DE" sz="1500" dirty="0" err="1">
                <a:latin typeface="Times New Roman" panose="02020603050405020304" pitchFamily="18" charset="0"/>
                <a:cs typeface="Times New Roman" panose="02020603050405020304" pitchFamily="18" charset="0"/>
              </a:rPr>
              <a:t>Bewußtsein</a:t>
            </a:r>
            <a:r>
              <a:rPr lang="de-DE" sz="1500" dirty="0">
                <a:latin typeface="Times New Roman" panose="02020603050405020304" pitchFamily="18" charset="0"/>
                <a:cs typeface="Times New Roman" panose="02020603050405020304" pitchFamily="18" charset="0"/>
              </a:rPr>
              <a:t> selbst, das sie in psychologische Form </a:t>
            </a:r>
            <a:r>
              <a:rPr lang="de-DE" sz="1500" dirty="0" err="1">
                <a:latin typeface="Times New Roman" panose="02020603050405020304" pitchFamily="18" charset="0"/>
                <a:cs typeface="Times New Roman" panose="02020603050405020304" pitchFamily="18" charset="0"/>
              </a:rPr>
              <a:t>faßt</a:t>
            </a:r>
            <a:r>
              <a:rPr lang="de-DE" sz="1500" dirty="0">
                <a:latin typeface="Times New Roman" panose="02020603050405020304" pitchFamily="18" charset="0"/>
                <a:cs typeface="Times New Roman" panose="02020603050405020304" pitchFamily="18" charset="0"/>
              </a:rPr>
              <a:t>, bringt sie in die konkludente Ordnung und </a:t>
            </a:r>
            <a:r>
              <a:rPr lang="de-DE" sz="1500" dirty="0" err="1">
                <a:latin typeface="Times New Roman" panose="02020603050405020304" pitchFamily="18" charset="0"/>
                <a:cs typeface="Times New Roman" panose="02020603050405020304" pitchFamily="18" charset="0"/>
              </a:rPr>
              <a:t>läßt</a:t>
            </a:r>
            <a:r>
              <a:rPr lang="de-DE" sz="1500" dirty="0">
                <a:latin typeface="Times New Roman" panose="02020603050405020304" pitchFamily="18" charset="0"/>
                <a:cs typeface="Times New Roman" panose="02020603050405020304" pitchFamily="18" charset="0"/>
              </a:rPr>
              <a:t> jeden von ihnen seine Schranke durchbrechen, so </a:t>
            </a:r>
            <a:r>
              <a:rPr lang="de-DE" sz="1500" dirty="0" err="1">
                <a:latin typeface="Times New Roman" panose="02020603050405020304" pitchFamily="18" charset="0"/>
                <a:cs typeface="Times New Roman" panose="02020603050405020304" pitchFamily="18" charset="0"/>
              </a:rPr>
              <a:t>daß</a:t>
            </a:r>
            <a:r>
              <a:rPr lang="de-DE" sz="1500" dirty="0">
                <a:latin typeface="Times New Roman" panose="02020603050405020304" pitchFamily="18" charset="0"/>
                <a:cs typeface="Times New Roman" panose="02020603050405020304" pitchFamily="18" charset="0"/>
              </a:rPr>
              <a:t> sich seine Verbindung mit dem anderen vollziehen kann. Jede einzelne Prämisse und ebenso den </a:t>
            </a:r>
            <a:r>
              <a:rPr lang="de-DE" sz="1500" dirty="0" err="1">
                <a:latin typeface="Times New Roman" panose="02020603050405020304" pitchFamily="18" charset="0"/>
                <a:cs typeface="Times New Roman" panose="02020603050405020304" pitchFamily="18" charset="0"/>
              </a:rPr>
              <a:t>Schlußsatz</a:t>
            </a:r>
            <a:r>
              <a:rPr lang="de-DE" sz="1500" dirty="0">
                <a:latin typeface="Times New Roman" panose="02020603050405020304" pitchFamily="18" charset="0"/>
                <a:cs typeface="Times New Roman" panose="02020603050405020304" pitchFamily="18" charset="0"/>
              </a:rPr>
              <a:t> mögen wir als etwas denken, was von diesem Denken unabhängig besteht und gilt – der </a:t>
            </a:r>
            <a:r>
              <a:rPr lang="de-DE" sz="1500" dirty="0" err="1">
                <a:latin typeface="Times New Roman" panose="02020603050405020304" pitchFamily="18" charset="0"/>
                <a:cs typeface="Times New Roman" panose="02020603050405020304" pitchFamily="18" charset="0"/>
              </a:rPr>
              <a:t>Schluß</a:t>
            </a:r>
            <a:r>
              <a:rPr lang="de-DE" sz="1500" dirty="0">
                <a:latin typeface="Times New Roman" panose="02020603050405020304" pitchFamily="18" charset="0"/>
                <a:cs typeface="Times New Roman" panose="02020603050405020304" pitchFamily="18" charset="0"/>
              </a:rPr>
              <a:t> selbst, eben jenes ‚Hervorgehen‘ des dritten aus den beiden ersteren, geschieht nur in diesem Denken, nur durch dieses Denken; die Sätze selbst bleiben in ihrem starren und sterilen Nebeneinander, aus dem das Fließen zwischen ihnen und ihre Vereinigung nicht herauszupressen ist. Indem also allein der kontinuierliche </a:t>
            </a:r>
            <a:r>
              <a:rPr lang="de-DE" sz="1500" dirty="0" err="1">
                <a:latin typeface="Times New Roman" panose="02020603050405020304" pitchFamily="18" charset="0"/>
                <a:cs typeface="Times New Roman" panose="02020603050405020304" pitchFamily="18" charset="0"/>
              </a:rPr>
              <a:t>Fluß</a:t>
            </a:r>
            <a:r>
              <a:rPr lang="de-DE" sz="1500" dirty="0">
                <a:latin typeface="Times New Roman" panose="02020603050405020304" pitchFamily="18" charset="0"/>
                <a:cs typeface="Times New Roman" panose="02020603050405020304" pitchFamily="18" charset="0"/>
              </a:rPr>
              <a:t> des Denkprozesses dies zustande bringt, ist klar, </a:t>
            </a:r>
            <a:r>
              <a:rPr lang="de-DE" sz="1500" dirty="0" err="1">
                <a:latin typeface="Times New Roman" panose="02020603050405020304" pitchFamily="18" charset="0"/>
                <a:cs typeface="Times New Roman" panose="02020603050405020304" pitchFamily="18" charset="0"/>
              </a:rPr>
              <a:t>daß</a:t>
            </a:r>
            <a:r>
              <a:rPr lang="de-DE" sz="1500" dirty="0">
                <a:latin typeface="Times New Roman" panose="02020603050405020304" pitchFamily="18" charset="0"/>
                <a:cs typeface="Times New Roman" panose="02020603050405020304" pitchFamily="18" charset="0"/>
              </a:rPr>
              <a:t> er über die Grenzen, die jeden Satz als logischen in sich abschließen, hinausgeht. Eben indem er kontinuierlich ist und also nicht nach dem: S ist M – absetzt, um nach einem Hiatus bei dem: S ist P – wieder einzusetzen, erweicht er gleichsam die Grenzen der einzelnen Inhalte und stellt etwas zwischen sie, was, in der logischen </a:t>
            </a:r>
            <a:r>
              <a:rPr lang="de-DE" sz="1500" dirty="0" err="1">
                <a:latin typeface="Times New Roman" panose="02020603050405020304" pitchFamily="18" charset="0"/>
                <a:cs typeface="Times New Roman" panose="02020603050405020304" pitchFamily="18" charset="0"/>
              </a:rPr>
              <a:t>Schlußform</a:t>
            </a:r>
            <a:r>
              <a:rPr lang="de-DE" sz="1500" dirty="0">
                <a:latin typeface="Times New Roman" panose="02020603050405020304" pitchFamily="18" charset="0"/>
                <a:cs typeface="Times New Roman" panose="02020603050405020304" pitchFamily="18" charset="0"/>
              </a:rPr>
              <a:t> nicht ausgedrückt, sie verbindbar macht. […] Was den </a:t>
            </a:r>
            <a:r>
              <a:rPr lang="de-DE" sz="1500" dirty="0" err="1">
                <a:latin typeface="Times New Roman" panose="02020603050405020304" pitchFamily="18" charset="0"/>
                <a:cs typeface="Times New Roman" panose="02020603050405020304" pitchFamily="18" charset="0"/>
              </a:rPr>
              <a:t>Schluß</a:t>
            </a:r>
            <a:r>
              <a:rPr lang="de-DE" sz="1500" dirty="0">
                <a:latin typeface="Times New Roman" panose="02020603050405020304" pitchFamily="18" charset="0"/>
                <a:cs typeface="Times New Roman" panose="02020603050405020304" pitchFamily="18" charset="0"/>
              </a:rPr>
              <a:t> zum </a:t>
            </a:r>
            <a:r>
              <a:rPr lang="de-DE" sz="1500" dirty="0" err="1">
                <a:latin typeface="Times New Roman" panose="02020603050405020304" pitchFamily="18" charset="0"/>
                <a:cs typeface="Times New Roman" panose="02020603050405020304" pitchFamily="18" charset="0"/>
              </a:rPr>
              <a:t>Schluß</a:t>
            </a:r>
            <a:r>
              <a:rPr lang="de-DE" sz="1500" dirty="0">
                <a:latin typeface="Times New Roman" panose="02020603050405020304" pitchFamily="18" charset="0"/>
                <a:cs typeface="Times New Roman" panose="02020603050405020304" pitchFamily="18" charset="0"/>
              </a:rPr>
              <a:t> macht, das Bewegte, die Hindurchführung, der verbindende Schwung ist in den Urteilen, die ihn vollgültig darzustellen scheinen, überhaupt nicht enthalten</a:t>
            </a:r>
            <a:r>
              <a:rPr lang="de-DE" sz="1500" dirty="0" smtClean="0">
                <a:latin typeface="Times New Roman" panose="02020603050405020304" pitchFamily="18" charset="0"/>
                <a:cs typeface="Times New Roman" panose="02020603050405020304" pitchFamily="18" charset="0"/>
              </a:rPr>
              <a:t>.“ </a:t>
            </a:r>
            <a:endParaRPr lang="de-DE" sz="1400" dirty="0">
              <a:latin typeface="Times New Roman" panose="02020603050405020304" pitchFamily="18" charset="0"/>
              <a:cs typeface="Times New Roman" panose="02020603050405020304" pitchFamily="18" charset="0"/>
            </a:endParaRPr>
          </a:p>
        </p:txBody>
      </p:sp>
      <p:sp>
        <p:nvSpPr>
          <p:cNvPr id="9" name="Quellenangabe 9" descr="Simmel, G. (1918): Lebensanschauung, Kap. IV „Das individuelle Gesetz“, S. 185–186."/>
          <p:cNvSpPr txBox="1"/>
          <p:nvPr/>
        </p:nvSpPr>
        <p:spPr>
          <a:xfrm>
            <a:off x="310896" y="4992624"/>
            <a:ext cx="8522208" cy="128016"/>
          </a:xfrm>
          <a:prstGeom prst="rect">
            <a:avLst/>
          </a:prstGeom>
          <a:noFill/>
          <a:ln>
            <a:noFill/>
          </a:ln>
        </p:spPr>
        <p:txBody>
          <a:bodyPr wrap="none" lIns="0" tIns="0" rIns="0" bIns="0" anchor="t">
            <a:noAutofit/>
          </a:bodyPr>
          <a:lstStyle/>
          <a:p>
            <a:pPr marL="0" marR="0" indent="0" algn="r">
              <a:lnSpc>
                <a:spcPts val="828"/>
              </a:lnSpc>
              <a:spcBef>
                <a:spcPts val="0"/>
              </a:spcBef>
              <a:spcAft>
                <a:spcPts val="0"/>
              </a:spcAft>
              <a:buNone/>
            </a:pPr>
            <a:r>
              <a:rPr lang="de-DE" sz="720" b="0" i="0" u="none" dirty="0">
                <a:solidFill>
                  <a:srgbClr val="6B6B6B"/>
                </a:solidFill>
                <a:latin typeface="Times New Roman"/>
                <a:ea typeface="Times New Roman"/>
                <a:cs typeface="Times New Roman"/>
              </a:rPr>
              <a:t>Simmel, G. (1918): Lebensanschauung, Kap. IV „Das individuelle Gesetz“, S. 185–186.</a:t>
            </a:r>
            <a:endParaRPr lang="de-DE" sz="720"/>
          </a:p>
        </p:txBody>
      </p:sp>
    </p:spTree>
    <p:extLst>
      <p:ext uri="{BB962C8B-B14F-4D97-AF65-F5344CB8AC3E}">
        <p14:creationId xmlns:p14="http://schemas.microsoft.com/office/powerpoint/2010/main" val="104029434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a:solidFill>
                  <a:schemeClr val="bg1"/>
                </a:solidFill>
                <a:effectLst>
                  <a:outerShdw blurRad="38100" dist="38100" dir="2700000" algn="tl">
                    <a:srgbClr val="000000">
                      <a:alpha val="43137"/>
                    </a:srgbClr>
                  </a:outerShdw>
                </a:effectLst>
              </a:rPr>
              <a:t>Modelle</a:t>
            </a:r>
            <a:r>
              <a:rPr lang="en-CA" sz="3200" dirty="0">
                <a:solidFill>
                  <a:schemeClr val="bg1"/>
                </a:solidFill>
                <a:effectLst>
                  <a:outerShdw blurRad="38100" dist="38100" dir="2700000" algn="tl">
                    <a:srgbClr val="000000">
                      <a:alpha val="43137"/>
                    </a:srgbClr>
                  </a:outerShdw>
                </a:effectLst>
              </a:rPr>
              <a:t> des </a:t>
            </a:r>
            <a:r>
              <a:rPr lang="en-CA" sz="3200" dirty="0" err="1">
                <a:solidFill>
                  <a:schemeClr val="bg1"/>
                </a:solidFill>
                <a:effectLst>
                  <a:outerShdw blurRad="38100" dist="38100" dir="2700000" algn="tl">
                    <a:srgbClr val="000000">
                      <a:alpha val="43137"/>
                    </a:srgbClr>
                  </a:outerShdw>
                </a:effectLst>
              </a:rPr>
              <a:t>Schlussfolgerns</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636622"/>
            <a:ext cx="8686800" cy="4023360"/>
          </a:xfrm>
          <a:prstGeom prst="rect">
            <a:avLst/>
          </a:prstGeom>
          <a:noFill/>
        </p:spPr>
        <p:txBody>
          <a:bodyPr wrap="square" rtlCol="0">
            <a:noAutofit/>
          </a:bodyPr>
          <a:lstStyle/>
          <a:p>
            <a:r>
              <a:rPr lang="de-DE" b="1" dirty="0" smtClean="0">
                <a:latin typeface="Times New Roman" panose="02020603050405020304" pitchFamily="18" charset="0"/>
                <a:cs typeface="Times New Roman" panose="02020603050405020304" pitchFamily="18" charset="0"/>
              </a:rPr>
              <a:t>Intellektualistisch</a:t>
            </a:r>
            <a:r>
              <a:rPr lang="de-DE" dirty="0" smtClean="0">
                <a:latin typeface="Times New Roman" panose="02020603050405020304" pitchFamily="18" charset="0"/>
                <a:cs typeface="Times New Roman" panose="02020603050405020304" pitchFamily="18" charset="0"/>
              </a:rPr>
              <a:t> (</a:t>
            </a:r>
            <a:r>
              <a:rPr lang="de-DE" dirty="0" err="1" smtClean="0">
                <a:latin typeface="Times New Roman" panose="02020603050405020304" pitchFamily="18" charset="0"/>
                <a:cs typeface="Times New Roman" panose="02020603050405020304" pitchFamily="18" charset="0"/>
              </a:rPr>
              <a:t>Boghossian</a:t>
            </a:r>
            <a:r>
              <a:rPr lang="de-DE"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de-DE" sz="1600" dirty="0" smtClean="0">
                <a:latin typeface="Times New Roman" panose="02020603050405020304" pitchFamily="18" charset="0"/>
                <a:cs typeface="Times New Roman" panose="02020603050405020304" pitchFamily="18" charset="0"/>
              </a:rPr>
              <a:t>Schlussfolgern = </a:t>
            </a:r>
            <a:r>
              <a:rPr lang="de-DE" sz="1600" dirty="0">
                <a:latin typeface="Times New Roman" panose="02020603050405020304" pitchFamily="18" charset="0"/>
                <a:cs typeface="Times New Roman" panose="02020603050405020304" pitchFamily="18" charset="0"/>
              </a:rPr>
              <a:t>Übergang zwischen Einstellungen aufgrund erkannter Gründe</a:t>
            </a:r>
            <a:r>
              <a:rPr lang="de-DE"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Das Subjekt muss </a:t>
            </a:r>
            <a:r>
              <a:rPr lang="de-DE" sz="1600" i="1" dirty="0" smtClean="0">
                <a:latin typeface="Times New Roman" panose="02020603050405020304" pitchFamily="18" charset="0"/>
                <a:cs typeface="Times New Roman" panose="02020603050405020304" pitchFamily="18" charset="0"/>
              </a:rPr>
              <a:t>rationale Rechtfertigungsbeziehungen </a:t>
            </a:r>
            <a:r>
              <a:rPr lang="de-DE" sz="1600" dirty="0" smtClean="0">
                <a:latin typeface="Times New Roman" panose="02020603050405020304" pitchFamily="18" charset="0"/>
                <a:cs typeface="Times New Roman" panose="02020603050405020304" pitchFamily="18" charset="0"/>
              </a:rPr>
              <a:t>(</a:t>
            </a:r>
            <a:r>
              <a:rPr lang="de-DE" sz="1600" dirty="0" err="1" smtClean="0">
                <a:latin typeface="Times New Roman" panose="02020603050405020304" pitchFamily="18" charset="0"/>
                <a:cs typeface="Times New Roman" panose="02020603050405020304" pitchFamily="18" charset="0"/>
              </a:rPr>
              <a:t>Zshg</a:t>
            </a:r>
            <a:r>
              <a:rPr lang="de-DE" sz="1600" dirty="0" smtClean="0">
                <a:latin typeface="Times New Roman" panose="02020603050405020304" pitchFamily="18" charset="0"/>
                <a:cs typeface="Times New Roman" panose="02020603050405020304" pitchFamily="18" charset="0"/>
              </a:rPr>
              <a:t>. von Prämisse und Konklusion) erfassen. </a:t>
            </a:r>
          </a:p>
          <a:p>
            <a:pPr marL="285750" indent="-285750">
              <a:buFont typeface="Arial" panose="020B0604020202020204" pitchFamily="34" charset="0"/>
              <a:buChar char="•"/>
            </a:pPr>
            <a:endParaRPr lang="de-DE" sz="1600" dirty="0">
              <a:latin typeface="Times New Roman" panose="02020603050405020304" pitchFamily="18" charset="0"/>
              <a:cs typeface="Times New Roman" panose="02020603050405020304" pitchFamily="18" charset="0"/>
            </a:endParaRPr>
          </a:p>
          <a:p>
            <a:r>
              <a:rPr lang="de-DE" b="1" dirty="0" smtClean="0">
                <a:latin typeface="Times New Roman" panose="02020603050405020304" pitchFamily="18" charset="0"/>
                <a:cs typeface="Times New Roman" panose="02020603050405020304" pitchFamily="18" charset="0"/>
              </a:rPr>
              <a:t>Naturalistisch-funktional </a:t>
            </a:r>
            <a:r>
              <a:rPr lang="de-DE" dirty="0" smtClean="0">
                <a:latin typeface="Times New Roman" panose="02020603050405020304" pitchFamily="18" charset="0"/>
                <a:cs typeface="Times New Roman" panose="02020603050405020304" pitchFamily="18" charset="0"/>
              </a:rPr>
              <a:t>(</a:t>
            </a:r>
            <a:r>
              <a:rPr lang="de-DE" dirty="0" err="1" smtClean="0">
                <a:latin typeface="Times New Roman" panose="02020603050405020304" pitchFamily="18" charset="0"/>
                <a:cs typeface="Times New Roman" panose="02020603050405020304" pitchFamily="18" charset="0"/>
              </a:rPr>
              <a:t>Shea</a:t>
            </a:r>
            <a:r>
              <a:rPr lang="de-DE"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Schlussfolgern beruht auf inhaltsunabhängigen, generalisierbaren </a:t>
            </a:r>
            <a:r>
              <a:rPr lang="de-DE" sz="1600" dirty="0" smtClean="0">
                <a:latin typeface="Times New Roman" panose="02020603050405020304" pitchFamily="18" charset="0"/>
                <a:cs typeface="Times New Roman" panose="02020603050405020304" pitchFamily="18" charset="0"/>
              </a:rPr>
              <a:t>Berechnungen.</a:t>
            </a: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Gegensatz: bloße gelernte Assoziationen zwischen bestimmten Inhalten</a:t>
            </a:r>
            <a:r>
              <a:rPr lang="de-DE" sz="1600"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de-DE" sz="1600" dirty="0">
              <a:latin typeface="Times New Roman" panose="02020603050405020304" pitchFamily="18" charset="0"/>
              <a:cs typeface="Times New Roman" panose="02020603050405020304" pitchFamily="18" charset="0"/>
            </a:endParaRPr>
          </a:p>
          <a:p>
            <a:r>
              <a:rPr lang="de-DE" b="1" dirty="0">
                <a:latin typeface="Times New Roman" panose="02020603050405020304" pitchFamily="18" charset="0"/>
                <a:cs typeface="Times New Roman" panose="02020603050405020304" pitchFamily="18" charset="0"/>
              </a:rPr>
              <a:t>Bare </a:t>
            </a:r>
            <a:r>
              <a:rPr lang="de-DE" b="1" dirty="0" err="1">
                <a:latin typeface="Times New Roman" panose="02020603050405020304" pitchFamily="18" charset="0"/>
                <a:cs typeface="Times New Roman" panose="02020603050405020304" pitchFamily="18" charset="0"/>
              </a:rPr>
              <a:t>Inferential</a:t>
            </a:r>
            <a:r>
              <a:rPr lang="de-DE" b="1" dirty="0">
                <a:latin typeface="Times New Roman" panose="02020603050405020304" pitchFamily="18" charset="0"/>
                <a:cs typeface="Times New Roman" panose="02020603050405020304" pitchFamily="18" charset="0"/>
              </a:rPr>
              <a:t> </a:t>
            </a:r>
            <a:r>
              <a:rPr lang="de-DE" b="1" dirty="0" err="1">
                <a:latin typeface="Times New Roman" panose="02020603050405020304" pitchFamily="18" charset="0"/>
                <a:cs typeface="Times New Roman" panose="02020603050405020304" pitchFamily="18" charset="0"/>
              </a:rPr>
              <a:t>Transitions</a:t>
            </a:r>
            <a:r>
              <a:rPr lang="de-DE" b="1" dirty="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a:t>
            </a:r>
            <a:r>
              <a:rPr lang="de-DE" dirty="0" err="1">
                <a:latin typeface="Times New Roman" panose="02020603050405020304" pitchFamily="18" charset="0"/>
                <a:cs typeface="Times New Roman" panose="02020603050405020304" pitchFamily="18" charset="0"/>
              </a:rPr>
              <a:t>Quilty</a:t>
            </a:r>
            <a:r>
              <a:rPr lang="de-DE" dirty="0">
                <a:latin typeface="Times New Roman" panose="02020603050405020304" pitchFamily="18" charset="0"/>
                <a:cs typeface="Times New Roman" panose="02020603050405020304" pitchFamily="18" charset="0"/>
              </a:rPr>
              <a:t>-Dunn &amp; Mandelbaum) </a:t>
            </a:r>
            <a:endParaRPr lang="de-DE"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Erfordern strukturierte Repräsentationen und eine logische, wahrheitserhaltende </a:t>
            </a:r>
            <a:r>
              <a:rPr lang="de-DE" sz="1600" dirty="0" smtClean="0">
                <a:latin typeface="Times New Roman" panose="02020603050405020304" pitchFamily="18" charset="0"/>
                <a:cs typeface="Times New Roman" panose="02020603050405020304" pitchFamily="18" charset="0"/>
              </a:rPr>
              <a:t>Regel.</a:t>
            </a: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Dieser Begriff ist schwächer als </a:t>
            </a:r>
            <a:r>
              <a:rPr lang="de-DE" sz="1600" dirty="0" err="1">
                <a:latin typeface="Times New Roman" panose="02020603050405020304" pitchFamily="18" charset="0"/>
                <a:cs typeface="Times New Roman" panose="02020603050405020304" pitchFamily="18" charset="0"/>
              </a:rPr>
              <a:t>Boghossians</a:t>
            </a:r>
            <a:r>
              <a:rPr lang="de-DE" sz="1600" dirty="0">
                <a:latin typeface="Times New Roman" panose="02020603050405020304" pitchFamily="18" charset="0"/>
                <a:cs typeface="Times New Roman" panose="02020603050405020304" pitchFamily="18" charset="0"/>
              </a:rPr>
              <a:t> personal-level Account, aber immer noch recht anspruchsvoll</a:t>
            </a:r>
            <a:r>
              <a:rPr lang="de-DE" sz="1600" dirty="0" smtClean="0">
                <a:latin typeface="Times New Roman" panose="02020603050405020304" pitchFamily="18" charset="0"/>
                <a:cs typeface="Times New Roman" panose="02020603050405020304" pitchFamily="18" charset="0"/>
              </a:rPr>
              <a:t>.</a:t>
            </a:r>
          </a:p>
          <a:p>
            <a:endParaRPr lang="de-DE" dirty="0" smtClean="0">
              <a:latin typeface="Times New Roman" panose="02020603050405020304" pitchFamily="18" charset="0"/>
              <a:cs typeface="Times New Roman" panose="02020603050405020304" pitchFamily="18" charset="0"/>
            </a:endParaRPr>
          </a:p>
          <a:p>
            <a:r>
              <a:rPr lang="de-DE" b="1" dirty="0">
                <a:latin typeface="Times New Roman" panose="02020603050405020304" pitchFamily="18" charset="0"/>
                <a:cs typeface="Times New Roman" panose="02020603050405020304" pitchFamily="18" charset="0"/>
              </a:rPr>
              <a:t>Minimaler Account (Buckner)</a:t>
            </a:r>
            <a:endParaRPr lang="de-DE"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de-DE" sz="1600" dirty="0">
                <a:latin typeface="Times New Roman" panose="02020603050405020304" pitchFamily="18" charset="0"/>
                <a:cs typeface="Times New Roman" panose="02020603050405020304" pitchFamily="18" charset="0"/>
              </a:rPr>
              <a:t>Auch struktursensitive, generalisierbare Heuristiken können als Schlussfolgern gelten.</a:t>
            </a:r>
          </a:p>
        </p:txBody>
      </p:sp>
      <p:sp>
        <p:nvSpPr>
          <p:cNvPr id="5" name="Quellenangabe 9" descr="Aougab, T. (2026): Navigating the AI crisis: a humble guide for students, § 1; arXiv:2609.06889."/>
          <p:cNvSpPr txBox="1"/>
          <p:nvPr/>
        </p:nvSpPr>
        <p:spPr>
          <a:xfrm>
            <a:off x="310896" y="4928616"/>
            <a:ext cx="8522208" cy="164592"/>
          </a:xfrm>
          <a:prstGeom prst="rect">
            <a:avLst/>
          </a:prstGeom>
          <a:noFill/>
          <a:ln>
            <a:noFill/>
          </a:ln>
        </p:spPr>
        <p:txBody>
          <a:bodyPr wrap="none" lIns="0" tIns="0" rIns="0" bIns="0" anchor="t">
            <a:noAutofit/>
          </a:bodyPr>
          <a:lstStyle/>
          <a:p>
            <a:pPr algn="r">
              <a:lnSpc>
                <a:spcPts val="920"/>
              </a:lnSpc>
            </a:pPr>
            <a:r>
              <a:rPr lang="en-US" sz="800" dirty="0" err="1">
                <a:solidFill>
                  <a:srgbClr val="6B6B6B"/>
                </a:solidFill>
                <a:latin typeface="Times New Roman"/>
                <a:ea typeface="Times New Roman"/>
                <a:cs typeface="Times New Roman"/>
              </a:rPr>
              <a:t>Millière</a:t>
            </a:r>
            <a:r>
              <a:rPr lang="en-US" sz="800" dirty="0">
                <a:solidFill>
                  <a:srgbClr val="6B6B6B"/>
                </a:solidFill>
                <a:latin typeface="Times New Roman"/>
                <a:ea typeface="Times New Roman"/>
                <a:cs typeface="Times New Roman"/>
              </a:rPr>
              <a:t>, R. &amp; Buckner, C. (2026). The Philosophy of Language Models. Philosophy Compass, 21(3). https://doi.org/10.1111/phc3.70095</a:t>
            </a:r>
            <a:endParaRPr lang="de-DE" sz="800" dirty="0"/>
          </a:p>
        </p:txBody>
      </p:sp>
    </p:spTree>
    <p:extLst>
      <p:ext uri="{BB962C8B-B14F-4D97-AF65-F5344CB8AC3E}">
        <p14:creationId xmlns:p14="http://schemas.microsoft.com/office/powerpoint/2010/main" val="979392025"/>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a:solidFill>
                  <a:schemeClr val="bg1"/>
                </a:solidFill>
                <a:effectLst>
                  <a:outerShdw blurRad="38100" dist="38100" dir="2700000" algn="tl">
                    <a:srgbClr val="000000">
                      <a:alpha val="43137"/>
                    </a:srgbClr>
                  </a:outerShdw>
                </a:effectLst>
              </a:rPr>
              <a:t>Argument </a:t>
            </a:r>
            <a:r>
              <a:rPr lang="en-CA" sz="3200" dirty="0" err="1">
                <a:solidFill>
                  <a:schemeClr val="bg1"/>
                </a:solidFill>
                <a:effectLst>
                  <a:outerShdw blurRad="38100" dist="38100" dir="2700000" algn="tl">
                    <a:srgbClr val="000000">
                      <a:alpha val="43137"/>
                    </a:srgbClr>
                  </a:outerShdw>
                </a:effectLst>
              </a:rPr>
              <a:t>gegen</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vollständige</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Obsoleszenz</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107504" y="639728"/>
            <a:ext cx="8712968" cy="523220"/>
          </a:xfrm>
          <a:prstGeom prst="rect">
            <a:avLst/>
          </a:prstGeom>
          <a:noFill/>
        </p:spPr>
        <p:txBody>
          <a:bodyPr wrap="square" rtlCol="0">
            <a:spAutoFit/>
          </a:bodyPr>
          <a:lstStyle/>
          <a:p>
            <a:r>
              <a:rPr lang="de-DE" sz="2800" dirty="0" smtClean="0">
                <a:latin typeface="Times New Roman" panose="02020603050405020304" pitchFamily="18" charset="0"/>
                <a:cs typeface="Times New Roman" panose="02020603050405020304" pitchFamily="18" charset="0"/>
              </a:rPr>
              <a:t>1) Mathematik als menschliche Tätigkeit</a:t>
            </a:r>
            <a:endParaRPr lang="de-DE" sz="2800" dirty="0">
              <a:latin typeface="Times New Roman" panose="02020603050405020304" pitchFamily="18" charset="0"/>
              <a:cs typeface="Times New Roman" panose="02020603050405020304" pitchFamily="18" charset="0"/>
            </a:endParaRPr>
          </a:p>
        </p:txBody>
      </p:sp>
      <p:sp>
        <p:nvSpPr>
          <p:cNvPr id="3" name="Textfeld 2"/>
          <p:cNvSpPr txBox="1"/>
          <p:nvPr/>
        </p:nvSpPr>
        <p:spPr>
          <a:xfrm>
            <a:off x="323528" y="1275606"/>
            <a:ext cx="8496944" cy="1692771"/>
          </a:xfrm>
          <a:prstGeom prst="rect">
            <a:avLst/>
          </a:prstGeom>
          <a:noFill/>
        </p:spPr>
        <p:txBody>
          <a:bodyPr wrap="square" rtlCol="0">
            <a:spAutoFit/>
          </a:bodyPr>
          <a:lstStyle/>
          <a:p>
            <a:pPr algn="l"/>
            <a:r>
              <a:rPr lang="en-US" sz="1600" dirty="0" smtClean="0">
                <a:latin typeface="Times New Roman" panose="02020603050405020304" pitchFamily="18" charset="0"/>
                <a:cs typeface="Times New Roman" panose="02020603050405020304" pitchFamily="18" charset="0"/>
              </a:rPr>
              <a:t>“</a:t>
            </a:r>
            <a:r>
              <a:rPr lang="en-US" sz="1600" dirty="0">
                <a:latin typeface="Times New Roman" panose="02020603050405020304" pitchFamily="18" charset="0"/>
                <a:cs typeface="Times New Roman" panose="02020603050405020304" pitchFamily="18" charset="0"/>
              </a:rPr>
              <a:t>To me, and thankfully to many of the other mathematicians who’ve weighed in on this conversation before (see the many wonderful posts on this blog), </a:t>
            </a:r>
            <a:r>
              <a:rPr lang="en-US" sz="1600" b="1" dirty="0">
                <a:latin typeface="Times New Roman" panose="02020603050405020304" pitchFamily="18" charset="0"/>
                <a:cs typeface="Times New Roman" panose="02020603050405020304" pitchFamily="18" charset="0"/>
              </a:rPr>
              <a:t>mathematics is by definition a human practice. It is therefore dead the moment there does not exist human beings doing it</a:t>
            </a:r>
            <a:r>
              <a:rPr lang="en-US" sz="1600" b="1" dirty="0" smtClean="0">
                <a:latin typeface="Times New Roman" panose="02020603050405020304" pitchFamily="18" charset="0"/>
                <a:cs typeface="Times New Roman" panose="02020603050405020304" pitchFamily="18" charset="0"/>
              </a:rPr>
              <a:t>.</a:t>
            </a:r>
            <a:r>
              <a:rPr lang="en-US" sz="1600" dirty="0" smtClean="0">
                <a:latin typeface="Times New Roman" panose="02020603050405020304" pitchFamily="18" charset="0"/>
                <a:cs typeface="Times New Roman" panose="02020603050405020304" pitchFamily="18" charset="0"/>
              </a:rPr>
              <a:t>” </a:t>
            </a:r>
            <a:endParaRPr lang="en-US" sz="1600" dirty="0">
              <a:latin typeface="Times New Roman" panose="02020603050405020304" pitchFamily="18" charset="0"/>
              <a:cs typeface="Times New Roman" panose="02020603050405020304" pitchFamily="18" charset="0"/>
            </a:endParaRPr>
          </a:p>
          <a:p>
            <a:pPr algn="l"/>
            <a:r>
              <a:rPr lang="en-US" sz="1400" dirty="0" smtClean="0">
                <a:latin typeface="Times New Roman" panose="02020603050405020304" pitchFamily="18" charset="0"/>
                <a:cs typeface="Times New Roman" panose="02020603050405020304" pitchFamily="18" charset="0"/>
              </a:rPr>
              <a:t>(</a:t>
            </a:r>
            <a:r>
              <a:rPr lang="en-US" sz="1200" dirty="0" smtClean="0">
                <a:latin typeface="Times New Roman" panose="02020603050405020304" pitchFamily="18" charset="0"/>
                <a:cs typeface="Times New Roman" panose="02020603050405020304" pitchFamily="18" charset="0"/>
              </a:rPr>
              <a:t>Tarik </a:t>
            </a:r>
            <a:r>
              <a:rPr lang="en-US" sz="1200" dirty="0" err="1" smtClean="0">
                <a:latin typeface="Times New Roman" panose="02020603050405020304" pitchFamily="18" charset="0"/>
                <a:cs typeface="Times New Roman" panose="02020603050405020304" pitchFamily="18" charset="0"/>
              </a:rPr>
              <a:t>Aougab</a:t>
            </a:r>
            <a:r>
              <a:rPr lang="en-US" sz="1200" dirty="0">
                <a:latin typeface="Times New Roman" panose="02020603050405020304" pitchFamily="18" charset="0"/>
                <a:cs typeface="Times New Roman" panose="02020603050405020304" pitchFamily="18" charset="0"/>
              </a:rPr>
              <a:t>: </a:t>
            </a:r>
            <a:r>
              <a:rPr lang="en-US" sz="1200" i="1" dirty="0">
                <a:latin typeface="Times New Roman" panose="02020603050405020304" pitchFamily="18" charset="0"/>
                <a:cs typeface="Times New Roman" panose="02020603050405020304" pitchFamily="18" charset="0"/>
              </a:rPr>
              <a:t>Navigating the AI crisis: a humble guide for </a:t>
            </a:r>
            <a:r>
              <a:rPr lang="en-US" sz="1200" i="1" dirty="0" smtClean="0">
                <a:latin typeface="Times New Roman" panose="02020603050405020304" pitchFamily="18" charset="0"/>
                <a:cs typeface="Times New Roman" panose="02020603050405020304" pitchFamily="18" charset="0"/>
              </a:rPr>
              <a:t>students</a:t>
            </a:r>
            <a:r>
              <a:rPr lang="en-US" sz="1200" dirty="0" smtClean="0">
                <a:latin typeface="Times New Roman" panose="02020603050405020304" pitchFamily="18" charset="0"/>
                <a:cs typeface="Times New Roman" panose="02020603050405020304" pitchFamily="18" charset="0"/>
              </a:rPr>
              <a:t>)</a:t>
            </a:r>
          </a:p>
          <a:p>
            <a:pPr algn="l"/>
            <a:endParaRPr lang="en-US" sz="1400" dirty="0">
              <a:latin typeface="Times New Roman" panose="02020603050405020304" pitchFamily="18" charset="0"/>
              <a:cs typeface="Times New Roman" panose="02020603050405020304" pitchFamily="18" charset="0"/>
            </a:endParaRPr>
          </a:p>
          <a:p>
            <a:pPr algn="l"/>
            <a:endParaRPr lang="en-US" sz="1400" dirty="0">
              <a:latin typeface="Times New Roman" panose="02020603050405020304" pitchFamily="18" charset="0"/>
              <a:cs typeface="Times New Roman" panose="02020603050405020304" pitchFamily="18" charset="0"/>
            </a:endParaRPr>
          </a:p>
          <a:p>
            <a:pPr algn="l"/>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400" b="1" dirty="0" err="1" smtClean="0">
                <a:latin typeface="Times New Roman" panose="02020603050405020304" pitchFamily="18" charset="0"/>
                <a:cs typeface="Times New Roman" panose="02020603050405020304" pitchFamily="18" charset="0"/>
                <a:sym typeface="Wingdings" panose="05000000000000000000" pitchFamily="2" charset="2"/>
              </a:rPr>
              <a:t>Andere</a:t>
            </a:r>
            <a:r>
              <a:rPr lang="en-US" sz="1400" b="1"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400" b="1" dirty="0" err="1" smtClean="0">
                <a:latin typeface="Times New Roman" panose="02020603050405020304" pitchFamily="18" charset="0"/>
                <a:cs typeface="Times New Roman" panose="02020603050405020304" pitchFamily="18" charset="0"/>
                <a:sym typeface="Wingdings" panose="05000000000000000000" pitchFamily="2" charset="2"/>
              </a:rPr>
              <a:t>Möglichkeit</a:t>
            </a:r>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latin typeface="Times New Roman" panose="02020603050405020304" pitchFamily="18" charset="0"/>
                <a:cs typeface="Times New Roman" panose="02020603050405020304" pitchFamily="18" charset="0"/>
                <a:sym typeface="Wingdings" panose="05000000000000000000" pitchFamily="2" charset="2"/>
              </a:rPr>
              <a:t>Autonome</a:t>
            </a:r>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 KI, die “</a:t>
            </a:r>
            <a:r>
              <a:rPr lang="en-US" sz="1400" dirty="0" err="1" smtClean="0">
                <a:latin typeface="Times New Roman" panose="02020603050405020304" pitchFamily="18" charset="0"/>
                <a:cs typeface="Times New Roman" panose="02020603050405020304" pitchFamily="18" charset="0"/>
                <a:sym typeface="Wingdings" panose="05000000000000000000" pitchFamily="2" charset="2"/>
              </a:rPr>
              <a:t>posthumane</a:t>
            </a:r>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latin typeface="Times New Roman" panose="02020603050405020304" pitchFamily="18" charset="0"/>
                <a:cs typeface="Times New Roman" panose="02020603050405020304" pitchFamily="18" charset="0"/>
                <a:sym typeface="Wingdings" panose="05000000000000000000" pitchFamily="2" charset="2"/>
              </a:rPr>
              <a:t>Mathematik</a:t>
            </a:r>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 </a:t>
            </a:r>
            <a:r>
              <a:rPr lang="en-US" sz="1400" dirty="0" err="1" smtClean="0">
                <a:latin typeface="Times New Roman" panose="02020603050405020304" pitchFamily="18" charset="0"/>
                <a:cs typeface="Times New Roman" panose="02020603050405020304" pitchFamily="18" charset="0"/>
                <a:sym typeface="Wingdings" panose="05000000000000000000" pitchFamily="2" charset="2"/>
              </a:rPr>
              <a:t>betreibt</a:t>
            </a:r>
            <a:r>
              <a:rPr lang="en-US" sz="1400" dirty="0" smtClean="0">
                <a:latin typeface="Times New Roman" panose="02020603050405020304" pitchFamily="18" charset="0"/>
                <a:cs typeface="Times New Roman" panose="02020603050405020304" pitchFamily="18" charset="0"/>
                <a:sym typeface="Wingdings" panose="05000000000000000000" pitchFamily="2" charset="2"/>
              </a:rPr>
              <a:t>.</a:t>
            </a:r>
            <a:endParaRPr lang="de-DE" sz="1400" dirty="0">
              <a:latin typeface="Times New Roman" panose="02020603050405020304" pitchFamily="18" charset="0"/>
              <a:cs typeface="Times New Roman" panose="02020603050405020304" pitchFamily="18" charset="0"/>
            </a:endParaRPr>
          </a:p>
        </p:txBody>
      </p:sp>
      <p:sp>
        <p:nvSpPr>
          <p:cNvPr id="9" name="Quellenangabe 9" descr="Aougab, T. (2026): Navigating the AI crisis: a humble guide for students, § 1; arXiv:2609.06889."/>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Aougab, T. (2026): Navigating the AI crisis: a humble guide for students, § 1; arXiv:2609.06889.</a:t>
            </a:r>
            <a:endParaRPr lang="de-DE" sz="800"/>
          </a:p>
        </p:txBody>
      </p:sp>
    </p:spTree>
    <p:extLst>
      <p:ext uri="{BB962C8B-B14F-4D97-AF65-F5344CB8AC3E}">
        <p14:creationId xmlns:p14="http://schemas.microsoft.com/office/powerpoint/2010/main" val="9052830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a:solidFill>
                  <a:schemeClr val="bg1"/>
                </a:solidFill>
                <a:effectLst>
                  <a:outerShdw blurRad="38100" dist="38100" dir="2700000" algn="tl">
                    <a:srgbClr val="000000">
                      <a:alpha val="43137"/>
                    </a:srgbClr>
                  </a:outerShdw>
                </a:effectLst>
              </a:rPr>
              <a:t>Argument </a:t>
            </a:r>
            <a:r>
              <a:rPr lang="en-CA" sz="3200" dirty="0" err="1">
                <a:solidFill>
                  <a:schemeClr val="bg1"/>
                </a:solidFill>
                <a:effectLst>
                  <a:outerShdw blurRad="38100" dist="38100" dir="2700000" algn="tl">
                    <a:srgbClr val="000000">
                      <a:alpha val="43137"/>
                    </a:srgbClr>
                  </a:outerShdw>
                </a:effectLst>
              </a:rPr>
              <a:t>gegen</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vollständige</a:t>
            </a:r>
            <a:r>
              <a:rPr lang="en-CA" sz="3200" dirty="0">
                <a:solidFill>
                  <a:schemeClr val="bg1"/>
                </a:solidFill>
                <a:effectLst>
                  <a:outerShdw blurRad="38100" dist="38100" dir="2700000" algn="tl">
                    <a:srgbClr val="000000">
                      <a:alpha val="43137"/>
                    </a:srgbClr>
                  </a:outerShdw>
                </a:effectLst>
              </a:rPr>
              <a:t> </a:t>
            </a:r>
            <a:r>
              <a:rPr lang="en-CA" sz="3200" dirty="0" err="1">
                <a:solidFill>
                  <a:schemeClr val="bg1"/>
                </a:solidFill>
                <a:effectLst>
                  <a:outerShdw blurRad="38100" dist="38100" dir="2700000" algn="tl">
                    <a:srgbClr val="000000">
                      <a:alpha val="43137"/>
                    </a:srgbClr>
                  </a:outerShdw>
                </a:effectLst>
              </a:rPr>
              <a:t>Obsoleszenz</a:t>
            </a:r>
            <a:endParaRPr lang="en-CA" sz="3200" dirty="0">
              <a:solidFill>
                <a:schemeClr val="bg1"/>
              </a:solidFill>
              <a:effectLst>
                <a:outerShdw blurRad="38100" dist="38100" dir="2700000" algn="tl">
                  <a:srgbClr val="000000">
                    <a:alpha val="43137"/>
                  </a:srgbClr>
                </a:outerShdw>
              </a:effectLst>
            </a:endParaRPr>
          </a:p>
        </p:txBody>
      </p:sp>
      <p:sp>
        <p:nvSpPr>
          <p:cNvPr id="4" name="Text 3"/>
          <p:cNvSpPr/>
          <p:nvPr/>
        </p:nvSpPr>
        <p:spPr>
          <a:xfrm>
            <a:off x="1482482" y="1002462"/>
            <a:ext cx="3668995" cy="327667"/>
          </a:xfrm>
          <a:prstGeom prst="rect">
            <a:avLst/>
          </a:prstGeom>
          <a:solidFill>
            <a:srgbClr val="FFFFFF">
              <a:alpha val="0"/>
            </a:srgbClr>
          </a:solidFill>
          <a:ln w="12700">
            <a:solidFill>
              <a:srgbClr val="0054CF">
                <a:alpha val="75000"/>
              </a:srgbClr>
            </a:solidFill>
          </a:ln>
        </p:spPr>
        <p:txBody>
          <a:bodyPr wrap="square" lIns="508" tIns="508" rIns="508" bIns="508" rtlCol="0" anchor="ctr"/>
          <a:lstStyle/>
          <a:p>
            <a:pPr marL="0" indent="0" algn="ctr">
              <a:buNone/>
            </a:pPr>
            <a:r>
              <a:rPr lang="en-US" sz="1620" b="1" dirty="0">
                <a:latin typeface="Georgia" pitchFamily="34" charset="0"/>
                <a:ea typeface="Georgia" pitchFamily="34" charset="-122"/>
                <a:cs typeface="Georgia" pitchFamily="34" charset="-120"/>
              </a:rPr>
              <a:t>KI bleibt Werkzeug</a:t>
            </a:r>
            <a:endParaRPr lang="en-US" sz="1620" dirty="0"/>
          </a:p>
        </p:txBody>
      </p:sp>
      <p:sp>
        <p:nvSpPr>
          <p:cNvPr id="5" name="Text 4"/>
          <p:cNvSpPr/>
          <p:nvPr/>
        </p:nvSpPr>
        <p:spPr>
          <a:xfrm>
            <a:off x="5295493" y="1002462"/>
            <a:ext cx="3668995" cy="327667"/>
          </a:xfrm>
          <a:prstGeom prst="rect">
            <a:avLst/>
          </a:prstGeom>
          <a:solidFill>
            <a:srgbClr val="FFFFFF">
              <a:alpha val="0"/>
            </a:srgbClr>
          </a:solidFill>
          <a:ln w="12700">
            <a:solidFill>
              <a:srgbClr val="0054CF">
                <a:alpha val="75000"/>
              </a:srgbClr>
            </a:solidFill>
          </a:ln>
        </p:spPr>
        <p:txBody>
          <a:bodyPr wrap="square" lIns="508" tIns="508" rIns="508" bIns="508" rtlCol="0" anchor="ctr"/>
          <a:lstStyle/>
          <a:p>
            <a:pPr marL="0" indent="0" algn="ctr">
              <a:buNone/>
            </a:pPr>
            <a:r>
              <a:rPr lang="en-US" sz="1620" b="1" dirty="0">
                <a:latin typeface="Georgia" pitchFamily="34" charset="0"/>
                <a:ea typeface="Georgia" pitchFamily="34" charset="-122"/>
                <a:cs typeface="Georgia" pitchFamily="34" charset="-120"/>
              </a:rPr>
              <a:t>KI wird autonom</a:t>
            </a:r>
            <a:endParaRPr lang="en-US" sz="1620" dirty="0"/>
          </a:p>
        </p:txBody>
      </p:sp>
      <p:sp>
        <p:nvSpPr>
          <p:cNvPr id="6" name="Text 5"/>
          <p:cNvSpPr/>
          <p:nvPr/>
        </p:nvSpPr>
        <p:spPr>
          <a:xfrm>
            <a:off x="107504" y="1615110"/>
            <a:ext cx="1334180" cy="951796"/>
          </a:xfrm>
          <a:prstGeom prst="rect">
            <a:avLst/>
          </a:prstGeom>
          <a:noFill/>
          <a:ln/>
        </p:spPr>
        <p:txBody>
          <a:bodyPr wrap="square" lIns="0" tIns="0" rIns="0" bIns="0" rtlCol="0" anchor="ctr"/>
          <a:lstStyle/>
          <a:p>
            <a:pPr marL="0" indent="0" algn="ctr">
              <a:buNone/>
            </a:pPr>
            <a:r>
              <a:rPr lang="en-US" sz="1400" b="1" dirty="0">
                <a:latin typeface="Georgia" pitchFamily="34" charset="0"/>
                <a:ea typeface="Georgia" pitchFamily="34" charset="-122"/>
                <a:cs typeface="Georgia" pitchFamily="34" charset="-120"/>
              </a:rPr>
              <a:t>menschliches</a:t>
            </a:r>
            <a:endParaRPr lang="en-US" sz="1400" dirty="0"/>
          </a:p>
          <a:p>
            <a:pPr marL="0" indent="0" algn="ctr">
              <a:buNone/>
            </a:pPr>
            <a:r>
              <a:rPr lang="en-US" sz="1400" b="1" dirty="0">
                <a:latin typeface="Georgia" pitchFamily="34" charset="0"/>
                <a:ea typeface="Georgia" pitchFamily="34" charset="-122"/>
                <a:cs typeface="Georgia" pitchFamily="34" charset="-120"/>
              </a:rPr>
              <a:t>Interesse bleibt</a:t>
            </a:r>
            <a:endParaRPr lang="en-US" sz="1400" dirty="0"/>
          </a:p>
        </p:txBody>
      </p:sp>
      <p:sp>
        <p:nvSpPr>
          <p:cNvPr id="9" name="Text 6"/>
          <p:cNvSpPr/>
          <p:nvPr/>
        </p:nvSpPr>
        <p:spPr>
          <a:xfrm>
            <a:off x="107504" y="3056406"/>
            <a:ext cx="1334180" cy="951796"/>
          </a:xfrm>
          <a:prstGeom prst="rect">
            <a:avLst/>
          </a:prstGeom>
          <a:noFill/>
          <a:ln/>
        </p:spPr>
        <p:txBody>
          <a:bodyPr wrap="square" lIns="0" tIns="0" rIns="0" bIns="0" rtlCol="0" anchor="ctr"/>
          <a:lstStyle/>
          <a:p>
            <a:pPr marL="0" indent="0" algn="ctr">
              <a:buNone/>
            </a:pPr>
            <a:r>
              <a:rPr lang="en-US" sz="1400" b="1" dirty="0">
                <a:latin typeface="Georgia" pitchFamily="34" charset="0"/>
                <a:ea typeface="Georgia" pitchFamily="34" charset="-122"/>
                <a:cs typeface="Georgia" pitchFamily="34" charset="-120"/>
              </a:rPr>
              <a:t>menschliches</a:t>
            </a:r>
            <a:endParaRPr lang="en-US" sz="1400" dirty="0"/>
          </a:p>
          <a:p>
            <a:pPr marL="0" indent="0" algn="ctr">
              <a:buNone/>
            </a:pPr>
            <a:r>
              <a:rPr lang="en-US" sz="1400" b="1" dirty="0">
                <a:latin typeface="Georgia" pitchFamily="34" charset="0"/>
                <a:ea typeface="Georgia" pitchFamily="34" charset="-122"/>
                <a:cs typeface="Georgia" pitchFamily="34" charset="-120"/>
              </a:rPr>
              <a:t>Interesse erlischt</a:t>
            </a:r>
            <a:endParaRPr lang="en-US" sz="1400" dirty="0"/>
          </a:p>
        </p:txBody>
      </p:sp>
      <p:sp>
        <p:nvSpPr>
          <p:cNvPr id="10" name="Text 7"/>
          <p:cNvSpPr/>
          <p:nvPr/>
        </p:nvSpPr>
        <p:spPr>
          <a:xfrm>
            <a:off x="1482482" y="1505382"/>
            <a:ext cx="3668995" cy="1209248"/>
          </a:xfrm>
          <a:prstGeom prst="rect">
            <a:avLst/>
          </a:prstGeom>
          <a:solidFill>
            <a:srgbClr val="F3F8FF"/>
          </a:solidFill>
          <a:ln w="19050">
            <a:solidFill>
              <a:srgbClr val="0054CF"/>
            </a:solidFill>
          </a:ln>
        </p:spPr>
        <p:txBody>
          <a:bodyPr wrap="square" rtlCol="0" anchor="t">
            <a:normAutofit lnSpcReduction="10000"/>
          </a:bodyPr>
          <a:lstStyle/>
          <a:p>
            <a:pPr marL="0" indent="0">
              <a:buNone/>
            </a:pPr>
            <a:r>
              <a:rPr lang="en-US" sz="1240" b="1" dirty="0">
                <a:latin typeface="Georgia" pitchFamily="34" charset="0"/>
                <a:ea typeface="Georgia" pitchFamily="34" charset="-122"/>
                <a:cs typeface="Georgia" pitchFamily="34" charset="-120"/>
              </a:rPr>
              <a:t>Fall A: </a:t>
            </a:r>
            <a:r>
              <a:rPr lang="en-US" sz="1240" b="1" dirty="0" err="1" smtClean="0">
                <a:latin typeface="Georgia" pitchFamily="34" charset="0"/>
                <a:ea typeface="Georgia" pitchFamily="34" charset="-122"/>
                <a:cs typeface="Georgia" pitchFamily="34" charset="-120"/>
              </a:rPr>
              <a:t>Arbeitsteilung</a:t>
            </a:r>
            <a:r>
              <a:rPr lang="en-US" sz="1240" b="1" dirty="0">
                <a:latin typeface="Georgia" pitchFamily="34" charset="0"/>
                <a:ea typeface="Georgia" pitchFamily="34" charset="-122"/>
                <a:cs typeface="Georgia" pitchFamily="34" charset="-120"/>
              </a:rPr>
              <a:t>
</a:t>
            </a:r>
            <a:r>
              <a:rPr lang="en-US" sz="1240" dirty="0">
                <a:latin typeface="Georgia" pitchFamily="34" charset="0"/>
                <a:ea typeface="Georgia" pitchFamily="34" charset="-122"/>
                <a:cs typeface="Georgia" pitchFamily="34" charset="-120"/>
              </a:rPr>
              <a:t>Menschen bestimmen Fragen, Begriffe, Eleganz und Relevanz; KI übernimmt Suche und Ausarbeitung.
</a:t>
            </a:r>
            <a:r>
              <a:rPr lang="en-US" sz="1240" b="1" dirty="0">
                <a:latin typeface="Georgia" pitchFamily="34" charset="0"/>
                <a:ea typeface="Georgia" pitchFamily="34" charset="-122"/>
                <a:cs typeface="Georgia" pitchFamily="34" charset="-120"/>
              </a:rPr>
              <a:t>⇒ Transformation, keine vollständige Ersetzung</a:t>
            </a:r>
            <a:endParaRPr lang="en-US" sz="1240" dirty="0"/>
          </a:p>
        </p:txBody>
      </p:sp>
      <p:sp>
        <p:nvSpPr>
          <p:cNvPr id="11" name="Text 8"/>
          <p:cNvSpPr/>
          <p:nvPr/>
        </p:nvSpPr>
        <p:spPr>
          <a:xfrm>
            <a:off x="5295493" y="1505382"/>
            <a:ext cx="3668995" cy="1209248"/>
          </a:xfrm>
          <a:prstGeom prst="rect">
            <a:avLst/>
          </a:prstGeom>
          <a:solidFill>
            <a:srgbClr val="F7FBFF"/>
          </a:solidFill>
          <a:ln w="19050">
            <a:solidFill>
              <a:srgbClr val="0054CF"/>
            </a:solidFill>
          </a:ln>
        </p:spPr>
        <p:txBody>
          <a:bodyPr wrap="square" rtlCol="0" anchor="t">
            <a:normAutofit/>
          </a:bodyPr>
          <a:lstStyle/>
          <a:p>
            <a:pPr marL="0" indent="0">
              <a:buNone/>
            </a:pPr>
            <a:r>
              <a:rPr lang="en-US" sz="1210" b="1" dirty="0">
                <a:latin typeface="Georgia" pitchFamily="34" charset="0"/>
                <a:ea typeface="Georgia" pitchFamily="34" charset="-122"/>
                <a:cs typeface="Georgia" pitchFamily="34" charset="-120"/>
              </a:rPr>
              <a:t>Fall B: Koexistenz zweier Praxen
</a:t>
            </a:r>
            <a:r>
              <a:rPr lang="en-US" sz="1210" dirty="0">
                <a:latin typeface="Georgia" pitchFamily="34" charset="0"/>
                <a:ea typeface="Georgia" pitchFamily="34" charset="-122"/>
                <a:cs typeface="Georgia" pitchFamily="34" charset="-120"/>
              </a:rPr>
              <a:t>Menschen behalten eigene Mathematik; autonome KI entwickelt daneben </a:t>
            </a:r>
            <a:r>
              <a:rPr lang="en-US" sz="1210" dirty="0" err="1">
                <a:latin typeface="Georgia" pitchFamily="34" charset="0"/>
                <a:ea typeface="Georgia" pitchFamily="34" charset="-122"/>
                <a:cs typeface="Georgia" pitchFamily="34" charset="-120"/>
              </a:rPr>
              <a:t>eigene</a:t>
            </a:r>
            <a:r>
              <a:rPr lang="en-US" sz="1210" dirty="0">
                <a:latin typeface="Georgia" pitchFamily="34" charset="0"/>
                <a:ea typeface="Georgia" pitchFamily="34" charset="-122"/>
                <a:cs typeface="Georgia" pitchFamily="34" charset="-120"/>
              </a:rPr>
              <a:t> </a:t>
            </a:r>
            <a:r>
              <a:rPr lang="en-US" sz="1210" dirty="0" err="1" smtClean="0">
                <a:latin typeface="Georgia" pitchFamily="34" charset="0"/>
                <a:ea typeface="Georgia" pitchFamily="34" charset="-122"/>
                <a:cs typeface="Georgia" pitchFamily="34" charset="-120"/>
              </a:rPr>
              <a:t>Ziele</a:t>
            </a:r>
            <a:r>
              <a:rPr lang="en-US" sz="1210" dirty="0" smtClean="0">
                <a:latin typeface="Georgia" pitchFamily="34" charset="0"/>
                <a:ea typeface="Georgia" pitchFamily="34" charset="-122"/>
                <a:cs typeface="Georgia" pitchFamily="34" charset="-120"/>
              </a:rPr>
              <a:t>.</a:t>
            </a:r>
            <a:r>
              <a:rPr lang="en-US" sz="1210" dirty="0">
                <a:latin typeface="Georgia" pitchFamily="34" charset="0"/>
                <a:ea typeface="Georgia" pitchFamily="34" charset="-122"/>
                <a:cs typeface="Georgia" pitchFamily="34" charset="-120"/>
              </a:rPr>
              <a:t>
</a:t>
            </a:r>
            <a:r>
              <a:rPr lang="en-US" sz="1210" b="1" dirty="0">
                <a:latin typeface="Georgia" pitchFamily="34" charset="0"/>
                <a:ea typeface="Georgia" pitchFamily="34" charset="-122"/>
                <a:cs typeface="Georgia" pitchFamily="34" charset="-120"/>
              </a:rPr>
              <a:t>⇒ menschliche Mathematik bleibt, posthumane kommt hinzu</a:t>
            </a:r>
            <a:endParaRPr lang="en-US" sz="1210" dirty="0"/>
          </a:p>
        </p:txBody>
      </p:sp>
      <p:sp>
        <p:nvSpPr>
          <p:cNvPr id="12" name="Text 9"/>
          <p:cNvSpPr/>
          <p:nvPr/>
        </p:nvSpPr>
        <p:spPr>
          <a:xfrm>
            <a:off x="1482482" y="2946678"/>
            <a:ext cx="3668995" cy="1209248"/>
          </a:xfrm>
          <a:prstGeom prst="rect">
            <a:avLst/>
          </a:prstGeom>
          <a:solidFill>
            <a:srgbClr val="F7FBFF"/>
          </a:solidFill>
          <a:ln w="19050">
            <a:solidFill>
              <a:srgbClr val="0054CF"/>
            </a:solidFill>
          </a:ln>
        </p:spPr>
        <p:txBody>
          <a:bodyPr wrap="square" rtlCol="0" anchor="t">
            <a:normAutofit/>
          </a:bodyPr>
          <a:lstStyle/>
          <a:p>
            <a:pPr marL="0" indent="0">
              <a:buNone/>
            </a:pPr>
            <a:r>
              <a:rPr lang="en-US" sz="1205" b="1" dirty="0">
                <a:latin typeface="Georgia" pitchFamily="34" charset="0"/>
                <a:ea typeface="Georgia" pitchFamily="34" charset="-122"/>
                <a:cs typeface="Georgia" pitchFamily="34" charset="-120"/>
              </a:rPr>
              <a:t>Fall C: Kein Träger mehr
</a:t>
            </a:r>
            <a:r>
              <a:rPr lang="en-US" sz="1205" dirty="0">
                <a:latin typeface="Georgia" pitchFamily="34" charset="0"/>
                <a:ea typeface="Georgia" pitchFamily="34" charset="-122"/>
                <a:cs typeface="Georgia" pitchFamily="34" charset="-120"/>
              </a:rPr>
              <a:t>KI bleibt kontrolliertes Mittel. Ohne mathematisches Interesse gibt es keinen Grund, dauerhaft enorme Ressourcen zu binden.
</a:t>
            </a:r>
            <a:r>
              <a:rPr lang="en-US" sz="1205" b="1" dirty="0">
                <a:latin typeface="Georgia" pitchFamily="34" charset="0"/>
                <a:ea typeface="Georgia" pitchFamily="34" charset="-122"/>
                <a:cs typeface="Georgia" pitchFamily="34" charset="-120"/>
              </a:rPr>
              <a:t>⇒ Praxis </a:t>
            </a:r>
            <a:r>
              <a:rPr lang="en-US" sz="1205" b="1" dirty="0" err="1" smtClean="0">
                <a:latin typeface="Georgia" pitchFamily="34" charset="0"/>
                <a:ea typeface="Georgia" pitchFamily="34" charset="-122"/>
                <a:cs typeface="Georgia" pitchFamily="34" charset="-120"/>
              </a:rPr>
              <a:t>endet</a:t>
            </a:r>
            <a:endParaRPr lang="en-US" sz="1205" dirty="0"/>
          </a:p>
        </p:txBody>
      </p:sp>
      <p:sp>
        <p:nvSpPr>
          <p:cNvPr id="13" name="Text 10"/>
          <p:cNvSpPr/>
          <p:nvPr/>
        </p:nvSpPr>
        <p:spPr>
          <a:xfrm>
            <a:off x="5295493" y="2946678"/>
            <a:ext cx="3668995" cy="1209248"/>
          </a:xfrm>
          <a:prstGeom prst="rect">
            <a:avLst/>
          </a:prstGeom>
          <a:solidFill>
            <a:srgbClr val="F3F8FF"/>
          </a:solidFill>
          <a:ln w="19050">
            <a:solidFill>
              <a:srgbClr val="0054CF"/>
            </a:solidFill>
          </a:ln>
        </p:spPr>
        <p:txBody>
          <a:bodyPr wrap="square" rtlCol="0" anchor="t">
            <a:normAutofit/>
          </a:bodyPr>
          <a:lstStyle/>
          <a:p>
            <a:pPr marL="0" indent="0">
              <a:buNone/>
            </a:pPr>
            <a:r>
              <a:rPr lang="en-US" sz="1240" b="1" dirty="0">
                <a:latin typeface="Georgia" pitchFamily="34" charset="0"/>
                <a:ea typeface="Georgia" pitchFamily="34" charset="-122"/>
                <a:cs typeface="Georgia" pitchFamily="34" charset="-120"/>
              </a:rPr>
              <a:t>Fall D: Posthumaner Übergang
</a:t>
            </a:r>
            <a:r>
              <a:rPr lang="en-US" sz="1240" dirty="0">
                <a:latin typeface="Georgia" pitchFamily="34" charset="0"/>
                <a:ea typeface="Georgia" pitchFamily="34" charset="-122"/>
                <a:cs typeface="Georgia" pitchFamily="34" charset="-120"/>
              </a:rPr>
              <a:t>KI </a:t>
            </a:r>
            <a:r>
              <a:rPr lang="en-US" sz="1240" dirty="0" err="1">
                <a:latin typeface="Georgia" pitchFamily="34" charset="0"/>
                <a:ea typeface="Georgia" pitchFamily="34" charset="-122"/>
                <a:cs typeface="Georgia" pitchFamily="34" charset="-120"/>
              </a:rPr>
              <a:t>verfolgt</a:t>
            </a:r>
            <a:r>
              <a:rPr lang="en-US" sz="1240" dirty="0">
                <a:latin typeface="Georgia" pitchFamily="34" charset="0"/>
                <a:ea typeface="Georgia" pitchFamily="34" charset="-122"/>
                <a:cs typeface="Georgia" pitchFamily="34" charset="-120"/>
              </a:rPr>
              <a:t> </a:t>
            </a:r>
            <a:r>
              <a:rPr lang="en-US" sz="1240" dirty="0" err="1" smtClean="0">
                <a:latin typeface="Georgia" pitchFamily="34" charset="0"/>
                <a:ea typeface="Georgia" pitchFamily="34" charset="-122"/>
                <a:cs typeface="Georgia" pitchFamily="34" charset="-120"/>
              </a:rPr>
              <a:t>eigene</a:t>
            </a:r>
            <a:r>
              <a:rPr lang="en-US" sz="1240" dirty="0" smtClean="0">
                <a:latin typeface="Georgia" pitchFamily="34" charset="0"/>
                <a:ea typeface="Georgia" pitchFamily="34" charset="-122"/>
                <a:cs typeface="Georgia" pitchFamily="34" charset="-120"/>
              </a:rPr>
              <a:t> </a:t>
            </a:r>
            <a:r>
              <a:rPr lang="en-US" sz="1240" dirty="0">
                <a:latin typeface="Georgia" pitchFamily="34" charset="0"/>
                <a:ea typeface="Georgia" pitchFamily="34" charset="-122"/>
                <a:cs typeface="Georgia" pitchFamily="34" charset="-120"/>
              </a:rPr>
              <a:t>Fragestellungen und eigene Theorieästhetik.
</a:t>
            </a:r>
            <a:r>
              <a:rPr lang="en-US" sz="1240" b="1" dirty="0">
                <a:latin typeface="Georgia" pitchFamily="34" charset="0"/>
                <a:ea typeface="Georgia" pitchFamily="34" charset="-122"/>
                <a:cs typeface="Georgia" pitchFamily="34" charset="-120"/>
              </a:rPr>
              <a:t>⇒ Fortsetzung nur als posthumane Mathematik</a:t>
            </a:r>
            <a:endParaRPr lang="en-US" sz="1240" dirty="0"/>
          </a:p>
        </p:txBody>
      </p:sp>
      <p:sp>
        <p:nvSpPr>
          <p:cNvPr id="2" name="Rechteck 1"/>
          <p:cNvSpPr/>
          <p:nvPr/>
        </p:nvSpPr>
        <p:spPr>
          <a:xfrm>
            <a:off x="251520" y="4465444"/>
            <a:ext cx="8784976" cy="338554"/>
          </a:xfrm>
          <a:prstGeom prst="rect">
            <a:avLst/>
          </a:prstGeom>
        </p:spPr>
        <p:txBody>
          <a:bodyPr wrap="square">
            <a:spAutoFit/>
          </a:bodyPr>
          <a:lstStyle/>
          <a:p>
            <a:pPr algn="just"/>
            <a:r>
              <a:rPr lang="en-US" sz="1600" b="1" dirty="0" err="1" smtClean="0">
                <a:latin typeface="Times New Roman" panose="02020603050405020304" pitchFamily="18" charset="0"/>
                <a:ea typeface="Georgia" pitchFamily="34" charset="-122"/>
                <a:cs typeface="Times New Roman" panose="02020603050405020304" pitchFamily="18" charset="0"/>
              </a:rPr>
              <a:t>Ergebnis</a:t>
            </a:r>
            <a:r>
              <a:rPr lang="en-US" sz="1600" b="1" dirty="0" smtClean="0">
                <a:latin typeface="Times New Roman" panose="02020603050405020304" pitchFamily="18" charset="0"/>
                <a:ea typeface="Georgia" pitchFamily="34" charset="-122"/>
                <a:cs typeface="Times New Roman" panose="02020603050405020304" pitchFamily="18" charset="0"/>
              </a:rPr>
              <a:t>: </a:t>
            </a:r>
            <a:r>
              <a:rPr lang="en-US" sz="1600" dirty="0" err="1" smtClean="0">
                <a:latin typeface="Times New Roman" panose="02020603050405020304" pitchFamily="18" charset="0"/>
                <a:ea typeface="Georgia" pitchFamily="34" charset="-122"/>
                <a:cs typeface="Times New Roman" panose="02020603050405020304" pitchFamily="18" charset="0"/>
              </a:rPr>
              <a:t>Eine</a:t>
            </a:r>
            <a:r>
              <a:rPr lang="en-US" sz="1600" dirty="0" smtClean="0">
                <a:latin typeface="Times New Roman" panose="02020603050405020304" pitchFamily="18" charset="0"/>
                <a:ea typeface="Georgia" pitchFamily="34" charset="-122"/>
                <a:cs typeface="Times New Roman" panose="02020603050405020304" pitchFamily="18" charset="0"/>
              </a:rPr>
              <a:t> </a:t>
            </a:r>
            <a:r>
              <a:rPr lang="en-US" sz="1600" dirty="0" err="1" smtClean="0">
                <a:latin typeface="Times New Roman" panose="02020603050405020304" pitchFamily="18" charset="0"/>
                <a:ea typeface="Georgia" pitchFamily="34" charset="-122"/>
                <a:cs typeface="Times New Roman" panose="02020603050405020304" pitchFamily="18" charset="0"/>
              </a:rPr>
              <a:t>Fortsetzung</a:t>
            </a:r>
            <a:r>
              <a:rPr lang="en-US" sz="1600" dirty="0" smtClean="0">
                <a:latin typeface="Times New Roman" panose="02020603050405020304" pitchFamily="18" charset="0"/>
                <a:ea typeface="Georgia" pitchFamily="34" charset="-122"/>
                <a:cs typeface="Times New Roman" panose="02020603050405020304" pitchFamily="18" charset="0"/>
              </a:rPr>
              <a:t> </a:t>
            </a:r>
            <a:r>
              <a:rPr lang="en-US" sz="1600" b="1" dirty="0" err="1">
                <a:latin typeface="Times New Roman" panose="02020603050405020304" pitchFamily="18" charset="0"/>
                <a:ea typeface="Georgia" pitchFamily="34" charset="-122"/>
                <a:cs typeface="Times New Roman" panose="02020603050405020304" pitchFamily="18" charset="0"/>
              </a:rPr>
              <a:t>menschlicher</a:t>
            </a:r>
            <a:r>
              <a:rPr lang="en-US" sz="1600" b="1" dirty="0">
                <a:latin typeface="Times New Roman" panose="02020603050405020304" pitchFamily="18" charset="0"/>
                <a:ea typeface="Georgia" pitchFamily="34" charset="-122"/>
                <a:cs typeface="Times New Roman" panose="02020603050405020304" pitchFamily="18" charset="0"/>
              </a:rPr>
              <a:t> </a:t>
            </a:r>
            <a:r>
              <a:rPr lang="en-US" sz="1600" b="1" dirty="0" err="1">
                <a:latin typeface="Times New Roman" panose="02020603050405020304" pitchFamily="18" charset="0"/>
                <a:ea typeface="Georgia" pitchFamily="34" charset="-122"/>
                <a:cs typeface="Times New Roman" panose="02020603050405020304" pitchFamily="18" charset="0"/>
              </a:rPr>
              <a:t>Mathematik</a:t>
            </a:r>
            <a:r>
              <a:rPr lang="en-US" sz="1600" b="1" dirty="0">
                <a:latin typeface="Times New Roman" panose="02020603050405020304" pitchFamily="18" charset="0"/>
                <a:ea typeface="Georgia" pitchFamily="34" charset="-122"/>
                <a:cs typeface="Times New Roman" panose="02020603050405020304" pitchFamily="18" charset="0"/>
              </a:rPr>
              <a:t> </a:t>
            </a:r>
            <a:r>
              <a:rPr lang="en-US" sz="1600" b="1" dirty="0" err="1">
                <a:latin typeface="Times New Roman" panose="02020603050405020304" pitchFamily="18" charset="0"/>
                <a:ea typeface="Georgia" pitchFamily="34" charset="-122"/>
                <a:cs typeface="Times New Roman" panose="02020603050405020304" pitchFamily="18" charset="0"/>
              </a:rPr>
              <a:t>ohne</a:t>
            </a:r>
            <a:r>
              <a:rPr lang="en-US" sz="1600" b="1" dirty="0">
                <a:latin typeface="Times New Roman" panose="02020603050405020304" pitchFamily="18" charset="0"/>
                <a:ea typeface="Georgia" pitchFamily="34" charset="-122"/>
                <a:cs typeface="Times New Roman" panose="02020603050405020304" pitchFamily="18" charset="0"/>
              </a:rPr>
              <a:t> </a:t>
            </a:r>
            <a:r>
              <a:rPr lang="en-US" sz="1600" b="1" dirty="0" err="1">
                <a:latin typeface="Times New Roman" panose="02020603050405020304" pitchFamily="18" charset="0"/>
                <a:ea typeface="Georgia" pitchFamily="34" charset="-122"/>
                <a:cs typeface="Times New Roman" panose="02020603050405020304" pitchFamily="18" charset="0"/>
              </a:rPr>
              <a:t>menschliche</a:t>
            </a:r>
            <a:r>
              <a:rPr lang="en-US" sz="1600" b="1" dirty="0">
                <a:latin typeface="Times New Roman" panose="02020603050405020304" pitchFamily="18" charset="0"/>
                <a:ea typeface="Georgia" pitchFamily="34" charset="-122"/>
                <a:cs typeface="Times New Roman" panose="02020603050405020304" pitchFamily="18" charset="0"/>
              </a:rPr>
              <a:t> </a:t>
            </a:r>
            <a:r>
              <a:rPr lang="en-US" sz="1600" b="1" dirty="0" err="1">
                <a:latin typeface="Times New Roman" panose="02020603050405020304" pitchFamily="18" charset="0"/>
                <a:ea typeface="Georgia" pitchFamily="34" charset="-122"/>
                <a:cs typeface="Times New Roman" panose="02020603050405020304" pitchFamily="18" charset="0"/>
              </a:rPr>
              <a:t>Trägerschaft</a:t>
            </a:r>
            <a:r>
              <a:rPr lang="en-US" sz="1600" dirty="0">
                <a:latin typeface="Times New Roman" panose="02020603050405020304" pitchFamily="18" charset="0"/>
                <a:ea typeface="Georgia" pitchFamily="34" charset="-122"/>
                <a:cs typeface="Times New Roman" panose="02020603050405020304" pitchFamily="18" charset="0"/>
              </a:rPr>
              <a:t> </a:t>
            </a:r>
            <a:r>
              <a:rPr lang="en-US" sz="1600" dirty="0" err="1" smtClean="0">
                <a:latin typeface="Times New Roman" panose="02020603050405020304" pitchFamily="18" charset="0"/>
                <a:ea typeface="Georgia" pitchFamily="34" charset="-122"/>
                <a:cs typeface="Times New Roman" panose="02020603050405020304" pitchFamily="18" charset="0"/>
              </a:rPr>
              <a:t>ist</a:t>
            </a:r>
            <a:r>
              <a:rPr lang="en-US" sz="1600" dirty="0" smtClean="0">
                <a:latin typeface="Times New Roman" panose="02020603050405020304" pitchFamily="18" charset="0"/>
                <a:ea typeface="Georgia" pitchFamily="34" charset="-122"/>
                <a:cs typeface="Times New Roman" panose="02020603050405020304" pitchFamily="18" charset="0"/>
              </a:rPr>
              <a:t> </a:t>
            </a:r>
            <a:r>
              <a:rPr lang="en-US" sz="1600" dirty="0" err="1" smtClean="0">
                <a:latin typeface="Times New Roman" panose="02020603050405020304" pitchFamily="18" charset="0"/>
                <a:ea typeface="Georgia" pitchFamily="34" charset="-122"/>
                <a:cs typeface="Times New Roman" panose="02020603050405020304" pitchFamily="18" charset="0"/>
              </a:rPr>
              <a:t>sinnlos</a:t>
            </a:r>
            <a:r>
              <a:rPr lang="en-US" sz="1600" dirty="0">
                <a:latin typeface="Times New Roman" panose="02020603050405020304" pitchFamily="18" charset="0"/>
                <a:ea typeface="Georgia" pitchFamily="34" charset="-122"/>
                <a:cs typeface="Times New Roman" panose="02020603050405020304" pitchFamily="18" charset="0"/>
              </a:rPr>
              <a:t>.</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1053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9" grpId="0" animBg="1"/>
      <p:bldP spid="10" grpId="0" animBg="1"/>
      <p:bldP spid="11" grpId="0" animBg="1"/>
      <p:bldP spid="12" grpId="0" animBg="1"/>
      <p:bldP spid="13" grpId="0" animBg="1"/>
      <p:bldP spid="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1779664"/>
            <a:ext cx="9144000" cy="1023357"/>
          </a:xfrm>
          <a:prstGeom prst="rect">
            <a:avLst/>
          </a:prstGeom>
        </p:spPr>
        <p:txBody>
          <a:bodyPr wrap="square">
            <a:spAutoFit/>
          </a:bodyPr>
          <a:lstStyle/>
          <a:p>
            <a:pPr algn="ctr"/>
            <a:r>
              <a:rPr lang="en-CA" sz="6050" b="1" dirty="0" err="1" smtClean="0">
                <a:latin typeface="Times New Roman" panose="02020603050405020304" pitchFamily="18" charset="0"/>
                <a:cs typeface="Times New Roman" panose="02020603050405020304" pitchFamily="18" charset="0"/>
              </a:rPr>
              <a:t>Posthumane</a:t>
            </a:r>
            <a:r>
              <a:rPr lang="en-CA" sz="6050" b="1" dirty="0" smtClean="0">
                <a:latin typeface="Times New Roman" panose="02020603050405020304" pitchFamily="18" charset="0"/>
                <a:cs typeface="Times New Roman" panose="02020603050405020304" pitchFamily="18" charset="0"/>
              </a:rPr>
              <a:t> Mathematik</a:t>
            </a:r>
            <a:endParaRPr lang="en-CA" sz="605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93250950"/>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ist</a:t>
            </a:r>
            <a:r>
              <a:rPr lang="en-CA" sz="3200" dirty="0">
                <a:solidFill>
                  <a:schemeClr val="bg1"/>
                </a:solidFill>
                <a:effectLst>
                  <a:outerShdw blurRad="38100" dist="38100" dir="2700000" algn="tl">
                    <a:srgbClr val="000000">
                      <a:alpha val="43137"/>
                    </a:srgbClr>
                  </a:outerShdw>
                </a:effectLst>
              </a:rPr>
              <a:t> </a:t>
            </a: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Posthumane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a:t>
            </a:r>
            <a:endParaRPr lang="en-CA" sz="3200" i="1" dirty="0">
              <a:solidFill>
                <a:schemeClr val="bg1"/>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699544"/>
            <a:ext cx="8712968" cy="39094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27" name="Quellenangabe 1027" descr="Ruelle, D. (2013): Post-human mathematics, arXiv:1308.4678, S. 1 (Abstract)."/>
          <p:cNvSpPr txBox="1"/>
          <p:nvPr/>
        </p:nvSpPr>
        <p:spPr>
          <a:xfrm>
            <a:off x="310896" y="4928616"/>
            <a:ext cx="8522208" cy="164592"/>
          </a:xfrm>
          <a:prstGeom prst="rect">
            <a:avLst/>
          </a:prstGeom>
          <a:noFill/>
          <a:ln>
            <a:noFill/>
          </a:ln>
        </p:spPr>
        <p:txBody>
          <a:bodyPr wrap="none" lIns="0" tIns="0" rIns="0" bIns="0" anchor="t">
            <a:noAutofit/>
          </a:bodyPr>
          <a:lstStyle/>
          <a:p>
            <a:pPr marL="0" marR="0" indent="0" algn="r">
              <a:lnSpc>
                <a:spcPts val="920"/>
              </a:lnSpc>
              <a:spcBef>
                <a:spcPts val="0"/>
              </a:spcBef>
              <a:spcAft>
                <a:spcPts val="0"/>
              </a:spcAft>
              <a:buNone/>
            </a:pPr>
            <a:r>
              <a:rPr lang="de-DE" sz="800" b="0" i="0" u="none" dirty="0">
                <a:solidFill>
                  <a:srgbClr val="6B6B6B"/>
                </a:solidFill>
                <a:latin typeface="Times New Roman"/>
                <a:ea typeface="Times New Roman"/>
                <a:cs typeface="Times New Roman"/>
              </a:rPr>
              <a:t>Ruelle, D. (2013): Post-human mathematics, arXiv:1308.4678, S. 1 (Abstract).</a:t>
            </a:r>
            <a:endParaRPr lang="de-DE" sz="800"/>
          </a:p>
        </p:txBody>
      </p:sp>
    </p:spTree>
    <p:extLst>
      <p:ext uri="{BB962C8B-B14F-4D97-AF65-F5344CB8AC3E}">
        <p14:creationId xmlns:p14="http://schemas.microsoft.com/office/powerpoint/2010/main" val="38208171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ist</a:t>
            </a:r>
            <a:r>
              <a:rPr lang="en-CA" sz="3200" dirty="0">
                <a:solidFill>
                  <a:schemeClr val="bg1"/>
                </a:solidFill>
                <a:effectLst>
                  <a:outerShdw blurRad="38100" dist="38100" dir="2700000" algn="tl">
                    <a:srgbClr val="000000">
                      <a:alpha val="43137"/>
                    </a:srgbClr>
                  </a:outerShdw>
                </a:effectLst>
              </a:rPr>
              <a:t> </a:t>
            </a: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Posthumane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r>
              <a:rPr lang="de-DE" sz="2400" b="1" dirty="0" smtClean="0">
                <a:latin typeface="Times New Roman" panose="02020603050405020304" pitchFamily="18" charset="0"/>
                <a:cs typeface="Times New Roman" panose="02020603050405020304" pitchFamily="18" charset="0"/>
              </a:rPr>
              <a:t>„Jenseits des Menschen“ kann heißen:</a:t>
            </a:r>
          </a:p>
          <a:p>
            <a:pPr marL="457200" indent="-457200">
              <a:buFont typeface="+mj-lt"/>
              <a:buAutoNum type="arabicParenR"/>
            </a:pPr>
            <a:r>
              <a:rPr lang="de-DE" sz="2000" dirty="0" smtClean="0">
                <a:latin typeface="Times New Roman" panose="02020603050405020304" pitchFamily="18" charset="0"/>
                <a:cs typeface="Times New Roman" panose="02020603050405020304" pitchFamily="18" charset="0"/>
              </a:rPr>
              <a:t>jenseits eines einzelnen </a:t>
            </a:r>
            <a:r>
              <a:rPr lang="de-DE" sz="2000" dirty="0" err="1" smtClean="0">
                <a:latin typeface="Times New Roman" panose="02020603050405020304" pitchFamily="18" charset="0"/>
                <a:cs typeface="Times New Roman" panose="02020603050405020304" pitchFamily="18" charset="0"/>
              </a:rPr>
              <a:t>Menschens</a:t>
            </a:r>
            <a:endParaRPr lang="de-DE" sz="2000" dirty="0" smtClean="0">
              <a:latin typeface="Times New Roman" panose="02020603050405020304" pitchFamily="18" charset="0"/>
              <a:cs typeface="Times New Roman" panose="02020603050405020304" pitchFamily="18" charset="0"/>
            </a:endParaRPr>
          </a:p>
          <a:p>
            <a:pPr marL="457200" indent="-457200">
              <a:buFont typeface="+mj-lt"/>
              <a:buAutoNum type="arabicParenR"/>
            </a:pPr>
            <a:r>
              <a:rPr lang="de-DE" sz="2000" dirty="0" smtClean="0">
                <a:latin typeface="Times New Roman" panose="02020603050405020304" pitchFamily="18" charset="0"/>
                <a:cs typeface="Times New Roman" panose="02020603050405020304" pitchFamily="18" charset="0"/>
              </a:rPr>
              <a:t>jenseits eines gegenwärtigen Expertenteams</a:t>
            </a:r>
          </a:p>
          <a:p>
            <a:pPr marL="457200" indent="-457200">
              <a:buFont typeface="+mj-lt"/>
              <a:buAutoNum type="arabicParenR"/>
            </a:pPr>
            <a:r>
              <a:rPr lang="de-DE" sz="2000" dirty="0" smtClean="0">
                <a:latin typeface="Times New Roman" panose="02020603050405020304" pitchFamily="18" charset="0"/>
                <a:cs typeface="Times New Roman" panose="02020603050405020304" pitchFamily="18" charset="0"/>
              </a:rPr>
              <a:t>jenseits aller heute lebenden Menschen in realistischer Arbeitszeit</a:t>
            </a:r>
          </a:p>
          <a:p>
            <a:pPr marL="457200" indent="-457200">
              <a:buFont typeface="+mj-lt"/>
              <a:buAutoNum type="arabicParenR"/>
            </a:pPr>
            <a:r>
              <a:rPr lang="de-DE" sz="2000" dirty="0" smtClean="0">
                <a:latin typeface="Times New Roman" panose="02020603050405020304" pitchFamily="18" charset="0"/>
                <a:cs typeface="Times New Roman" panose="02020603050405020304" pitchFamily="18" charset="0"/>
              </a:rPr>
              <a:t>oder </a:t>
            </a:r>
            <a:r>
              <a:rPr lang="de-DE" sz="2000" i="1" dirty="0" smtClean="0">
                <a:latin typeface="Times New Roman" panose="02020603050405020304" pitchFamily="18" charset="0"/>
                <a:cs typeface="Times New Roman" panose="02020603050405020304" pitchFamily="18" charset="0"/>
              </a:rPr>
              <a:t>prinzipiell</a:t>
            </a:r>
            <a:r>
              <a:rPr lang="de-DE" sz="2000" dirty="0" smtClean="0">
                <a:latin typeface="Times New Roman" panose="02020603050405020304" pitchFamily="18" charset="0"/>
                <a:cs typeface="Times New Roman" panose="02020603050405020304" pitchFamily="18" charset="0"/>
              </a:rPr>
              <a:t> jenseits menschlicher kognitiver Architektur.</a:t>
            </a:r>
          </a:p>
          <a:p>
            <a:pPr marL="457200" indent="-457200">
              <a:buFont typeface="+mj-lt"/>
              <a:buAutoNum type="arabicParenR"/>
            </a:pPr>
            <a:endParaRPr lang="de-DE" sz="2000" dirty="0">
              <a:latin typeface="Times New Roman" panose="02020603050405020304" pitchFamily="18" charset="0"/>
              <a:cs typeface="Times New Roman" panose="02020603050405020304" pitchFamily="18" charset="0"/>
            </a:endParaRPr>
          </a:p>
          <a:p>
            <a:pPr marL="342900" indent="-342900" algn="ctr">
              <a:buFont typeface="Wingdings"/>
              <a:buChar char="à"/>
            </a:pPr>
            <a:r>
              <a:rPr lang="de-DE" sz="2000" dirty="0" smtClean="0">
                <a:latin typeface="Times New Roman" panose="02020603050405020304" pitchFamily="18" charset="0"/>
                <a:cs typeface="Times New Roman" panose="02020603050405020304" pitchFamily="18" charset="0"/>
                <a:sym typeface="Wingdings" panose="05000000000000000000" pitchFamily="2" charset="2"/>
              </a:rPr>
              <a:t>Interessant sind im Folgenden: 4) und ggf. etwas 3)</a:t>
            </a:r>
          </a:p>
        </p:txBody>
      </p:sp>
    </p:spTree>
    <p:extLst>
      <p:ext uri="{BB962C8B-B14F-4D97-AF65-F5344CB8AC3E}">
        <p14:creationId xmlns:p14="http://schemas.microsoft.com/office/powerpoint/2010/main" val="2308982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ist</a:t>
            </a:r>
            <a:r>
              <a:rPr lang="en-CA" sz="3200" dirty="0">
                <a:solidFill>
                  <a:schemeClr val="bg1"/>
                </a:solidFill>
                <a:effectLst>
                  <a:outerShdw blurRad="38100" dist="38100" dir="2700000" algn="tl">
                    <a:srgbClr val="000000">
                      <a:alpha val="43137"/>
                    </a:srgbClr>
                  </a:outerShdw>
                </a:effectLst>
              </a:rPr>
              <a:t> </a:t>
            </a: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Posthumane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768096"/>
            <a:ext cx="8686800" cy="4023360"/>
          </a:xfrm>
          <a:prstGeom prst="rect">
            <a:avLst/>
          </a:prstGeom>
          <a:noFill/>
        </p:spPr>
        <p:txBody>
          <a:bodyPr wrap="square" rtlCol="0">
            <a:noAutofit/>
          </a:bodyPr>
          <a:lstStyle/>
          <a:p>
            <a:r>
              <a:rPr lang="de-DE" sz="2400" b="1" dirty="0" smtClean="0">
                <a:solidFill>
                  <a:schemeClr val="tx2"/>
                </a:solidFill>
                <a:latin typeface="Times New Roman" panose="02020603050405020304" pitchFamily="18" charset="0"/>
                <a:cs typeface="Times New Roman" panose="02020603050405020304" pitchFamily="18" charset="0"/>
              </a:rPr>
              <a:t>Arbeitsdefinition</a:t>
            </a:r>
          </a:p>
          <a:p>
            <a:pPr algn="l"/>
            <a:r>
              <a:rPr lang="de-DE" sz="2000" dirty="0" smtClean="0">
                <a:latin typeface="Times New Roman" panose="02020603050405020304" pitchFamily="18" charset="0"/>
                <a:cs typeface="Times New Roman" panose="02020603050405020304" pitchFamily="18" charset="0"/>
              </a:rPr>
              <a:t>Posthumane Mathematik betrifft Mathematik, deren Erzeugung und/oder Prüfung die kognitiven und zeitlichen Möglichkeiten menschlicher Mathematiker systematisch überschreitet.</a:t>
            </a:r>
          </a:p>
          <a:p>
            <a:pPr algn="l"/>
            <a:endParaRPr lang="de-DE" sz="2000" dirty="0">
              <a:latin typeface="Times New Roman" panose="02020603050405020304" pitchFamily="18" charset="0"/>
              <a:cs typeface="Times New Roman" panose="02020603050405020304" pitchFamily="18" charset="0"/>
            </a:endParaRPr>
          </a:p>
          <a:p>
            <a:pPr algn="l"/>
            <a:r>
              <a:rPr lang="de-DE" sz="2000" b="1" dirty="0" smtClean="0">
                <a:latin typeface="Times New Roman" panose="02020603050405020304" pitchFamily="18" charset="0"/>
                <a:cs typeface="Times New Roman" panose="02020603050405020304" pitchFamily="18" charset="0"/>
              </a:rPr>
              <a:t>Die Überlegenheit beruht auf:</a:t>
            </a:r>
          </a:p>
          <a:p>
            <a:pPr marL="342900" indent="-342900" algn="l">
              <a:buFont typeface="Arial" panose="020B0604020202020204" pitchFamily="34" charset="0"/>
              <a:buChar char="•"/>
            </a:pPr>
            <a:r>
              <a:rPr lang="de-DE" sz="2000" dirty="0" smtClean="0">
                <a:latin typeface="Times New Roman" panose="02020603050405020304" pitchFamily="18" charset="0"/>
                <a:cs typeface="Times New Roman" panose="02020603050405020304" pitchFamily="18" charset="0"/>
              </a:rPr>
              <a:t>Geschwindigkeit, größeres Arbeitsgedächtnis, Parallelität, </a:t>
            </a:r>
          </a:p>
          <a:p>
            <a:pPr marL="342900" indent="-342900" algn="l">
              <a:buFont typeface="Arial" panose="020B0604020202020204" pitchFamily="34" charset="0"/>
              <a:buChar char="•"/>
            </a:pPr>
            <a:r>
              <a:rPr lang="de-DE" sz="2000" dirty="0" smtClean="0">
                <a:latin typeface="Times New Roman" panose="02020603050405020304" pitchFamily="18" charset="0"/>
                <a:cs typeface="Times New Roman" panose="02020603050405020304" pitchFamily="18" charset="0"/>
              </a:rPr>
              <a:t>Durchsuchung ungeheurer Kombinationsräume, </a:t>
            </a:r>
          </a:p>
          <a:p>
            <a:pPr marL="342900" indent="-342900" algn="l">
              <a:buFont typeface="Arial" panose="020B0604020202020204" pitchFamily="34" charset="0"/>
              <a:buChar char="•"/>
            </a:pPr>
            <a:r>
              <a:rPr lang="de-DE" sz="2000" dirty="0" smtClean="0">
                <a:latin typeface="Times New Roman" panose="02020603050405020304" pitchFamily="18" charset="0"/>
                <a:cs typeface="Times New Roman" panose="02020603050405020304" pitchFamily="18" charset="0"/>
              </a:rPr>
              <a:t>Überblick über gesamte bisherige Forschung, etc.</a:t>
            </a:r>
          </a:p>
          <a:p>
            <a:pPr marL="342900" indent="-342900" algn="l">
              <a:buFont typeface="Arial" panose="020B0604020202020204" pitchFamily="34" charset="0"/>
              <a:buChar char="•"/>
            </a:pPr>
            <a:endParaRPr lang="de-DE" sz="2000" dirty="0">
              <a:latin typeface="Times New Roman" panose="02020603050405020304" pitchFamily="18" charset="0"/>
              <a:cs typeface="Times New Roman" panose="02020603050405020304" pitchFamily="18" charset="0"/>
            </a:endParaRPr>
          </a:p>
          <a:p>
            <a:pPr algn="l"/>
            <a:r>
              <a:rPr lang="de-DE" sz="2000" dirty="0" smtClean="0">
                <a:latin typeface="Times New Roman" panose="02020603050405020304" pitchFamily="18" charset="0"/>
                <a:cs typeface="Times New Roman" panose="02020603050405020304" pitchFamily="18" charset="0"/>
              </a:rPr>
              <a:t>Eine Maschine könnte unmittelbar mit Millionen Dimensionen, riesigen Graphen, etc. operieren!</a:t>
            </a:r>
            <a:endParaRPr lang="de-DE"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Mensch und Mathematik</a:t>
            </a:r>
            <a:endParaRPr lang="en-CA" sz="3200" dirty="0">
              <a:solidFill>
                <a:schemeClr val="bg1"/>
              </a:solidFill>
              <a:effectLst>
                <a:outerShdw blurRad="38100" dist="38100" dir="2700000" algn="tl">
                  <a:srgbClr val="000000">
                    <a:alpha val="43137"/>
                  </a:srgbClr>
                </a:outerShdw>
              </a:effectLst>
            </a:endParaRPr>
          </a:p>
        </p:txBody>
      </p:sp>
      <p:pic>
        <p:nvPicPr>
          <p:cNvPr id="5" name="Picture 2" descr="https://i.gyazo.com/297478fbcc9a4c6435481662833a9dba.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b="50000"/>
          <a:stretch/>
        </p:blipFill>
        <p:spPr bwMode="auto">
          <a:xfrm>
            <a:off x="3779912" y="843560"/>
            <a:ext cx="5184576" cy="126629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10" descr="https://i.gyazo.com/47259e659bcb814c45d546185b57d18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40" y="2859784"/>
            <a:ext cx="4493985" cy="1995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feld 2"/>
          <p:cNvSpPr txBox="1"/>
          <p:nvPr/>
        </p:nvSpPr>
        <p:spPr>
          <a:xfrm>
            <a:off x="5076056" y="2851073"/>
            <a:ext cx="3816424" cy="584775"/>
          </a:xfrm>
          <a:prstGeom prst="rect">
            <a:avLst/>
          </a:prstGeom>
          <a:noFill/>
        </p:spPr>
        <p:txBody>
          <a:bodyPr wrap="square" rtlCol="0">
            <a:spAutoFit/>
          </a:bodyPr>
          <a:lstStyle/>
          <a:p>
            <a:pPr algn="ctr"/>
            <a:r>
              <a:rPr lang="de-DE" sz="3200" dirty="0" err="1" smtClean="0">
                <a:latin typeface="Times New Roman" panose="02020603050405020304" pitchFamily="18" charset="0"/>
                <a:cs typeface="Times New Roman" panose="02020603050405020304" pitchFamily="18" charset="0"/>
              </a:rPr>
              <a:t>Spatialisierung</a:t>
            </a:r>
            <a:endParaRPr lang="de-DE" sz="3200" dirty="0">
              <a:latin typeface="Times New Roman" panose="02020603050405020304" pitchFamily="18" charset="0"/>
              <a:cs typeface="Times New Roman" panose="02020603050405020304" pitchFamily="18" charset="0"/>
            </a:endParaRPr>
          </a:p>
        </p:txBody>
      </p:sp>
      <p:sp>
        <p:nvSpPr>
          <p:cNvPr id="9" name="Textfeld 8"/>
          <p:cNvSpPr txBox="1"/>
          <p:nvPr/>
        </p:nvSpPr>
        <p:spPr>
          <a:xfrm>
            <a:off x="-36512" y="699544"/>
            <a:ext cx="3816424" cy="584775"/>
          </a:xfrm>
          <a:prstGeom prst="rect">
            <a:avLst/>
          </a:prstGeom>
          <a:noFill/>
        </p:spPr>
        <p:txBody>
          <a:bodyPr wrap="square" rtlCol="0">
            <a:spAutoFit/>
          </a:bodyPr>
          <a:lstStyle/>
          <a:p>
            <a:pPr algn="ctr"/>
            <a:r>
              <a:rPr lang="de-DE" sz="3200" dirty="0" smtClean="0">
                <a:latin typeface="Times New Roman" panose="02020603050405020304" pitchFamily="18" charset="0"/>
                <a:cs typeface="Times New Roman" panose="02020603050405020304" pitchFamily="18" charset="0"/>
              </a:rPr>
              <a:t>Dynamisierung</a:t>
            </a:r>
            <a:endParaRPr lang="de-DE" sz="3200" dirty="0">
              <a:latin typeface="Times New Roman" panose="02020603050405020304" pitchFamily="18" charset="0"/>
              <a:cs typeface="Times New Roman" panose="02020603050405020304" pitchFamily="18" charset="0"/>
            </a:endParaRPr>
          </a:p>
        </p:txBody>
      </p:sp>
      <p:sp>
        <p:nvSpPr>
          <p:cNvPr id="4" name="Textfeld 3"/>
          <p:cNvSpPr txBox="1"/>
          <p:nvPr/>
        </p:nvSpPr>
        <p:spPr>
          <a:xfrm>
            <a:off x="323528" y="1347616"/>
            <a:ext cx="3312368" cy="646331"/>
          </a:xfrm>
          <a:prstGeom prst="rect">
            <a:avLst/>
          </a:prstGeom>
          <a:noFill/>
        </p:spPr>
        <p:txBody>
          <a:bodyPr wrap="square" rtlCol="0">
            <a:spAutoFit/>
          </a:bodyPr>
          <a:lstStyle/>
          <a:p>
            <a:r>
              <a:rPr lang="de-DE" dirty="0" smtClean="0"/>
              <a:t>„nähern/streben“, „durchlaufen“,</a:t>
            </a:r>
          </a:p>
          <a:p>
            <a:r>
              <a:rPr lang="de-DE" dirty="0" smtClean="0"/>
              <a:t>„fallen/steigen“, „oszillieren“, etc.</a:t>
            </a:r>
            <a:endParaRPr lang="de-DE" dirty="0"/>
          </a:p>
        </p:txBody>
      </p:sp>
      <p:sp>
        <p:nvSpPr>
          <p:cNvPr id="10" name="Textfeld 9"/>
          <p:cNvSpPr txBox="1"/>
          <p:nvPr/>
        </p:nvSpPr>
        <p:spPr>
          <a:xfrm>
            <a:off x="5364088" y="3579864"/>
            <a:ext cx="3672408" cy="646331"/>
          </a:xfrm>
          <a:prstGeom prst="rect">
            <a:avLst/>
          </a:prstGeom>
          <a:noFill/>
        </p:spPr>
        <p:txBody>
          <a:bodyPr wrap="square" rtlCol="0">
            <a:spAutoFit/>
          </a:bodyPr>
          <a:lstStyle/>
          <a:p>
            <a:r>
              <a:rPr lang="de-DE" dirty="0" smtClean="0"/>
              <a:t>„</a:t>
            </a:r>
            <a:r>
              <a:rPr lang="de-DE" dirty="0" err="1" smtClean="0"/>
              <a:t>Enthaltensein</a:t>
            </a:r>
            <a:r>
              <a:rPr lang="de-DE" dirty="0" smtClean="0"/>
              <a:t>“, „Raum“, „Netze“, „Bäume“, „Hülle“, „Bahnen“, etc.</a:t>
            </a:r>
            <a:endParaRPr lang="de-DE" dirty="0"/>
          </a:p>
        </p:txBody>
      </p:sp>
    </p:spTree>
    <p:extLst>
      <p:ext uri="{BB962C8B-B14F-4D97-AF65-F5344CB8AC3E}">
        <p14:creationId xmlns:p14="http://schemas.microsoft.com/office/powerpoint/2010/main" val="1860247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4" grpId="0"/>
      <p:bldP spid="10"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Menschliche</a:t>
            </a:r>
            <a:r>
              <a:rPr lang="en-CA" sz="3200" dirty="0" smtClean="0">
                <a:solidFill>
                  <a:schemeClr val="bg1"/>
                </a:solidFill>
                <a:effectLst>
                  <a:outerShdw blurRad="38100" dist="38100" dir="2700000" algn="tl">
                    <a:srgbClr val="000000">
                      <a:alpha val="43137"/>
                    </a:srgbClr>
                  </a:outerShdw>
                </a:effectLst>
              </a:rPr>
              <a:t> vs. </a:t>
            </a:r>
            <a:r>
              <a:rPr lang="en-CA" sz="3200" dirty="0" err="1" smtClean="0">
                <a:solidFill>
                  <a:schemeClr val="bg1"/>
                </a:solidFill>
                <a:effectLst>
                  <a:outerShdw blurRad="38100" dist="38100" dir="2700000" algn="tl">
                    <a:srgbClr val="000000">
                      <a:alpha val="43137"/>
                    </a:srgbClr>
                  </a:outerShdw>
                </a:effectLst>
              </a:rPr>
              <a:t>posthumane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Mathemaitk</a:t>
            </a:r>
            <a:endParaRPr lang="en-CA" sz="3200" i="1" dirty="0">
              <a:solidFill>
                <a:schemeClr val="bg1"/>
              </a:solidFill>
              <a:effectLst>
                <a:outerShdw blurRad="38100" dist="38100" dir="2700000" algn="tl">
                  <a:srgbClr val="000000">
                    <a:alpha val="43137"/>
                  </a:srgbClr>
                </a:outerShdw>
              </a:effectLst>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759" y="822739"/>
            <a:ext cx="8909739" cy="37652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20574354"/>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ist</a:t>
            </a:r>
            <a:r>
              <a:rPr lang="en-CA" sz="3200" dirty="0">
                <a:solidFill>
                  <a:schemeClr val="bg1"/>
                </a:solidFill>
                <a:effectLst>
                  <a:outerShdw blurRad="38100" dist="38100" dir="2700000" algn="tl">
                    <a:srgbClr val="000000">
                      <a:alpha val="43137"/>
                    </a:srgbClr>
                  </a:outerShdw>
                </a:effectLst>
              </a:rPr>
              <a:t> </a:t>
            </a:r>
            <a:r>
              <a:rPr lang="en-CA" sz="3200" dirty="0" smtClean="0">
                <a:solidFill>
                  <a:schemeClr val="bg1"/>
                </a:solidFill>
                <a:effectLst>
                  <a:outerShdw blurRad="38100" dist="38100" dir="2700000" algn="tl">
                    <a:srgbClr val="000000">
                      <a:alpha val="43137"/>
                    </a:srgbClr>
                  </a:outerShdw>
                </a:effectLst>
              </a:rPr>
              <a:t>“</a:t>
            </a:r>
            <a:r>
              <a:rPr lang="en-CA" sz="3200" dirty="0" err="1" smtClean="0">
                <a:solidFill>
                  <a:schemeClr val="bg1"/>
                </a:solidFill>
                <a:effectLst>
                  <a:outerShdw blurRad="38100" dist="38100" dir="2700000" algn="tl">
                    <a:srgbClr val="000000">
                      <a:alpha val="43137"/>
                    </a:srgbClr>
                  </a:outerShdw>
                </a:effectLst>
              </a:rPr>
              <a:t>Posthumane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a:t>
            </a:r>
            <a:endParaRPr lang="en-CA" sz="3200" i="1"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46888" y="786384"/>
            <a:ext cx="8650224" cy="461665"/>
          </a:xfrm>
          <a:prstGeom prst="rect">
            <a:avLst/>
          </a:prstGeom>
          <a:noFill/>
        </p:spPr>
        <p:txBody>
          <a:bodyPr wrap="square" rtlCol="0">
            <a:spAutoFit/>
          </a:bodyPr>
          <a:lstStyle/>
          <a:p>
            <a:pPr algn="l"/>
            <a:r>
              <a:rPr lang="de-DE" sz="2400" b="1" dirty="0" smtClean="0">
                <a:latin typeface="Times New Roman" panose="02020603050405020304" pitchFamily="18" charset="0"/>
                <a:cs typeface="Times New Roman" panose="02020603050405020304" pitchFamily="18" charset="0"/>
              </a:rPr>
              <a:t>Verschiedene Formen der Opazität</a:t>
            </a:r>
          </a:p>
        </p:txBody>
      </p:sp>
      <p:sp>
        <p:nvSpPr>
          <p:cNvPr id="5" name="Textfeld 4"/>
          <p:cNvSpPr txBox="1"/>
          <p:nvPr/>
        </p:nvSpPr>
        <p:spPr>
          <a:xfrm>
            <a:off x="246888" y="1380744"/>
            <a:ext cx="8650224" cy="3383280"/>
          </a:xfrm>
          <a:prstGeom prst="rect">
            <a:avLst/>
          </a:prstGeom>
          <a:noFill/>
        </p:spPr>
        <p:txBody>
          <a:bodyPr wrap="square" rtlCol="0">
            <a:noAutofit/>
          </a:bodyPr>
          <a:lstStyle/>
          <a:p>
            <a:pPr marL="457200" indent="-457200" algn="l">
              <a:lnSpc>
                <a:spcPct val="108000"/>
              </a:lnSpc>
              <a:spcAft>
                <a:spcPts val="900"/>
              </a:spcAft>
              <a:buAutoNum type="arabicParenR"/>
            </a:pPr>
            <a:r>
              <a:rPr lang="de-DE" sz="2000" b="1" dirty="0">
                <a:latin typeface="Times New Roman" panose="02020603050405020304" pitchFamily="18" charset="0"/>
                <a:cs typeface="Times New Roman" panose="02020603050405020304" pitchFamily="18" charset="0"/>
              </a:rPr>
              <a:t>Beweisopazität: </a:t>
            </a:r>
            <a:r>
              <a:rPr lang="de-DE" sz="2000" dirty="0">
                <a:latin typeface="Times New Roman" panose="02020603050405020304" pitchFamily="18" charset="0"/>
                <a:cs typeface="Times New Roman" panose="02020603050405020304" pitchFamily="18" charset="0"/>
              </a:rPr>
              <a:t>Wir verstehen den Satz, aber nicht seinen Beweis.</a:t>
            </a:r>
          </a:p>
          <a:p>
            <a:pPr marL="914400" lvl="1" indent="-457200" algn="l">
              <a:lnSpc>
                <a:spcPct val="108000"/>
              </a:lnSpc>
              <a:spcAft>
                <a:spcPts val="900"/>
              </a:spcAft>
              <a:buFont typeface="+mj-lt"/>
              <a:buAutoNum type="alphaLcParenR"/>
            </a:pPr>
            <a:r>
              <a:rPr lang="de-DE" sz="2000" dirty="0">
                <a:latin typeface="Times New Roman" panose="02020603050405020304" pitchFamily="18" charset="0"/>
                <a:cs typeface="Times New Roman" panose="02020603050405020304" pitchFamily="18" charset="0"/>
              </a:rPr>
              <a:t>Lokale Überschaubarkeit</a:t>
            </a:r>
          </a:p>
          <a:p>
            <a:pPr marL="914400" lvl="1" indent="-457200" algn="l">
              <a:lnSpc>
                <a:spcPct val="108000"/>
              </a:lnSpc>
              <a:spcAft>
                <a:spcPts val="900"/>
              </a:spcAft>
              <a:buFont typeface="+mj-lt"/>
              <a:buAutoNum type="alphaLcParenR"/>
            </a:pPr>
            <a:r>
              <a:rPr lang="de-DE" sz="2000" dirty="0">
                <a:latin typeface="Times New Roman" panose="02020603050405020304" pitchFamily="18" charset="0"/>
                <a:cs typeface="Times New Roman" panose="02020603050405020304" pitchFamily="18" charset="0"/>
              </a:rPr>
              <a:t>Globale Überschaubarkeit</a:t>
            </a:r>
          </a:p>
          <a:p>
            <a:pPr marL="457200" indent="-457200" algn="l">
              <a:lnSpc>
                <a:spcPct val="108000"/>
              </a:lnSpc>
              <a:spcAft>
                <a:spcPts val="900"/>
              </a:spcAft>
              <a:buAutoNum type="arabicParenR"/>
            </a:pPr>
            <a:r>
              <a:rPr lang="de-DE" sz="2000" b="1" dirty="0">
                <a:latin typeface="Times New Roman" panose="02020603050405020304" pitchFamily="18" charset="0"/>
                <a:cs typeface="Times New Roman" panose="02020603050405020304" pitchFamily="18" charset="0"/>
              </a:rPr>
              <a:t>Aussagenopazität: </a:t>
            </a:r>
            <a:r>
              <a:rPr lang="de-DE" sz="2000" dirty="0">
                <a:latin typeface="Times New Roman" panose="02020603050405020304" pitchFamily="18" charset="0"/>
                <a:cs typeface="Times New Roman" panose="02020603050405020304" pitchFamily="18" charset="0"/>
              </a:rPr>
              <a:t>Bereits das Theorem besitzt keine menschenlesbare Form.</a:t>
            </a:r>
          </a:p>
          <a:p>
            <a:pPr marL="457200" indent="-457200" algn="l">
              <a:lnSpc>
                <a:spcPct val="108000"/>
              </a:lnSpc>
              <a:spcAft>
                <a:spcPts val="900"/>
              </a:spcAft>
              <a:buAutoNum type="arabicParenR"/>
            </a:pPr>
            <a:r>
              <a:rPr lang="de-DE" sz="2000" b="1" dirty="0">
                <a:latin typeface="Times New Roman" panose="02020603050405020304" pitchFamily="18" charset="0"/>
                <a:cs typeface="Times New Roman" panose="02020603050405020304" pitchFamily="18" charset="0"/>
              </a:rPr>
              <a:t>Begriffsopazität: </a:t>
            </a:r>
            <a:r>
              <a:rPr lang="de-DE" sz="2000" dirty="0">
                <a:latin typeface="Times New Roman" panose="02020603050405020304" pitchFamily="18" charset="0"/>
                <a:cs typeface="Times New Roman" panose="02020603050405020304" pitchFamily="18" charset="0"/>
              </a:rPr>
              <a:t>Was ist das für eine Struktur, mit der hier operiert wird?</a:t>
            </a:r>
          </a:p>
          <a:p>
            <a:pPr marL="457200" indent="-457200" algn="l">
              <a:lnSpc>
                <a:spcPct val="108000"/>
              </a:lnSpc>
              <a:spcAft>
                <a:spcPts val="900"/>
              </a:spcAft>
              <a:buAutoNum type="arabicParenR"/>
            </a:pPr>
            <a:r>
              <a:rPr lang="de-DE" sz="2000" b="1" dirty="0">
                <a:latin typeface="Times New Roman" panose="02020603050405020304" pitchFamily="18" charset="0"/>
                <a:cs typeface="Times New Roman" panose="02020603050405020304" pitchFamily="18" charset="0"/>
              </a:rPr>
              <a:t>Relevanzopazität</a:t>
            </a:r>
            <a:r>
              <a:rPr lang="de-DE" sz="2000" dirty="0">
                <a:latin typeface="Times New Roman" panose="02020603050405020304" pitchFamily="18" charset="0"/>
                <a:cs typeface="Times New Roman" panose="02020603050405020304" pitchFamily="18" charset="0"/>
              </a:rPr>
              <a:t>: Warum ist gerade P wichtig?</a:t>
            </a:r>
          </a:p>
          <a:p>
            <a:pPr marL="457200" indent="-457200" algn="l">
              <a:lnSpc>
                <a:spcPct val="108000"/>
              </a:lnSpc>
              <a:spcAft>
                <a:spcPts val="900"/>
              </a:spcAft>
              <a:buAutoNum type="arabicParenR"/>
            </a:pPr>
            <a:r>
              <a:rPr lang="de-DE" sz="2000" b="1" dirty="0">
                <a:latin typeface="Times New Roman" panose="02020603050405020304" pitchFamily="18" charset="0"/>
                <a:cs typeface="Times New Roman" panose="02020603050405020304" pitchFamily="18" charset="0"/>
              </a:rPr>
              <a:t>Theorieopazität</a:t>
            </a:r>
            <a:r>
              <a:rPr lang="de-DE" sz="2000" dirty="0">
                <a:latin typeface="Times New Roman" panose="02020603050405020304" pitchFamily="18" charset="0"/>
                <a:cs typeface="Times New Roman" panose="02020603050405020304" pitchFamily="18" charset="0"/>
              </a:rPr>
              <a:t>: Wie hängt das alles zusammen?</a:t>
            </a:r>
          </a:p>
          <a:p>
            <a:pPr>
              <a:lnSpc>
                <a:spcPct val="108000"/>
              </a:lnSpc>
              <a:spcAft>
                <a:spcPts val="900"/>
              </a:spcAft>
            </a:pPr>
            <a:endParaRPr lang="de-DE" dirty="0"/>
          </a:p>
        </p:txBody>
      </p:sp>
    </p:spTree>
    <p:extLst>
      <p:ext uri="{BB962C8B-B14F-4D97-AF65-F5344CB8AC3E}">
        <p14:creationId xmlns:p14="http://schemas.microsoft.com/office/powerpoint/2010/main" val="3014059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Konvergenz</a:t>
            </a:r>
            <a:r>
              <a:rPr lang="en-CA" sz="3200" dirty="0" smtClean="0">
                <a:solidFill>
                  <a:schemeClr val="bg1"/>
                </a:solidFill>
                <a:effectLst>
                  <a:outerShdw blurRad="38100" dist="38100" dir="2700000" algn="tl">
                    <a:srgbClr val="000000">
                      <a:alpha val="43137"/>
                    </a:srgbClr>
                  </a:outerShdw>
                </a:effectLst>
              </a:rPr>
              <a:t> und </a:t>
            </a:r>
            <a:r>
              <a:rPr lang="en-CA" sz="3200" dirty="0" err="1" smtClean="0">
                <a:solidFill>
                  <a:schemeClr val="bg1"/>
                </a:solidFill>
                <a:effectLst>
                  <a:outerShdw blurRad="38100" dist="38100" dir="2700000" algn="tl">
                    <a:srgbClr val="000000">
                      <a:alpha val="43137"/>
                    </a:srgbClr>
                  </a:outerShdw>
                </a:effectLst>
              </a:rPr>
              <a:t>Divergenz</a:t>
            </a:r>
            <a:endParaRPr lang="en-CA" sz="3200" dirty="0">
              <a:solidFill>
                <a:schemeClr val="bg1"/>
              </a:solidFill>
              <a:effectLst>
                <a:outerShdw blurRad="38100" dist="38100" dir="2700000" algn="tl">
                  <a:srgbClr val="000000">
                    <a:alpha val="43137"/>
                  </a:srgbClr>
                </a:outerShdw>
              </a:effectLst>
            </a:endParaRPr>
          </a:p>
        </p:txBody>
      </p:sp>
      <p:sp>
        <p:nvSpPr>
          <p:cNvPr id="2" name="Textfeld 1"/>
          <p:cNvSpPr txBox="1"/>
          <p:nvPr/>
        </p:nvSpPr>
        <p:spPr>
          <a:xfrm>
            <a:off x="228600" y="627534"/>
            <a:ext cx="8686800" cy="4023360"/>
          </a:xfrm>
          <a:prstGeom prst="rect">
            <a:avLst/>
          </a:prstGeom>
          <a:noFill/>
        </p:spPr>
        <p:txBody>
          <a:bodyPr wrap="square" rtlCol="0">
            <a:noAutofit/>
          </a:bodyPr>
          <a:lstStyle/>
          <a:p>
            <a:pPr algn="l"/>
            <a:r>
              <a:rPr lang="de-DE" sz="2400" b="1" dirty="0" smtClean="0">
                <a:latin typeface="Times New Roman" panose="02020603050405020304" pitchFamily="18" charset="0"/>
                <a:cs typeface="Times New Roman" panose="02020603050405020304" pitchFamily="18" charset="0"/>
              </a:rPr>
              <a:t>Konvergenz</a:t>
            </a:r>
            <a:endParaRPr lang="de-DE" sz="2400" b="1" dirty="0">
              <a:latin typeface="Times New Roman" panose="02020603050405020304" pitchFamily="18" charset="0"/>
              <a:cs typeface="Times New Roman" panose="02020603050405020304" pitchFamily="18" charset="0"/>
            </a:endParaRPr>
          </a:p>
          <a:p>
            <a:pPr algn="just"/>
            <a:r>
              <a:rPr lang="de-DE" dirty="0" smtClean="0">
                <a:latin typeface="Times New Roman" panose="02020603050405020304" pitchFamily="18" charset="0"/>
                <a:cs typeface="Times New Roman" panose="02020603050405020304" pitchFamily="18" charset="0"/>
              </a:rPr>
              <a:t>Angenommen</a:t>
            </a:r>
            <a:r>
              <a:rPr lang="de-DE" dirty="0">
                <a:latin typeface="Times New Roman" panose="02020603050405020304" pitchFamily="18" charset="0"/>
                <a:cs typeface="Times New Roman" panose="02020603050405020304" pitchFamily="18" charset="0"/>
              </a:rPr>
              <a:t>, Menschen und hinreichend unabhängige künstliche Intelligenzen gelangen auf </a:t>
            </a:r>
            <a:r>
              <a:rPr lang="de-DE" i="1" dirty="0">
                <a:latin typeface="Times New Roman" panose="02020603050405020304" pitchFamily="18" charset="0"/>
                <a:cs typeface="Times New Roman" panose="02020603050405020304" pitchFamily="18" charset="0"/>
              </a:rPr>
              <a:t>sehr verschiedenen </a:t>
            </a:r>
            <a:r>
              <a:rPr lang="de-DE" i="1" dirty="0" smtClean="0">
                <a:latin typeface="Times New Roman" panose="02020603050405020304" pitchFamily="18" charset="0"/>
                <a:cs typeface="Times New Roman" panose="02020603050405020304" pitchFamily="18" charset="0"/>
              </a:rPr>
              <a:t>Wegen </a:t>
            </a:r>
            <a:r>
              <a:rPr lang="de-DE" dirty="0">
                <a:latin typeface="Times New Roman" panose="02020603050405020304" pitchFamily="18" charset="0"/>
                <a:cs typeface="Times New Roman" panose="02020603050405020304" pitchFamily="18" charset="0"/>
              </a:rPr>
              <a:t>immer wieder zu </a:t>
            </a:r>
            <a:r>
              <a:rPr lang="de-DE" i="1" dirty="0">
                <a:latin typeface="Times New Roman" panose="02020603050405020304" pitchFamily="18" charset="0"/>
                <a:cs typeface="Times New Roman" panose="02020603050405020304" pitchFamily="18" charset="0"/>
              </a:rPr>
              <a:t>denselben mathematischen </a:t>
            </a:r>
            <a:r>
              <a:rPr lang="de-DE" i="1" dirty="0" smtClean="0">
                <a:latin typeface="Times New Roman" panose="02020603050405020304" pitchFamily="18" charset="0"/>
                <a:cs typeface="Times New Roman" panose="02020603050405020304" pitchFamily="18" charset="0"/>
              </a:rPr>
              <a:t>Strukturen</a:t>
            </a:r>
            <a:r>
              <a:rPr lang="de-DE" dirty="0" smtClean="0">
                <a:latin typeface="Times New Roman" panose="02020603050405020304" pitchFamily="18" charset="0"/>
                <a:cs typeface="Times New Roman" panose="02020603050405020304" pitchFamily="18" charset="0"/>
              </a:rPr>
              <a:t>. </a:t>
            </a:r>
            <a:r>
              <a:rPr lang="de-DE" dirty="0">
                <a:latin typeface="Times New Roman" panose="02020603050405020304" pitchFamily="18" charset="0"/>
                <a:cs typeface="Times New Roman" panose="02020603050405020304" pitchFamily="18" charset="0"/>
              </a:rPr>
              <a:t>Dann wird die Vorstellung plausibler, dass diese Strukturen nicht bloß Produkte einer spezifisch menschlichen Denkweise sind, sondern etwas Objektives anzeigen</a:t>
            </a:r>
            <a:r>
              <a:rPr lang="de-DE" dirty="0" smtClean="0">
                <a:latin typeface="Times New Roman" panose="02020603050405020304" pitchFamily="18" charset="0"/>
                <a:cs typeface="Times New Roman" panose="02020603050405020304" pitchFamily="18" charset="0"/>
              </a:rPr>
              <a:t>.</a:t>
            </a:r>
          </a:p>
          <a:p>
            <a:pPr algn="l"/>
            <a:endParaRPr lang="de-DE" dirty="0">
              <a:latin typeface="Times New Roman" panose="02020603050405020304" pitchFamily="18" charset="0"/>
              <a:cs typeface="Times New Roman" panose="02020603050405020304" pitchFamily="18" charset="0"/>
            </a:endParaRPr>
          </a:p>
          <a:p>
            <a:pPr algn="l"/>
            <a:r>
              <a:rPr lang="de-DE" dirty="0" smtClean="0">
                <a:latin typeface="Times New Roman" panose="02020603050405020304" pitchFamily="18" charset="0"/>
                <a:cs typeface="Times New Roman" panose="02020603050405020304" pitchFamily="18" charset="0"/>
                <a:sym typeface="Wingdings" panose="05000000000000000000" pitchFamily="2" charset="2"/>
              </a:rPr>
              <a:t> Pro Platonismus</a:t>
            </a:r>
            <a:endParaRPr lang="de-DE" dirty="0" smtClean="0">
              <a:latin typeface="Times New Roman" panose="02020603050405020304" pitchFamily="18" charset="0"/>
              <a:cs typeface="Times New Roman" panose="02020603050405020304" pitchFamily="18" charset="0"/>
            </a:endParaRPr>
          </a:p>
          <a:p>
            <a:pPr algn="l"/>
            <a:endParaRPr lang="de-DE" dirty="0">
              <a:latin typeface="Times New Roman" panose="02020603050405020304" pitchFamily="18" charset="0"/>
              <a:cs typeface="Times New Roman" panose="02020603050405020304" pitchFamily="18" charset="0"/>
            </a:endParaRPr>
          </a:p>
          <a:p>
            <a:pPr algn="l"/>
            <a:r>
              <a:rPr lang="de-DE" sz="2400" b="1" dirty="0" smtClean="0">
                <a:latin typeface="Times New Roman" panose="02020603050405020304" pitchFamily="18" charset="0"/>
                <a:cs typeface="Times New Roman" panose="02020603050405020304" pitchFamily="18" charset="0"/>
              </a:rPr>
              <a:t>Divergenz:</a:t>
            </a:r>
            <a:endParaRPr lang="de-DE" sz="2400" dirty="0">
              <a:latin typeface="Times New Roman" panose="02020603050405020304" pitchFamily="18" charset="0"/>
              <a:cs typeface="Times New Roman" panose="02020603050405020304" pitchFamily="18" charset="0"/>
            </a:endParaRPr>
          </a:p>
          <a:p>
            <a:r>
              <a:rPr lang="de-DE" dirty="0">
                <a:latin typeface="Times New Roman" panose="02020603050405020304" pitchFamily="18" charset="0"/>
                <a:cs typeface="Times New Roman" panose="02020603050405020304" pitchFamily="18" charset="0"/>
              </a:rPr>
              <a:t>Angenommen, Menschen und hinreichend unabhängige künstliche Intelligenzen gelangen auf </a:t>
            </a:r>
            <a:r>
              <a:rPr lang="de-DE" i="1" dirty="0">
                <a:latin typeface="Times New Roman" panose="02020603050405020304" pitchFamily="18" charset="0"/>
                <a:cs typeface="Times New Roman" panose="02020603050405020304" pitchFamily="18" charset="0"/>
              </a:rPr>
              <a:t>sehr verschiedenen Wegen </a:t>
            </a:r>
            <a:r>
              <a:rPr lang="de-DE" dirty="0" smtClean="0">
                <a:latin typeface="Times New Roman" panose="02020603050405020304" pitchFamily="18" charset="0"/>
                <a:cs typeface="Times New Roman" panose="02020603050405020304" pitchFamily="18" charset="0"/>
              </a:rPr>
              <a:t>zu </a:t>
            </a:r>
            <a:r>
              <a:rPr lang="de-DE" i="1" dirty="0" smtClean="0">
                <a:latin typeface="Times New Roman" panose="02020603050405020304" pitchFamily="18" charset="0"/>
                <a:cs typeface="Times New Roman" panose="02020603050405020304" pitchFamily="18" charset="0"/>
              </a:rPr>
              <a:t>grundlegend </a:t>
            </a:r>
            <a:r>
              <a:rPr lang="de-DE" i="1" dirty="0">
                <a:latin typeface="Times New Roman" panose="02020603050405020304" pitchFamily="18" charset="0"/>
                <a:cs typeface="Times New Roman" panose="02020603050405020304" pitchFamily="18" charset="0"/>
              </a:rPr>
              <a:t>verschiedenen </a:t>
            </a:r>
            <a:r>
              <a:rPr lang="de-DE" i="1" dirty="0" smtClean="0">
                <a:latin typeface="Times New Roman" panose="02020603050405020304" pitchFamily="18" charset="0"/>
                <a:cs typeface="Times New Roman" panose="02020603050405020304" pitchFamily="18" charset="0"/>
              </a:rPr>
              <a:t>mathematischen </a:t>
            </a:r>
            <a:r>
              <a:rPr lang="de-DE" i="1" dirty="0">
                <a:latin typeface="Times New Roman" panose="02020603050405020304" pitchFamily="18" charset="0"/>
                <a:cs typeface="Times New Roman" panose="02020603050405020304" pitchFamily="18" charset="0"/>
              </a:rPr>
              <a:t>Strukturen</a:t>
            </a:r>
            <a:r>
              <a:rPr lang="de-DE" dirty="0">
                <a:latin typeface="Times New Roman" panose="02020603050405020304" pitchFamily="18" charset="0"/>
                <a:cs typeface="Times New Roman" panose="02020603050405020304" pitchFamily="18" charset="0"/>
              </a:rPr>
              <a:t>, ohne dass sich diese aufeinander zurückführen lassen. Dann wird die Vorstellung plausibler, dass Mathematik zumindest teilweise von der jeweiligen </a:t>
            </a:r>
            <a:r>
              <a:rPr lang="de-DE" dirty="0" smtClean="0">
                <a:latin typeface="Times New Roman" panose="02020603050405020304" pitchFamily="18" charset="0"/>
                <a:cs typeface="Times New Roman" panose="02020603050405020304" pitchFamily="18" charset="0"/>
              </a:rPr>
              <a:t>Erkenntnisform abhängt.</a:t>
            </a:r>
          </a:p>
          <a:p>
            <a:endParaRPr lang="de-DE" dirty="0">
              <a:latin typeface="Times New Roman" panose="02020603050405020304" pitchFamily="18" charset="0"/>
              <a:cs typeface="Times New Roman" panose="02020603050405020304" pitchFamily="18" charset="0"/>
            </a:endParaRPr>
          </a:p>
          <a:p>
            <a:r>
              <a:rPr lang="de-DE" dirty="0" smtClean="0">
                <a:latin typeface="Times New Roman" panose="02020603050405020304" pitchFamily="18" charset="0"/>
                <a:cs typeface="Times New Roman" panose="02020603050405020304" pitchFamily="18" charset="0"/>
                <a:sym typeface="Wingdings" panose="05000000000000000000" pitchFamily="2" charset="2"/>
              </a:rPr>
              <a:t> Contra Platonismus</a:t>
            </a:r>
            <a:endParaRPr lang="de-DE" dirty="0" smtClean="0">
              <a:latin typeface="Times New Roman" panose="02020603050405020304" pitchFamily="18" charset="0"/>
              <a:cs typeface="Times New Roman" panose="02020603050405020304" pitchFamily="18" charset="0"/>
            </a:endParaRPr>
          </a:p>
          <a:p>
            <a:endParaRPr lang="de-DE" dirty="0">
              <a:latin typeface="Times New Roman" panose="02020603050405020304" pitchFamily="18" charset="0"/>
              <a:cs typeface="Times New Roman" panose="02020603050405020304" pitchFamily="18" charset="0"/>
            </a:endParaRPr>
          </a:p>
          <a:p>
            <a:endParaRPr lang="de-D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155367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hteck 6"/>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extfeld 7"/>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Maschinentranszendente</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sp>
        <p:nvSpPr>
          <p:cNvPr id="3" name="Textfeld 2"/>
          <p:cNvSpPr txBox="1"/>
          <p:nvPr/>
        </p:nvSpPr>
        <p:spPr>
          <a:xfrm>
            <a:off x="179512" y="636622"/>
            <a:ext cx="8951912" cy="4023360"/>
          </a:xfrm>
          <a:prstGeom prst="rect">
            <a:avLst/>
          </a:prstGeom>
          <a:noFill/>
        </p:spPr>
        <p:txBody>
          <a:bodyPr wrap="square" rtlCol="0">
            <a:noAutofit/>
          </a:bodyPr>
          <a:lstStyle/>
          <a:p>
            <a:pPr marL="457200" indent="-457200">
              <a:buAutoNum type="arabicParenR"/>
            </a:pPr>
            <a:r>
              <a:rPr lang="de-DE" sz="2000" dirty="0" smtClean="0">
                <a:latin typeface="Times New Roman" panose="02020603050405020304" pitchFamily="18" charset="0"/>
                <a:cs typeface="Times New Roman" panose="02020603050405020304" pitchFamily="18" charset="0"/>
              </a:rPr>
              <a:t>Berechnungstranszendenz (Halteproblem, nichtberechenbare reelle Zahlen, etc.)</a:t>
            </a:r>
          </a:p>
          <a:p>
            <a:pPr marL="457200" indent="-457200">
              <a:buAutoNum type="arabicParenR"/>
            </a:pPr>
            <a:r>
              <a:rPr lang="de-DE" sz="2000" dirty="0" smtClean="0">
                <a:latin typeface="Times New Roman" panose="02020603050405020304" pitchFamily="18" charset="0"/>
                <a:cs typeface="Times New Roman" panose="02020603050405020304" pitchFamily="18" charset="0"/>
              </a:rPr>
              <a:t>Erzeugungstranszendenz (Wahlfolgen?)</a:t>
            </a:r>
          </a:p>
          <a:p>
            <a:pPr marL="457200" indent="-457200">
              <a:buAutoNum type="arabicParenR"/>
            </a:pPr>
            <a:r>
              <a:rPr lang="de-DE" sz="2000" dirty="0" smtClean="0">
                <a:latin typeface="Times New Roman" panose="02020603050405020304" pitchFamily="18" charset="0"/>
                <a:cs typeface="Times New Roman" panose="02020603050405020304" pitchFamily="18" charset="0"/>
              </a:rPr>
              <a:t>Beweistranszendenz (</a:t>
            </a:r>
            <a:r>
              <a:rPr lang="de-DE" sz="2000" dirty="0" err="1" smtClean="0">
                <a:latin typeface="Times New Roman" panose="02020603050405020304" pitchFamily="18" charset="0"/>
                <a:cs typeface="Times New Roman" panose="02020603050405020304" pitchFamily="18" charset="0"/>
              </a:rPr>
              <a:t>Gödel</a:t>
            </a:r>
            <a:r>
              <a:rPr lang="de-DE" sz="2000" dirty="0" smtClean="0">
                <a:latin typeface="Times New Roman" panose="02020603050405020304" pitchFamily="18" charset="0"/>
                <a:cs typeface="Times New Roman" panose="02020603050405020304" pitchFamily="18" charset="0"/>
              </a:rPr>
              <a:t>)</a:t>
            </a:r>
          </a:p>
          <a:p>
            <a:pPr marL="457200" indent="-457200">
              <a:buAutoNum type="arabicParenR"/>
            </a:pPr>
            <a:r>
              <a:rPr lang="de-DE" sz="2000" dirty="0" smtClean="0">
                <a:latin typeface="Times New Roman" panose="02020603050405020304" pitchFamily="18" charset="0"/>
                <a:cs typeface="Times New Roman" panose="02020603050405020304" pitchFamily="18" charset="0"/>
              </a:rPr>
              <a:t>Bedeutungstranszendenz („sprachlose/zeichenlose“ Mathematik)</a:t>
            </a:r>
          </a:p>
          <a:p>
            <a:pPr marL="457200" indent="-457200">
              <a:buAutoNum type="arabicParenR"/>
            </a:pPr>
            <a:endParaRPr lang="de-DE" sz="2000" dirty="0">
              <a:latin typeface="Times New Roman" panose="02020603050405020304" pitchFamily="18" charset="0"/>
              <a:cs typeface="Times New Roman" panose="02020603050405020304" pitchFamily="18" charset="0"/>
            </a:endParaRPr>
          </a:p>
        </p:txBody>
      </p:sp>
      <p:pic>
        <p:nvPicPr>
          <p:cNvPr id="5" name="Picture 2" descr="C:\Users\Anton\Desktop\a455fb16-c876-4cda-8f73-83b7c4a06e34.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648" y="2067694"/>
            <a:ext cx="6120680" cy="3060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3013678"/>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hteck 4"/>
          <p:cNvSpPr/>
          <p:nvPr/>
        </p:nvSpPr>
        <p:spPr>
          <a:xfrm>
            <a:off x="0" y="1779664"/>
            <a:ext cx="9144000" cy="1023357"/>
          </a:xfrm>
          <a:prstGeom prst="rect">
            <a:avLst/>
          </a:prstGeom>
        </p:spPr>
        <p:txBody>
          <a:bodyPr wrap="square">
            <a:spAutoFit/>
          </a:bodyPr>
          <a:lstStyle/>
          <a:p>
            <a:pPr algn="ctr"/>
            <a:r>
              <a:rPr lang="en-CA" sz="6050" b="1" dirty="0" err="1" smtClean="0">
                <a:latin typeface="Times New Roman" panose="02020603050405020304" pitchFamily="18" charset="0"/>
                <a:cs typeface="Times New Roman" panose="02020603050405020304" pitchFamily="18" charset="0"/>
              </a:rPr>
              <a:t>Xenomathematik</a:t>
            </a:r>
            <a:endParaRPr lang="en-CA" sz="605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50982815"/>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Mathematik</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als</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Interstellarsprache</a:t>
            </a:r>
            <a:endParaRPr lang="en-CA" sz="3200" dirty="0">
              <a:solidFill>
                <a:schemeClr val="bg1"/>
              </a:solidFill>
              <a:effectLst>
                <a:outerShdw blurRad="38100" dist="38100" dir="2700000" algn="tl">
                  <a:srgbClr val="000000">
                    <a:alpha val="43137"/>
                  </a:srgbClr>
                </a:outerShdw>
              </a:effectLst>
            </a:endParaRPr>
          </a:p>
        </p:txBody>
      </p:sp>
      <p:pic>
        <p:nvPicPr>
          <p:cNvPr id="1026" name="Picture 2" descr="The Story of Lincos, the Math-Based Language Created to Communicate With  Extraterrestrials - The Atlantic"/>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6696" y="1399032"/>
            <a:ext cx="2852928" cy="2823638"/>
          </a:xfrm>
          <a:prstGeom prst="rect">
            <a:avLst/>
          </a:prstGeom>
          <a:noFill/>
          <a:extLst>
            <a:ext uri="{909E8E84-426E-40DD-AFC4-6F175D3DCCD1}">
              <a14:hiddenFill xmlns:a14="http://schemas.microsoft.com/office/drawing/2010/main">
                <a:solidFill>
                  <a:srgbClr val="FFFFFF"/>
                </a:solidFill>
              </a14:hiddenFill>
            </a:ext>
          </a:extLst>
        </p:spPr>
      </p:pic>
      <p:sp>
        <p:nvSpPr>
          <p:cNvPr id="2" name="Textfeld 1"/>
          <p:cNvSpPr txBox="1"/>
          <p:nvPr/>
        </p:nvSpPr>
        <p:spPr>
          <a:xfrm>
            <a:off x="467544" y="786384"/>
            <a:ext cx="3867912" cy="461665"/>
          </a:xfrm>
          <a:prstGeom prst="rect">
            <a:avLst/>
          </a:prstGeom>
          <a:noFill/>
        </p:spPr>
        <p:txBody>
          <a:bodyPr wrap="square" rtlCol="0">
            <a:spAutoFit/>
          </a:bodyPr>
          <a:lstStyle/>
          <a:p>
            <a:pPr algn="ctr"/>
            <a:r>
              <a:rPr lang="de-DE" sz="2400" b="1" dirty="0" err="1" smtClean="0">
                <a:latin typeface="Times New Roman" panose="02020603050405020304" pitchFamily="18" charset="0"/>
                <a:cs typeface="Times New Roman" panose="02020603050405020304" pitchFamily="18" charset="0"/>
              </a:rPr>
              <a:t>Lingua</a:t>
            </a:r>
            <a:r>
              <a:rPr lang="de-DE" sz="2400" b="1" dirty="0" smtClean="0">
                <a:latin typeface="Times New Roman" panose="02020603050405020304" pitchFamily="18" charset="0"/>
                <a:cs typeface="Times New Roman" panose="02020603050405020304" pitchFamily="18" charset="0"/>
              </a:rPr>
              <a:t> </a:t>
            </a:r>
            <a:r>
              <a:rPr lang="de-DE" sz="2400" b="1" dirty="0" err="1" smtClean="0">
                <a:latin typeface="Times New Roman" panose="02020603050405020304" pitchFamily="18" charset="0"/>
                <a:cs typeface="Times New Roman" panose="02020603050405020304" pitchFamily="18" charset="0"/>
              </a:rPr>
              <a:t>cosmica</a:t>
            </a:r>
            <a:endParaRPr lang="de-DE" sz="2400" b="1" dirty="0">
              <a:latin typeface="Times New Roman" panose="02020603050405020304" pitchFamily="18" charset="0"/>
              <a:cs typeface="Times New Roman" panose="02020603050405020304" pitchFamily="18" charset="0"/>
            </a:endParaRPr>
          </a:p>
        </p:txBody>
      </p:sp>
      <p:sp>
        <p:nvSpPr>
          <p:cNvPr id="5" name="Textfeld 4"/>
          <p:cNvSpPr txBox="1"/>
          <p:nvPr/>
        </p:nvSpPr>
        <p:spPr>
          <a:xfrm>
            <a:off x="612648" y="4453128"/>
            <a:ext cx="3803904" cy="530352"/>
          </a:xfrm>
          <a:prstGeom prst="rect">
            <a:avLst/>
          </a:prstGeom>
          <a:noFill/>
        </p:spPr>
        <p:txBody>
          <a:bodyPr wrap="square" rtlCol="0">
            <a:noAutofit/>
          </a:bodyPr>
          <a:lstStyle/>
          <a:p>
            <a:pPr algn="ctr"/>
            <a:r>
              <a:rPr lang="de-DE" sz="1600" dirty="0" smtClean="0">
                <a:latin typeface="Times New Roman" panose="02020603050405020304" pitchFamily="18" charset="0"/>
                <a:cs typeface="Times New Roman" panose="02020603050405020304" pitchFamily="18" charset="0"/>
              </a:rPr>
              <a:t>Plansprache des Mathematikers Hans Freudenthal (1960)</a:t>
            </a:r>
            <a:endParaRPr lang="de-DE" sz="1600" dirty="0">
              <a:latin typeface="Times New Roman" panose="02020603050405020304" pitchFamily="18" charset="0"/>
              <a:cs typeface="Times New Roman" panose="02020603050405020304" pitchFamily="18" charset="0"/>
            </a:endParaRPr>
          </a:p>
        </p:txBody>
      </p:sp>
      <p:pic>
        <p:nvPicPr>
          <p:cNvPr id="1028" name="Picture 4" descr="https://thumb.wikimedia.org/wikipedia/commons/thumb/5/56/The_Sounds_of_Earth_Record_Cover_-_GPN-2000-001978.jpg/250px-The_Sounds_of_Earth_Record_Cover_-_GPN-2000-001978.jpg?utm_source=de.wikipedia.org&amp;utm_campaign=parser&amp;utm_content=thumbnai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5816" y="1399032"/>
            <a:ext cx="2852928" cy="2852928"/>
          </a:xfrm>
          <a:prstGeom prst="rect">
            <a:avLst/>
          </a:prstGeom>
          <a:noFill/>
          <a:extLst>
            <a:ext uri="{909E8E84-426E-40DD-AFC4-6F175D3DCCD1}">
              <a14:hiddenFill xmlns:a14="http://schemas.microsoft.com/office/drawing/2010/main">
                <a:solidFill>
                  <a:srgbClr val="FFFFFF"/>
                </a:solidFill>
              </a14:hiddenFill>
            </a:ext>
          </a:extLst>
        </p:spPr>
      </p:pic>
      <p:sp>
        <p:nvSpPr>
          <p:cNvPr id="7" name="Textfeld 6"/>
          <p:cNvSpPr txBox="1"/>
          <p:nvPr/>
        </p:nvSpPr>
        <p:spPr>
          <a:xfrm>
            <a:off x="4727448" y="786384"/>
            <a:ext cx="3867912" cy="461665"/>
          </a:xfrm>
          <a:prstGeom prst="rect">
            <a:avLst/>
          </a:prstGeom>
          <a:noFill/>
        </p:spPr>
        <p:txBody>
          <a:bodyPr wrap="square" rtlCol="0">
            <a:spAutoFit/>
          </a:bodyPr>
          <a:lstStyle/>
          <a:p>
            <a:pPr algn="ctr"/>
            <a:r>
              <a:rPr lang="de-DE" sz="2400" b="1" dirty="0">
                <a:latin typeface="Times New Roman" panose="02020603050405020304" pitchFamily="18" charset="0"/>
                <a:cs typeface="Times New Roman" panose="02020603050405020304" pitchFamily="18" charset="0"/>
              </a:rPr>
              <a:t>Voyager Golden </a:t>
            </a:r>
            <a:r>
              <a:rPr lang="de-DE" sz="2400" b="1" dirty="0" err="1">
                <a:latin typeface="Times New Roman" panose="02020603050405020304" pitchFamily="18" charset="0"/>
                <a:cs typeface="Times New Roman" panose="02020603050405020304" pitchFamily="18" charset="0"/>
              </a:rPr>
              <a:t>Record</a:t>
            </a:r>
            <a:endParaRPr lang="de-DE" sz="2400" b="1" dirty="0">
              <a:latin typeface="Times New Roman" panose="02020603050405020304" pitchFamily="18" charset="0"/>
              <a:cs typeface="Times New Roman" panose="02020603050405020304" pitchFamily="18" charset="0"/>
            </a:endParaRPr>
          </a:p>
        </p:txBody>
      </p:sp>
      <p:sp>
        <p:nvSpPr>
          <p:cNvPr id="6" name="Textfeld 5"/>
          <p:cNvSpPr txBox="1"/>
          <p:nvPr/>
        </p:nvSpPr>
        <p:spPr>
          <a:xfrm>
            <a:off x="4727448" y="4453128"/>
            <a:ext cx="3803904" cy="530352"/>
          </a:xfrm>
          <a:prstGeom prst="rect">
            <a:avLst/>
          </a:prstGeom>
          <a:noFill/>
        </p:spPr>
        <p:txBody>
          <a:bodyPr wrap="square" rtlCol="0">
            <a:noAutofit/>
          </a:bodyPr>
          <a:lstStyle/>
          <a:p>
            <a:pPr algn="ctr"/>
            <a:r>
              <a:rPr lang="de-DE" sz="1600" dirty="0">
                <a:latin typeface="Times New Roman" panose="02020603050405020304" pitchFamily="18" charset="0"/>
                <a:cs typeface="Times New Roman" panose="02020603050405020304" pitchFamily="18" charset="0"/>
              </a:rPr>
              <a:t>Mathematisch-physikalische Botschaft der </a:t>
            </a:r>
            <a:r>
              <a:rPr lang="de-DE" sz="1600" dirty="0" smtClean="0">
                <a:latin typeface="Times New Roman" panose="02020603050405020304" pitchFamily="18" charset="0"/>
                <a:cs typeface="Times New Roman" panose="02020603050405020304" pitchFamily="18" charset="0"/>
              </a:rPr>
              <a:t>Voyager-Sonden (1977</a:t>
            </a:r>
            <a:r>
              <a:rPr lang="de-DE" sz="16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616260326"/>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err="1" smtClean="0">
                <a:solidFill>
                  <a:schemeClr val="bg1"/>
                </a:solidFill>
                <a:effectLst>
                  <a:outerShdw blurRad="38100" dist="38100" dir="2700000" algn="tl">
                    <a:srgbClr val="000000">
                      <a:alpha val="43137"/>
                    </a:srgbClr>
                  </a:outerShdw>
                </a:effectLst>
              </a:rPr>
              <a:t>Arbeiten</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zu</a:t>
            </a:r>
            <a:r>
              <a:rPr lang="en-CA" sz="3200" dirty="0" smtClean="0">
                <a:solidFill>
                  <a:schemeClr val="bg1"/>
                </a:solidFill>
                <a:effectLst>
                  <a:outerShdw blurRad="38100" dist="38100" dir="2700000" algn="tl">
                    <a:srgbClr val="000000">
                      <a:alpha val="43137"/>
                    </a:srgbClr>
                  </a:outerShdw>
                </a:effectLst>
              </a:rPr>
              <a:t> dem </a:t>
            </a:r>
            <a:r>
              <a:rPr lang="en-CA" sz="3200" dirty="0" err="1" smtClean="0">
                <a:solidFill>
                  <a:schemeClr val="bg1"/>
                </a:solidFill>
                <a:effectLst>
                  <a:outerShdw blurRad="38100" dist="38100" dir="2700000" algn="tl">
                    <a:srgbClr val="000000">
                      <a:alpha val="43137"/>
                    </a:srgbClr>
                  </a:outerShdw>
                </a:effectLst>
              </a:rPr>
              <a:t>Thema</a:t>
            </a:r>
            <a:endParaRPr lang="en-CA" sz="3200" dirty="0">
              <a:solidFill>
                <a:schemeClr val="bg1"/>
              </a:solidFill>
              <a:effectLst>
                <a:outerShdw blurRad="38100" dist="38100" dir="2700000" algn="tl">
                  <a:srgbClr val="000000">
                    <a:alpha val="43137"/>
                  </a:srgbClr>
                </a:outerShdw>
              </a:effectLst>
            </a:endParaRPr>
          </a:p>
        </p:txBody>
      </p:sp>
      <p:pic>
        <p:nvPicPr>
          <p:cNvPr id="1030"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2608" y="969264"/>
            <a:ext cx="4096512" cy="31041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736" y="969265"/>
            <a:ext cx="4096512" cy="363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1" name="Quellenangabe 1031" descr="Stewart, I. (2017): Xenomath!, S. 69.&#10;Epigraphe von Hersh / Cohen: zit. nach Stewart."/>
          <p:cNvSpPr txBox="1"/>
          <p:nvPr/>
        </p:nvSpPr>
        <p:spPr>
          <a:xfrm>
            <a:off x="310896" y="4288536"/>
            <a:ext cx="4069080" cy="329184"/>
          </a:xfrm>
          <a:prstGeom prst="rect">
            <a:avLst/>
          </a:prstGeom>
          <a:noFill/>
          <a:ln>
            <a:noFill/>
          </a:ln>
        </p:spPr>
        <p:txBody>
          <a:bodyPr wrap="none" lIns="0" tIns="0" rIns="0" bIns="0" anchor="t">
            <a:noAutofit/>
          </a:bodyPr>
          <a:lstStyle/>
          <a:p>
            <a:pPr marL="0" marR="0" indent="0" algn="l">
              <a:lnSpc>
                <a:spcPts val="897"/>
              </a:lnSpc>
              <a:spcBef>
                <a:spcPts val="0"/>
              </a:spcBef>
              <a:spcAft>
                <a:spcPts val="0"/>
              </a:spcAft>
              <a:buNone/>
            </a:pPr>
            <a:r>
              <a:rPr lang="de-DE" sz="780" b="0" i="0" u="none" dirty="0">
                <a:solidFill>
                  <a:srgbClr val="6B6B6B"/>
                </a:solidFill>
                <a:latin typeface="Times New Roman"/>
                <a:ea typeface="Times New Roman"/>
                <a:cs typeface="Times New Roman"/>
              </a:rPr>
              <a:t>Stewart, I. (2017): Xenomath!, S. 69.</a:t>
            </a:r>
            <a:endParaRPr lang="de-DE" sz="780"/>
          </a:p>
          <a:p>
            <a:pPr marL="0" marR="0" indent="0" algn="l">
              <a:lnSpc>
                <a:spcPts val="897"/>
              </a:lnSpc>
              <a:spcBef>
                <a:spcPts val="0"/>
              </a:spcBef>
              <a:spcAft>
                <a:spcPts val="0"/>
              </a:spcAft>
              <a:buNone/>
            </a:pPr>
            <a:r>
              <a:rPr lang="de-DE" sz="780" b="0" i="0" u="none" dirty="0">
                <a:solidFill>
                  <a:srgbClr val="6B6B6B"/>
                </a:solidFill>
                <a:latin typeface="Times New Roman"/>
                <a:ea typeface="Times New Roman"/>
                <a:cs typeface="Times New Roman"/>
              </a:rPr>
              <a:t>Epigraphe von Hersh / Cohen: zit. nach Stewart.</a:t>
            </a:r>
            <a:endParaRPr lang="de-DE" sz="780"/>
          </a:p>
        </p:txBody>
      </p:sp>
      <p:sp>
        <p:nvSpPr>
          <p:cNvPr id="1032" name="Quellenangabe 1032" descr="de Freitas, E. (2025): Xenomathematics as a planetary&#10;practice: imagining more-than-human mathematical worlds, S. 551."/>
          <p:cNvSpPr txBox="1"/>
          <p:nvPr/>
        </p:nvSpPr>
        <p:spPr>
          <a:xfrm>
            <a:off x="4745736" y="4745736"/>
            <a:ext cx="4096512" cy="310896"/>
          </a:xfrm>
          <a:prstGeom prst="rect">
            <a:avLst/>
          </a:prstGeom>
          <a:noFill/>
          <a:ln>
            <a:noFill/>
          </a:ln>
        </p:spPr>
        <p:txBody>
          <a:bodyPr wrap="none" lIns="0" tIns="0" rIns="0" bIns="0" anchor="t">
            <a:noAutofit/>
          </a:bodyPr>
          <a:lstStyle/>
          <a:p>
            <a:pPr marL="0" marR="0" indent="0" algn="l">
              <a:lnSpc>
                <a:spcPts val="828"/>
              </a:lnSpc>
              <a:spcBef>
                <a:spcPts val="0"/>
              </a:spcBef>
              <a:spcAft>
                <a:spcPts val="0"/>
              </a:spcAft>
              <a:buNone/>
            </a:pPr>
            <a:r>
              <a:rPr lang="de-DE" sz="720" b="0" i="0" u="none" dirty="0">
                <a:solidFill>
                  <a:srgbClr val="6B6B6B"/>
                </a:solidFill>
                <a:latin typeface="Times New Roman"/>
                <a:ea typeface="Times New Roman"/>
                <a:cs typeface="Times New Roman"/>
              </a:rPr>
              <a:t>de Freitas, E. (2025): Xenomathematics as a planetary</a:t>
            </a:r>
            <a:endParaRPr lang="de-DE" sz="720"/>
          </a:p>
          <a:p>
            <a:pPr marL="0" marR="0" indent="0" algn="l">
              <a:lnSpc>
                <a:spcPts val="828"/>
              </a:lnSpc>
              <a:spcBef>
                <a:spcPts val="0"/>
              </a:spcBef>
              <a:spcAft>
                <a:spcPts val="0"/>
              </a:spcAft>
              <a:buNone/>
            </a:pPr>
            <a:r>
              <a:rPr lang="de-DE" sz="720" b="0" i="0" u="none" dirty="0">
                <a:solidFill>
                  <a:srgbClr val="6B6B6B"/>
                </a:solidFill>
                <a:latin typeface="Times New Roman"/>
                <a:ea typeface="Times New Roman"/>
                <a:cs typeface="Times New Roman"/>
              </a:rPr>
              <a:t>practice: imagining more-than-human mathematical worlds, S. 551.</a:t>
            </a:r>
            <a:endParaRPr lang="de-DE" sz="720"/>
          </a:p>
        </p:txBody>
      </p:sp>
    </p:spTree>
    <p:extLst>
      <p:ext uri="{BB962C8B-B14F-4D97-AF65-F5344CB8AC3E}">
        <p14:creationId xmlns:p14="http://schemas.microsoft.com/office/powerpoint/2010/main" val="4186297659"/>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hteck 2"/>
          <p:cNvSpPr/>
          <p:nvPr/>
        </p:nvSpPr>
        <p:spPr>
          <a:xfrm>
            <a:off x="0" y="0"/>
            <a:ext cx="9144000" cy="5555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4" name="Textfeld 3"/>
          <p:cNvSpPr txBox="1"/>
          <p:nvPr/>
        </p:nvSpPr>
        <p:spPr>
          <a:xfrm>
            <a:off x="0" y="1"/>
            <a:ext cx="9144000" cy="555955"/>
          </a:xfrm>
          <a:prstGeom prst="rect">
            <a:avLst/>
          </a:prstGeom>
          <a:noFill/>
        </p:spPr>
        <p:txBody>
          <a:bodyPr wrap="square" rtlCol="0" anchor="ctr">
            <a:noAutofit/>
          </a:bodyPr>
          <a:lstStyle/>
          <a:p>
            <a:pPr algn="ctr"/>
            <a:r>
              <a:rPr lang="en-CA" sz="3200" dirty="0" smtClean="0">
                <a:solidFill>
                  <a:schemeClr val="bg1"/>
                </a:solidFill>
                <a:effectLst>
                  <a:outerShdw blurRad="38100" dist="38100" dir="2700000" algn="tl">
                    <a:srgbClr val="000000">
                      <a:alpha val="43137"/>
                    </a:srgbClr>
                  </a:outerShdw>
                </a:effectLst>
              </a:rPr>
              <a:t>Was </a:t>
            </a:r>
            <a:r>
              <a:rPr lang="en-CA" sz="3200" dirty="0" err="1" smtClean="0">
                <a:solidFill>
                  <a:schemeClr val="bg1"/>
                </a:solidFill>
                <a:effectLst>
                  <a:outerShdw blurRad="38100" dist="38100" dir="2700000" algn="tl">
                    <a:srgbClr val="000000">
                      <a:alpha val="43137"/>
                    </a:srgbClr>
                  </a:outerShdw>
                </a:effectLst>
              </a:rPr>
              <a:t>ist</a:t>
            </a:r>
            <a:r>
              <a:rPr lang="en-CA" sz="3200" dirty="0" smtClean="0">
                <a:solidFill>
                  <a:schemeClr val="bg1"/>
                </a:solidFill>
                <a:effectLst>
                  <a:outerShdw blurRad="38100" dist="38100" dir="2700000" algn="tl">
                    <a:srgbClr val="000000">
                      <a:alpha val="43137"/>
                    </a:srgbClr>
                  </a:outerShdw>
                </a:effectLst>
              </a:rPr>
              <a:t> “</a:t>
            </a:r>
            <a:r>
              <a:rPr lang="en-CA" sz="3200" dirty="0" err="1" smtClean="0">
                <a:solidFill>
                  <a:schemeClr val="bg1"/>
                </a:solidFill>
                <a:effectLst>
                  <a:outerShdw blurRad="38100" dist="38100" dir="2700000" algn="tl">
                    <a:srgbClr val="000000">
                      <a:alpha val="43137"/>
                    </a:srgbClr>
                  </a:outerShdw>
                </a:effectLst>
              </a:rPr>
              <a:t>Xenomathematik</a:t>
            </a:r>
            <a:r>
              <a:rPr lang="en-CA" sz="3200" dirty="0" smtClean="0">
                <a:solidFill>
                  <a:schemeClr val="bg1"/>
                </a:solidFill>
                <a:effectLst>
                  <a:outerShdw blurRad="38100" dist="38100" dir="2700000" algn="tl">
                    <a:srgbClr val="000000">
                      <a:alpha val="43137"/>
                    </a:srgbClr>
                  </a:outerShdw>
                </a:effectLst>
              </a:rPr>
              <a:t>”?</a:t>
            </a:r>
            <a:endParaRPr lang="en-CA" sz="3200" dirty="0">
              <a:solidFill>
                <a:schemeClr val="bg1"/>
              </a:solidFill>
              <a:effectLst>
                <a:outerShdw blurRad="38100" dist="38100" dir="2700000" algn="tl">
                  <a:srgbClr val="000000">
                    <a:alpha val="43137"/>
                  </a:srgbClr>
                </a:outerShdw>
              </a:effectLst>
            </a:endParaRPr>
          </a:p>
        </p:txBody>
      </p:sp>
      <p:sp>
        <p:nvSpPr>
          <p:cNvPr id="6" name="Textfeld 5"/>
          <p:cNvSpPr txBox="1"/>
          <p:nvPr/>
        </p:nvSpPr>
        <p:spPr>
          <a:xfrm>
            <a:off x="228600" y="768096"/>
            <a:ext cx="8686800" cy="4023360"/>
          </a:xfrm>
          <a:prstGeom prst="rect">
            <a:avLst/>
          </a:prstGeom>
          <a:noFill/>
        </p:spPr>
        <p:txBody>
          <a:bodyPr wrap="square" rtlCol="0">
            <a:noAutofit/>
          </a:bodyPr>
          <a:lstStyle/>
          <a:p>
            <a:r>
              <a:rPr lang="de-DE" sz="2400" b="1" dirty="0" smtClean="0">
                <a:solidFill>
                  <a:schemeClr val="tx2"/>
                </a:solidFill>
                <a:latin typeface="Times New Roman" panose="02020603050405020304" pitchFamily="18" charset="0"/>
                <a:cs typeface="Times New Roman" panose="02020603050405020304" pitchFamily="18" charset="0"/>
              </a:rPr>
              <a:t>Arbeitsdefinition</a:t>
            </a:r>
          </a:p>
          <a:p>
            <a:pPr algn="l"/>
            <a:r>
              <a:rPr lang="de-DE" sz="2000" i="1" dirty="0" err="1" smtClean="0">
                <a:latin typeface="Times New Roman" panose="02020603050405020304" pitchFamily="18" charset="0"/>
                <a:cs typeface="Times New Roman" panose="02020603050405020304" pitchFamily="18" charset="0"/>
              </a:rPr>
              <a:t>Xenomathematik</a:t>
            </a:r>
            <a:r>
              <a:rPr lang="de-DE" sz="2000" dirty="0" smtClean="0">
                <a:latin typeface="Times New Roman" panose="02020603050405020304" pitchFamily="18" charset="0"/>
                <a:cs typeface="Times New Roman" panose="02020603050405020304" pitchFamily="18" charset="0"/>
              </a:rPr>
              <a:t> </a:t>
            </a:r>
            <a:r>
              <a:rPr lang="de-DE" sz="2000" dirty="0">
                <a:latin typeface="Times New Roman" panose="02020603050405020304" pitchFamily="18" charset="0"/>
                <a:cs typeface="Times New Roman" panose="02020603050405020304" pitchFamily="18" charset="0"/>
              </a:rPr>
              <a:t>bezeichnet Mathematik, die nicht-menschlich </a:t>
            </a:r>
            <a:r>
              <a:rPr lang="de-DE" sz="2000" u="sng" dirty="0">
                <a:latin typeface="Times New Roman" panose="02020603050405020304" pitchFamily="18" charset="0"/>
                <a:cs typeface="Times New Roman" panose="02020603050405020304" pitchFamily="18" charset="0"/>
              </a:rPr>
              <a:t>oder</a:t>
            </a:r>
            <a:r>
              <a:rPr lang="de-DE" sz="2000" dirty="0">
                <a:latin typeface="Times New Roman" panose="02020603050405020304" pitchFamily="18" charset="0"/>
                <a:cs typeface="Times New Roman" panose="02020603050405020304" pitchFamily="18" charset="0"/>
              </a:rPr>
              <a:t> mehr-als-menschlich </a:t>
            </a:r>
            <a:r>
              <a:rPr lang="de-DE" sz="2000" dirty="0" smtClean="0">
                <a:latin typeface="Times New Roman" panose="02020603050405020304" pitchFamily="18" charset="0"/>
                <a:cs typeface="Times New Roman" panose="02020603050405020304" pitchFamily="18" charset="0"/>
              </a:rPr>
              <a:t>ist.</a:t>
            </a:r>
            <a:endParaRPr lang="de-DE" sz="2000" dirty="0">
              <a:latin typeface="Times New Roman" panose="02020603050405020304" pitchFamily="18" charset="0"/>
              <a:cs typeface="Times New Roman" panose="02020603050405020304" pitchFamily="18" charset="0"/>
            </a:endParaRPr>
          </a:p>
        </p:txBody>
      </p:sp>
      <p:pic>
        <p:nvPicPr>
          <p:cNvPr id="1026" name="Picture 2" descr="D:\Downloads\Xenomathematik_ Posthumane Mathematik.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7473" b="13435"/>
          <a:stretch/>
        </p:blipFill>
        <p:spPr bwMode="auto">
          <a:xfrm>
            <a:off x="2071824" y="1851670"/>
            <a:ext cx="4948448" cy="29353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915534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4.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1_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5.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0</TotalTime>
  <Words>5619</Words>
  <Application>Microsoft Office PowerPoint</Application>
  <PresentationFormat>Bildschirmpräsentation (16:9)</PresentationFormat>
  <Paragraphs>524</Paragraphs>
  <Slides>64</Slides>
  <Notes>29</Notes>
  <HiddenSlides>0</HiddenSlides>
  <MMClips>0</MMClips>
  <ScaleCrop>false</ScaleCrop>
  <HeadingPairs>
    <vt:vector size="4" baseType="variant">
      <vt:variant>
        <vt:lpstr>Design</vt:lpstr>
      </vt:variant>
      <vt:variant>
        <vt:i4>4</vt:i4>
      </vt:variant>
      <vt:variant>
        <vt:lpstr>Folientitel</vt:lpstr>
      </vt:variant>
      <vt:variant>
        <vt:i4>64</vt:i4>
      </vt:variant>
    </vt:vector>
  </HeadingPairs>
  <TitlesOfParts>
    <vt:vector size="68" baseType="lpstr">
      <vt:lpstr>Executive</vt:lpstr>
      <vt:lpstr>Larissa</vt:lpstr>
      <vt:lpstr>1_Larissa</vt:lpstr>
      <vt:lpstr>1_Executive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Über den offenen Horizont – Mathematisches Subjekt</dc:title>
  <dc:subject>Layoutüberarbeitung und ergänzende Folien zum Intuitionismus</dc:subject>
  <dc:creator>Anton</dc:creator>
  <cp:lastModifiedBy>Anton </cp:lastModifiedBy>
  <cp:revision>95</cp:revision>
  <dcterms:created xsi:type="dcterms:W3CDTF">2026-09-26T19:33:19Z</dcterms:created>
  <dcterms:modified xsi:type="dcterms:W3CDTF">2026-10-01T18:25:35Z</dcterms:modified>
</cp:coreProperties>
</file>