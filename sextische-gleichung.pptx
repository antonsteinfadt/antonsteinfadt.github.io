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47" d="100"/>
          <a:sy n="147" d="100"/>
        </p:scale>
        <p:origin x="-59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4B5FDE-10F5-4B6D-8CBD-F5E29A1A6CD3}" type="datetimeFigureOut">
              <a:rPr lang="de-DE" smtClean="0"/>
              <a:t>25.10.2026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1B99D0-9266-4F4B-84B6-87BA7FC0B0BB}" type="slidenum">
              <a:rPr lang="de-DE" smtClean="0"/>
              <a:t>‹Nr.›</a:t>
            </a:fld>
            <a:endParaRPr lang="de-DE"/>
          </a:p>
        </p:txBody>
      </p:sp>
    </p:spTree>
    <p:extLst>
      <p:ext uri="{BB962C8B-B14F-4D97-AF65-F5344CB8AC3E}">
        <p14:creationId xmlns:p14="http://schemas.microsoft.com/office/powerpoint/2010/main" val="3235308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2</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3</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4</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5</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CA" dirty="0"/>
          </a:p>
        </p:txBody>
      </p:sp>
      <p:sp>
        <p:nvSpPr>
          <p:cNvPr id="4" name="Foliennummernplatzhalter 3"/>
          <p:cNvSpPr>
            <a:spLocks noGrp="1"/>
          </p:cNvSpPr>
          <p:nvPr>
            <p:ph type="sldNum" sz="quarter" idx="10"/>
          </p:nvPr>
        </p:nvSpPr>
        <p:spPr/>
        <p:txBody>
          <a:bodyPr/>
          <a:lstStyle/>
          <a:p>
            <a:fld id="{CD05DCCD-9A90-4864-80D3-B3D07D5C9048}" type="slidenum">
              <a:rPr lang="en-CA" smtClean="0"/>
              <a:t>6</a:t>
            </a:fld>
            <a:endParaRPr lang="en-CA"/>
          </a:p>
        </p:txBody>
      </p:sp>
    </p:spTree>
    <p:extLst>
      <p:ext uri="{BB962C8B-B14F-4D97-AF65-F5344CB8AC3E}">
        <p14:creationId xmlns:p14="http://schemas.microsoft.com/office/powerpoint/2010/main" val="751206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7</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8</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9</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10</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11</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12</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13</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14</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15</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16</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17</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Descartes nutzte die Tatsache, dass in einem Kreis mit dem Durchmesser LI und den Punkten H und P auf dem Umfang zwei rechtwinklige Dreiecke LPI und LHI mit der Hypotenuse LI entstehen. Da</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18</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Again, he claimed that </a:t>
            </a:r>
            <a:r>
              <a:rPr lang="en-US" dirty="0" err="1" smtClean="0"/>
              <a:t>sextic</a:t>
            </a:r>
            <a:r>
              <a:rPr lang="en-US" dirty="0" smtClean="0"/>
              <a:t> equations that do not meet these constraints can be transformed by a substitution of variables. He noted further that </a:t>
            </a:r>
            <a:r>
              <a:rPr lang="en-US" dirty="0" err="1" smtClean="0"/>
              <a:t>quintics</a:t>
            </a:r>
            <a:r>
              <a:rPr lang="en-US" dirty="0" smtClean="0"/>
              <a:t> could be solved by multiplying through by x and solving the resultant </a:t>
            </a:r>
            <a:r>
              <a:rPr lang="en-US" dirty="0" err="1" smtClean="0"/>
              <a:t>sextic</a:t>
            </a:r>
            <a:r>
              <a:rPr lang="en-US" dirty="0" smtClean="0"/>
              <a:t> (ignoring the solution x=0 ).</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19</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20</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21</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Descartes nutzte die Tatsache, dass in einem Kreis mit dem Durchmesser LI und den Punkten H und P auf dem Umfang zwei rechtwinklige Dreiecke LPI und LHI mit der Hypotenuse LI entstehen. Da</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22</a:t>
            </a:fld>
            <a:endParaRPr lang="de-DE"/>
          </a:p>
        </p:txBody>
      </p:sp>
    </p:spTree>
    <p:extLst>
      <p:ext uri="{BB962C8B-B14F-4D97-AF65-F5344CB8AC3E}">
        <p14:creationId xmlns:p14="http://schemas.microsoft.com/office/powerpoint/2010/main" val="3063954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19"/>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285990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4239337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418013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October 25,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155762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October 25, 2026</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500528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October 25, 2026</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594167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October 25, 2026</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711205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1"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October 25, 2026</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1638100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October 25,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469670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060562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14366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October 25, 2026</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October 25,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October 25,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October 25,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October 25,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October 25,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October 25,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October 25, 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October 25,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October 25,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October 25,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October 25, 2026</a:t>
            </a:fld>
            <a:endParaRPr lang="en-US" dirty="0"/>
          </a:p>
        </p:txBody>
      </p:sp>
      <p:sp>
        <p:nvSpPr>
          <p:cNvPr id="5" name="Fußzeilenplatzhalt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1590726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October 25, 2026</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2.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3.xml"/><Relationship Id="rId16"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9.png"/><Relationship Id="rId10" Type="http://schemas.openxmlformats.org/officeDocument/2006/relationships/image" Target="../media/image25.png"/><Relationship Id="rId4" Type="http://schemas.openxmlformats.org/officeDocument/2006/relationships/image" Target="../media/image18.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0.png"/><Relationship Id="rId9"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37.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11.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37.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1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37.png"/><Relationship Id="rId7"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80.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7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25.png"/><Relationship Id="rId5" Type="http://schemas.openxmlformats.org/officeDocument/2006/relationships/image" Target="../media/image75.png"/><Relationship Id="rId10" Type="http://schemas.openxmlformats.org/officeDocument/2006/relationships/image" Target="../media/image78.png"/><Relationship Id="rId4" Type="http://schemas.openxmlformats.org/officeDocument/2006/relationships/image" Target="../media/image74.png"/><Relationship Id="rId9" Type="http://schemas.openxmlformats.org/officeDocument/2006/relationships/image" Target="../media/image30.png"/><Relationship Id="rId14" Type="http://schemas.openxmlformats.org/officeDocument/2006/relationships/image" Target="../media/image81.png"/></Relationships>
</file>

<file path=ppt/slides/_rels/slide14.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1.png"/><Relationship Id="rId3" Type="http://schemas.openxmlformats.org/officeDocument/2006/relationships/image" Target="../media/image82.png"/><Relationship Id="rId7" Type="http://schemas.openxmlformats.org/officeDocument/2006/relationships/image" Target="../media/image86.png"/><Relationship Id="rId12"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30.png"/><Relationship Id="rId3" Type="http://schemas.openxmlformats.org/officeDocument/2006/relationships/image" Target="../media/image92.png"/><Relationship Id="rId7" Type="http://schemas.openxmlformats.org/officeDocument/2006/relationships/image" Target="../media/image76.png"/><Relationship Id="rId12"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5.png"/><Relationship Id="rId11" Type="http://schemas.openxmlformats.org/officeDocument/2006/relationships/image" Target="../media/image51.png"/><Relationship Id="rId5" Type="http://schemas.openxmlformats.org/officeDocument/2006/relationships/image" Target="../media/image74.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45.png"/></Relationships>
</file>

<file path=ppt/slides/_rels/slide17.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image" Target="../media/image93.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notesSlide" Target="../notesSlides/notesSlide16.xml"/><Relationship Id="rId16" Type="http://schemas.openxmlformats.org/officeDocument/2006/relationships/image" Target="../media/image103.png"/><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98.png"/><Relationship Id="rId5" Type="http://schemas.openxmlformats.org/officeDocument/2006/relationships/image" Target="../media/image30.png"/><Relationship Id="rId15" Type="http://schemas.openxmlformats.org/officeDocument/2006/relationships/image" Target="../media/image102.png"/><Relationship Id="rId10" Type="http://schemas.openxmlformats.org/officeDocument/2006/relationships/image" Target="../media/image97.png"/><Relationship Id="rId4" Type="http://schemas.openxmlformats.org/officeDocument/2006/relationships/image" Target="../media/image29.png"/><Relationship Id="rId9" Type="http://schemas.openxmlformats.org/officeDocument/2006/relationships/image" Target="../media/image96.png"/><Relationship Id="rId14" Type="http://schemas.openxmlformats.org/officeDocument/2006/relationships/image" Target="../media/image101.png"/></Relationships>
</file>

<file path=ppt/slides/_rels/slide18.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78.png"/></Relationships>
</file>

<file path=ppt/slides/_rels/slide19.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73.png"/><Relationship Id="rId7"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3" Type="http://schemas.openxmlformats.org/officeDocument/2006/relationships/image" Target="../media/image29.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95.png"/><Relationship Id="rId2" Type="http://schemas.openxmlformats.org/officeDocument/2006/relationships/notesSlide" Target="../notesSlides/notesSlide19.xml"/><Relationship Id="rId16" Type="http://schemas.openxmlformats.org/officeDocument/2006/relationships/image" Target="../media/image76.png"/><Relationship Id="rId1" Type="http://schemas.openxmlformats.org/officeDocument/2006/relationships/slideLayout" Target="../slideLayouts/slideLayout1.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4.png"/><Relationship Id="rId15" Type="http://schemas.openxmlformats.org/officeDocument/2006/relationships/image" Target="../media/image93.png"/><Relationship Id="rId10" Type="http://schemas.openxmlformats.org/officeDocument/2006/relationships/image" Target="../media/image100.png"/><Relationship Id="rId4" Type="http://schemas.openxmlformats.org/officeDocument/2006/relationships/image" Target="../media/image30.png"/><Relationship Id="rId9" Type="http://schemas.openxmlformats.org/officeDocument/2006/relationships/image" Target="../media/image99.png"/><Relationship Id="rId14" Type="http://schemas.openxmlformats.org/officeDocument/2006/relationships/image" Target="../media/image112.png"/></Relationships>
</file>

<file path=ppt/slides/_rels/slide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9.png"/><Relationship Id="rId7" Type="http://schemas.openxmlformats.org/officeDocument/2006/relationships/image" Target="../media/image8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30.png"/><Relationship Id="rId9" Type="http://schemas.openxmlformats.org/officeDocument/2006/relationships/image" Target="../media/image83.png"/></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undefined"/>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4657" t="3794" r="4536" b="22068"/>
          <a:stretch/>
        </p:blipFill>
        <p:spPr bwMode="auto">
          <a:xfrm flipH="1">
            <a:off x="6191895" y="2179330"/>
            <a:ext cx="2952328" cy="297756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Big Thinker: French philosopher René Descartes - The Ethics Centre"/>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23786" r="65786"/>
                    </a14:imgEffect>
                  </a14:imgLayer>
                </a14:imgProps>
              </a:ext>
              <a:ext uri="{28A0092B-C50C-407E-A947-70E740481C1C}">
                <a14:useLocalDpi xmlns:a14="http://schemas.microsoft.com/office/drawing/2010/main" val="0"/>
              </a:ext>
            </a:extLst>
          </a:blip>
          <a:srcRect l="37667" r="34609"/>
          <a:stretch/>
        </p:blipFill>
        <p:spPr bwMode="auto">
          <a:xfrm>
            <a:off x="0" y="-20538"/>
            <a:ext cx="3335846" cy="5164038"/>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p:cNvSpPr/>
          <p:nvPr/>
        </p:nvSpPr>
        <p:spPr>
          <a:xfrm>
            <a:off x="2614043" y="-79189"/>
            <a:ext cx="6710491" cy="1138773"/>
          </a:xfrm>
          <a:prstGeom prst="rect">
            <a:avLst/>
          </a:prstGeom>
        </p:spPr>
        <p:txBody>
          <a:bodyPr wrap="none">
            <a:spAutoFit/>
          </a:bodyPr>
          <a:lstStyle/>
          <a:p>
            <a:pPr algn="ctr"/>
            <a:r>
              <a:rPr lang="de-DE" sz="6800" b="1" dirty="0" smtClean="0"/>
              <a:t>René Descartes </a:t>
            </a:r>
          </a:p>
        </p:txBody>
      </p:sp>
      <p:sp>
        <p:nvSpPr>
          <p:cNvPr id="9" name="Textfeld 8"/>
          <p:cNvSpPr txBox="1"/>
          <p:nvPr/>
        </p:nvSpPr>
        <p:spPr>
          <a:xfrm>
            <a:off x="2771800" y="876077"/>
            <a:ext cx="6336704" cy="661720"/>
          </a:xfrm>
          <a:prstGeom prst="rect">
            <a:avLst/>
          </a:prstGeom>
          <a:noFill/>
        </p:spPr>
        <p:txBody>
          <a:bodyPr wrap="square" rtlCol="0">
            <a:spAutoFit/>
          </a:bodyPr>
          <a:lstStyle/>
          <a:p>
            <a:r>
              <a:rPr lang="de-DE" sz="3700" b="1" dirty="0" smtClean="0">
                <a:solidFill>
                  <a:srgbClr val="FF0000"/>
                </a:solidFill>
                <a:effectLst>
                  <a:outerShdw blurRad="38100" dist="38100" dir="2700000" algn="tl">
                    <a:srgbClr val="000000">
                      <a:alpha val="43137"/>
                    </a:srgbClr>
                  </a:outerShdw>
                </a:effectLst>
              </a:rPr>
              <a:t>über Gleichungen 6. Grades</a:t>
            </a:r>
            <a:endParaRPr lang="de-DE" sz="3700" b="1" dirty="0">
              <a:solidFill>
                <a:srgbClr val="FF0000"/>
              </a:solidFill>
              <a:effectLst>
                <a:outerShdw blurRad="38100" dist="38100" dir="2700000" algn="tl">
                  <a:srgbClr val="000000">
                    <a:alpha val="43137"/>
                  </a:srgbClr>
                </a:outerShdw>
              </a:effectLst>
            </a:endParaRPr>
          </a:p>
        </p:txBody>
      </p:sp>
      <p:pic>
        <p:nvPicPr>
          <p:cNvPr id="10" name="Picture 7"/>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87824" y="1547154"/>
            <a:ext cx="4104456" cy="3544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825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Cartesische Parabel</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40308"/>
            <a:ext cx="8712968" cy="923330"/>
          </a:xfrm>
          <a:prstGeom prst="rect">
            <a:avLst/>
          </a:prstGeom>
          <a:noFill/>
        </p:spPr>
        <p:txBody>
          <a:bodyPr wrap="square" rtlCol="0">
            <a:spAutoFit/>
          </a:bodyPr>
          <a:lstStyle/>
          <a:p>
            <a:pPr marL="285750" indent="-285750">
              <a:buFont typeface="Arial" panose="020B0604020202020204" pitchFamily="34" charset="0"/>
              <a:buChar char="•"/>
            </a:pPr>
            <a:r>
              <a:rPr lang="de-DE" dirty="0" smtClean="0"/>
              <a:t>Gegeben </a:t>
            </a:r>
            <a:r>
              <a:rPr lang="de-DE" dirty="0" err="1" smtClean="0"/>
              <a:t>a,b</a:t>
            </a:r>
            <a:r>
              <a:rPr lang="de-DE" dirty="0" smtClean="0"/>
              <a:t> und n, betrachte y=x²/n mit D(0,0), E(0,a) und A(0,b).</a:t>
            </a:r>
          </a:p>
          <a:p>
            <a:pPr marL="285750" indent="-285750">
              <a:buFont typeface="Arial" panose="020B0604020202020204" pitchFamily="34" charset="0"/>
              <a:buChar char="•"/>
            </a:pPr>
            <a:r>
              <a:rPr lang="de-DE" dirty="0" smtClean="0"/>
              <a:t>Ziehe eine Gerade durch AE </a:t>
            </a:r>
          </a:p>
          <a:p>
            <a:pPr marL="285750" indent="-285750">
              <a:buFont typeface="Arial" panose="020B0604020202020204" pitchFamily="34" charset="0"/>
              <a:buChar char="•"/>
            </a:pPr>
            <a:r>
              <a:rPr lang="de-DE" dirty="0" smtClean="0"/>
              <a:t>Diese schneidet die Parabel in C</a:t>
            </a:r>
            <a:r>
              <a:rPr lang="de-DE" baseline="-25000" dirty="0" smtClean="0"/>
              <a:t>1</a:t>
            </a:r>
            <a:r>
              <a:rPr lang="de-DE" dirty="0" smtClean="0"/>
              <a:t> und C</a:t>
            </a:r>
            <a:r>
              <a:rPr lang="de-DE" baseline="-25000" dirty="0" smtClean="0"/>
              <a:t>2</a:t>
            </a:r>
            <a:r>
              <a:rPr lang="de-DE" dirty="0" smtClean="0"/>
              <a:t>.</a:t>
            </a:r>
            <a:endParaRPr lang="de-DE"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973" y="1851670"/>
            <a:ext cx="8791523" cy="237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16" y="1851670"/>
            <a:ext cx="8791523" cy="2642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104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Cartesische Parabel</a:t>
            </a:r>
            <a:endParaRPr lang="en-CA" sz="3200" dirty="0">
              <a:solidFill>
                <a:schemeClr val="bg1"/>
              </a:solidFill>
              <a:effectLst>
                <a:outerShdw blurRad="38100" dist="38100" dir="2700000" algn="tl">
                  <a:srgbClr val="000000">
                    <a:alpha val="43137"/>
                  </a:srgbClr>
                </a:outerShdw>
              </a:effectLst>
            </a:endParaRPr>
          </a:p>
        </p:txBody>
      </p:sp>
      <p:pic>
        <p:nvPicPr>
          <p:cNvPr id="5" name="Picture 4" descr="Big Thinker: French philosopher René Descartes - The Ethics Centre"/>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23786" r="65786"/>
                    </a14:imgEffect>
                  </a14:imgLayer>
                </a14:imgProps>
              </a:ext>
              <a:ext uri="{28A0092B-C50C-407E-A947-70E740481C1C}">
                <a14:useLocalDpi xmlns:a14="http://schemas.microsoft.com/office/drawing/2010/main" val="0"/>
              </a:ext>
            </a:extLst>
          </a:blip>
          <a:srcRect l="37667" r="34609"/>
          <a:stretch/>
        </p:blipFill>
        <p:spPr bwMode="auto">
          <a:xfrm>
            <a:off x="1" y="555526"/>
            <a:ext cx="2963722" cy="458797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maa.org/sites/default/files/images/upload_library/46/Rubinstein/updated-cartesian-parabola.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75856" y="779531"/>
            <a:ext cx="4968552" cy="414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842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Cartesische Parabel</a:t>
            </a:r>
            <a:endParaRPr lang="en-CA" sz="3200" dirty="0">
              <a:solidFill>
                <a:schemeClr val="bg1"/>
              </a:solidFill>
              <a:effectLst>
                <a:outerShdw blurRad="38100" dist="38100" dir="2700000" algn="tl">
                  <a:srgbClr val="000000">
                    <a:alpha val="43137"/>
                  </a:srgbClr>
                </a:outerShdw>
              </a:effectLst>
            </a:endParaRPr>
          </a:p>
        </p:txBody>
      </p:sp>
      <p:pic>
        <p:nvPicPr>
          <p:cNvPr id="51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9132" y="829503"/>
            <a:ext cx="4147364"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Geschweifte Klammer rechts 2"/>
          <p:cNvSpPr/>
          <p:nvPr/>
        </p:nvSpPr>
        <p:spPr>
          <a:xfrm rot="5400000">
            <a:off x="7184206" y="3603610"/>
            <a:ext cx="282823" cy="2175818"/>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 name="Textfeld 3"/>
          <p:cNvSpPr txBox="1"/>
          <p:nvPr/>
        </p:nvSpPr>
        <p:spPr>
          <a:xfrm>
            <a:off x="7217246" y="4794706"/>
            <a:ext cx="414735" cy="369332"/>
          </a:xfrm>
          <a:prstGeom prst="rect">
            <a:avLst/>
          </a:prstGeom>
          <a:noFill/>
        </p:spPr>
        <p:txBody>
          <a:bodyPr wrap="square" rtlCol="0">
            <a:spAutoFit/>
          </a:bodyPr>
          <a:lstStyle/>
          <a:p>
            <a:r>
              <a:rPr lang="de-DE" dirty="0" smtClean="0"/>
              <a:t>b</a:t>
            </a:r>
            <a:endParaRPr lang="de-DE" dirty="0"/>
          </a:p>
        </p:txBody>
      </p:sp>
      <p:sp>
        <p:nvSpPr>
          <p:cNvPr id="9" name="Geschweifte Klammer rechts 8"/>
          <p:cNvSpPr/>
          <p:nvPr/>
        </p:nvSpPr>
        <p:spPr>
          <a:xfrm rot="10800000">
            <a:off x="5868144" y="1477575"/>
            <a:ext cx="290009" cy="1944216"/>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 name="Textfeld 4"/>
          <p:cNvSpPr txBox="1"/>
          <p:nvPr/>
        </p:nvSpPr>
        <p:spPr>
          <a:xfrm>
            <a:off x="5652120" y="2260371"/>
            <a:ext cx="144016" cy="369332"/>
          </a:xfrm>
          <a:prstGeom prst="rect">
            <a:avLst/>
          </a:prstGeom>
          <a:noFill/>
        </p:spPr>
        <p:txBody>
          <a:bodyPr wrap="square" rtlCol="0">
            <a:spAutoFit/>
          </a:bodyPr>
          <a:lstStyle/>
          <a:p>
            <a:r>
              <a:rPr lang="de-DE" dirty="0" smtClean="0"/>
              <a:t>a</a:t>
            </a:r>
            <a:endParaRPr lang="de-DE" dirty="0"/>
          </a:p>
        </p:txBody>
      </p:sp>
      <p:pic>
        <p:nvPicPr>
          <p:cNvPr id="512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78729" y="1347614"/>
            <a:ext cx="1081103" cy="447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627534"/>
            <a:ext cx="2160240" cy="253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752" y="661827"/>
            <a:ext cx="3096344" cy="263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504" y="956389"/>
            <a:ext cx="2641745" cy="247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Geschweifte Klammer rechts 14"/>
          <p:cNvSpPr/>
          <p:nvPr/>
        </p:nvSpPr>
        <p:spPr>
          <a:xfrm rot="5400000">
            <a:off x="6552441" y="3875159"/>
            <a:ext cx="276866" cy="946827"/>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 name="Textfeld 5"/>
          <p:cNvSpPr txBox="1"/>
          <p:nvPr/>
        </p:nvSpPr>
        <p:spPr>
          <a:xfrm>
            <a:off x="6559649" y="4361079"/>
            <a:ext cx="288032" cy="369332"/>
          </a:xfrm>
          <a:prstGeom prst="rect">
            <a:avLst/>
          </a:prstGeom>
          <a:noFill/>
        </p:spPr>
        <p:txBody>
          <a:bodyPr wrap="square" rtlCol="0">
            <a:spAutoFit/>
          </a:bodyPr>
          <a:lstStyle/>
          <a:p>
            <a:r>
              <a:rPr lang="de-DE" dirty="0" smtClean="0"/>
              <a:t>x</a:t>
            </a:r>
            <a:endParaRPr lang="de-DE" dirty="0"/>
          </a:p>
        </p:txBody>
      </p:sp>
      <p:pic>
        <p:nvPicPr>
          <p:cNvPr id="5126"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224" y="1995686"/>
            <a:ext cx="3724696" cy="210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7"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224" y="2304472"/>
            <a:ext cx="876076" cy="244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8"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9592" y="2715766"/>
            <a:ext cx="1152128" cy="52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9"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3728" y="2768553"/>
            <a:ext cx="1728192" cy="523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0"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7224" y="3363838"/>
            <a:ext cx="4689900" cy="279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2"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2012" y="3778777"/>
            <a:ext cx="2383884" cy="59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3"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7544" y="4544621"/>
            <a:ext cx="1445914" cy="267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4" name="Picture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13458" y="4523820"/>
            <a:ext cx="1009815" cy="33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5" name="Picture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99533" y="4443958"/>
            <a:ext cx="1453530" cy="496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Geschweifte Klammer rechts 23"/>
          <p:cNvSpPr/>
          <p:nvPr/>
        </p:nvSpPr>
        <p:spPr>
          <a:xfrm>
            <a:off x="7745561" y="2549258"/>
            <a:ext cx="282823" cy="1406222"/>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 name="Rechteck 1"/>
          <p:cNvSpPr/>
          <p:nvPr/>
        </p:nvSpPr>
        <p:spPr>
          <a:xfrm>
            <a:off x="7997428" y="3066514"/>
            <a:ext cx="288862" cy="369332"/>
          </a:xfrm>
          <a:prstGeom prst="rect">
            <a:avLst/>
          </a:prstGeom>
        </p:spPr>
        <p:txBody>
          <a:bodyPr wrap="none">
            <a:spAutoFit/>
          </a:bodyPr>
          <a:lstStyle/>
          <a:p>
            <a:r>
              <a:rPr lang="de-DE" dirty="0" smtClean="0"/>
              <a:t>y</a:t>
            </a:r>
            <a:endParaRPr lang="de-DE" dirty="0"/>
          </a:p>
        </p:txBody>
      </p:sp>
      <p:cxnSp>
        <p:nvCxnSpPr>
          <p:cNvPr id="11" name="Gerade Verbindung 10"/>
          <p:cNvCxnSpPr/>
          <p:nvPr/>
        </p:nvCxnSpPr>
        <p:spPr>
          <a:xfrm>
            <a:off x="6246019" y="1535906"/>
            <a:ext cx="852487" cy="969169"/>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0" name="Gerade Verbindung 29"/>
          <p:cNvCxnSpPr/>
          <p:nvPr/>
        </p:nvCxnSpPr>
        <p:spPr>
          <a:xfrm>
            <a:off x="6237327" y="1575434"/>
            <a:ext cx="0" cy="929641"/>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 name="Gerade Verbindung 32"/>
          <p:cNvCxnSpPr/>
          <p:nvPr/>
        </p:nvCxnSpPr>
        <p:spPr>
          <a:xfrm flipH="1">
            <a:off x="6256378" y="2538412"/>
            <a:ext cx="84212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Gerade Verbindung 36"/>
          <p:cNvCxnSpPr/>
          <p:nvPr/>
        </p:nvCxnSpPr>
        <p:spPr>
          <a:xfrm flipV="1">
            <a:off x="7115175" y="2586038"/>
            <a:ext cx="4763" cy="1350168"/>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 name="Gerade Verbindung 39"/>
          <p:cNvCxnSpPr/>
          <p:nvPr/>
        </p:nvCxnSpPr>
        <p:spPr>
          <a:xfrm flipH="1" flipV="1">
            <a:off x="7150894" y="2578894"/>
            <a:ext cx="1199356" cy="135810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3" name="Gerade Verbindung 42"/>
          <p:cNvCxnSpPr/>
          <p:nvPr/>
        </p:nvCxnSpPr>
        <p:spPr>
          <a:xfrm flipH="1">
            <a:off x="7150894" y="3986213"/>
            <a:ext cx="119776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472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1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1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1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1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1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12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13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13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13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13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5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9" grpId="0" animBg="1"/>
      <p:bldP spid="5" grpId="0"/>
      <p:bldP spid="15" grpId="0" animBg="1"/>
      <p:bldP spid="6" grpId="0"/>
      <p:bldP spid="24" grpId="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Cartesische Parabel</a:t>
            </a:r>
            <a:endParaRPr lang="en-CA" sz="3200" dirty="0">
              <a:solidFill>
                <a:schemeClr val="bg1"/>
              </a:solidFill>
              <a:effectLst>
                <a:outerShdw blurRad="38100" dist="38100" dir="2700000" algn="tl">
                  <a:srgbClr val="000000">
                    <a:alpha val="43137"/>
                  </a:srgbClr>
                </a:outerShdw>
              </a:effectLst>
            </a:endParaRPr>
          </a:p>
        </p:txBody>
      </p:sp>
      <p:pic>
        <p:nvPicPr>
          <p:cNvPr id="51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9132" y="829503"/>
            <a:ext cx="4147364"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Geschweifte Klammer rechts 2"/>
          <p:cNvSpPr/>
          <p:nvPr/>
        </p:nvSpPr>
        <p:spPr>
          <a:xfrm rot="5400000">
            <a:off x="7184206" y="3603610"/>
            <a:ext cx="282823" cy="2175818"/>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 name="Textfeld 3"/>
          <p:cNvSpPr txBox="1"/>
          <p:nvPr/>
        </p:nvSpPr>
        <p:spPr>
          <a:xfrm>
            <a:off x="7217246" y="4794706"/>
            <a:ext cx="414735" cy="369332"/>
          </a:xfrm>
          <a:prstGeom prst="rect">
            <a:avLst/>
          </a:prstGeom>
          <a:noFill/>
        </p:spPr>
        <p:txBody>
          <a:bodyPr wrap="square" rtlCol="0">
            <a:spAutoFit/>
          </a:bodyPr>
          <a:lstStyle/>
          <a:p>
            <a:r>
              <a:rPr lang="de-DE" dirty="0" smtClean="0"/>
              <a:t>b</a:t>
            </a:r>
            <a:endParaRPr lang="de-DE" dirty="0"/>
          </a:p>
        </p:txBody>
      </p:sp>
      <p:sp>
        <p:nvSpPr>
          <p:cNvPr id="9" name="Geschweifte Klammer rechts 8"/>
          <p:cNvSpPr/>
          <p:nvPr/>
        </p:nvSpPr>
        <p:spPr>
          <a:xfrm rot="10800000">
            <a:off x="5868144" y="1477575"/>
            <a:ext cx="290009" cy="1944216"/>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 name="Textfeld 4"/>
          <p:cNvSpPr txBox="1"/>
          <p:nvPr/>
        </p:nvSpPr>
        <p:spPr>
          <a:xfrm>
            <a:off x="5652120" y="2260371"/>
            <a:ext cx="144016" cy="369332"/>
          </a:xfrm>
          <a:prstGeom prst="rect">
            <a:avLst/>
          </a:prstGeom>
          <a:noFill/>
        </p:spPr>
        <p:txBody>
          <a:bodyPr wrap="square" rtlCol="0">
            <a:spAutoFit/>
          </a:bodyPr>
          <a:lstStyle/>
          <a:p>
            <a:r>
              <a:rPr lang="de-DE" dirty="0" smtClean="0"/>
              <a:t>a</a:t>
            </a:r>
            <a:endParaRPr lang="de-DE" dirty="0"/>
          </a:p>
        </p:txBody>
      </p:sp>
      <p:sp>
        <p:nvSpPr>
          <p:cNvPr id="15" name="Geschweifte Klammer rechts 14"/>
          <p:cNvSpPr/>
          <p:nvPr/>
        </p:nvSpPr>
        <p:spPr>
          <a:xfrm rot="5400000">
            <a:off x="6552441" y="3875159"/>
            <a:ext cx="276866" cy="946827"/>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 name="Textfeld 5"/>
          <p:cNvSpPr txBox="1"/>
          <p:nvPr/>
        </p:nvSpPr>
        <p:spPr>
          <a:xfrm>
            <a:off x="6559649" y="4361079"/>
            <a:ext cx="288032" cy="369332"/>
          </a:xfrm>
          <a:prstGeom prst="rect">
            <a:avLst/>
          </a:prstGeom>
          <a:noFill/>
        </p:spPr>
        <p:txBody>
          <a:bodyPr wrap="square" rtlCol="0">
            <a:spAutoFit/>
          </a:bodyPr>
          <a:lstStyle/>
          <a:p>
            <a:r>
              <a:rPr lang="de-DE" dirty="0" smtClean="0"/>
              <a:t>x</a:t>
            </a:r>
            <a:endParaRPr lang="de-DE" dirty="0"/>
          </a:p>
        </p:txBody>
      </p:sp>
      <p:pic>
        <p:nvPicPr>
          <p:cNvPr id="5132" name="Picture 12"/>
          <p:cNvPicPr>
            <a:picLocks noChangeAspect="1" noChangeArrowheads="1"/>
          </p:cNvPicPr>
          <p:nvPr/>
        </p:nvPicPr>
        <p:blipFill rotWithShape="1">
          <a:blip r:embed="rId4">
            <a:extLst>
              <a:ext uri="{28A0092B-C50C-407E-A947-70E740481C1C}">
                <a14:useLocalDpi xmlns:a14="http://schemas.microsoft.com/office/drawing/2010/main" val="0"/>
              </a:ext>
            </a:extLst>
          </a:blip>
          <a:srcRect l="20377"/>
          <a:stretch/>
        </p:blipFill>
        <p:spPr bwMode="auto">
          <a:xfrm>
            <a:off x="323528" y="685487"/>
            <a:ext cx="1898119" cy="59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Gruppieren 1"/>
          <p:cNvGrpSpPr/>
          <p:nvPr/>
        </p:nvGrpSpPr>
        <p:grpSpPr>
          <a:xfrm>
            <a:off x="2423239" y="771550"/>
            <a:ext cx="2055636" cy="550609"/>
            <a:chOff x="2228332" y="818200"/>
            <a:chExt cx="1852982" cy="496327"/>
          </a:xfrm>
        </p:grpSpPr>
        <p:pic>
          <p:nvPicPr>
            <p:cNvPr id="5133" name="Picture 13"/>
            <p:cNvPicPr>
              <a:picLocks noChangeAspect="1" noChangeArrowheads="1"/>
            </p:cNvPicPr>
            <p:nvPr/>
          </p:nvPicPr>
          <p:blipFill rotWithShape="1">
            <a:blip r:embed="rId5">
              <a:extLst>
                <a:ext uri="{28A0092B-C50C-407E-A947-70E740481C1C}">
                  <a14:useLocalDpi xmlns:a14="http://schemas.microsoft.com/office/drawing/2010/main" val="0"/>
                </a:ext>
              </a:extLst>
            </a:blip>
            <a:srcRect r="76708"/>
            <a:stretch/>
          </p:blipFill>
          <p:spPr bwMode="auto">
            <a:xfrm>
              <a:off x="2228332" y="884765"/>
              <a:ext cx="336782" cy="267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5"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784" y="818200"/>
              <a:ext cx="1453530" cy="496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0" name="Geschweifte Klammer rechts 9"/>
          <p:cNvSpPr/>
          <p:nvPr/>
        </p:nvSpPr>
        <p:spPr>
          <a:xfrm rot="5400000">
            <a:off x="2124238" y="-550560"/>
            <a:ext cx="529512" cy="4130932"/>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pic>
        <p:nvPicPr>
          <p:cNvPr id="614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624" y="1877922"/>
            <a:ext cx="3634740" cy="59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112" y="2632799"/>
            <a:ext cx="3624840" cy="370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6841" y="3075806"/>
            <a:ext cx="3581103" cy="368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4132" y="3795886"/>
            <a:ext cx="3399160" cy="742502"/>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493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feld 3"/>
          <p:cNvSpPr txBox="1"/>
          <p:nvPr/>
        </p:nvSpPr>
        <p:spPr>
          <a:xfrm>
            <a:off x="1691680" y="-29249"/>
            <a:ext cx="576064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Vorzeichenregel</a:t>
            </a:r>
            <a:r>
              <a:rPr lang="en-CA" sz="3200" dirty="0" smtClean="0">
                <a:solidFill>
                  <a:schemeClr val="bg1"/>
                </a:solidFill>
                <a:effectLst>
                  <a:outerShdw blurRad="38100" dist="38100" dir="2700000" algn="tl">
                    <a:srgbClr val="000000">
                      <a:alpha val="43137"/>
                    </a:srgbClr>
                  </a:outerShdw>
                </a:effectLst>
              </a:rPr>
              <a:t> von Descartes</a:t>
            </a:r>
            <a:endParaRPr lang="en-CA" sz="3200" dirty="0">
              <a:solidFill>
                <a:schemeClr val="bg1"/>
              </a:solidFill>
              <a:effectLst>
                <a:outerShdw blurRad="38100" dist="38100" dir="2700000" algn="tl">
                  <a:srgbClr val="000000">
                    <a:alpha val="43137"/>
                  </a:srgbClr>
                </a:outerShdw>
              </a:effectLst>
            </a:endParaRPr>
          </a:p>
        </p:txBody>
      </p:sp>
      <p:sp>
        <p:nvSpPr>
          <p:cNvPr id="5" name="Textfeld 4"/>
          <p:cNvSpPr txBox="1"/>
          <p:nvPr/>
        </p:nvSpPr>
        <p:spPr>
          <a:xfrm>
            <a:off x="363110" y="652495"/>
            <a:ext cx="5328592" cy="369332"/>
          </a:xfrm>
          <a:prstGeom prst="rect">
            <a:avLst/>
          </a:prstGeom>
          <a:noFill/>
        </p:spPr>
        <p:txBody>
          <a:bodyPr wrap="square" rtlCol="0">
            <a:spAutoFit/>
          </a:bodyPr>
          <a:lstStyle/>
          <a:p>
            <a:r>
              <a:rPr lang="en-CA" u="sng" dirty="0" err="1" smtClean="0"/>
              <a:t>Anzahl</a:t>
            </a:r>
            <a:r>
              <a:rPr lang="en-CA" u="sng" dirty="0" smtClean="0"/>
              <a:t> </a:t>
            </a:r>
            <a:r>
              <a:rPr lang="en-CA" u="sng" dirty="0" err="1" smtClean="0">
                <a:solidFill>
                  <a:schemeClr val="accent3"/>
                </a:solidFill>
              </a:rPr>
              <a:t>positiver</a:t>
            </a:r>
            <a:r>
              <a:rPr lang="en-CA" u="sng" dirty="0" smtClean="0">
                <a:solidFill>
                  <a:schemeClr val="accent3"/>
                </a:solidFill>
              </a:rPr>
              <a:t> </a:t>
            </a:r>
            <a:r>
              <a:rPr lang="en-CA" u="sng" dirty="0" err="1" smtClean="0"/>
              <a:t>Nullstellen</a:t>
            </a:r>
            <a:r>
              <a:rPr lang="en-CA" u="sng" dirty="0" smtClean="0"/>
              <a:t> </a:t>
            </a:r>
            <a:r>
              <a:rPr lang="en-CA" u="sng" dirty="0" err="1" smtClean="0"/>
              <a:t>eines</a:t>
            </a:r>
            <a:r>
              <a:rPr lang="en-CA" u="sng" dirty="0" smtClean="0"/>
              <a:t> </a:t>
            </a:r>
            <a:r>
              <a:rPr lang="en-CA" u="sng" dirty="0" err="1" smtClean="0"/>
              <a:t>reellen</a:t>
            </a:r>
            <a:r>
              <a:rPr lang="en-CA" u="sng" dirty="0" smtClean="0"/>
              <a:t> </a:t>
            </a:r>
            <a:r>
              <a:rPr lang="en-CA" u="sng" dirty="0" err="1" smtClean="0"/>
              <a:t>Polynoms</a:t>
            </a:r>
            <a:endParaRPr lang="en-CA" u="sng" dirty="0"/>
          </a:p>
        </p:txBody>
      </p:sp>
      <p:pic>
        <p:nvPicPr>
          <p:cNvPr id="1030" name="Picture 6" descr="https://i.gyazo.com/8c42aeffe81d9e6d1b9b47d2325ed03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688" y="2619396"/>
            <a:ext cx="4176464" cy="468002"/>
          </a:xfrm>
          <a:prstGeom prst="rect">
            <a:avLst/>
          </a:prstGeom>
          <a:noFill/>
          <a:extLst>
            <a:ext uri="{909E8E84-426E-40DD-AFC4-6F175D3DCCD1}">
              <a14:hiddenFill xmlns:a14="http://schemas.microsoft.com/office/drawing/2010/main">
                <a:solidFill>
                  <a:srgbClr val="FFFFFF"/>
                </a:solidFill>
              </a14:hiddenFill>
            </a:ext>
          </a:extLst>
        </p:spPr>
      </p:pic>
      <p:sp>
        <p:nvSpPr>
          <p:cNvPr id="7" name="Geschweifte Klammer links 6"/>
          <p:cNvSpPr/>
          <p:nvPr/>
        </p:nvSpPr>
        <p:spPr>
          <a:xfrm rot="16200000">
            <a:off x="2609375" y="1208280"/>
            <a:ext cx="202204" cy="396044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8" name="Textfeld 7"/>
          <p:cNvSpPr txBox="1"/>
          <p:nvPr/>
        </p:nvSpPr>
        <p:spPr>
          <a:xfrm>
            <a:off x="605688" y="3424390"/>
            <a:ext cx="4997907" cy="369332"/>
          </a:xfrm>
          <a:prstGeom prst="rect">
            <a:avLst/>
          </a:prstGeom>
          <a:noFill/>
        </p:spPr>
        <p:txBody>
          <a:bodyPr wrap="none" rtlCol="0">
            <a:spAutoFit/>
          </a:bodyPr>
          <a:lstStyle/>
          <a:p>
            <a:r>
              <a:rPr lang="en-CA" dirty="0" smtClean="0"/>
              <a:t>4 Vorzeichenwechsel </a:t>
            </a:r>
            <a:r>
              <a:rPr lang="de-DE" dirty="0" smtClean="0"/>
              <a:t>⇒ 4, 2 Nullstellen oder keine  </a:t>
            </a:r>
            <a:endParaRPr lang="en-CA" dirty="0"/>
          </a:p>
        </p:txBody>
      </p:sp>
      <p:pic>
        <p:nvPicPr>
          <p:cNvPr id="1032" name="Picture 8" descr="https://i.gyazo.com/950e68c2987a8dba174606f54acf295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710" y="972744"/>
            <a:ext cx="8065722" cy="81669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i.gyazo.com/8e382e946e1d368f496880ad51e2ab3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38577" y="2000864"/>
            <a:ext cx="2227485" cy="285382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401271" y="2062497"/>
            <a:ext cx="1265090" cy="461665"/>
          </a:xfrm>
          <a:prstGeom prst="rect">
            <a:avLst/>
          </a:prstGeom>
          <a:noFill/>
        </p:spPr>
        <p:txBody>
          <a:bodyPr wrap="none" rtlCol="0">
            <a:spAutoFit/>
          </a:bodyPr>
          <a:lstStyle/>
          <a:p>
            <a:r>
              <a:rPr lang="en-CA" sz="2400" u="sng" dirty="0" smtClean="0">
                <a:latin typeface="Arial" panose="020B0604020202020204" pitchFamily="34" charset="0"/>
                <a:cs typeface="Arial" panose="020B0604020202020204" pitchFamily="34" charset="0"/>
              </a:rPr>
              <a:t>Beispiel</a:t>
            </a:r>
            <a:endParaRPr lang="en-CA" sz="2400" u="sng" dirty="0">
              <a:latin typeface="Arial" panose="020B0604020202020204" pitchFamily="34" charset="0"/>
              <a:cs typeface="Arial" panose="020B0604020202020204" pitchFamily="34" charset="0"/>
            </a:endParaRPr>
          </a:p>
        </p:txBody>
      </p:sp>
      <p:sp>
        <p:nvSpPr>
          <p:cNvPr id="11" name="Rechteck 10"/>
          <p:cNvSpPr/>
          <p:nvPr/>
        </p:nvSpPr>
        <p:spPr>
          <a:xfrm>
            <a:off x="3134152" y="3480654"/>
            <a:ext cx="1196505" cy="256803"/>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CA"/>
          </a:p>
        </p:txBody>
      </p:sp>
      <p:cxnSp>
        <p:nvCxnSpPr>
          <p:cNvPr id="13" name="Gerade Verbindung mit Pfeil 12"/>
          <p:cNvCxnSpPr/>
          <p:nvPr/>
        </p:nvCxnSpPr>
        <p:spPr>
          <a:xfrm>
            <a:off x="4330657" y="3737457"/>
            <a:ext cx="3256255" cy="523368"/>
          </a:xfrm>
          <a:prstGeom prst="straightConnector1">
            <a:avLst/>
          </a:prstGeom>
          <a:ln>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a:off x="4330657" y="3480654"/>
            <a:ext cx="3463174" cy="777021"/>
          </a:xfrm>
          <a:prstGeom prst="straightConnector1">
            <a:avLst/>
          </a:prstGeom>
          <a:ln>
            <a:solidFill>
              <a:schemeClr val="accent3"/>
            </a:solidFill>
            <a:tailEnd type="arrow"/>
          </a:ln>
        </p:spPr>
        <p:style>
          <a:lnRef idx="1">
            <a:schemeClr val="accent1"/>
          </a:lnRef>
          <a:fillRef idx="0">
            <a:schemeClr val="accent1"/>
          </a:fillRef>
          <a:effectRef idx="0">
            <a:schemeClr val="accent1"/>
          </a:effectRef>
          <a:fontRef idx="minor">
            <a:schemeClr val="tx1"/>
          </a:fontRef>
        </p:style>
      </p:cxnSp>
      <p:sp>
        <p:nvSpPr>
          <p:cNvPr id="16" name="Textfeld 15"/>
          <p:cNvSpPr txBox="1"/>
          <p:nvPr/>
        </p:nvSpPr>
        <p:spPr>
          <a:xfrm>
            <a:off x="196513" y="4011910"/>
            <a:ext cx="5328592" cy="369332"/>
          </a:xfrm>
          <a:prstGeom prst="rect">
            <a:avLst/>
          </a:prstGeom>
          <a:noFill/>
        </p:spPr>
        <p:txBody>
          <a:bodyPr wrap="square" rtlCol="0">
            <a:spAutoFit/>
          </a:bodyPr>
          <a:lstStyle/>
          <a:p>
            <a:r>
              <a:rPr lang="en-CA" u="sng" dirty="0" err="1" smtClean="0"/>
              <a:t>Anzahl</a:t>
            </a:r>
            <a:r>
              <a:rPr lang="en-CA" u="sng" dirty="0" smtClean="0"/>
              <a:t> </a:t>
            </a:r>
            <a:r>
              <a:rPr lang="en-CA" u="sng" dirty="0" err="1" smtClean="0">
                <a:solidFill>
                  <a:srgbClr val="FF0000"/>
                </a:solidFill>
              </a:rPr>
              <a:t>negativer</a:t>
            </a:r>
            <a:r>
              <a:rPr lang="en-CA" u="sng" dirty="0" smtClean="0">
                <a:solidFill>
                  <a:srgbClr val="FF0000"/>
                </a:solidFill>
              </a:rPr>
              <a:t> </a:t>
            </a:r>
            <a:r>
              <a:rPr lang="en-CA" u="sng" dirty="0" err="1" smtClean="0"/>
              <a:t>Nullstellen</a:t>
            </a:r>
            <a:r>
              <a:rPr lang="en-CA" u="sng" dirty="0" smtClean="0"/>
              <a:t> </a:t>
            </a:r>
            <a:r>
              <a:rPr lang="en-CA" u="sng" dirty="0" err="1" smtClean="0"/>
              <a:t>eines</a:t>
            </a:r>
            <a:r>
              <a:rPr lang="en-CA" u="sng" dirty="0" smtClean="0"/>
              <a:t> </a:t>
            </a:r>
            <a:r>
              <a:rPr lang="en-CA" u="sng" dirty="0" err="1" smtClean="0"/>
              <a:t>reellen</a:t>
            </a:r>
            <a:r>
              <a:rPr lang="en-CA" u="sng" dirty="0" smtClean="0"/>
              <a:t> </a:t>
            </a:r>
            <a:r>
              <a:rPr lang="en-CA" u="sng" dirty="0" err="1" smtClean="0"/>
              <a:t>Polynoms</a:t>
            </a:r>
            <a:endParaRPr lang="en-CA" u="sng" dirty="0"/>
          </a:p>
        </p:txBody>
      </p:sp>
      <p:sp>
        <p:nvSpPr>
          <p:cNvPr id="17" name="Textfeld 16"/>
          <p:cNvSpPr txBox="1"/>
          <p:nvPr/>
        </p:nvSpPr>
        <p:spPr>
          <a:xfrm>
            <a:off x="251520" y="4371950"/>
            <a:ext cx="6264696" cy="369332"/>
          </a:xfrm>
          <a:prstGeom prst="rect">
            <a:avLst/>
          </a:prstGeom>
          <a:noFill/>
        </p:spPr>
        <p:txBody>
          <a:bodyPr wrap="square" rtlCol="0">
            <a:spAutoFit/>
          </a:bodyPr>
          <a:lstStyle/>
          <a:p>
            <a:r>
              <a:rPr lang="en-CA" dirty="0" err="1" smtClean="0"/>
              <a:t>Wende</a:t>
            </a:r>
            <a:r>
              <a:rPr lang="en-CA" dirty="0" smtClean="0"/>
              <a:t> das </a:t>
            </a:r>
            <a:r>
              <a:rPr lang="en-CA" dirty="0" err="1" smtClean="0"/>
              <a:t>Kriterium</a:t>
            </a:r>
            <a:r>
              <a:rPr lang="en-CA" dirty="0" smtClean="0"/>
              <a:t> </a:t>
            </a:r>
            <a:r>
              <a:rPr lang="en-CA" dirty="0" err="1" smtClean="0"/>
              <a:t>für</a:t>
            </a:r>
            <a:r>
              <a:rPr lang="en-CA" dirty="0" smtClean="0"/>
              <a:t> positive </a:t>
            </a:r>
            <a:r>
              <a:rPr lang="en-CA" dirty="0" err="1" smtClean="0"/>
              <a:t>Nullstellen</a:t>
            </a:r>
            <a:r>
              <a:rPr lang="en-CA" dirty="0" smtClean="0"/>
              <a:t> auf f(-x) an!</a:t>
            </a:r>
            <a:endParaRPr lang="en-CA" dirty="0"/>
          </a:p>
        </p:txBody>
      </p:sp>
    </p:spTree>
    <p:extLst>
      <p:ext uri="{BB962C8B-B14F-4D97-AF65-F5344CB8AC3E}">
        <p14:creationId xmlns:p14="http://schemas.microsoft.com/office/powerpoint/2010/main" val="170081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3" grpId="0"/>
      <p:bldP spid="11" grpId="0" animBg="1"/>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Hinführung</a:t>
            </a:r>
            <a:endParaRPr lang="en-CA" sz="3200" dirty="0">
              <a:solidFill>
                <a:schemeClr val="bg1"/>
              </a:solidFill>
              <a:effectLst>
                <a:outerShdw blurRad="38100" dist="38100" dir="2700000" algn="tl">
                  <a:srgbClr val="000000">
                    <a:alpha val="43137"/>
                  </a:srgbClr>
                </a:outerShdw>
              </a:effectLst>
            </a:endParaRPr>
          </a:p>
        </p:txBody>
      </p:sp>
      <p:pic>
        <p:nvPicPr>
          <p:cNvPr id="20"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824" y="1419622"/>
            <a:ext cx="3168352" cy="737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feld 10"/>
          <p:cNvSpPr txBox="1"/>
          <p:nvPr/>
        </p:nvSpPr>
        <p:spPr>
          <a:xfrm>
            <a:off x="107504" y="1009060"/>
            <a:ext cx="7848872" cy="338554"/>
          </a:xfrm>
          <a:prstGeom prst="rect">
            <a:avLst/>
          </a:prstGeom>
          <a:noFill/>
        </p:spPr>
        <p:txBody>
          <a:bodyPr wrap="square" rtlCol="0">
            <a:spAutoFit/>
          </a:bodyPr>
          <a:lstStyle/>
          <a:p>
            <a:r>
              <a:rPr lang="de-DE" sz="1600" b="1" dirty="0" smtClean="0"/>
              <a:t>Die Lösung ist der Schnitt eines Kreises und der </a:t>
            </a:r>
            <a:r>
              <a:rPr lang="de-DE" sz="1600" b="1" dirty="0" err="1" smtClean="0"/>
              <a:t>cartesischen</a:t>
            </a:r>
            <a:r>
              <a:rPr lang="de-DE" sz="1600" b="1" dirty="0" smtClean="0"/>
              <a:t> Parabel</a:t>
            </a:r>
            <a:endParaRPr lang="de-DE" sz="1600" b="1" dirty="0"/>
          </a:p>
        </p:txBody>
      </p:sp>
      <p:sp>
        <p:nvSpPr>
          <p:cNvPr id="25" name="Textfeld 24"/>
          <p:cNvSpPr txBox="1"/>
          <p:nvPr/>
        </p:nvSpPr>
        <p:spPr>
          <a:xfrm>
            <a:off x="179904" y="2283718"/>
            <a:ext cx="3383984" cy="338554"/>
          </a:xfrm>
          <a:prstGeom prst="rect">
            <a:avLst/>
          </a:prstGeom>
          <a:noFill/>
        </p:spPr>
        <p:txBody>
          <a:bodyPr wrap="square" rtlCol="0">
            <a:spAutoFit/>
          </a:bodyPr>
          <a:lstStyle/>
          <a:p>
            <a:r>
              <a:rPr lang="de-DE" sz="1600" b="1" dirty="0" smtClean="0"/>
              <a:t>Warum ist das zumindest plausibel?</a:t>
            </a:r>
            <a:endParaRPr lang="de-DE" sz="1600" b="1" dirty="0"/>
          </a:p>
        </p:txBody>
      </p:sp>
      <p:pic>
        <p:nvPicPr>
          <p:cNvPr id="307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07704" y="2643758"/>
            <a:ext cx="4824536" cy="67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feld 11"/>
          <p:cNvSpPr txBox="1"/>
          <p:nvPr/>
        </p:nvSpPr>
        <p:spPr>
          <a:xfrm>
            <a:off x="79404" y="3437587"/>
            <a:ext cx="8813076" cy="492443"/>
          </a:xfrm>
          <a:prstGeom prst="rect">
            <a:avLst/>
          </a:prstGeom>
          <a:noFill/>
        </p:spPr>
        <p:txBody>
          <a:bodyPr wrap="square" rtlCol="0">
            <a:spAutoFit/>
          </a:bodyPr>
          <a:lstStyle/>
          <a:p>
            <a:pPr algn="ctr"/>
            <a:r>
              <a:rPr lang="de-DE" sz="1300" dirty="0" smtClean="0"/>
              <a:t>Im zweiten Ausdruck entsteht ein x⁴; bei der Multiplikation beider Seiten mit x², verschwindet das 1/x² und es entsteht ein x⁶.</a:t>
            </a:r>
          </a:p>
          <a:p>
            <a:pPr algn="ctr"/>
            <a:r>
              <a:rPr lang="de-DE" sz="1300" dirty="0" smtClean="0">
                <a:sym typeface="Wingdings" panose="05000000000000000000" pitchFamily="2" charset="2"/>
              </a:rPr>
              <a:t> </a:t>
            </a:r>
            <a:r>
              <a:rPr lang="de-DE" sz="1300" dirty="0" err="1" smtClean="0">
                <a:sym typeface="Wingdings" panose="05000000000000000000" pitchFamily="2" charset="2"/>
              </a:rPr>
              <a:t>Koeffizientenvergleich</a:t>
            </a:r>
            <a:r>
              <a:rPr lang="de-DE" sz="1300" dirty="0" smtClean="0"/>
              <a:t> </a:t>
            </a:r>
            <a:endParaRPr lang="de-DE" sz="1300" dirty="0"/>
          </a:p>
        </p:txBody>
      </p:sp>
      <p:sp>
        <p:nvSpPr>
          <p:cNvPr id="30" name="Textfeld 29"/>
          <p:cNvSpPr txBox="1"/>
          <p:nvPr/>
        </p:nvSpPr>
        <p:spPr>
          <a:xfrm>
            <a:off x="215712" y="3930030"/>
            <a:ext cx="3383984" cy="338554"/>
          </a:xfrm>
          <a:prstGeom prst="rect">
            <a:avLst/>
          </a:prstGeom>
          <a:noFill/>
        </p:spPr>
        <p:txBody>
          <a:bodyPr wrap="square" rtlCol="0">
            <a:spAutoFit/>
          </a:bodyPr>
          <a:lstStyle/>
          <a:p>
            <a:r>
              <a:rPr lang="de-DE" sz="1600" b="1" dirty="0" smtClean="0"/>
              <a:t>Warum die </a:t>
            </a:r>
            <a:r>
              <a:rPr lang="de-DE" sz="1600" b="1" dirty="0" err="1" smtClean="0"/>
              <a:t>cartesische</a:t>
            </a:r>
            <a:r>
              <a:rPr lang="de-DE" sz="1600" b="1" dirty="0" smtClean="0"/>
              <a:t> Parabel?</a:t>
            </a:r>
            <a:endParaRPr lang="de-DE" sz="1600" b="1" dirty="0"/>
          </a:p>
        </p:txBody>
      </p:sp>
      <p:sp>
        <p:nvSpPr>
          <p:cNvPr id="13" name="Textfeld 12"/>
          <p:cNvSpPr txBox="1"/>
          <p:nvPr/>
        </p:nvSpPr>
        <p:spPr>
          <a:xfrm>
            <a:off x="251520" y="4227934"/>
            <a:ext cx="8640960" cy="830997"/>
          </a:xfrm>
          <a:prstGeom prst="rect">
            <a:avLst/>
          </a:prstGeom>
          <a:noFill/>
        </p:spPr>
        <p:txBody>
          <a:bodyPr wrap="square" rtlCol="0">
            <a:spAutoFit/>
          </a:bodyPr>
          <a:lstStyle/>
          <a:p>
            <a:r>
              <a:rPr lang="de-DE" sz="1200" dirty="0" smtClean="0"/>
              <a:t>„Indessen ist zu beachten, </a:t>
            </a:r>
            <a:r>
              <a:rPr lang="de-DE" sz="1200" dirty="0" err="1" smtClean="0"/>
              <a:t>daß</a:t>
            </a:r>
            <a:r>
              <a:rPr lang="de-DE" sz="1200" dirty="0" smtClean="0"/>
              <a:t> es bei mehreren dieser Beispiele passieren kann, </a:t>
            </a:r>
            <a:r>
              <a:rPr lang="de-DE" sz="1200" dirty="0" err="1" smtClean="0"/>
              <a:t>daß</a:t>
            </a:r>
            <a:r>
              <a:rPr lang="de-DE" sz="1200" dirty="0" smtClean="0"/>
              <a:t> der Kreis eine Parabel zweiter Gattung so schräg schneidet, </a:t>
            </a:r>
            <a:r>
              <a:rPr lang="de-DE" sz="1200" dirty="0" err="1" smtClean="0"/>
              <a:t>daß</a:t>
            </a:r>
            <a:r>
              <a:rPr lang="de-DE" sz="1200" dirty="0" smtClean="0"/>
              <a:t> der Punkt ihrer Überschneidung schwierig zu erkennen ist, und so die Konstruktion für die Praxis nicht tauglich ist. Dem </a:t>
            </a:r>
            <a:r>
              <a:rPr lang="de-DE" sz="1200" dirty="0" err="1"/>
              <a:t>läßt</a:t>
            </a:r>
            <a:r>
              <a:rPr lang="de-DE" sz="1200" dirty="0"/>
              <a:t> sich jedoch leicht abhelfen, indem man in Nachahmung dieser Regel andere Regeln bildet, von denen man unzählige Arten bilden kann</a:t>
            </a:r>
            <a:r>
              <a:rPr lang="de-DE" sz="1200" dirty="0" smtClean="0"/>
              <a:t>.“ </a:t>
            </a:r>
            <a:endParaRPr lang="de-DE" sz="1200" dirty="0"/>
          </a:p>
        </p:txBody>
      </p:sp>
    </p:spTree>
    <p:extLst>
      <p:ext uri="{BB962C8B-B14F-4D97-AF65-F5344CB8AC3E}">
        <p14:creationId xmlns:p14="http://schemas.microsoft.com/office/powerpoint/2010/main" val="405354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5" grpId="0"/>
      <p:bldP spid="30"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Begründung</a:t>
            </a:r>
            <a:endParaRPr lang="en-CA" sz="3200" dirty="0">
              <a:solidFill>
                <a:schemeClr val="bg1"/>
              </a:solidFill>
              <a:effectLst>
                <a:outerShdw blurRad="38100" dist="38100" dir="2700000" algn="tl">
                  <a:srgbClr val="000000">
                    <a:alpha val="43137"/>
                  </a:srgbClr>
                </a:outerShdw>
              </a:effectLst>
            </a:endParaRPr>
          </a:p>
        </p:txBody>
      </p:sp>
      <p:pic>
        <p:nvPicPr>
          <p:cNvPr id="1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l="50000"/>
          <a:stretch/>
        </p:blipFill>
        <p:spPr bwMode="auto">
          <a:xfrm>
            <a:off x="214576" y="1131590"/>
            <a:ext cx="2495947"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624" y="1491630"/>
            <a:ext cx="2777832" cy="646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Pfeil nach rechts 1"/>
          <p:cNvSpPr/>
          <p:nvPr/>
        </p:nvSpPr>
        <p:spPr>
          <a:xfrm>
            <a:off x="4109472" y="1596772"/>
            <a:ext cx="1769331"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feld 2"/>
          <p:cNvSpPr txBox="1"/>
          <p:nvPr/>
        </p:nvSpPr>
        <p:spPr>
          <a:xfrm>
            <a:off x="5981680" y="1493371"/>
            <a:ext cx="2610474" cy="646331"/>
          </a:xfrm>
          <a:prstGeom prst="rect">
            <a:avLst/>
          </a:prstGeom>
          <a:noFill/>
        </p:spPr>
        <p:txBody>
          <a:bodyPr wrap="square" rtlCol="0">
            <a:spAutoFit/>
          </a:bodyPr>
          <a:lstStyle/>
          <a:p>
            <a:r>
              <a:rPr lang="de-DE" dirty="0" smtClean="0"/>
              <a:t>Einsetzungsverfahren:</a:t>
            </a:r>
          </a:p>
          <a:p>
            <a:pPr algn="ctr"/>
            <a:r>
              <a:rPr lang="de-DE" dirty="0" smtClean="0"/>
              <a:t>(i) </a:t>
            </a:r>
            <a:r>
              <a:rPr lang="de-DE" dirty="0"/>
              <a:t>i</a:t>
            </a:r>
            <a:r>
              <a:rPr lang="de-DE" dirty="0" smtClean="0"/>
              <a:t>n (ii)</a:t>
            </a:r>
          </a:p>
        </p:txBody>
      </p:sp>
      <p:pic>
        <p:nvPicPr>
          <p:cNvPr id="4103"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512" y="2355726"/>
            <a:ext cx="8754058" cy="234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512" y="2652114"/>
            <a:ext cx="2845628" cy="229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512" y="3003798"/>
            <a:ext cx="6693256" cy="232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5656" y="3411668"/>
            <a:ext cx="3816424" cy="1608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Geschweifte Klammer rechts 21"/>
          <p:cNvSpPr/>
          <p:nvPr/>
        </p:nvSpPr>
        <p:spPr>
          <a:xfrm>
            <a:off x="5292080" y="3483676"/>
            <a:ext cx="288032" cy="1496037"/>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3" name="Textfeld 22"/>
          <p:cNvSpPr txBox="1"/>
          <p:nvPr/>
        </p:nvSpPr>
        <p:spPr>
          <a:xfrm>
            <a:off x="5652120" y="3843716"/>
            <a:ext cx="2154188" cy="830997"/>
          </a:xfrm>
          <a:prstGeom prst="rect">
            <a:avLst/>
          </a:prstGeom>
          <a:noFill/>
        </p:spPr>
        <p:txBody>
          <a:bodyPr wrap="square" rtlCol="0">
            <a:spAutoFit/>
          </a:bodyPr>
          <a:lstStyle/>
          <a:p>
            <a:pPr algn="just"/>
            <a:r>
              <a:rPr lang="de-DE" sz="1600" dirty="0" smtClean="0"/>
              <a:t>Das Ziel ist nun, dieses Gleichungssystem nach </a:t>
            </a:r>
            <a:r>
              <a:rPr lang="de-DE" sz="1600" dirty="0" err="1" smtClean="0"/>
              <a:t>b,n,h,k,a,d</a:t>
            </a:r>
            <a:r>
              <a:rPr lang="de-DE" sz="1600" dirty="0" smtClean="0"/>
              <a:t> aufzulösen.</a:t>
            </a:r>
            <a:endParaRPr lang="de-DE" sz="1600" dirty="0"/>
          </a:p>
        </p:txBody>
      </p:sp>
      <p:cxnSp>
        <p:nvCxnSpPr>
          <p:cNvPr id="5" name="Gerade Verbindung 4"/>
          <p:cNvCxnSpPr/>
          <p:nvPr/>
        </p:nvCxnSpPr>
        <p:spPr>
          <a:xfrm>
            <a:off x="0" y="1059582"/>
            <a:ext cx="9144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573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22" grpId="0" animBg="1"/>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Lösung</a:t>
            </a:r>
            <a:r>
              <a:rPr lang="en-CA" sz="3200" dirty="0" smtClean="0">
                <a:solidFill>
                  <a:schemeClr val="bg1"/>
                </a:solidFill>
                <a:effectLst>
                  <a:outerShdw blurRad="38100" dist="38100" dir="2700000" algn="tl">
                    <a:srgbClr val="000000">
                      <a:alpha val="43137"/>
                    </a:srgbClr>
                  </a:outerShdw>
                </a:effectLst>
              </a:rPr>
              <a:t> des </a:t>
            </a:r>
            <a:r>
              <a:rPr lang="en-CA" sz="3200" dirty="0" err="1" smtClean="0">
                <a:solidFill>
                  <a:schemeClr val="bg1"/>
                </a:solidFill>
                <a:effectLst>
                  <a:outerShdw blurRad="38100" dist="38100" dir="2700000" algn="tl">
                    <a:srgbClr val="000000">
                      <a:alpha val="43137"/>
                    </a:srgbClr>
                  </a:outerShdw>
                </a:effectLst>
              </a:rPr>
              <a:t>Gleichungssystems</a:t>
            </a:r>
            <a:endParaRPr lang="en-CA" sz="3200" dirty="0">
              <a:solidFill>
                <a:schemeClr val="bg1"/>
              </a:solidFill>
              <a:effectLst>
                <a:outerShdw blurRad="38100" dist="38100" dir="2700000" algn="tl">
                  <a:srgbClr val="000000">
                    <a:alpha val="43137"/>
                  </a:srgbClr>
                </a:outerShdw>
              </a:effectLst>
            </a:endParaRPr>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699542"/>
            <a:ext cx="4404240" cy="185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5175" y="771550"/>
            <a:ext cx="3485257" cy="264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b="66459"/>
          <a:stretch/>
        </p:blipFill>
        <p:spPr bwMode="auto">
          <a:xfrm>
            <a:off x="251520" y="2643758"/>
            <a:ext cx="3811230" cy="24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226" y="2872376"/>
            <a:ext cx="2733675"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62621"/>
          <a:stretch/>
        </p:blipFill>
        <p:spPr bwMode="auto">
          <a:xfrm>
            <a:off x="239266" y="2938120"/>
            <a:ext cx="3811230" cy="278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102" y="3247124"/>
            <a:ext cx="2645713" cy="27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6290" y="3278275"/>
            <a:ext cx="2599160" cy="24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1"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05450" y="3247124"/>
            <a:ext cx="3286125" cy="320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2"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520" y="3579863"/>
            <a:ext cx="2376264" cy="27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3"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3888" y="3850427"/>
            <a:ext cx="1972871" cy="683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Gerade Verbindung 9"/>
          <p:cNvCxnSpPr>
            <a:stCxn id="6148" idx="2"/>
          </p:cNvCxnSpPr>
          <p:nvPr/>
        </p:nvCxnSpPr>
        <p:spPr>
          <a:xfrm>
            <a:off x="5437064" y="3172414"/>
            <a:ext cx="86312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Gerade Verbindung 25"/>
          <p:cNvCxnSpPr/>
          <p:nvPr/>
        </p:nvCxnSpPr>
        <p:spPr>
          <a:xfrm>
            <a:off x="7942605" y="3452702"/>
            <a:ext cx="86312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 name="Gerade Verbindung mit Pfeil 4"/>
          <p:cNvCxnSpPr/>
          <p:nvPr/>
        </p:nvCxnSpPr>
        <p:spPr>
          <a:xfrm>
            <a:off x="2349847" y="2115319"/>
            <a:ext cx="1700649"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2415" y="1971041"/>
            <a:ext cx="3566150" cy="276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8152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15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5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a:solidFill>
                  <a:schemeClr val="bg1"/>
                </a:solidFill>
                <a:effectLst>
                  <a:outerShdw blurRad="38100" dist="38100" dir="2700000" algn="tl">
                    <a:srgbClr val="000000">
                      <a:alpha val="43137"/>
                    </a:srgbClr>
                  </a:outerShdw>
                </a:effectLst>
              </a:rPr>
              <a:t>Lösung</a:t>
            </a:r>
            <a:r>
              <a:rPr lang="en-CA" sz="3200" dirty="0">
                <a:solidFill>
                  <a:schemeClr val="bg1"/>
                </a:solidFill>
                <a:effectLst>
                  <a:outerShdw blurRad="38100" dist="38100" dir="2700000" algn="tl">
                    <a:srgbClr val="000000">
                      <a:alpha val="43137"/>
                    </a:srgbClr>
                  </a:outerShdw>
                </a:effectLst>
              </a:rPr>
              <a:t> des </a:t>
            </a:r>
            <a:r>
              <a:rPr lang="en-CA" sz="3200" dirty="0" err="1">
                <a:solidFill>
                  <a:schemeClr val="bg1"/>
                </a:solidFill>
                <a:effectLst>
                  <a:outerShdw blurRad="38100" dist="38100" dir="2700000" algn="tl">
                    <a:srgbClr val="000000">
                      <a:alpha val="43137"/>
                    </a:srgbClr>
                  </a:outerShdw>
                </a:effectLst>
              </a:rPr>
              <a:t>Gleichungssystems</a:t>
            </a:r>
            <a:endParaRPr lang="en-CA" sz="3200" dirty="0">
              <a:solidFill>
                <a:schemeClr val="bg1"/>
              </a:solidFill>
              <a:effectLst>
                <a:outerShdw blurRad="38100" dist="38100" dir="2700000" algn="tl">
                  <a:srgbClr val="000000">
                    <a:alpha val="43137"/>
                  </a:srgbClr>
                </a:outerShdw>
              </a:effectLst>
            </a:endParaRPr>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699542"/>
            <a:ext cx="4404240" cy="185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8375" y="760684"/>
            <a:ext cx="1973905" cy="33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5"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0296" y="1154867"/>
            <a:ext cx="1229494" cy="393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6231" y="1226323"/>
            <a:ext cx="1294021" cy="250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19342" y="1224585"/>
            <a:ext cx="813098" cy="250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8" name="Picture 1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150296" y="1548084"/>
            <a:ext cx="1509936" cy="435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0"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324" y="3209543"/>
            <a:ext cx="3627568" cy="287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1"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5514" y="3215661"/>
            <a:ext cx="1678531" cy="216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2120" y="3106130"/>
            <a:ext cx="2664296" cy="36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3" name="Picture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94112" y="3579862"/>
            <a:ext cx="2013992" cy="572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4" name="Picture 20"/>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51520" y="2849503"/>
            <a:ext cx="1584176" cy="253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879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5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6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16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a:solidFill>
                  <a:schemeClr val="bg1"/>
                </a:solidFill>
                <a:effectLst>
                  <a:outerShdw blurRad="38100" dist="38100" dir="2700000" algn="tl">
                    <a:srgbClr val="000000">
                      <a:alpha val="43137"/>
                    </a:srgbClr>
                  </a:outerShdw>
                </a:effectLst>
              </a:rPr>
              <a:t>Lösung</a:t>
            </a:r>
            <a:r>
              <a:rPr lang="en-CA" sz="3200" dirty="0">
                <a:solidFill>
                  <a:schemeClr val="bg1"/>
                </a:solidFill>
                <a:effectLst>
                  <a:outerShdw blurRad="38100" dist="38100" dir="2700000" algn="tl">
                    <a:srgbClr val="000000">
                      <a:alpha val="43137"/>
                    </a:srgbClr>
                  </a:outerShdw>
                </a:effectLst>
              </a:rPr>
              <a:t> des </a:t>
            </a:r>
            <a:r>
              <a:rPr lang="en-CA" sz="3200" dirty="0" err="1">
                <a:solidFill>
                  <a:schemeClr val="bg1"/>
                </a:solidFill>
                <a:effectLst>
                  <a:outerShdw blurRad="38100" dist="38100" dir="2700000" algn="tl">
                    <a:srgbClr val="000000">
                      <a:alpha val="43137"/>
                    </a:srgbClr>
                  </a:outerShdw>
                </a:effectLst>
              </a:rPr>
              <a:t>Gleichungssystems</a:t>
            </a:r>
            <a:endParaRPr lang="en-CA" sz="3200" dirty="0">
              <a:solidFill>
                <a:schemeClr val="bg1"/>
              </a:solidFill>
              <a:effectLst>
                <a:outerShdw blurRad="38100" dist="38100" dir="2700000" algn="tl">
                  <a:srgbClr val="000000">
                    <a:alpha val="43137"/>
                  </a:srgbClr>
                </a:outerShdw>
              </a:effectLst>
            </a:endParaRPr>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699542"/>
            <a:ext cx="4404240" cy="185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736348"/>
            <a:ext cx="1512168" cy="2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2857" y="1040399"/>
            <a:ext cx="2433740" cy="259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2120" y="1347614"/>
            <a:ext cx="2592288" cy="523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520" y="2643758"/>
            <a:ext cx="4607917" cy="298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568" y="3050157"/>
            <a:ext cx="2031519" cy="447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16102" y="3038078"/>
            <a:ext cx="2736304" cy="465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47375" y="3038078"/>
            <a:ext cx="2748056" cy="481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5738" y="3679771"/>
            <a:ext cx="5256584" cy="233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Gruppieren 1"/>
          <p:cNvGrpSpPr/>
          <p:nvPr/>
        </p:nvGrpSpPr>
        <p:grpSpPr>
          <a:xfrm>
            <a:off x="1043608" y="4011910"/>
            <a:ext cx="6591021" cy="526000"/>
            <a:chOff x="755576" y="4046381"/>
            <a:chExt cx="7411937" cy="570413"/>
          </a:xfrm>
        </p:grpSpPr>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576" y="4083918"/>
              <a:ext cx="3586182" cy="48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64761" y="4046381"/>
              <a:ext cx="3802752" cy="57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037"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1520" y="4587974"/>
            <a:ext cx="6309767" cy="435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Gerade Verbindung 3"/>
          <p:cNvCxnSpPr/>
          <p:nvPr/>
        </p:nvCxnSpPr>
        <p:spPr>
          <a:xfrm>
            <a:off x="467544" y="2211710"/>
            <a:ext cx="18002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Gerade Verbindung 18"/>
          <p:cNvCxnSpPr/>
          <p:nvPr/>
        </p:nvCxnSpPr>
        <p:spPr>
          <a:xfrm>
            <a:off x="6129727" y="4227934"/>
            <a:ext cx="129985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Gerade Verbindung 4"/>
          <p:cNvCxnSpPr/>
          <p:nvPr/>
        </p:nvCxnSpPr>
        <p:spPr>
          <a:xfrm>
            <a:off x="1763688" y="3519408"/>
            <a:ext cx="360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p:nvCxnSpPr>
        <p:spPr>
          <a:xfrm>
            <a:off x="3635896" y="3519408"/>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hteck 8"/>
          <p:cNvSpPr/>
          <p:nvPr/>
        </p:nvSpPr>
        <p:spPr>
          <a:xfrm>
            <a:off x="5148064" y="3000374"/>
            <a:ext cx="299311" cy="519033"/>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19132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a:solidFill>
                  <a:schemeClr val="bg1"/>
                </a:solidFill>
                <a:effectLst>
                  <a:outerShdw blurRad="38100" dist="38100" dir="2700000" algn="tl">
                    <a:srgbClr val="000000">
                      <a:alpha val="43137"/>
                    </a:srgbClr>
                  </a:outerShdw>
                </a:effectLst>
              </a:rPr>
              <a:t>Lösung</a:t>
            </a:r>
            <a:r>
              <a:rPr lang="en-CA" sz="3200" dirty="0">
                <a:solidFill>
                  <a:schemeClr val="bg1"/>
                </a:solidFill>
                <a:effectLst>
                  <a:outerShdw blurRad="38100" dist="38100" dir="2700000" algn="tl">
                    <a:srgbClr val="000000">
                      <a:alpha val="43137"/>
                    </a:srgbClr>
                  </a:outerShdw>
                </a:effectLst>
              </a:rPr>
              <a:t> des </a:t>
            </a:r>
            <a:r>
              <a:rPr lang="en-CA" sz="3200" dirty="0" err="1">
                <a:solidFill>
                  <a:schemeClr val="bg1"/>
                </a:solidFill>
                <a:effectLst>
                  <a:outerShdw blurRad="38100" dist="38100" dir="2700000" algn="tl">
                    <a:srgbClr val="000000">
                      <a:alpha val="43137"/>
                    </a:srgbClr>
                  </a:outerShdw>
                </a:effectLst>
              </a:rPr>
              <a:t>Gleichungssystems</a:t>
            </a:r>
            <a:endParaRPr lang="en-CA" sz="3200" dirty="0">
              <a:solidFill>
                <a:schemeClr val="bg1"/>
              </a:solidFill>
              <a:effectLst>
                <a:outerShdw blurRad="38100" dist="38100" dir="2700000" algn="tl">
                  <a:srgbClr val="000000">
                    <a:alpha val="43137"/>
                  </a:srgbClr>
                </a:outerShdw>
              </a:effectLst>
            </a:endParaRPr>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699542"/>
            <a:ext cx="4404240" cy="185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2715766"/>
            <a:ext cx="4332232" cy="28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640" y="3094763"/>
            <a:ext cx="3456384" cy="469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024" y="3075806"/>
            <a:ext cx="2592288" cy="484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rotWithShape="1">
          <a:blip r:embed="rId7">
            <a:extLst>
              <a:ext uri="{28A0092B-C50C-407E-A947-70E740481C1C}">
                <a14:useLocalDpi xmlns:a14="http://schemas.microsoft.com/office/drawing/2010/main" val="0"/>
              </a:ext>
            </a:extLst>
          </a:blip>
          <a:srcRect b="73815"/>
          <a:stretch/>
        </p:blipFill>
        <p:spPr bwMode="auto">
          <a:xfrm>
            <a:off x="251519" y="3651870"/>
            <a:ext cx="5111055" cy="230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5"/>
          <p:cNvPicPr>
            <a:picLocks noChangeAspect="1" noChangeArrowheads="1"/>
          </p:cNvPicPr>
          <p:nvPr/>
        </p:nvPicPr>
        <p:blipFill rotWithShape="1">
          <a:blip r:embed="rId7">
            <a:extLst>
              <a:ext uri="{28A0092B-C50C-407E-A947-70E740481C1C}">
                <a14:useLocalDpi xmlns:a14="http://schemas.microsoft.com/office/drawing/2010/main" val="0"/>
              </a:ext>
            </a:extLst>
          </a:blip>
          <a:srcRect l="35434" t="40586" r="8725" b="-1"/>
          <a:stretch/>
        </p:blipFill>
        <p:spPr bwMode="auto">
          <a:xfrm>
            <a:off x="1351186" y="4057876"/>
            <a:ext cx="2901692" cy="532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960" y="3988470"/>
            <a:ext cx="3148806" cy="67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Gerade Verbindung 2"/>
          <p:cNvCxnSpPr/>
          <p:nvPr/>
        </p:nvCxnSpPr>
        <p:spPr>
          <a:xfrm>
            <a:off x="2453640" y="3435846"/>
            <a:ext cx="2461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Gerade Verbindung 12"/>
          <p:cNvCxnSpPr/>
          <p:nvPr/>
        </p:nvCxnSpPr>
        <p:spPr>
          <a:xfrm>
            <a:off x="3347864" y="3452217"/>
            <a:ext cx="360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 Verbindung 14"/>
          <p:cNvCxnSpPr/>
          <p:nvPr/>
        </p:nvCxnSpPr>
        <p:spPr>
          <a:xfrm>
            <a:off x="4547748" y="3435846"/>
            <a:ext cx="24027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1408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Fazit</a:t>
            </a:r>
            <a:endParaRPr lang="en-CA" sz="3200" dirty="0">
              <a:solidFill>
                <a:schemeClr val="bg1"/>
              </a:solidFill>
              <a:effectLst>
                <a:outerShdw blurRad="38100" dist="38100" dir="2700000" algn="tl">
                  <a:srgbClr val="000000">
                    <a:alpha val="43137"/>
                  </a:srgbClr>
                </a:outerShdw>
              </a:effectLst>
            </a:endParaRPr>
          </a:p>
        </p:txBody>
      </p:sp>
      <p:pic>
        <p:nvPicPr>
          <p:cNvPr id="1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12710" b="76373"/>
          <a:stretch/>
        </p:blipFill>
        <p:spPr bwMode="auto">
          <a:xfrm>
            <a:off x="149871" y="1124047"/>
            <a:ext cx="4937682" cy="221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7942" t="39329"/>
          <a:stretch/>
        </p:blipFill>
        <p:spPr bwMode="auto">
          <a:xfrm>
            <a:off x="380483" y="2003595"/>
            <a:ext cx="4076040" cy="568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8502" y="1530142"/>
            <a:ext cx="2492967" cy="295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88995" y="2038721"/>
            <a:ext cx="2418226" cy="499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7"/>
          <p:cNvPicPr>
            <a:picLocks noChangeAspect="1" noChangeArrowheads="1"/>
          </p:cNvPicPr>
          <p:nvPr/>
        </p:nvPicPr>
        <p:blipFill rotWithShape="1">
          <a:blip r:embed="rId6">
            <a:extLst>
              <a:ext uri="{28A0092B-C50C-407E-A947-70E740481C1C}">
                <a14:useLocalDpi xmlns:a14="http://schemas.microsoft.com/office/drawing/2010/main" val="0"/>
              </a:ext>
            </a:extLst>
          </a:blip>
          <a:srcRect l="73304"/>
          <a:stretch/>
        </p:blipFill>
        <p:spPr bwMode="auto">
          <a:xfrm>
            <a:off x="7524328" y="2106206"/>
            <a:ext cx="1440160" cy="332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3876" y="1059582"/>
            <a:ext cx="3285987" cy="22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7984" y="660408"/>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48171" y="627534"/>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1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989097" y="2682270"/>
            <a:ext cx="2448170" cy="537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5"/>
          <p:cNvPicPr>
            <a:picLocks noChangeAspect="1" noChangeArrowheads="1"/>
          </p:cNvPicPr>
          <p:nvPr/>
        </p:nvPicPr>
        <p:blipFill rotWithShape="1">
          <a:blip r:embed="rId11">
            <a:extLst>
              <a:ext uri="{28A0092B-C50C-407E-A947-70E740481C1C}">
                <a14:useLocalDpi xmlns:a14="http://schemas.microsoft.com/office/drawing/2010/main" val="0"/>
              </a:ext>
            </a:extLst>
          </a:blip>
          <a:srcRect l="11771"/>
          <a:stretch/>
        </p:blipFill>
        <p:spPr bwMode="auto">
          <a:xfrm>
            <a:off x="1763688" y="1419622"/>
            <a:ext cx="1944216" cy="481350"/>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818504" y="3795886"/>
            <a:ext cx="4145984" cy="67998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descr="https://maa.org/sites/default/files/images/upload_library/46/Rubinstein/updated-cartesian-parabola.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887833" y="3579863"/>
            <a:ext cx="1640141" cy="1368152"/>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107504" y="2643758"/>
            <a:ext cx="4608512" cy="1169551"/>
          </a:xfrm>
          <a:prstGeom prst="rect">
            <a:avLst/>
          </a:prstGeom>
          <a:noFill/>
        </p:spPr>
        <p:txBody>
          <a:bodyPr wrap="square" rtlCol="0">
            <a:spAutoFit/>
          </a:bodyPr>
          <a:lstStyle/>
          <a:p>
            <a:pPr marL="285750" indent="-285750">
              <a:buFont typeface="Arial" panose="020B0604020202020204" pitchFamily="34" charset="0"/>
              <a:buChar char="•"/>
            </a:pPr>
            <a:r>
              <a:rPr lang="de-DE" sz="1400" dirty="0" smtClean="0"/>
              <a:t>Das Dreieck ist gegeben durch D(0,0), E(0,a) und A(0,b)</a:t>
            </a:r>
          </a:p>
          <a:p>
            <a:pPr marL="285750" indent="-285750">
              <a:buFont typeface="Arial" panose="020B0604020202020204" pitchFamily="34" charset="0"/>
              <a:buChar char="•"/>
            </a:pPr>
            <a:r>
              <a:rPr lang="de-DE" sz="1400" dirty="0" smtClean="0"/>
              <a:t>Zeichne Parabel mit Stauchungsfaktor 1/n</a:t>
            </a:r>
          </a:p>
          <a:p>
            <a:pPr marL="285750" indent="-285750">
              <a:buFont typeface="Arial" panose="020B0604020202020204" pitchFamily="34" charset="0"/>
              <a:buChar char="•"/>
            </a:pPr>
            <a:r>
              <a:rPr lang="de-DE" sz="1400" dirty="0" smtClean="0"/>
              <a:t>Man zieht die Gerade AE. </a:t>
            </a:r>
          </a:p>
          <a:p>
            <a:pPr marL="285750" indent="-285750">
              <a:buFont typeface="Arial" panose="020B0604020202020204" pitchFamily="34" charset="0"/>
              <a:buChar char="•"/>
            </a:pPr>
            <a:r>
              <a:rPr lang="de-DE" sz="1400" dirty="0" smtClean="0"/>
              <a:t>Bewege DE (und damit die Parabel)</a:t>
            </a:r>
          </a:p>
          <a:p>
            <a:pPr marL="285750" indent="-285750">
              <a:buFont typeface="Arial" panose="020B0604020202020204" pitchFamily="34" charset="0"/>
              <a:buChar char="•"/>
            </a:pPr>
            <a:r>
              <a:rPr lang="de-DE" sz="1400" dirty="0" smtClean="0"/>
              <a:t>D,E sind beweglich. A bleibt fest.</a:t>
            </a:r>
            <a:endParaRPr lang="de-DE" sz="1400" dirty="0"/>
          </a:p>
        </p:txBody>
      </p:sp>
      <p:pic>
        <p:nvPicPr>
          <p:cNvPr id="18" name="Picture 4"/>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79512" y="3939901"/>
            <a:ext cx="3096344" cy="930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3614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hteck 1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8" name="Textfeld 1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Konkretes</a:t>
            </a:r>
            <a:r>
              <a:rPr lang="en-CA" sz="3200" dirty="0" smtClean="0">
                <a:solidFill>
                  <a:schemeClr val="bg1"/>
                </a:solidFill>
                <a:effectLst>
                  <a:outerShdw blurRad="38100" dist="38100" dir="2700000" algn="tl">
                    <a:srgbClr val="000000">
                      <a:alpha val="43137"/>
                    </a:srgbClr>
                  </a:outerShdw>
                </a:effectLst>
              </a:rPr>
              <a:t> Beispiel</a:t>
            </a:r>
            <a:endParaRPr lang="en-CA" sz="3200" dirty="0">
              <a:solidFill>
                <a:schemeClr val="bg1"/>
              </a:solidFill>
              <a:effectLst>
                <a:outerShdw blurRad="38100" dist="38100" dir="2700000" algn="tl">
                  <a:srgbClr val="000000">
                    <a:alpha val="43137"/>
                  </a:srgbClr>
                </a:outerShdw>
              </a:effectLst>
            </a:endParaRPr>
          </a:p>
        </p:txBody>
      </p:sp>
      <p:pic>
        <p:nvPicPr>
          <p:cNvPr id="2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749" y="658199"/>
            <a:ext cx="4343243" cy="257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38159" y="3171825"/>
            <a:ext cx="4126329" cy="177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1131590"/>
            <a:ext cx="4464496" cy="3949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0032" y="771550"/>
            <a:ext cx="2037268" cy="679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10399" y="771550"/>
            <a:ext cx="1656184" cy="681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85100" y="1563638"/>
            <a:ext cx="1703124" cy="619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3"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67898" y="1635646"/>
            <a:ext cx="2141101" cy="644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85100" y="2283718"/>
            <a:ext cx="1703124" cy="69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5"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60232" y="2341361"/>
            <a:ext cx="2376265" cy="66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5"/>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11771"/>
          <a:stretch/>
        </p:blipFill>
        <p:spPr bwMode="auto">
          <a:xfrm>
            <a:off x="1475656" y="1491630"/>
            <a:ext cx="1440160" cy="356556"/>
          </a:xfrm>
          <a:prstGeom prst="rect">
            <a:avLst/>
          </a:prstGeom>
          <a:noFill/>
          <a:ln w="19050">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331640" y="1925410"/>
            <a:ext cx="1761922" cy="208664"/>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375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0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0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09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656848"/>
            <a:ext cx="4968552" cy="4291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Descartes’ </a:t>
            </a:r>
            <a:r>
              <a:rPr lang="en-CA" sz="3200" dirty="0" err="1" smtClean="0">
                <a:solidFill>
                  <a:schemeClr val="bg1"/>
                </a:solidFill>
                <a:effectLst>
                  <a:outerShdw blurRad="38100" dist="38100" dir="2700000" algn="tl">
                    <a:srgbClr val="000000">
                      <a:alpha val="43137"/>
                    </a:srgbClr>
                  </a:outerShdw>
                </a:effectLst>
              </a:rPr>
              <a:t>Originalkonstruktion</a:t>
            </a:r>
            <a:endParaRPr lang="en-CA" sz="3200" dirty="0">
              <a:solidFill>
                <a:schemeClr val="bg1"/>
              </a:solidFill>
              <a:effectLst>
                <a:outerShdw blurRad="38100" dist="38100" dir="2700000" algn="tl">
                  <a:srgbClr val="000000">
                    <a:alpha val="43137"/>
                  </a:srgbClr>
                </a:outerShdw>
              </a:effectLst>
            </a:endParaRPr>
          </a:p>
        </p:txBody>
      </p:sp>
      <p:pic>
        <p:nvPicPr>
          <p:cNvPr id="8" name="Picture 4" descr="Big Thinker: French philosopher René Descartes - The Ethics Centre"/>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0" b="100000" l="23786" r="65786"/>
                    </a14:imgEffect>
                  </a14:imgLayer>
                </a14:imgProps>
              </a:ext>
              <a:ext uri="{28A0092B-C50C-407E-A947-70E740481C1C}">
                <a14:useLocalDpi xmlns:a14="http://schemas.microsoft.com/office/drawing/2010/main" val="0"/>
              </a:ext>
            </a:extLst>
          </a:blip>
          <a:srcRect l="37667" r="34609"/>
          <a:stretch/>
        </p:blipFill>
        <p:spPr bwMode="auto">
          <a:xfrm>
            <a:off x="1" y="555526"/>
            <a:ext cx="2963722" cy="4587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27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Zwischenfazit</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72725" y="915566"/>
            <a:ext cx="7047653" cy="307777"/>
          </a:xfrm>
          <a:prstGeom prst="rect">
            <a:avLst/>
          </a:prstGeom>
          <a:noFill/>
        </p:spPr>
        <p:txBody>
          <a:bodyPr wrap="square" rtlCol="0">
            <a:spAutoFit/>
          </a:bodyPr>
          <a:lstStyle/>
          <a:p>
            <a:r>
              <a:rPr lang="de-DE" sz="1400" dirty="0" smtClean="0"/>
              <a:t>Descartes hat die Parameter </a:t>
            </a:r>
            <a:r>
              <a:rPr lang="de-DE" sz="1400" dirty="0" err="1" smtClean="0"/>
              <a:t>a,b</a:t>
            </a:r>
            <a:r>
              <a:rPr lang="de-DE" sz="1400" dirty="0" smtClean="0"/>
              <a:t> und n hergeleitet, die die </a:t>
            </a:r>
            <a:r>
              <a:rPr lang="de-DE" sz="1400" dirty="0" err="1" smtClean="0"/>
              <a:t>cartesische</a:t>
            </a:r>
            <a:r>
              <a:rPr lang="de-DE" sz="1400" dirty="0" smtClean="0"/>
              <a:t> Parabel definieren:</a:t>
            </a:r>
            <a:endParaRPr lang="de-DE" sz="14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216" y="1265213"/>
            <a:ext cx="2304256" cy="2458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11608"/>
          <a:stretch/>
        </p:blipFill>
        <p:spPr bwMode="auto">
          <a:xfrm>
            <a:off x="2374278" y="1272146"/>
            <a:ext cx="2053706" cy="507516"/>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hteck 3"/>
          <p:cNvSpPr/>
          <p:nvPr/>
        </p:nvSpPr>
        <p:spPr>
          <a:xfrm>
            <a:off x="72727" y="2427734"/>
            <a:ext cx="6264696" cy="307777"/>
          </a:xfrm>
          <a:prstGeom prst="rect">
            <a:avLst/>
          </a:prstGeom>
        </p:spPr>
        <p:txBody>
          <a:bodyPr wrap="square">
            <a:spAutoFit/>
          </a:bodyPr>
          <a:lstStyle/>
          <a:p>
            <a:r>
              <a:rPr lang="de-DE" sz="1400" dirty="0" smtClean="0"/>
              <a:t>Außerdem liegen </a:t>
            </a:r>
            <a:r>
              <a:rPr lang="de-DE" sz="1400" dirty="0" err="1" smtClean="0"/>
              <a:t>h,k,d</a:t>
            </a:r>
            <a:r>
              <a:rPr lang="de-DE" sz="1400" dirty="0" smtClean="0"/>
              <a:t> vor, die den Kreis mit Mittelpunkt I definieren:</a:t>
            </a:r>
          </a:p>
        </p:txBody>
      </p:sp>
      <p:pic>
        <p:nvPicPr>
          <p:cNvPr id="11"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7065" y="2852572"/>
            <a:ext cx="2492967" cy="295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7504" y="3242741"/>
            <a:ext cx="2088232" cy="431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7"/>
          <p:cNvPicPr>
            <a:picLocks noChangeAspect="1" noChangeArrowheads="1"/>
          </p:cNvPicPr>
          <p:nvPr/>
        </p:nvPicPr>
        <p:blipFill rotWithShape="1">
          <a:blip r:embed="rId7">
            <a:extLst>
              <a:ext uri="{28A0092B-C50C-407E-A947-70E740481C1C}">
                <a14:useLocalDpi xmlns:a14="http://schemas.microsoft.com/office/drawing/2010/main" val="0"/>
              </a:ext>
            </a:extLst>
          </a:blip>
          <a:srcRect l="73304"/>
          <a:stretch/>
        </p:blipFill>
        <p:spPr bwMode="auto">
          <a:xfrm>
            <a:off x="2267744" y="3296998"/>
            <a:ext cx="1440160" cy="332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6"/>
          <p:cNvPicPr>
            <a:picLocks noChangeAspect="1" noChangeArrowheads="1"/>
          </p:cNvPicPr>
          <p:nvPr/>
        </p:nvPicPr>
        <p:blipFill rotWithShape="1">
          <a:blip r:embed="rId8">
            <a:extLst>
              <a:ext uri="{28A0092B-C50C-407E-A947-70E740481C1C}">
                <a14:useLocalDpi xmlns:a14="http://schemas.microsoft.com/office/drawing/2010/main" val="0"/>
              </a:ext>
            </a:extLst>
          </a:blip>
          <a:srcRect l="9448"/>
          <a:stretch/>
        </p:blipFill>
        <p:spPr bwMode="auto">
          <a:xfrm>
            <a:off x="3814689" y="3147814"/>
            <a:ext cx="2522734" cy="594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6775" y="1851670"/>
            <a:ext cx="1512168" cy="524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rotWithShape="1">
          <a:blip r:embed="rId10">
            <a:extLst>
              <a:ext uri="{28A0092B-C50C-407E-A947-70E740481C1C}">
                <a14:useLocalDpi xmlns:a14="http://schemas.microsoft.com/office/drawing/2010/main" val="0"/>
              </a:ext>
            </a:extLst>
          </a:blip>
          <a:srcRect l="72001"/>
          <a:stretch/>
        </p:blipFill>
        <p:spPr bwMode="auto">
          <a:xfrm>
            <a:off x="3131054" y="1994933"/>
            <a:ext cx="975842" cy="264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4"/>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30094" t="1" b="-8636"/>
          <a:stretch/>
        </p:blipFill>
        <p:spPr bwMode="auto">
          <a:xfrm>
            <a:off x="4211960" y="1889885"/>
            <a:ext cx="1080120" cy="483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feld 9"/>
          <p:cNvSpPr txBox="1"/>
          <p:nvPr/>
        </p:nvSpPr>
        <p:spPr>
          <a:xfrm>
            <a:off x="107504" y="4136762"/>
            <a:ext cx="8640960" cy="523220"/>
          </a:xfrm>
          <a:prstGeom prst="rect">
            <a:avLst/>
          </a:prstGeom>
          <a:noFill/>
        </p:spPr>
        <p:txBody>
          <a:bodyPr wrap="square" rtlCol="0">
            <a:spAutoFit/>
          </a:bodyPr>
          <a:lstStyle/>
          <a:p>
            <a:r>
              <a:rPr lang="de-DE" sz="1400" dirty="0" smtClean="0"/>
              <a:t>Anstatt den Kreis mit Radius d zu konstruieren, konstruiert Descartes zwei weitere Kreise, deren Schnittpunkt/e auf dem Kreisbogen  des Kreises mit Mittelpunkt I und Radius d.</a:t>
            </a:r>
            <a:endParaRPr lang="de-DE" sz="1400" dirty="0"/>
          </a:p>
        </p:txBody>
      </p:sp>
      <p:pic>
        <p:nvPicPr>
          <p:cNvPr id="19" name="Picture 3"/>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37984" y="660408"/>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48171" y="627534"/>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176936" y="3741946"/>
            <a:ext cx="3929960" cy="307777"/>
          </a:xfrm>
          <a:prstGeom prst="rect">
            <a:avLst/>
          </a:prstGeom>
          <a:noFill/>
        </p:spPr>
        <p:txBody>
          <a:bodyPr wrap="square" rtlCol="0">
            <a:spAutoFit/>
          </a:bodyPr>
          <a:lstStyle/>
          <a:p>
            <a:r>
              <a:rPr lang="de-DE" sz="1400" dirty="0" err="1" smtClean="0"/>
              <a:t>r,u</a:t>
            </a:r>
            <a:r>
              <a:rPr lang="de-DE" sz="1400" dirty="0" smtClean="0"/>
              <a:t> kommen von der </a:t>
            </a:r>
            <a:r>
              <a:rPr lang="de-DE" sz="1400" dirty="0" err="1" smtClean="0"/>
              <a:t>ursp</a:t>
            </a:r>
            <a:r>
              <a:rPr lang="de-DE" sz="1400" dirty="0" smtClean="0"/>
              <a:t>. Gl.</a:t>
            </a:r>
            <a:endParaRPr lang="de-DE" sz="1400" dirty="0"/>
          </a:p>
        </p:txBody>
      </p:sp>
    </p:spTree>
    <p:extLst>
      <p:ext uri="{BB962C8B-B14F-4D97-AF65-F5344CB8AC3E}">
        <p14:creationId xmlns:p14="http://schemas.microsoft.com/office/powerpoint/2010/main" val="235741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r="8837"/>
          <a:stretch/>
        </p:blipFill>
        <p:spPr bwMode="auto">
          <a:xfrm>
            <a:off x="4644008" y="1128896"/>
            <a:ext cx="4499992" cy="385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Konstruktion</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Hilfskreise</a:t>
            </a:r>
            <a:endParaRPr lang="en-CA" sz="3200" dirty="0">
              <a:solidFill>
                <a:schemeClr val="bg1"/>
              </a:solidFill>
              <a:effectLst>
                <a:outerShdw blurRad="38100" dist="38100" dir="2700000" algn="tl">
                  <a:srgbClr val="000000">
                    <a:alpha val="43137"/>
                  </a:srgbClr>
                </a:outerShdw>
              </a:effectLst>
            </a:endParaRPr>
          </a:p>
        </p:txBody>
      </p:sp>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664" y="1131590"/>
            <a:ext cx="5034880" cy="310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512" y="1468877"/>
            <a:ext cx="1944216" cy="272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81893" y="1851670"/>
            <a:ext cx="5110187" cy="238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1893" y="2119038"/>
            <a:ext cx="1870151" cy="21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039771" y="2096268"/>
            <a:ext cx="1603541" cy="230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7624" y="2510567"/>
            <a:ext cx="2736304" cy="56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0067" y="3219822"/>
            <a:ext cx="4299925" cy="250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3244" y="3507854"/>
            <a:ext cx="3853625" cy="31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 name="Picture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3528" y="3795886"/>
            <a:ext cx="3240360" cy="43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0" name="Picture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8751" y="4284435"/>
            <a:ext cx="1273396" cy="218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1" name="Picture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77362" y="4276388"/>
            <a:ext cx="1546838" cy="239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36543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Konstruktion</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Hilfskreise</a:t>
            </a:r>
            <a:endParaRPr lang="en-CA" sz="3200" dirty="0">
              <a:solidFill>
                <a:schemeClr val="bg1"/>
              </a:solidFill>
              <a:effectLst>
                <a:outerShdw blurRad="38100" dist="38100" dir="2700000" algn="tl">
                  <a:srgbClr val="000000">
                    <a:alpha val="43137"/>
                  </a:srgbClr>
                </a:outerShdw>
              </a:effectLst>
            </a:endParaRP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771550"/>
            <a:ext cx="3798847" cy="317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699542"/>
            <a:ext cx="5184576" cy="41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80" y="1186051"/>
            <a:ext cx="1344026" cy="22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5211" y="1196787"/>
            <a:ext cx="1147762"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3085" y="1131590"/>
            <a:ext cx="2566987" cy="30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505" y="1491631"/>
            <a:ext cx="4608512" cy="396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9592" y="1948073"/>
            <a:ext cx="3168352" cy="69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412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Exemplarisches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Vorgehen</a:t>
            </a:r>
            <a:endParaRPr lang="en-CA" sz="3200" dirty="0">
              <a:solidFill>
                <a:schemeClr val="bg1"/>
              </a:solidFill>
              <a:effectLst>
                <a:outerShdw blurRad="38100" dist="38100" dir="2700000" algn="tl">
                  <a:srgbClr val="000000">
                    <a:alpha val="43137"/>
                  </a:srgbClr>
                </a:outerShdw>
              </a:effectLst>
            </a:endParaRPr>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71452"/>
          <a:stretch/>
        </p:blipFill>
        <p:spPr bwMode="auto">
          <a:xfrm>
            <a:off x="3307829" y="2355726"/>
            <a:ext cx="5656659" cy="267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512" y="2488558"/>
            <a:ext cx="2952328" cy="2531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feld 10"/>
          <p:cNvSpPr txBox="1"/>
          <p:nvPr/>
        </p:nvSpPr>
        <p:spPr>
          <a:xfrm>
            <a:off x="137984" y="1006624"/>
            <a:ext cx="4001968" cy="369332"/>
          </a:xfrm>
          <a:prstGeom prst="rect">
            <a:avLst/>
          </a:prstGeom>
          <a:noFill/>
        </p:spPr>
        <p:txBody>
          <a:bodyPr wrap="square" rtlCol="0">
            <a:spAutoFit/>
          </a:bodyPr>
          <a:lstStyle/>
          <a:p>
            <a:r>
              <a:rPr lang="de-DE" u="sng" dirty="0" smtClean="0"/>
              <a:t>Vorzeichenregel</a:t>
            </a:r>
            <a:endParaRPr lang="de-DE" u="sng" dirty="0"/>
          </a:p>
        </p:txBody>
      </p:sp>
      <p:pic>
        <p:nvPicPr>
          <p:cNvPr id="9" name="Picture 8" descr="https://i.gyazo.com/950e68c2987a8dba174606f54acf295d.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718" y="1347614"/>
            <a:ext cx="8065722" cy="81669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821" t="33490"/>
          <a:stretch/>
        </p:blipFill>
        <p:spPr bwMode="auto">
          <a:xfrm>
            <a:off x="3635896" y="2787774"/>
            <a:ext cx="4479404" cy="664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14010" y="3003798"/>
            <a:ext cx="412737" cy="23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299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Exemplarisches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Vorgehen</a:t>
            </a:r>
            <a:endParaRPr lang="en-CA" sz="3200" dirty="0">
              <a:solidFill>
                <a:schemeClr val="bg1"/>
              </a:solidFill>
              <a:effectLst>
                <a:outerShdw blurRad="38100" dist="38100" dir="2700000" algn="tl">
                  <a:srgbClr val="000000">
                    <a:alpha val="43137"/>
                  </a:srgbClr>
                </a:outerShdw>
              </a:effectLst>
            </a:endParaRP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1468877"/>
            <a:ext cx="1944216" cy="272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893" y="2119038"/>
            <a:ext cx="1870151" cy="21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39771" y="2096268"/>
            <a:ext cx="1603541" cy="230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624" y="2510567"/>
            <a:ext cx="2736304" cy="56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0067" y="3219822"/>
            <a:ext cx="4299925" cy="250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244" y="3507854"/>
            <a:ext cx="3853625" cy="31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528" y="3795886"/>
            <a:ext cx="3240360" cy="43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0" name="Picture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8751" y="4284435"/>
            <a:ext cx="1273396" cy="218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1" name="Picture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77362" y="4276388"/>
            <a:ext cx="1546838" cy="239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652120" y="1227069"/>
            <a:ext cx="3240420" cy="1487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5508104" y="2427734"/>
            <a:ext cx="288032" cy="369332"/>
          </a:xfrm>
          <a:prstGeom prst="rect">
            <a:avLst/>
          </a:prstGeom>
          <a:noFill/>
        </p:spPr>
        <p:txBody>
          <a:bodyPr wrap="square" rtlCol="0">
            <a:spAutoFit/>
          </a:bodyPr>
          <a:lstStyle/>
          <a:p>
            <a:r>
              <a:rPr lang="de-DE" dirty="0"/>
              <a:t>L</a:t>
            </a:r>
          </a:p>
        </p:txBody>
      </p:sp>
      <p:sp>
        <p:nvSpPr>
          <p:cNvPr id="21" name="Textfeld 20"/>
          <p:cNvSpPr txBox="1"/>
          <p:nvPr/>
        </p:nvSpPr>
        <p:spPr>
          <a:xfrm>
            <a:off x="5469434" y="1102079"/>
            <a:ext cx="288032" cy="369332"/>
          </a:xfrm>
          <a:prstGeom prst="rect">
            <a:avLst/>
          </a:prstGeom>
          <a:noFill/>
        </p:spPr>
        <p:txBody>
          <a:bodyPr wrap="square" rtlCol="0">
            <a:spAutoFit/>
          </a:bodyPr>
          <a:lstStyle/>
          <a:p>
            <a:r>
              <a:rPr lang="de-DE" dirty="0" smtClean="0"/>
              <a:t>H</a:t>
            </a:r>
            <a:endParaRPr lang="de-DE" dirty="0"/>
          </a:p>
        </p:txBody>
      </p:sp>
      <p:sp>
        <p:nvSpPr>
          <p:cNvPr id="22" name="Textfeld 21"/>
          <p:cNvSpPr txBox="1"/>
          <p:nvPr/>
        </p:nvSpPr>
        <p:spPr>
          <a:xfrm>
            <a:off x="8748464" y="1099545"/>
            <a:ext cx="288032" cy="369332"/>
          </a:xfrm>
          <a:prstGeom prst="rect">
            <a:avLst/>
          </a:prstGeom>
          <a:noFill/>
        </p:spPr>
        <p:txBody>
          <a:bodyPr wrap="square" rtlCol="0">
            <a:spAutoFit/>
          </a:bodyPr>
          <a:lstStyle/>
          <a:p>
            <a:r>
              <a:rPr lang="de-DE" dirty="0" smtClean="0"/>
              <a:t>I</a:t>
            </a:r>
            <a:endParaRPr lang="de-DE" dirty="0"/>
          </a:p>
        </p:txBody>
      </p:sp>
      <p:pic>
        <p:nvPicPr>
          <p:cNvPr id="11" name="Picture 6"/>
          <p:cNvPicPr>
            <a:picLocks noChangeAspect="1" noChangeArrowheads="1"/>
          </p:cNvPicPr>
          <p:nvPr/>
        </p:nvPicPr>
        <p:blipFill rotWithShape="1">
          <a:blip r:embed="rId15">
            <a:extLst>
              <a:ext uri="{28A0092B-C50C-407E-A947-70E740481C1C}">
                <a14:useLocalDpi xmlns:a14="http://schemas.microsoft.com/office/drawing/2010/main" val="0"/>
              </a:ext>
            </a:extLst>
          </a:blip>
          <a:srcRect r="8837"/>
          <a:stretch/>
        </p:blipFill>
        <p:spPr bwMode="auto">
          <a:xfrm>
            <a:off x="4572000" y="1151243"/>
            <a:ext cx="4499992" cy="385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3664" y="1131590"/>
            <a:ext cx="5034880" cy="310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81893" y="1851670"/>
            <a:ext cx="5110187" cy="238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408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5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6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Exemplarisches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Vorgehen</a:t>
            </a:r>
            <a:endParaRPr lang="en-CA" sz="3200" dirty="0">
              <a:solidFill>
                <a:schemeClr val="bg1"/>
              </a:solidFill>
              <a:effectLst>
                <a:outerShdw blurRad="38100" dist="38100" dir="2700000" algn="tl">
                  <a:srgbClr val="000000">
                    <a:alpha val="43137"/>
                  </a:srgbClr>
                </a:outerShdw>
              </a:effectLst>
            </a:endParaRP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7984" y="1059582"/>
            <a:ext cx="4794056" cy="231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512" y="1410082"/>
            <a:ext cx="8106424" cy="225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79912" y="1851670"/>
            <a:ext cx="5063323" cy="30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504" y="1779662"/>
            <a:ext cx="3672408" cy="317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67944" y="2277550"/>
            <a:ext cx="4680520" cy="2014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81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Konstruktion</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Hilfskreise</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35496" y="699542"/>
            <a:ext cx="8928992" cy="2462213"/>
          </a:xfrm>
          <a:prstGeom prst="rect">
            <a:avLst/>
          </a:prstGeom>
          <a:noFill/>
        </p:spPr>
        <p:txBody>
          <a:bodyPr wrap="square" rtlCol="0">
            <a:spAutoFit/>
          </a:bodyPr>
          <a:lstStyle/>
          <a:p>
            <a:pPr algn="just"/>
            <a:r>
              <a:rPr lang="de-DE" sz="1400" dirty="0" smtClean="0"/>
              <a:t>[I]</a:t>
            </a:r>
            <a:r>
              <a:rPr lang="de-DE" sz="1400" dirty="0" err="1" smtClean="0"/>
              <a:t>ch</a:t>
            </a:r>
            <a:r>
              <a:rPr lang="de-DE" sz="1400" dirty="0" smtClean="0"/>
              <a:t> versuchte</a:t>
            </a:r>
            <a:r>
              <a:rPr lang="de-DE" sz="1400" dirty="0"/>
              <a:t>, immer wenn ein Buch in seinem Titel eine neue Entdeckung versprach, bevor ich weiterlas, zu erfahren, ob ich vielleicht irgendetwas Ähnliches durch eine gewisse angeborene Findigkeit erlangen könnte, und ich </a:t>
            </a:r>
            <a:r>
              <a:rPr lang="de-DE" sz="1400" dirty="0" err="1"/>
              <a:t>paßte</a:t>
            </a:r>
            <a:r>
              <a:rPr lang="de-DE" sz="1400" dirty="0"/>
              <a:t> genau auf, mich nicht durch übereilte Lektüre um diesen ungetrübten </a:t>
            </a:r>
            <a:r>
              <a:rPr lang="de-DE" sz="1400" dirty="0" err="1"/>
              <a:t>Genuß</a:t>
            </a:r>
            <a:r>
              <a:rPr lang="de-DE" sz="1400" dirty="0"/>
              <a:t> zu bringen. Das war so oft erfolgreich, </a:t>
            </a:r>
            <a:r>
              <a:rPr lang="de-DE" sz="1400" dirty="0" err="1"/>
              <a:t>daß</a:t>
            </a:r>
            <a:r>
              <a:rPr lang="de-DE" sz="1400" dirty="0"/>
              <a:t> ich schließlich bemerkte, </a:t>
            </a:r>
            <a:r>
              <a:rPr lang="de-DE" sz="1400" dirty="0" err="1"/>
              <a:t>daß</a:t>
            </a:r>
            <a:r>
              <a:rPr lang="de-DE" sz="1400" dirty="0"/>
              <a:t> ich nicht länger, durch unbestimmte und blinde Untersuchungen zur Wahrheit der Dinge gelangte, also mehr mit Unterstützung des Glücks als der Technik, wie es gewöhnlich andere Leute tun, sondern </a:t>
            </a:r>
            <a:r>
              <a:rPr lang="de-DE" sz="1400" dirty="0" err="1"/>
              <a:t>daß</a:t>
            </a:r>
            <a:r>
              <a:rPr lang="de-DE" sz="1400" dirty="0"/>
              <a:t> ich durch lange Erfahrung sichere Regeln </a:t>
            </a:r>
            <a:r>
              <a:rPr lang="de-DE" sz="1400" dirty="0" err="1"/>
              <a:t>erfaßt</a:t>
            </a:r>
            <a:r>
              <a:rPr lang="de-DE" sz="1400" dirty="0"/>
              <a:t> hatte, die dazu nicht wenig beitrugen</a:t>
            </a:r>
            <a:r>
              <a:rPr lang="de-DE" sz="1400" dirty="0" smtClean="0"/>
              <a:t>.</a:t>
            </a:r>
            <a:endParaRPr lang="de-DE" sz="1400" dirty="0"/>
          </a:p>
          <a:p>
            <a:pPr algn="just"/>
            <a:endParaRPr lang="de-DE" sz="1400" dirty="0" smtClean="0"/>
          </a:p>
          <a:p>
            <a:pPr algn="just"/>
            <a:r>
              <a:rPr lang="de-DE" sz="1400" dirty="0" smtClean="0"/>
              <a:t>[E]s ist </a:t>
            </a:r>
            <a:r>
              <a:rPr lang="de-DE" sz="1400" dirty="0"/>
              <a:t>nicht meine Absicht, ein dickes Buch zu machen, sondern ich bemühe mich stattdessen, vieles in wenige Worte zusammenzufassen. Ich hoffe, </a:t>
            </a:r>
            <a:r>
              <a:rPr lang="de-DE" sz="1400" dirty="0" err="1"/>
              <a:t>daß</a:t>
            </a:r>
            <a:r>
              <a:rPr lang="de-DE" sz="1400" dirty="0"/>
              <a:t> unsere Nachfahren mir dankbar sein werden, und zwar nicht nur für die Dinge, die ich hier erklärt habe, sondern auch für die, die ich absichtlich ausgelassen habe, um ihnen das Vergnügen zu lassen, sie herauszufinden.</a:t>
            </a: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12710" b="76373"/>
          <a:stretch/>
        </p:blipFill>
        <p:spPr bwMode="auto">
          <a:xfrm>
            <a:off x="149871" y="3507854"/>
            <a:ext cx="4937682" cy="221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7942" t="39329"/>
          <a:stretch/>
        </p:blipFill>
        <p:spPr bwMode="auto">
          <a:xfrm>
            <a:off x="538326" y="3939902"/>
            <a:ext cx="4076040" cy="568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8502" y="3875437"/>
            <a:ext cx="2492967" cy="295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06454" y="4280783"/>
            <a:ext cx="1872208" cy="386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noChangeArrowheads="1"/>
          </p:cNvPicPr>
          <p:nvPr/>
        </p:nvPicPr>
        <p:blipFill rotWithShape="1">
          <a:blip r:embed="rId6">
            <a:extLst>
              <a:ext uri="{28A0092B-C50C-407E-A947-70E740481C1C}">
                <a14:useLocalDpi xmlns:a14="http://schemas.microsoft.com/office/drawing/2010/main" val="0"/>
              </a:ext>
            </a:extLst>
          </a:blip>
          <a:srcRect l="73304"/>
          <a:stretch/>
        </p:blipFill>
        <p:spPr bwMode="auto">
          <a:xfrm>
            <a:off x="7422678" y="4308337"/>
            <a:ext cx="1440160" cy="332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3876" y="3443389"/>
            <a:ext cx="3285987" cy="22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1495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0</TotalTime>
  <Words>842</Words>
  <Application>Microsoft Office PowerPoint</Application>
  <PresentationFormat>Bildschirmpräsentation (16:9)</PresentationFormat>
  <Paragraphs>99</Paragraphs>
  <Slides>22</Slides>
  <Notes>21</Notes>
  <HiddenSlides>0</HiddenSlides>
  <MMClips>0</MMClips>
  <ScaleCrop>false</ScaleCrop>
  <HeadingPairs>
    <vt:vector size="4" baseType="variant">
      <vt:variant>
        <vt:lpstr>Design</vt:lpstr>
      </vt:variant>
      <vt:variant>
        <vt:i4>2</vt:i4>
      </vt:variant>
      <vt:variant>
        <vt:lpstr>Folientitel</vt:lpstr>
      </vt:variant>
      <vt:variant>
        <vt:i4>22</vt:i4>
      </vt:variant>
    </vt:vector>
  </HeadingPairs>
  <TitlesOfParts>
    <vt:vector size="24" baseType="lpstr">
      <vt:lpstr>Larissa</vt:lpstr>
      <vt:lpstr>Executive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Anton</dc:creator>
  <cp:lastModifiedBy>Anton </cp:lastModifiedBy>
  <cp:revision>2</cp:revision>
  <dcterms:created xsi:type="dcterms:W3CDTF">2026-10-25T17:37:07Z</dcterms:created>
  <dcterms:modified xsi:type="dcterms:W3CDTF">2026-10-25T17:38:51Z</dcterms:modified>
</cp:coreProperties>
</file>