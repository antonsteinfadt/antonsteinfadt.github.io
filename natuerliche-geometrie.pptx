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42"/>
  </p:notesMasterIdLst>
  <p:sldIdLst>
    <p:sldId id="256" r:id="rId3"/>
    <p:sldId id="257" r:id="rId4"/>
    <p:sldId id="298" r:id="rId5"/>
    <p:sldId id="274" r:id="rId6"/>
    <p:sldId id="261" r:id="rId7"/>
    <p:sldId id="275" r:id="rId8"/>
    <p:sldId id="287" r:id="rId9"/>
    <p:sldId id="294" r:id="rId10"/>
    <p:sldId id="277" r:id="rId11"/>
    <p:sldId id="282" r:id="rId12"/>
    <p:sldId id="270" r:id="rId13"/>
    <p:sldId id="295" r:id="rId14"/>
    <p:sldId id="296" r:id="rId15"/>
    <p:sldId id="271" r:id="rId16"/>
    <p:sldId id="273" r:id="rId17"/>
    <p:sldId id="288" r:id="rId18"/>
    <p:sldId id="280" r:id="rId19"/>
    <p:sldId id="281" r:id="rId20"/>
    <p:sldId id="284" r:id="rId21"/>
    <p:sldId id="285" r:id="rId22"/>
    <p:sldId id="293" r:id="rId23"/>
    <p:sldId id="279" r:id="rId24"/>
    <p:sldId id="286" r:id="rId25"/>
    <p:sldId id="289" r:id="rId26"/>
    <p:sldId id="290" r:id="rId27"/>
    <p:sldId id="283" r:id="rId28"/>
    <p:sldId id="291" r:id="rId29"/>
    <p:sldId id="278" r:id="rId30"/>
    <p:sldId id="258" r:id="rId31"/>
    <p:sldId id="259" r:id="rId32"/>
    <p:sldId id="262" r:id="rId33"/>
    <p:sldId id="263" r:id="rId34"/>
    <p:sldId id="266" r:id="rId35"/>
    <p:sldId id="267" r:id="rId36"/>
    <p:sldId id="260" r:id="rId37"/>
    <p:sldId id="292" r:id="rId38"/>
    <p:sldId id="297" r:id="rId39"/>
    <p:sldId id="264" r:id="rId40"/>
    <p:sldId id="265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8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D5443-3FE3-4B30-B5A4-40FD8601D31F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E6A01-5DEF-46D7-9163-1D6187944E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02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Archimedes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E6A01-5DEF-46D7-9163-1D6187944E0F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84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4FE10-6A57-4921-94FD-F0590A443B65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0005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4FE10-6A57-4921-94FD-F0590A443B65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00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93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5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50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14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45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9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05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21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78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08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July 18,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3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July 18,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July 18, 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3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jpe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Johannes Hjelmslev (1873–1950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AutoShape 4" descr="Johannes Hjelmslev (1873–1950)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155574" y="51470"/>
            <a:ext cx="888092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 smtClean="0"/>
              <a:t>Geometrie ohne Idealisierung?</a:t>
            </a:r>
          </a:p>
          <a:p>
            <a:pPr algn="ctr"/>
            <a:r>
              <a:rPr lang="de-DE" sz="3800" b="1" dirty="0" err="1" smtClean="0">
                <a:solidFill>
                  <a:srgbClr val="FF0000"/>
                </a:solidFill>
              </a:rPr>
              <a:t>Hjelmslevs</a:t>
            </a:r>
            <a:r>
              <a:rPr lang="de-DE" sz="3800" b="1" dirty="0" smtClean="0">
                <a:solidFill>
                  <a:srgbClr val="FF0000"/>
                </a:solidFill>
              </a:rPr>
              <a:t> „natürliche Geometrie“</a:t>
            </a:r>
            <a:endParaRPr lang="de-DE" sz="3800" b="1" dirty="0">
              <a:solidFill>
                <a:srgbClr val="FF0000"/>
              </a:solidFill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DFD"/>
              </a:clrFrom>
              <a:clrTo>
                <a:srgbClr val="FE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95999"/>
            <a:ext cx="7848872" cy="294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1057732" y="4445699"/>
            <a:ext cx="314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/>
              <a:t>Schnitt</a:t>
            </a:r>
            <a:r>
              <a:rPr lang="de-DE" sz="3600" dirty="0" smtClean="0">
                <a:solidFill>
                  <a:srgbClr val="FF0000"/>
                </a:solidFill>
              </a:rPr>
              <a:t>punkt</a:t>
            </a:r>
            <a:endParaRPr lang="de-DE" sz="3600" dirty="0">
              <a:solidFill>
                <a:srgbClr val="FF0000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2459702" y="2889359"/>
            <a:ext cx="129679" cy="1296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/>
          <p:cNvSpPr txBox="1"/>
          <p:nvPr/>
        </p:nvSpPr>
        <p:spPr>
          <a:xfrm>
            <a:off x="5139328" y="4443958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/>
              <a:t>Schnitt</a:t>
            </a:r>
            <a:r>
              <a:rPr lang="de-DE" sz="3600" dirty="0" smtClean="0">
                <a:solidFill>
                  <a:schemeClr val="accent6">
                    <a:lumMod val="75000"/>
                  </a:schemeClr>
                </a:solidFill>
              </a:rPr>
              <a:t>strecke</a:t>
            </a:r>
            <a:endParaRPr lang="de-DE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4275232" y="455835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/>
              <a:t>vs.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67796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ownloads\Johannes-Hjelmslev-1873-1950-_2_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67494"/>
            <a:ext cx="2543228" cy="399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289276" y="4335854"/>
            <a:ext cx="25432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Johannes </a:t>
            </a:r>
            <a:r>
              <a:rPr lang="de-DE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Hjelmslev</a:t>
            </a:r>
            <a:endParaRPr lang="de-DE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(1873-1950)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520" y="264587"/>
            <a:ext cx="597666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Biographische Eckdaten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Hauptarbeitsgebiete: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insbesondere ihre Grundlagen, Geschichte und Didaktik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1905 war er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für darstellende Geometrie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der Kopenhagener Technischen Hochschule, ab 1917 Professor an der Universität Kopenhagen.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Nach ihm sind unter anderem der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Satz von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Hjelmslev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 die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Hjelmslev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-Transformatio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benannt</a:t>
            </a:r>
          </a:p>
        </p:txBody>
      </p:sp>
    </p:spTree>
    <p:extLst>
      <p:ext uri="{BB962C8B-B14F-4D97-AF65-F5344CB8AC3E}">
        <p14:creationId xmlns:p14="http://schemas.microsoft.com/office/powerpoint/2010/main" val="30985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611560" y="1650162"/>
            <a:ext cx="82089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stammt </a:t>
            </a:r>
            <a:r>
              <a:rPr lang="de-DE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von </a:t>
            </a:r>
            <a:r>
              <a:rPr lang="el-G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γεωμετρία</a:t>
            </a:r>
            <a:r>
              <a:rPr lang="el-G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de-DE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geōmetría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l-G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γῆ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gē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Erde, Land </a:t>
            </a:r>
          </a:p>
          <a:p>
            <a:r>
              <a:rPr lang="el-G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μέτρον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métron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Maß</a:t>
            </a:r>
          </a:p>
        </p:txBody>
      </p:sp>
    </p:spTree>
    <p:extLst>
      <p:ext uri="{BB962C8B-B14F-4D97-AF65-F5344CB8AC3E}">
        <p14:creationId xmlns:p14="http://schemas.microsoft.com/office/powerpoint/2010/main" val="8971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131590"/>
            <a:ext cx="7840663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54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53449" y="123478"/>
            <a:ext cx="87110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Abstrakte und konkrete Geometrie</a:t>
            </a:r>
            <a:endParaRPr lang="de-DE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D:\Downloads\ChatGPT Image Jul 16, 2026, 08_51_37 P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34317" r="1373" b="52062"/>
          <a:stretch/>
        </p:blipFill>
        <p:spPr bwMode="auto">
          <a:xfrm>
            <a:off x="531440" y="1059582"/>
            <a:ext cx="8001000" cy="84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D:\Downloads\ChatGPT Image Jul 16, 2026, 08_51_37 P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8" t="79347" r="3743" b="12950"/>
          <a:stretch/>
        </p:blipFill>
        <p:spPr bwMode="auto">
          <a:xfrm>
            <a:off x="847997" y="1901799"/>
            <a:ext cx="74866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323528" y="2715766"/>
            <a:ext cx="8711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/>
              <a:t>Kann man die konkreten Objekte selbst mathematisch behandeln?</a:t>
            </a:r>
            <a:endParaRPr lang="de-DE" sz="2400" b="1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85276"/>
            <a:ext cx="3620813" cy="786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4211960" y="3265696"/>
            <a:ext cx="4750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Zwei Punkte müssen nicht genau eine Gerade bestimmen.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Zwei Geraden können mehr als einen gemeinsamen Punkt haben.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Eine Strecke besitzt nicht notwendig genau eine richtige Maßzahl.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659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3491880" y="483518"/>
            <a:ext cx="53285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„Insofern 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sich die Sätze der Mathematik auf die Wirklichkeit </a:t>
            </a:r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beziehen, 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sind sie nicht sicher, und insofern sie sicher sind, beziehen sie sich nicht auf die </a:t>
            </a:r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Wirklichkeit.“</a:t>
            </a:r>
          </a:p>
          <a:p>
            <a:pPr algn="just"/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(Einstein: </a:t>
            </a:r>
            <a:r>
              <a:rPr lang="de-DE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 und Erfahrung</a:t>
            </a:r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S. 4 f.)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lbert Einstein – Wikisource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2488" y1="67203" x2="69900" y2="85714"/>
                        <a14:foregroundMark x1="36318" y1="67002" x2="16418" y2="86922"/>
                        <a14:foregroundMark x1="16418" y1="86922" x2="60945" y2="99396"/>
                        <a14:foregroundMark x1="5721" y1="79074" x2="8706" y2="99396"/>
                        <a14:foregroundMark x1="67164" y1="15493" x2="75373" y2="26559"/>
                        <a14:foregroundMark x1="75871" y1="25151" x2="81841" y2="33803"/>
                        <a14:foregroundMark x1="79104" y1="35815" x2="74129" y2="32596"/>
                        <a14:foregroundMark x1="4229" y1="68612" x2="1493" y2="75654"/>
                        <a14:foregroundMark x1="92786" y1="81288" x2="97512" y2="99195"/>
                        <a14:backgroundMark x1="10199" y1="55936" x2="7463" y2="16298"/>
                        <a14:backgroundMark x1="3483" y1="68813" x2="1493" y2="73441"/>
                        <a14:backgroundMark x1="98507" y1="87324" x2="99751" y2="937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725895"/>
            <a:ext cx="3589806" cy="4438143"/>
          </a:xfrm>
          <a:prstGeom prst="rect">
            <a:avLst/>
          </a:prstGeom>
          <a:noFill/>
          <a:effectLst>
            <a:glow rad="101600">
              <a:schemeClr val="bg1">
                <a:lumMod val="7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-252536" y="197227"/>
            <a:ext cx="3600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Albert Einstein</a:t>
            </a:r>
            <a:b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(1879-1955)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35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323528" y="1854572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Bei der „Natürlichen Geometrie“ geht es um eine </a:t>
            </a:r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empirische </a:t>
            </a:r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Grundlegung 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 Elementargeometrie. </a:t>
            </a:r>
          </a:p>
        </p:txBody>
      </p:sp>
    </p:spTree>
    <p:extLst>
      <p:ext uri="{BB962C8B-B14F-4D97-AF65-F5344CB8AC3E}">
        <p14:creationId xmlns:p14="http://schemas.microsoft.com/office/powerpoint/2010/main" val="13855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51520" y="339502"/>
            <a:ext cx="87129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Hjelmslev</a:t>
            </a:r>
            <a:r>
              <a:rPr lang="de-D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hielt </a:t>
            </a:r>
            <a:r>
              <a:rPr lang="de-DE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sie in </a:t>
            </a:r>
            <a:r>
              <a:rPr lang="de-D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dreifacher Hinsicht für überlegen</a:t>
            </a:r>
            <a:r>
              <a:rPr lang="de-DE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de-DE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didaktisch</a:t>
            </a:r>
            <a:r>
              <a:rPr lang="de-D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weil sie bei Erfahrung und Anschauung beginnt; </a:t>
            </a:r>
            <a:endParaRPr lang="de-DE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praktisch</a:t>
            </a:r>
            <a:r>
              <a:rPr lang="de-D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weil sie tatsächliche Zeichen- und Konstruktionsverfahren berücksichtigt; </a:t>
            </a:r>
            <a:endParaRPr lang="de-DE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wissenschaftlich</a:t>
            </a:r>
            <a:r>
              <a:rPr lang="de-D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weil sie mit schwächeren Voraussetzungen einen größeren Bereich geometrischer Erscheinungen erfassen sollte.</a:t>
            </a:r>
          </a:p>
        </p:txBody>
      </p:sp>
    </p:spTree>
    <p:extLst>
      <p:ext uri="{BB962C8B-B14F-4D97-AF65-F5344CB8AC3E}">
        <p14:creationId xmlns:p14="http://schemas.microsoft.com/office/powerpoint/2010/main" val="57168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16843" y="123478"/>
            <a:ext cx="87842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Axiome </a:t>
            </a:r>
            <a:r>
              <a:rPr lang="de-D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 </a:t>
            </a:r>
            <a:r>
              <a:rPr lang="de-DE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Definitionen der natürlichen Geometrie</a:t>
            </a:r>
            <a:endParaRPr lang="de-DE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95536" y="843558"/>
            <a:ext cx="8280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Axiome müssen durch genaue Experimente und Wahrnehmung kontrollierbar sein.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Jedes Axiom muss eine empirische Wahrheit </a:t>
            </a:r>
            <a:r>
              <a:rPr lang="de-DE" dirty="0" smtClean="0"/>
              <a:t>ausdrücken; kein minimales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Definitionen </a:t>
            </a:r>
            <a:r>
              <a:rPr lang="de-DE" dirty="0"/>
              <a:t>dürfen nicht bloß sprachliche Festsetzungen sein. 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Definitionen in der natürlichen Geometrie</a:t>
            </a:r>
          </a:p>
          <a:p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Angabe, wie der Gegenstand hergestellt wird;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wie seine Eigenschaften empirisch kontrolliert werden;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/>
              <a:t>welche empirischen Operationen seine Gleichheit oder Kongruenz feststellen.</a:t>
            </a:r>
          </a:p>
        </p:txBody>
      </p:sp>
      <p:sp>
        <p:nvSpPr>
          <p:cNvPr id="8" name="Rechteck 7"/>
          <p:cNvSpPr/>
          <p:nvPr/>
        </p:nvSpPr>
        <p:spPr>
          <a:xfrm>
            <a:off x="1331640" y="530805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/>
              <a:t>Die Sätze der euklidischen Geometrie lassen sich weiterhin ableiten, müssen jedoch mit empirisch notwendigen Einschränkungen versehen </a:t>
            </a:r>
            <a:r>
              <a:rPr lang="de-DE" dirty="0" smtClean="0"/>
              <a:t>werden</a:t>
            </a:r>
          </a:p>
          <a:p>
            <a:endParaRPr lang="de-DE" dirty="0"/>
          </a:p>
          <a:p>
            <a:r>
              <a:rPr lang="de-DE" dirty="0" smtClean="0">
                <a:sym typeface="Wingdings" panose="05000000000000000000" pitchFamily="2" charset="2"/>
              </a:rPr>
              <a:t> Satz des Pythagoras bleibt</a:t>
            </a:r>
            <a:endParaRPr lang="de-DE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77084"/>
            <a:ext cx="2689579" cy="1370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3419872" y="3939902"/>
            <a:ext cx="504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Gerade = Kante eines „Normalkeils“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91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1331640" y="530805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/>
              <a:t>Die Sätze der euklidischen Geometrie lassen sich weiterhin ableiten, müssen jedoch mit empirisch notwendigen Einschränkungen versehen </a:t>
            </a:r>
            <a:r>
              <a:rPr lang="de-DE" dirty="0" smtClean="0"/>
              <a:t>werden</a:t>
            </a:r>
          </a:p>
          <a:p>
            <a:endParaRPr lang="de-DE" dirty="0"/>
          </a:p>
          <a:p>
            <a:r>
              <a:rPr lang="de-DE" dirty="0" smtClean="0">
                <a:sym typeface="Wingdings" panose="05000000000000000000" pitchFamily="2" charset="2"/>
              </a:rPr>
              <a:t> Satz des Pythagoras bleibt</a:t>
            </a:r>
            <a:endParaRPr lang="de-DE" dirty="0"/>
          </a:p>
        </p:txBody>
      </p:sp>
      <p:sp>
        <p:nvSpPr>
          <p:cNvPr id="2" name="Textfeld 1"/>
          <p:cNvSpPr txBox="1"/>
          <p:nvPr/>
        </p:nvSpPr>
        <p:spPr>
          <a:xfrm>
            <a:off x="179512" y="126380"/>
            <a:ext cx="8856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A. kein eindeutiger Schnittpunkt!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DFD"/>
              </a:clrFrom>
              <a:clrTo>
                <a:srgbClr val="FE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71550"/>
            <a:ext cx="7848872" cy="294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1057732" y="3725619"/>
            <a:ext cx="314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Schnitt</a:t>
            </a:r>
            <a:r>
              <a:rPr lang="de-DE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punkt</a:t>
            </a:r>
            <a:endParaRPr lang="de-DE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139328" y="3723878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Schnitt</a:t>
            </a:r>
            <a:r>
              <a:rPr lang="de-DE" sz="3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strecke</a:t>
            </a:r>
            <a:endParaRPr lang="de-DE" sz="3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4275232" y="383827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69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51520" y="731480"/>
            <a:ext cx="2746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3: Die wirkliche Ebene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Grundbegriffe einer Geometrie der Wirklichkeit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23528" y="1275606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„Ebene“ wird über ihre Herstellungspraxis definiert: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 durch das wechselseitige Abschaben dreier Richtplatten selbstkontrollierend hergestellte Normalebene.</a:t>
            </a:r>
          </a:p>
        </p:txBody>
      </p:sp>
      <p:sp>
        <p:nvSpPr>
          <p:cNvPr id="6" name="Rechteck 5"/>
          <p:cNvSpPr/>
          <p:nvPr/>
        </p:nvSpPr>
        <p:spPr>
          <a:xfrm>
            <a:off x="313567" y="2315656"/>
            <a:ext cx="1805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</a:t>
            </a:r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4: Normalkeil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323528" y="2787774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Ein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Keil ist ein Körper mit zwei ebenen Flächen, die an einer Kante zusammentreffen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Drei Keile heißen Normalkeile, wenn sich je zwei gegenseitig ausfüllen.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85" y="3651870"/>
            <a:ext cx="2689579" cy="1370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3563888" y="3736652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beiden Flächen eines Normalkeils gelten als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senkrecht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zueinander.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Kante eines Normalkeils heißt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Gerade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45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Modellsammlung an der Universität Kopenhagen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89" y="771550"/>
            <a:ext cx="846142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86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Modellsammlung an der Universität Kopenhagen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799604"/>
            <a:ext cx="5616624" cy="3983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991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51520" y="731480"/>
            <a:ext cx="3002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5: Normalecke und Punkt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Grundbegriffe einer Geometrie der Wirklichkeit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23528" y="1275606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 Normalecke besitzt drei ebene Flächen, die paarweise senkrecht zueinander stehen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drei Kanten treffen sich in einer Spitze. Je zwei Kanten gelten als senkrecht.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Spitze der Normalecke heißt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Punkt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066"/>
          <a:stretch/>
        </p:blipFill>
        <p:spPr bwMode="auto">
          <a:xfrm>
            <a:off x="4773559" y="2084412"/>
            <a:ext cx="3928287" cy="2874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160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51520" y="731480"/>
            <a:ext cx="34050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8: Praktische Raumgeometrie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Grundbegriffe einer Geometrie der Wirklichkeit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23528" y="1275606"/>
            <a:ext cx="8640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Raumgeometrie wird aus: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 der technischen Ebene,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Normalkeilen,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Normalecken aufgebaut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Zusätzlich wird eine empirische räumliche Tatsache benötigt: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Werden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Normalkeil und Normalecke passend auf dieselbe Ebene gestellt, liegt die aus der Grundebene herausragende Kante der Ecke in der senkrechten Keilfläche. </a:t>
            </a:r>
            <a:endParaRPr lang="de-DE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7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251520" y="209421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Axiom der Verbindungsstrecke</a:t>
            </a:r>
            <a:endParaRPr lang="de-D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827584" y="1020673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Zwischen zwei Punkten (mindestens) existiert eine Verbindung; mehrere Geraden können dieselbe Verbindung enthalten.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:\Downloads\ChatGPT Image Jul 17, 2026, 11_39_45 A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55" b="33622"/>
          <a:stretch/>
        </p:blipFill>
        <p:spPr bwMode="auto">
          <a:xfrm>
            <a:off x="478426" y="1923678"/>
            <a:ext cx="8342046" cy="157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3059832" y="3507854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Keine Eindeutigkeit!</a:t>
            </a:r>
            <a:endParaRPr lang="de-D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Punktteilung und Beschränkung der Iteration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:\Downloads\ChatGPT Image Jul 16, 2026, 09_19_08 PM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33" y="771550"/>
            <a:ext cx="7460383" cy="419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91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395536" y="1391747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 der beschränkten Teilbarkeit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259632" y="2202999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Keine Strecke ist unbegrenzt teilbar.</a:t>
            </a:r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1331640" y="3003798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Keine scharfe Teilungszahl 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88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467544" y="1496854"/>
            <a:ext cx="8352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 durch die Normalinstrumente hergestellten rechten Winkel sind kongruent.</a:t>
            </a:r>
            <a:endParaRPr lang="de-D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971600" y="896402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Analogie zum vierten euklidischen Postulat</a:t>
            </a:r>
            <a:endParaRPr lang="de-DE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24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05022" y="195486"/>
            <a:ext cx="35028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Kein Parallelenaxiom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251520" y="699542"/>
            <a:ext cx="8543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Parallelenpostulat besitzt keinen unmittelbar empirischen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Sinn bzw. ist schwer</a:t>
            </a:r>
          </a:p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empirisch kontrollierbar.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upload.wikimedia.org/wikipedia/commons/thumb/7/77/Parallelen-axiom.svg/960px-Parallelen-axiom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28142"/>
            <a:ext cx="3275856" cy="327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067694"/>
            <a:ext cx="488106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3779912" y="1528142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Formulierung von </a:t>
            </a:r>
            <a:r>
              <a:rPr lang="de-D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Playfair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42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05022" y="195486"/>
            <a:ext cx="411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Weitere Grundannahmen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-180528" y="795357"/>
            <a:ext cx="9433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arenR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Durch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jeden Punkt lässt sich eine Senkrechte zu einer gegebenen Geraden ziehen.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Rechtwinklige Dreiecke mit gleichen Katheten sind kongruent.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existiert ein ausreichend großes Rechteck, innerhalb dessen die Geometrie stattfindet.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 Gerade mit einer Strecke und ein Kreis mit einem Bogen sind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umkehrbar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250429"/>
            <a:ext cx="2520280" cy="26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/>
        </p:nvSpPr>
        <p:spPr>
          <a:xfrm>
            <a:off x="251520" y="2139702"/>
            <a:ext cx="604867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 7: Zeichenebene und </a:t>
            </a:r>
            <a:r>
              <a:rPr lang="de-DE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Maßebene</a:t>
            </a:r>
            <a:endParaRPr lang="de-DE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gewöhnliche Nachbildung einer Ebene ist das auf einem Reißbrett befestigte (kartierte) Zeichenpapier</a:t>
            </a:r>
            <a:r>
              <a:rPr lang="de-D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Quadratnetz liefert zwei zueinander senkrechte Geradenscharen, die: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kongruente Maßstäbe bilden;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Ebene in kongruente Streifen teilen;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schräge Geraden annähernd in gleich große Abschnitte zerlegen.</a:t>
            </a:r>
          </a:p>
          <a:p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8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Schwierigkeit der Messung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226120" y="627534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Neben „Ja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und „Nein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 führt 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Hjelmslev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das „Fragliche“ ein.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2"/>
          <a:stretch/>
        </p:blipFill>
        <p:spPr bwMode="auto">
          <a:xfrm>
            <a:off x="265418" y="1203598"/>
            <a:ext cx="8771078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523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Axiome der Messung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/>
              <p:cNvSpPr txBox="1"/>
              <p:nvPr/>
            </p:nvSpPr>
            <p:spPr>
              <a:xfrm>
                <a:off x="179512" y="699542"/>
                <a:ext cx="86409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de-DE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Existenz eines Maßstabs</a:t>
                </a:r>
              </a:p>
              <a:p>
                <a:r>
                  <a:rPr lang="de-D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Eine hinreichend große Strecke kann in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de-DE" i="1" dirty="0" smtClean="0"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  <m:r>
                      <a:rPr lang="de-DE" i="1" dirty="0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de-D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gleiche Teile zerlegt werden, sodass für jedes zulässige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de-D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alle aus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de-D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aufeinanderfolgenden Teilen gebildeten Strecken untereinander gleich sind.</a:t>
                </a:r>
              </a:p>
            </p:txBody>
          </p:sp>
        </mc:Choice>
        <mc:Fallback xmlns="">
          <p:sp>
            <p:nvSpPr>
              <p:cNvPr id="2" name="Textfeld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99542"/>
                <a:ext cx="864096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564" t="-2538" r="-917" b="-71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D:\Downloads\ChatGPT Image Jul 17, 2026, 11_46_38 A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1" b="31134"/>
          <a:stretch/>
        </p:blipFill>
        <p:spPr bwMode="auto">
          <a:xfrm>
            <a:off x="1154557" y="2036316"/>
            <a:ext cx="6513787" cy="20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01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Axiome der Messung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79512" y="699542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Mehrdeutigkeit der Maßzahl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Einer Strecke ist nicht genau eine Maßzahl zugeordnet. Vielmehr besitzt sie ein Intervall brauchbarer </a:t>
            </a:r>
            <a:r>
              <a:rPr lang="de-DE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Fixierungszahlen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702291"/>
            <a:ext cx="2736304" cy="446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6192688" y="1640463"/>
            <a:ext cx="255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(empirisch keine beliebig genaue Messbarkeit)</a:t>
            </a:r>
            <a:endParaRPr lang="de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88032" y="2248465"/>
            <a:ext cx="85324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Zwei Strecken gelten als kongruent, wenn ihre Fixierungsintervalle einen gemeinsamen Wert besitzen: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811755"/>
            <a:ext cx="3520982" cy="336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288032" y="3363838"/>
            <a:ext cx="550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 Kongruenzrelation muss nicht transitiv sein: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680" y="3906298"/>
            <a:ext cx="3472504" cy="39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32000054 (AG-1412) 300mm(12英吋)x0.05 鋼製游標卡尺| 廣華電子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846" y="2715766"/>
            <a:ext cx="2230642" cy="167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6733846" y="4388748"/>
            <a:ext cx="2230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Nonius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45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Axiome der Messung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79512" y="69954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Gemeinsame Fixierbarkeit</a:t>
            </a:r>
          </a:p>
          <a:p>
            <a:pPr algn="just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Jedes vorgelegte endliche System von Strecken einer Geraden lässt sich gemeinsam so durch Zahlen fixieren, dass die euklidischen Größenaxiome innerhalb dieses Streckensystems für die gewählten Fixierungszahlen gelten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29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Direkte und indirekte Messung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251520" y="627534"/>
            <a:ext cx="87129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bisherige Geometrie gilt zunächst nur in kleinen, direkt wahrnehmbaren Bereichen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Größere Bereiche entstehen durch das Zusammensetzen direkt messbarer Teilbereiche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Direkte Messung: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Länge eines Tischs mit Meterstab, Abstand zweier Punkt auf Blatt.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Indirekte Messung: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Entfernungen auf der Erde, Abstand von Sternen, usw.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Man misst zugängliche Hilfsgrößen und berechnet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nicht unmittelbar messbare Größe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1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Satz des Pythagoras</a:t>
            </a:r>
            <a:endParaRPr lang="de-D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179512" y="708253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Für jedes rechtwinklige Dreieck lassen sich miteinander verträgliche Fixierungszahlen 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Auswählen, sodass c²=a²+b²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D:\Downloads\ChatGPT Image Jul 17, 2026, 11_55_03 AM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62775"/>
            <a:ext cx="6192688" cy="348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868144" y="4227933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Existenzbehauptung über geeignete Fixierungen</a:t>
            </a:r>
          </a:p>
        </p:txBody>
      </p:sp>
    </p:spTree>
    <p:extLst>
      <p:ext uri="{BB962C8B-B14F-4D97-AF65-F5344CB8AC3E}">
        <p14:creationId xmlns:p14="http://schemas.microsoft.com/office/powerpoint/2010/main" val="167027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179512" y="12347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Beziehung zur euklidischen Geometrie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1520" y="771550"/>
            <a:ext cx="8712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natürliche Geometrie liefert die herstellbaren, wahrnehmbaren und messbaren Grundstrukturen. 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Endliche natürliche Konfigurationen können durch geeignete Fixierungen euklidisch dargestellt werden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formale euklidische Geometrie entsteht, wenn man diese Darstellungen als eindeutig, exakt, global und unbegrenzt fortsetzbar idealisiert.</a:t>
            </a:r>
          </a:p>
        </p:txBody>
      </p:sp>
      <p:sp>
        <p:nvSpPr>
          <p:cNvPr id="4" name="Rechteck 3"/>
          <p:cNvSpPr/>
          <p:nvPr/>
        </p:nvSpPr>
        <p:spPr>
          <a:xfrm>
            <a:off x="2448272" y="2859782"/>
            <a:ext cx="4572000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lvl="0" algn="just"/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Sätze der euklidischen Geometrie lassen sich weiterhin ableiten, müssen jedoch mit empirisch notwendigen Einschränkungen versehen werden.</a:t>
            </a:r>
          </a:p>
        </p:txBody>
      </p:sp>
    </p:spTree>
    <p:extLst>
      <p:ext uri="{BB962C8B-B14F-4D97-AF65-F5344CB8AC3E}">
        <p14:creationId xmlns:p14="http://schemas.microsoft.com/office/powerpoint/2010/main" val="19455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192828" y="195486"/>
            <a:ext cx="5561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Geometriske</a:t>
            </a:r>
            <a:r>
              <a:rPr lang="de-D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Eksperimenter</a:t>
            </a:r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(1913)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452" y="302807"/>
            <a:ext cx="2819036" cy="4501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323528" y="843558"/>
            <a:ext cx="57499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Neben den streng geregelten Operationen mit Zirkel und Lineal lässt er </a:t>
            </a:r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geometrische Experimente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Verwendungen von Zirkel und Lineal – z. B. unmittelbares Anlegen einer Tangente.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Beispiele: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Schrittweises Abtragen, Einschiebung/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Neusis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Verschiebungsversuche.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Ziel: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Überwindung der klassischen Konstruktionsgeometrie.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Zirkel-und-Lineal-Geometrie als Spezialfall einer allgemeineren Theorie.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1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192828" y="125219"/>
            <a:ext cx="55241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Mathematische Werkzeuge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251520" y="915566"/>
            <a:ext cx="2027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Dreischenkelzirkel</a:t>
            </a:r>
          </a:p>
        </p:txBody>
      </p:sp>
      <p:pic>
        <p:nvPicPr>
          <p:cNvPr id="3074" name="Picture 2" descr="https://www.mathinstruments.ch/images/tools/zirkel_04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7E9E8"/>
              </a:clrFrom>
              <a:clrTo>
                <a:srgbClr val="E7E9E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7760" y="1393254"/>
            <a:ext cx="4451648" cy="333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mathinstruments.ch/images/tools/zirkel_05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E3E5E4"/>
              </a:clrFrom>
              <a:clrTo>
                <a:srgbClr val="E3E5E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84673" y="2109103"/>
            <a:ext cx="3276698" cy="163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eck 7"/>
          <p:cNvSpPr/>
          <p:nvPr/>
        </p:nvSpPr>
        <p:spPr>
          <a:xfrm>
            <a:off x="3203848" y="876809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Nullenzirkel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 descr="https://upload.wikimedia.org/wikipedia/commons/a/ae/Integraph_191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563638"/>
            <a:ext cx="3456384" cy="133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 9"/>
          <p:cNvSpPr/>
          <p:nvPr/>
        </p:nvSpPr>
        <p:spPr>
          <a:xfrm>
            <a:off x="6390806" y="920596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Integraph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nton\Desktop\01_Würfelverdoppelung-Platon-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538"/>
            <a:ext cx="716218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 10"/>
          <p:cNvSpPr/>
          <p:nvPr/>
        </p:nvSpPr>
        <p:spPr>
          <a:xfrm>
            <a:off x="192828" y="125219"/>
            <a:ext cx="41088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Würfelverdopplung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2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92828" y="125219"/>
            <a:ext cx="40750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Kurve des </a:t>
            </a:r>
            <a:r>
              <a:rPr lang="de-DE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Archytas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https://upload.wikimedia.org/wikipedia/commons/5/5f/01_W%C3%BCrfelverdoppelung-Archytas-Baustein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842602"/>
            <a:ext cx="4485506" cy="424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51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92828" y="125219"/>
            <a:ext cx="48526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Quadratrix</a:t>
            </a:r>
            <a:r>
              <a:rPr lang="de-DE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Hippias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Anton\Desktop\Quadratrix_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15566"/>
            <a:ext cx="3970412" cy="397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70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192828" y="125219"/>
            <a:ext cx="48526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Quadratrix</a:t>
            </a:r>
            <a:r>
              <a:rPr lang="de-DE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Hippias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Anton\Desktop\Quadratrix_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15566"/>
            <a:ext cx="3970412" cy="397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22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79512" y="123478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Philosophische Frage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3944" y="5308054"/>
            <a:ext cx="5670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1928 machte er 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Hjlemslev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Mohrs lange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vergessenes Werk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„Euclides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Danicus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wieder bekannt. Darin war bereits 1672 bewiesen worden, dass Zirkel-und-Lineal-Konstruktionen grundsätzlich auch allein mit dem Zirkel möglich sind. 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86284" y="627534"/>
            <a:ext cx="871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Welche Rolle spielen mathematische Werkzeuge in der Geometrie? 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Satz von Mohr-Mascheron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908" y="1419622"/>
            <a:ext cx="3096344" cy="346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323528" y="1203598"/>
            <a:ext cx="4219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Satz von Mohr-</a:t>
            </a:r>
            <a:r>
              <a:rPr lang="de-DE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Mascheroni</a:t>
            </a:r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323528" y="1603708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Jede geometrische Konstruktion, die mit Zirkel und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Lineal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ausführbar ist, kann auch allein mit dem Zirkel ausgeführt werden.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23528" y="2571750"/>
            <a:ext cx="5407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Satz von </a:t>
            </a:r>
            <a:r>
              <a:rPr lang="de-DE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Poncelet</a:t>
            </a:r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-Steiner</a:t>
            </a:r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323528" y="2955597"/>
            <a:ext cx="50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 in der Ebene ein Kreis zusammen mit seinem Mittelpunkt vorgegeben, so kann jede mit Zirkel und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unmarkiertem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Lineal mögliche Konstruktion allein mit dem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unmarkierten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Lineal ausgeführt werden.</a:t>
            </a:r>
          </a:p>
        </p:txBody>
      </p:sp>
    </p:spTree>
    <p:extLst>
      <p:ext uri="{BB962C8B-B14F-4D97-AF65-F5344CB8AC3E}">
        <p14:creationId xmlns:p14="http://schemas.microsoft.com/office/powerpoint/2010/main" val="43982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79512" y="123478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Zirkeläquivalenzsatz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Anton\Desktop\01_Kollabierender_Zirkel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9542"/>
            <a:ext cx="3456384" cy="368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upload.wikimedia.org/wikipedia/commons/thumb/a/a7/Cyrkiel_RB1.jpg/500px-Cyrkiel_RB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699542"/>
            <a:ext cx="1824336" cy="375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539552" y="4443958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Klappzirkel</a:t>
            </a:r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5508104" y="4576197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„Einrastender“ Zirkel</a:t>
            </a:r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feil nach links und rechts 9"/>
          <p:cNvSpPr/>
          <p:nvPr/>
        </p:nvSpPr>
        <p:spPr>
          <a:xfrm>
            <a:off x="3779912" y="2283718"/>
            <a:ext cx="1872208" cy="4320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94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79512" y="123478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11519" cy="299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60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Textfeld 11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Huzita-Hatori-Axiome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644" y="2931790"/>
            <a:ext cx="1019196" cy="20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 descr="Folding a line through two poin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697115"/>
            <a:ext cx="2317923" cy="115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2"/>
            <a:ext cx="5891088" cy="53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5760640" cy="506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 descr="Folding a line putting one point on anoth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00450"/>
            <a:ext cx="2016224" cy="15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95686"/>
            <a:ext cx="5617120" cy="471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 descr="Folding a line putting one line on anothe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951" y="2643758"/>
            <a:ext cx="2232248" cy="152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84" y="4363492"/>
            <a:ext cx="5807268" cy="51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2" name="Picture 16" descr="Folding through a point perpendicular to a lin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74" y="2487452"/>
            <a:ext cx="1986186" cy="181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956376" y="717649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(O1)</a:t>
            </a:r>
            <a:endParaRPr lang="de-DE" sz="1400" dirty="0"/>
          </a:p>
        </p:txBody>
      </p:sp>
      <p:sp>
        <p:nvSpPr>
          <p:cNvPr id="14" name="Textfeld 13"/>
          <p:cNvSpPr txBox="1"/>
          <p:nvPr/>
        </p:nvSpPr>
        <p:spPr>
          <a:xfrm>
            <a:off x="323528" y="2159476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(O2)</a:t>
            </a:r>
            <a:endParaRPr lang="de-DE" sz="1400" dirty="0"/>
          </a:p>
        </p:txBody>
      </p:sp>
      <p:sp>
        <p:nvSpPr>
          <p:cNvPr id="15" name="Textfeld 14"/>
          <p:cNvSpPr txBox="1"/>
          <p:nvPr/>
        </p:nvSpPr>
        <p:spPr>
          <a:xfrm>
            <a:off x="2843808" y="288059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(O3)</a:t>
            </a:r>
            <a:endParaRPr lang="de-DE" sz="1400" dirty="0"/>
          </a:p>
        </p:txBody>
      </p:sp>
      <p:sp>
        <p:nvSpPr>
          <p:cNvPr id="16" name="Textfeld 15"/>
          <p:cNvSpPr txBox="1"/>
          <p:nvPr/>
        </p:nvSpPr>
        <p:spPr>
          <a:xfrm>
            <a:off x="7387145" y="2540252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(O4)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7603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Textfeld 11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Huzita-Hatori-Axiome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644" y="2931790"/>
            <a:ext cx="1019196" cy="20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16" y="699542"/>
            <a:ext cx="6049168" cy="584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Folding a point onto a line through another poi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771550"/>
            <a:ext cx="2376264" cy="207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16" y="1491630"/>
            <a:ext cx="5785519" cy="544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 descr="undefine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83718"/>
            <a:ext cx="2592288" cy="145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49" y="3945607"/>
            <a:ext cx="6672907" cy="64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 descr="undefine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5" y="2211710"/>
            <a:ext cx="2328639" cy="163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Into Origami's World ::. สู่โลกแห่งการพับกระดาษ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008" y="3147814"/>
            <a:ext cx="1509464" cy="18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804248" y="915566"/>
            <a:ext cx="756084" cy="368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(O5)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971600" y="321982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(O6)</a:t>
            </a:r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3347864" y="242773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(O7)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093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1317</Words>
  <Application>Microsoft Office PowerPoint</Application>
  <PresentationFormat>Bildschirmpräsentation (16:9)</PresentationFormat>
  <Paragraphs>246</Paragraphs>
  <Slides>39</Slides>
  <Notes>39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39</vt:i4>
      </vt:variant>
    </vt:vector>
  </HeadingPairs>
  <TitlesOfParts>
    <vt:vector size="41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48</cp:revision>
  <dcterms:created xsi:type="dcterms:W3CDTF">2026-07-16T11:06:17Z</dcterms:created>
  <dcterms:modified xsi:type="dcterms:W3CDTF">2026-07-18T22:46:56Z</dcterms:modified>
</cp:coreProperties>
</file>