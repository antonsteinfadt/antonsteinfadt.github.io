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Lst>
  <p:notesMasterIdLst>
    <p:notesMasterId r:id="rId23"/>
  </p:notesMasterIdLst>
  <p:sldIdLst>
    <p:sldId id="256" r:id="rId3"/>
    <p:sldId id="257" r:id="rId4"/>
    <p:sldId id="258" r:id="rId5"/>
    <p:sldId id="274" r:id="rId6"/>
    <p:sldId id="259" r:id="rId7"/>
    <p:sldId id="260" r:id="rId8"/>
    <p:sldId id="276" r:id="rId9"/>
    <p:sldId id="261" r:id="rId10"/>
    <p:sldId id="262" r:id="rId11"/>
    <p:sldId id="263" r:id="rId12"/>
    <p:sldId id="275" r:id="rId13"/>
    <p:sldId id="267" r:id="rId14"/>
    <p:sldId id="268" r:id="rId15"/>
    <p:sldId id="265" r:id="rId16"/>
    <p:sldId id="266" r:id="rId17"/>
    <p:sldId id="269" r:id="rId18"/>
    <p:sldId id="270" r:id="rId19"/>
    <p:sldId id="278" r:id="rId20"/>
    <p:sldId id="272" r:id="rId21"/>
    <p:sldId id="271" r:id="rId2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98" y="-125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E26EAA9-0292-4245-B747-3ECA342FFBA7}" type="datetimeFigureOut">
              <a:rPr lang="de-DE" smtClean="0"/>
              <a:t>15.06.2026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04DD32-03E8-4471-95BC-21FB1587E57A}" type="slidenum">
              <a:rPr lang="de-DE" smtClean="0"/>
              <a:t>‹Nr.›</a:t>
            </a:fld>
            <a:endParaRPr lang="de-DE"/>
          </a:p>
        </p:txBody>
      </p:sp>
    </p:spTree>
    <p:extLst>
      <p:ext uri="{BB962C8B-B14F-4D97-AF65-F5344CB8AC3E}">
        <p14:creationId xmlns:p14="http://schemas.microsoft.com/office/powerpoint/2010/main" val="4268356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8104DD32-03E8-4471-95BC-21FB1587E57A}" type="slidenum">
              <a:rPr lang="de-DE" smtClean="0"/>
              <a:t>7</a:t>
            </a:fld>
            <a:endParaRPr lang="de-DE"/>
          </a:p>
        </p:txBody>
      </p:sp>
    </p:spTree>
    <p:extLst>
      <p:ext uri="{BB962C8B-B14F-4D97-AF65-F5344CB8AC3E}">
        <p14:creationId xmlns:p14="http://schemas.microsoft.com/office/powerpoint/2010/main" val="260062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8104DD32-03E8-4471-95BC-21FB1587E57A}" type="slidenum">
              <a:rPr lang="de-DE" smtClean="0"/>
              <a:t>8</a:t>
            </a:fld>
            <a:endParaRPr lang="de-DE"/>
          </a:p>
        </p:txBody>
      </p:sp>
    </p:spTree>
    <p:extLst>
      <p:ext uri="{BB962C8B-B14F-4D97-AF65-F5344CB8AC3E}">
        <p14:creationId xmlns:p14="http://schemas.microsoft.com/office/powerpoint/2010/main" val="2594467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8104DD32-03E8-4471-95BC-21FB1587E57A}" type="slidenum">
              <a:rPr lang="de-DE" smtClean="0"/>
              <a:t>12</a:t>
            </a:fld>
            <a:endParaRPr lang="de-DE"/>
          </a:p>
        </p:txBody>
      </p:sp>
    </p:spTree>
    <p:extLst>
      <p:ext uri="{BB962C8B-B14F-4D97-AF65-F5344CB8AC3E}">
        <p14:creationId xmlns:p14="http://schemas.microsoft.com/office/powerpoint/2010/main" val="4052441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8104DD32-03E8-4471-95BC-21FB1587E57A}" type="slidenum">
              <a:rPr lang="de-DE" smtClean="0"/>
              <a:t>16</a:t>
            </a:fld>
            <a:endParaRPr lang="de-DE"/>
          </a:p>
        </p:txBody>
      </p:sp>
    </p:spTree>
    <p:extLst>
      <p:ext uri="{BB962C8B-B14F-4D97-AF65-F5344CB8AC3E}">
        <p14:creationId xmlns:p14="http://schemas.microsoft.com/office/powerpoint/2010/main" val="40524413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8104DD32-03E8-4471-95BC-21FB1587E57A}" type="slidenum">
              <a:rPr lang="de-DE" smtClean="0"/>
              <a:t>17</a:t>
            </a:fld>
            <a:endParaRPr lang="de-DE"/>
          </a:p>
        </p:txBody>
      </p:sp>
    </p:spTree>
    <p:extLst>
      <p:ext uri="{BB962C8B-B14F-4D97-AF65-F5344CB8AC3E}">
        <p14:creationId xmlns:p14="http://schemas.microsoft.com/office/powerpoint/2010/main" val="4052441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8104DD32-03E8-4471-95BC-21FB1587E57A}" type="slidenum">
              <a:rPr lang="de-DE" smtClean="0"/>
              <a:t>18</a:t>
            </a:fld>
            <a:endParaRPr lang="de-DE"/>
          </a:p>
        </p:txBody>
      </p:sp>
    </p:spTree>
    <p:extLst>
      <p:ext uri="{BB962C8B-B14F-4D97-AF65-F5344CB8AC3E}">
        <p14:creationId xmlns:p14="http://schemas.microsoft.com/office/powerpoint/2010/main" val="40524413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8104DD32-03E8-4471-95BC-21FB1587E57A}" type="slidenum">
              <a:rPr lang="de-DE" smtClean="0"/>
              <a:t>19</a:t>
            </a:fld>
            <a:endParaRPr lang="de-DE"/>
          </a:p>
        </p:txBody>
      </p:sp>
    </p:spTree>
    <p:extLst>
      <p:ext uri="{BB962C8B-B14F-4D97-AF65-F5344CB8AC3E}">
        <p14:creationId xmlns:p14="http://schemas.microsoft.com/office/powerpoint/2010/main" val="4052441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8104DD32-03E8-4471-95BC-21FB1587E57A}" type="slidenum">
              <a:rPr lang="de-DE" smtClean="0"/>
              <a:t>20</a:t>
            </a:fld>
            <a:endParaRPr lang="de-DE"/>
          </a:p>
        </p:txBody>
      </p:sp>
    </p:spTree>
    <p:extLst>
      <p:ext uri="{BB962C8B-B14F-4D97-AF65-F5344CB8AC3E}">
        <p14:creationId xmlns:p14="http://schemas.microsoft.com/office/powerpoint/2010/main" val="4052441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de-DE" smtClean="0"/>
              <a:t>Titelmasterformat durch Klicken bearbeiten</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en-US" dirty="0"/>
          </a:p>
        </p:txBody>
      </p:sp>
      <p:sp>
        <p:nvSpPr>
          <p:cNvPr id="7" name="Date Placeholder 6"/>
          <p:cNvSpPr>
            <a:spLocks noGrp="1"/>
          </p:cNvSpPr>
          <p:nvPr>
            <p:ph type="dt" sz="half" idx="10"/>
          </p:nvPr>
        </p:nvSpPr>
        <p:spPr/>
        <p:txBody>
          <a:bodyPr/>
          <a:lstStyle/>
          <a:p>
            <a:fld id="{7D0065BE-0657-4A47-90AD-C21C55E16B19}" type="datetime4">
              <a:rPr lang="en-US" smtClean="0"/>
              <a:pPr/>
              <a:t>June 15, 2026</a:t>
            </a:fld>
            <a:endParaRPr lang="en-US"/>
          </a:p>
        </p:txBody>
      </p:sp>
      <p:sp>
        <p:nvSpPr>
          <p:cNvPr id="8" name="Slide Number Placeholder 7"/>
          <p:cNvSpPr>
            <a:spLocks noGrp="1"/>
          </p:cNvSpPr>
          <p:nvPr>
            <p:ph type="sldNum" sz="quarter" idx="11"/>
          </p:nvPr>
        </p:nvSpPr>
        <p:spPr/>
        <p:txBody>
          <a:bodyPr/>
          <a:lstStyle/>
          <a:p>
            <a:fld id="{2754ED01-E2A0-4C1E-8E21-014B99041579}" type="slidenum">
              <a:rPr lang="en-US" smtClean="0"/>
              <a:pPr/>
              <a:t>‹Nr.›</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10"/>
          </p:nvPr>
        </p:nvSpPr>
        <p:spPr/>
        <p:txBody>
          <a:bodyPr/>
          <a:lstStyle/>
          <a:p>
            <a:fld id="{D47BB8AF-C16A-4836-A92D-61834B5F0BA5}" type="datetime4">
              <a:rPr lang="en-US" smtClean="0"/>
              <a:pPr/>
              <a:t>June 15,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de-DE" smtClean="0"/>
              <a:t>Titelmasterformat durch Klicken bearbeiten</a:t>
            </a:r>
            <a:endParaRPr lang="en-US" dirty="0"/>
          </a:p>
        </p:txBody>
      </p:sp>
      <p:sp>
        <p:nvSpPr>
          <p:cNvPr id="3" name="Text Placeholder 2"/>
          <p:cNvSpPr>
            <a:spLocks noGrp="1"/>
          </p:cNvSpPr>
          <p:nvPr>
            <p:ph type="body" idx="1"/>
          </p:nvPr>
        </p:nvSpPr>
        <p:spPr>
          <a:xfrm>
            <a:off x="722313" y="3051573"/>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e Placeholder 3"/>
          <p:cNvSpPr>
            <a:spLocks noGrp="1"/>
          </p:cNvSpPr>
          <p:nvPr>
            <p:ph type="dt" sz="half" idx="10"/>
          </p:nvPr>
        </p:nvSpPr>
        <p:spPr/>
        <p:txBody>
          <a:bodyPr/>
          <a:lstStyle/>
          <a:p>
            <a:fld id="{647D2193-4505-4A75-99BB-880C6989A757}" type="datetime4">
              <a:rPr lang="en-US" smtClean="0"/>
              <a:pPr/>
              <a:t>June 15,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
        <p:nvSpPr>
          <p:cNvPr id="7" name="Oval 6"/>
          <p:cNvSpPr/>
          <p:nvPr/>
        </p:nvSpPr>
        <p:spPr>
          <a:xfrm>
            <a:off x="4495800"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5" name="Date Placeholder 4"/>
          <p:cNvSpPr>
            <a:spLocks noGrp="1"/>
          </p:cNvSpPr>
          <p:nvPr>
            <p:ph type="dt" sz="half" idx="10"/>
          </p:nvPr>
        </p:nvSpPr>
        <p:spPr/>
        <p:txBody>
          <a:bodyPr/>
          <a:lstStyle/>
          <a:p>
            <a:fld id="{113A18F4-33C3-445B-924C-31108C51719C}" type="datetime4">
              <a:rPr lang="en-US" smtClean="0"/>
              <a:pPr/>
              <a:t>June 15,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
        <p:nvSpPr>
          <p:cNvPr id="9" name="Content Placeholder 8"/>
          <p:cNvSpPr>
            <a:spLocks noGrp="1"/>
          </p:cNvSpPr>
          <p:nvPr>
            <p:ph sz="quarter" idx="13"/>
          </p:nvPr>
        </p:nvSpPr>
        <p:spPr>
          <a:xfrm>
            <a:off x="365760" y="1200150"/>
            <a:ext cx="4041648" cy="339471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smtClean="0"/>
              <a:t>Titelmasterformat durch Klicken bearbeiten</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5" name="Text Placeholder 4"/>
          <p:cNvSpPr>
            <a:spLocks noGrp="1"/>
          </p:cNvSpPr>
          <p:nvPr>
            <p:ph type="body" sz="quarter" idx="3"/>
          </p:nvPr>
        </p:nvSpPr>
        <p:spPr>
          <a:xfrm>
            <a:off x="4648201"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7" name="Date Placeholder 6"/>
          <p:cNvSpPr>
            <a:spLocks noGrp="1"/>
          </p:cNvSpPr>
          <p:nvPr>
            <p:ph type="dt" sz="half" idx="10"/>
          </p:nvPr>
        </p:nvSpPr>
        <p:spPr/>
        <p:txBody>
          <a:bodyPr/>
          <a:lstStyle/>
          <a:p>
            <a:fld id="{3AF7543A-E259-478F-9E0D-57BA40E442B7}" type="datetime4">
              <a:rPr lang="en-US" smtClean="0"/>
              <a:pPr/>
              <a:t>June 15,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4ED01-E2A0-4C1E-8E21-014B99041579}" type="slidenum">
              <a:rPr lang="en-US" smtClean="0"/>
              <a:pPr/>
              <a:t>‹Nr.›</a:t>
            </a:fld>
            <a:endParaRPr lang="en-US"/>
          </a:p>
        </p:txBody>
      </p:sp>
      <p:sp>
        <p:nvSpPr>
          <p:cNvPr id="11" name="Content Placeholder 10"/>
          <p:cNvSpPr>
            <a:spLocks noGrp="1"/>
          </p:cNvSpPr>
          <p:nvPr>
            <p:ph sz="quarter" idx="13"/>
          </p:nvPr>
        </p:nvSpPr>
        <p:spPr>
          <a:xfrm>
            <a:off x="457200" y="1659636"/>
            <a:ext cx="4041648" cy="2935224"/>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Date Placeholder 2"/>
          <p:cNvSpPr>
            <a:spLocks noGrp="1"/>
          </p:cNvSpPr>
          <p:nvPr>
            <p:ph type="dt" sz="half" idx="10"/>
          </p:nvPr>
        </p:nvSpPr>
        <p:spPr/>
        <p:txBody>
          <a:bodyPr/>
          <a:lstStyle/>
          <a:p>
            <a:fld id="{1EFB012D-77A1-44B0-BB26-329BA1EE55C9}" type="datetime4">
              <a:rPr lang="en-US" smtClean="0"/>
              <a:pPr/>
              <a:t>June 15,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B7499E-3031-413E-B01E-B94970708CAA}" type="datetime4">
              <a:rPr lang="en-US" smtClean="0"/>
              <a:pPr/>
              <a:t>June 15, 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907088" y="200025"/>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de-DE" smtClean="0"/>
              <a:t>Titelmasterformat durch Klicken bearbeiten</a:t>
            </a:r>
            <a:endParaRPr lang="en-US" dirty="0"/>
          </a:p>
        </p:txBody>
      </p:sp>
      <p:sp>
        <p:nvSpPr>
          <p:cNvPr id="3" name="Content Placeholder 2"/>
          <p:cNvSpPr>
            <a:spLocks noGrp="1"/>
          </p:cNvSpPr>
          <p:nvPr>
            <p:ph idx="1"/>
          </p:nvPr>
        </p:nvSpPr>
        <p:spPr>
          <a:xfrm>
            <a:off x="719138" y="204788"/>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Text Placeholder 3"/>
          <p:cNvSpPr>
            <a:spLocks noGrp="1"/>
          </p:cNvSpPr>
          <p:nvPr>
            <p:ph type="body" sz="half" idx="2"/>
          </p:nvPr>
        </p:nvSpPr>
        <p:spPr>
          <a:xfrm>
            <a:off x="5907088"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DC7EAB0C-2220-4D0E-A0DD-DB7FA0F742F4}" type="datetime4">
              <a:rPr lang="en-US" smtClean="0"/>
              <a:pPr/>
              <a:t>June 15, 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0"/>
            <a:ext cx="5711824" cy="671513"/>
          </a:xfrm>
        </p:spPr>
        <p:txBody>
          <a:bodyPr anchor="b"/>
          <a:lstStyle>
            <a:lvl1pPr algn="ctr">
              <a:lnSpc>
                <a:spcPct val="100000"/>
              </a:lnSpc>
              <a:defRPr sz="2800" b="0"/>
            </a:lvl1pPr>
          </a:lstStyle>
          <a:p>
            <a:r>
              <a:rPr lang="de-DE" smtClean="0"/>
              <a:t>Titelmasterformat durch Klicken bearbeiten</a:t>
            </a:r>
            <a:endParaRPr lang="en-US" dirty="0"/>
          </a:p>
        </p:txBody>
      </p:sp>
      <p:sp>
        <p:nvSpPr>
          <p:cNvPr id="3" name="Picture Placeholder 2"/>
          <p:cNvSpPr>
            <a:spLocks noGrp="1"/>
          </p:cNvSpPr>
          <p:nvPr>
            <p:ph type="pic" idx="1"/>
          </p:nvPr>
        </p:nvSpPr>
        <p:spPr>
          <a:xfrm>
            <a:off x="1508126" y="857250"/>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E3416D63-31BF-4B94-B6C5-E20B2C63F515}" type="datetime4">
              <a:rPr lang="en-US" smtClean="0"/>
              <a:pPr/>
              <a:t>June 15,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A16C3AA4-67BE-44F7-809A-3582401494AF}" type="datetime4">
              <a:rPr lang="en-US" smtClean="0"/>
              <a:pPr/>
              <a:t>June 15,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en-US" dirty="0"/>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25172EEB-1769-4776-AD69-E7C1260563EB}" type="datetime4">
              <a:rPr lang="en-US" smtClean="0"/>
              <a:pPr/>
              <a:t>June 15,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19"/>
            <a:ext cx="7772400" cy="1102519"/>
          </a:xfrm>
        </p:spPr>
        <p:txBody>
          <a:bodyPr/>
          <a:lstStyle/>
          <a:p>
            <a:r>
              <a:rPr lang="de-DE" smtClean="0"/>
              <a:t>Titelmasterformat durch Klicken bearbeiten</a:t>
            </a:r>
            <a:endParaRPr lang="de-DE"/>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7D0065BE-0657-4A47-90AD-C21C55E16B19}" type="datetime4">
              <a:rPr lang="en-US" smtClean="0"/>
              <a:pPr/>
              <a:t>June 15,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1459422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47BB8AF-C16A-4836-A92D-61834B5F0BA5}" type="datetime4">
              <a:rPr lang="en-US" smtClean="0"/>
              <a:pPr/>
              <a:t>June 15,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5415027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umsplatzhalter 3"/>
          <p:cNvSpPr>
            <a:spLocks noGrp="1"/>
          </p:cNvSpPr>
          <p:nvPr>
            <p:ph type="dt" sz="half" idx="10"/>
          </p:nvPr>
        </p:nvSpPr>
        <p:spPr/>
        <p:txBody>
          <a:bodyPr/>
          <a:lstStyle/>
          <a:p>
            <a:fld id="{647D2193-4505-4A75-99BB-880C6989A757}" type="datetime4">
              <a:rPr lang="en-US" smtClean="0"/>
              <a:pPr/>
              <a:t>June 15,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3087313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113A18F4-33C3-445B-924C-31108C51719C}" type="datetime4">
              <a:rPr lang="en-US" smtClean="0"/>
              <a:pPr/>
              <a:t>June 15,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7782511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3AF7543A-E259-478F-9E0D-57BA40E442B7}" type="datetime4">
              <a:rPr lang="en-US" smtClean="0"/>
              <a:pPr/>
              <a:t>June 15, 2026</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690608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1EFB012D-77A1-44B0-BB26-329BA1EE55C9}" type="datetime4">
              <a:rPr lang="en-US" smtClean="0"/>
              <a:pPr/>
              <a:t>June 15, 2026</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0141592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4B7499E-3031-413E-B01E-B94970708CAA}" type="datetime4">
              <a:rPr lang="en-US" smtClean="0"/>
              <a:pPr/>
              <a:t>June 15, 2026</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962853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1" y="204787"/>
            <a:ext cx="3008313" cy="871538"/>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C7EAB0C-2220-4D0E-A0DD-DB7FA0F742F4}" type="datetime4">
              <a:rPr lang="en-US" smtClean="0"/>
              <a:pPr/>
              <a:t>June 15, 2026</a:t>
            </a:fld>
            <a:endParaRPr lang="en-US"/>
          </a:p>
        </p:txBody>
      </p:sp>
      <p:sp>
        <p:nvSpPr>
          <p:cNvPr id="6" name="Fußzeilenplatzhalter 5"/>
          <p:cNvSpPr>
            <a:spLocks noGrp="1"/>
          </p:cNvSpPr>
          <p:nvPr>
            <p:ph type="ftr" sz="quarter" idx="11"/>
          </p:nvPr>
        </p:nvSpPr>
        <p:spPr/>
        <p:txBody>
          <a:bodyPr/>
          <a:lstStyle/>
          <a:p>
            <a:endParaRPr lang="en-US" dirty="0"/>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7752036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0"/>
            <a:ext cx="5486400" cy="425054"/>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E3416D63-31BF-4B94-B6C5-E20B2C63F515}" type="datetime4">
              <a:rPr lang="en-US" smtClean="0"/>
              <a:pPr/>
              <a:t>June 15,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8997660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A16C3AA4-67BE-44F7-809A-3582401494AF}" type="datetime4">
              <a:rPr lang="en-US" smtClean="0"/>
              <a:pPr/>
              <a:t>June 15,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5149475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25172EEB-1769-4776-AD69-E7C1260563EB}" type="datetime4">
              <a:rPr lang="en-US" smtClean="0"/>
              <a:pPr/>
              <a:t>June 15,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684000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de-DE" smtClean="0"/>
              <a:t>Titelmasterformat durch Klicken bearbeiten</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2"/>
          </p:nvPr>
        </p:nvSpPr>
        <p:spPr>
          <a:xfrm>
            <a:off x="6363348" y="4767263"/>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B1B13E-D5AF-485E-81A1-82A140076526}" type="datetime4">
              <a:rPr lang="en-US" smtClean="0"/>
              <a:pPr/>
              <a:t>June 15, 2026</a:t>
            </a:fld>
            <a:endParaRPr lang="en-US" dirty="0"/>
          </a:p>
        </p:txBody>
      </p:sp>
      <p:sp>
        <p:nvSpPr>
          <p:cNvPr id="5" name="Footer Placeholder 4"/>
          <p:cNvSpPr>
            <a:spLocks noGrp="1"/>
          </p:cNvSpPr>
          <p:nvPr>
            <p:ph type="ftr" sz="quarter" idx="3"/>
          </p:nvPr>
        </p:nvSpPr>
        <p:spPr>
          <a:xfrm>
            <a:off x="659166" y="4767263"/>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p>
        </p:txBody>
      </p:sp>
      <p:sp>
        <p:nvSpPr>
          <p:cNvPr id="6" name="Slide Number Placeholder 5"/>
          <p:cNvSpPr>
            <a:spLocks noGrp="1"/>
          </p:cNvSpPr>
          <p:nvPr>
            <p:ph type="sldNum" sz="quarter" idx="4"/>
          </p:nvPr>
        </p:nvSpPr>
        <p:spPr>
          <a:xfrm>
            <a:off x="8543279" y="4767263"/>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2754ED01-E2A0-4C1E-8E21-014B99041579}" type="slidenum">
              <a:rPr lang="en-US" smtClean="0"/>
              <a:pPr/>
              <a:t>‹Nr.›</a:t>
            </a:fld>
            <a:endParaRPr lang="en-US" dirty="0"/>
          </a:p>
        </p:txBody>
      </p:sp>
      <p:sp>
        <p:nvSpPr>
          <p:cNvPr id="7" name="Oval 6"/>
          <p:cNvSpPr/>
          <p:nvPr/>
        </p:nvSpPr>
        <p:spPr>
          <a:xfrm>
            <a:off x="8457760"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2B1B13E-D5AF-485E-81A1-82A140076526}" type="datetime4">
              <a:rPr lang="en-US" smtClean="0"/>
              <a:pPr/>
              <a:t>June 15, 2026</a:t>
            </a:fld>
            <a:endParaRPr lang="en-US" dirty="0"/>
          </a:p>
        </p:txBody>
      </p:sp>
      <p:sp>
        <p:nvSpPr>
          <p:cNvPr id="5" name="Fußzeilenplatzhalt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Foliennummernplatzhalt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188872529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1.wdp"/><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D:\Downloads\ChatGPT Image Jun 7, 2026, 11_01_45 PM.png"/>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7836" b="88433" l="40389" r="66871"/>
                    </a14:imgEffect>
                  </a14:imgLayer>
                </a14:imgProps>
              </a:ext>
              <a:ext uri="{28A0092B-C50C-407E-A947-70E740481C1C}">
                <a14:useLocalDpi xmlns:a14="http://schemas.microsoft.com/office/drawing/2010/main" val="0"/>
              </a:ext>
            </a:extLst>
          </a:blip>
          <a:srcRect l="40367" t="8597" r="33183" b="11728"/>
          <a:stretch/>
        </p:blipFill>
        <p:spPr bwMode="auto">
          <a:xfrm>
            <a:off x="6516216" y="1779662"/>
            <a:ext cx="2598048" cy="321693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D:\Downloads\ChatGPT Image Jun 7, 2026, 11_01_45 PM.png"/>
          <p:cNvPicPr>
            <a:picLocks noChangeAspect="1" noChangeArrowheads="1"/>
          </p:cNvPicPr>
          <p:nvPr/>
        </p:nvPicPr>
        <p:blipFill rotWithShape="1">
          <a:blip r:embed="rId4">
            <a:extLst>
              <a:ext uri="{BEBA8EAE-BF5A-486C-A8C5-ECC9F3942E4B}">
                <a14:imgProps xmlns:a14="http://schemas.microsoft.com/office/drawing/2010/main">
                  <a14:imgLayer r:embed="rId3">
                    <a14:imgEffect>
                      <a14:backgroundRemoval t="4229" b="84453" l="1994" r="36401">
                        <a14:foregroundMark x1="27812" y1="19154" x2="28885" y2="24005"/>
                        <a14:foregroundMark x1="30982" y1="15547" x2="32004" y2="14552"/>
                        <a14:foregroundMark x1="32004" y1="14552" x2="31135" y2="4851"/>
                        <a14:foregroundMark x1="32004" y1="12935" x2="28885" y2="13557"/>
                        <a14:foregroundMark x1="33078" y1="17537" x2="31800" y2="6841"/>
                        <a14:foregroundMark x1="30982" y1="14552" x2="28885" y2="12438"/>
                      </a14:backgroundRemoval>
                    </a14:imgEffect>
                  </a14:imgLayer>
                </a14:imgProps>
              </a:ext>
              <a:ext uri="{28A0092B-C50C-407E-A947-70E740481C1C}">
                <a14:useLocalDpi xmlns:a14="http://schemas.microsoft.com/office/drawing/2010/main" val="0"/>
              </a:ext>
            </a:extLst>
          </a:blip>
          <a:srcRect l="2099" t="3779" r="63873" b="16013"/>
          <a:stretch/>
        </p:blipFill>
        <p:spPr bwMode="auto">
          <a:xfrm>
            <a:off x="107504" y="1708021"/>
            <a:ext cx="3394596" cy="3288949"/>
          </a:xfrm>
          <a:prstGeom prst="rect">
            <a:avLst/>
          </a:prstGeom>
          <a:noFill/>
          <a:extLst>
            <a:ext uri="{909E8E84-426E-40DD-AFC4-6F175D3DCCD1}">
              <a14:hiddenFill xmlns:a14="http://schemas.microsoft.com/office/drawing/2010/main">
                <a:solidFill>
                  <a:srgbClr val="FFFFFF"/>
                </a:solidFill>
              </a14:hiddenFill>
            </a:ext>
          </a:extLst>
        </p:spPr>
      </p:pic>
      <p:sp>
        <p:nvSpPr>
          <p:cNvPr id="4" name="Rechteck 3"/>
          <p:cNvSpPr/>
          <p:nvPr/>
        </p:nvSpPr>
        <p:spPr>
          <a:xfrm>
            <a:off x="0" y="29111"/>
            <a:ext cx="9144000" cy="1615827"/>
          </a:xfrm>
          <a:prstGeom prst="rect">
            <a:avLst/>
          </a:prstGeom>
        </p:spPr>
        <p:txBody>
          <a:bodyPr wrap="square">
            <a:spAutoFit/>
          </a:bodyPr>
          <a:lstStyle/>
          <a:p>
            <a:pPr algn="ctr"/>
            <a:r>
              <a:rPr lang="de-DE" sz="5200" b="1" dirty="0" smtClean="0"/>
              <a:t>Nichteuklidische Geometrie</a:t>
            </a:r>
          </a:p>
          <a:p>
            <a:pPr algn="ctr"/>
            <a:r>
              <a:rPr lang="de-DE" sz="4400" b="1" dirty="0" smtClean="0">
                <a:solidFill>
                  <a:srgbClr val="FF0000"/>
                </a:solidFill>
              </a:rPr>
              <a:t>Philosophische Konsequenzen I</a:t>
            </a:r>
          </a:p>
        </p:txBody>
      </p:sp>
      <p:sp>
        <p:nvSpPr>
          <p:cNvPr id="5" name="AutoShape 2" descr="Prize Competition - Mittag-Leffl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1027" name="Picture 3" descr="D:\Downloads\images.png"/>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8945" b="100000" l="0" r="97993">
                        <a14:foregroundMark x1="9854" y1="98569" x2="73358" y2="99106"/>
                        <a14:foregroundMark x1="46533" y1="25045" x2="45620" y2="41145"/>
                        <a14:foregroundMark x1="47993" y1="44902" x2="36131" y2="33274"/>
                        <a14:foregroundMark x1="38139" y1="32379" x2="47628" y2="38283"/>
                        <a14:foregroundMark x1="35219" y1="40787" x2="32482" y2="35242"/>
                        <a14:foregroundMark x1="45620" y1="52236" x2="53832" y2="62970"/>
                        <a14:foregroundMark x1="30839" y1="53309" x2="21715" y2="58676"/>
                        <a14:foregroundMark x1="18248" y1="61181" x2="9854" y2="68873"/>
                        <a14:foregroundMark x1="9854" y1="68873" x2="4015" y2="83363"/>
                        <a14:foregroundMark x1="4015" y1="83363" x2="2190" y2="96601"/>
                        <a14:foregroundMark x1="39964" y1="12522" x2="32482" y2="25045"/>
                        <a14:foregroundMark x1="31387" y1="25581" x2="32664" y2="20751"/>
                        <a14:foregroundMark x1="33212" y1="20215" x2="36314" y2="15742"/>
                        <a14:foregroundMark x1="31569" y1="24508" x2="31387" y2="28444"/>
                        <a14:foregroundMark x1="7299" y1="73166" x2="1277" y2="86941"/>
                        <a14:foregroundMark x1="5474" y1="73703" x2="1277" y2="85510"/>
                        <a14:foregroundMark x1="2372" y1="84794" x2="1277" y2="88730"/>
                        <a14:foregroundMark x1="36679" y1="44186" x2="36496" y2="50089"/>
                        <a14:backgroundMark x1="14781" y1="35242" x2="12226" y2="62970"/>
                        <a14:backgroundMark x1="5109" y1="68515" x2="912" y2="88909"/>
                      </a14:backgroundRemoval>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324544" y="1266670"/>
            <a:ext cx="3820675" cy="3897368"/>
          </a:xfrm>
          <a:prstGeom prst="rect">
            <a:avLst/>
          </a:prstGeom>
          <a:noFill/>
          <a:effectLst>
            <a:glow rad="63500">
              <a:schemeClr val="accent6">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031" name="Picture 7" descr="Immanuel Kant - İstanbul Okulu"/>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868144" y="1475292"/>
            <a:ext cx="3830473" cy="3688746"/>
          </a:xfrm>
          <a:prstGeom prst="rect">
            <a:avLst/>
          </a:prstGeom>
          <a:noFill/>
          <a:effectLst>
            <a:glow rad="63500">
              <a:schemeClr val="accent6">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0" name="Picture 4" descr="D:\Downloads\ChatGPT Image Jun 7, 2026, 11_01_45 PM.png"/>
          <p:cNvPicPr>
            <a:picLocks noChangeAspect="1" noChangeArrowheads="1"/>
          </p:cNvPicPr>
          <p:nvPr/>
        </p:nvPicPr>
        <p:blipFill rotWithShape="1">
          <a:blip r:embed="rId8">
            <a:extLst>
              <a:ext uri="{28A0092B-C50C-407E-A947-70E740481C1C}">
                <a14:useLocalDpi xmlns:a14="http://schemas.microsoft.com/office/drawing/2010/main" val="0"/>
              </a:ext>
            </a:extLst>
          </a:blip>
          <a:srcRect l="70473" t="8281" r="1639" b="10333"/>
          <a:stretch/>
        </p:blipFill>
        <p:spPr bwMode="auto">
          <a:xfrm>
            <a:off x="3635896" y="1851670"/>
            <a:ext cx="2592288" cy="3109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01045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371472" y="1995686"/>
            <a:ext cx="8568952" cy="1077218"/>
          </a:xfrm>
          <a:prstGeom prst="rect">
            <a:avLst/>
          </a:prstGeom>
          <a:noFill/>
        </p:spPr>
        <p:txBody>
          <a:bodyPr wrap="square" rtlCol="0">
            <a:spAutoFit/>
          </a:bodyPr>
          <a:lstStyle/>
          <a:p>
            <a:r>
              <a:rPr lang="de-DE" sz="3200" dirty="0" smtClean="0"/>
              <a:t>Wahrgenommener </a:t>
            </a:r>
            <a:r>
              <a:rPr lang="de-DE" sz="3200" dirty="0"/>
              <a:t>Raum ≡ </a:t>
            </a:r>
            <a:r>
              <a:rPr lang="de-DE" sz="3200" dirty="0" smtClean="0"/>
              <a:t>Physikalischer </a:t>
            </a:r>
            <a:r>
              <a:rPr lang="de-DE" sz="3200" dirty="0"/>
              <a:t>Raum </a:t>
            </a:r>
            <a:endParaRPr lang="de-DE" sz="3200" dirty="0" smtClean="0"/>
          </a:p>
          <a:p>
            <a:r>
              <a:rPr lang="de-DE" sz="3200" dirty="0" smtClean="0"/>
              <a:t>                                             </a:t>
            </a:r>
            <a:r>
              <a:rPr lang="de-DE" sz="3200" dirty="0" smtClean="0">
                <a:solidFill>
                  <a:schemeClr val="bg1"/>
                </a:solidFill>
              </a:rPr>
              <a:t>.</a:t>
            </a:r>
            <a:r>
              <a:rPr lang="de-DE" sz="3200" dirty="0" smtClean="0"/>
              <a:t>≡ Euklidische Geometrie</a:t>
            </a:r>
            <a:endParaRPr lang="de-DE" sz="3200" dirty="0"/>
          </a:p>
        </p:txBody>
      </p:sp>
      <p:sp>
        <p:nvSpPr>
          <p:cNvPr id="3" name="Textfeld 2"/>
          <p:cNvSpPr txBox="1"/>
          <p:nvPr/>
        </p:nvSpPr>
        <p:spPr>
          <a:xfrm>
            <a:off x="395536" y="1419622"/>
            <a:ext cx="7200800" cy="584775"/>
          </a:xfrm>
          <a:prstGeom prst="rect">
            <a:avLst/>
          </a:prstGeom>
          <a:noFill/>
        </p:spPr>
        <p:txBody>
          <a:bodyPr wrap="square" rtlCol="0">
            <a:spAutoFit/>
          </a:bodyPr>
          <a:lstStyle/>
          <a:p>
            <a:r>
              <a:rPr lang="de-DE" sz="3200" b="1" u="sng" dirty="0" smtClean="0"/>
              <a:t>Aufhänger/Leitfaden</a:t>
            </a:r>
            <a:endParaRPr lang="de-DE" sz="3200" b="1" u="sng" dirty="0"/>
          </a:p>
        </p:txBody>
      </p:sp>
    </p:spTree>
    <p:extLst>
      <p:ext uri="{BB962C8B-B14F-4D97-AF65-F5344CB8AC3E}">
        <p14:creationId xmlns:p14="http://schemas.microsoft.com/office/powerpoint/2010/main" val="30030965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p:cNvSpPr txBox="1"/>
          <p:nvPr/>
        </p:nvSpPr>
        <p:spPr>
          <a:xfrm>
            <a:off x="899592" y="1700103"/>
            <a:ext cx="7200800" cy="1015663"/>
          </a:xfrm>
          <a:prstGeom prst="rect">
            <a:avLst/>
          </a:prstGeom>
          <a:noFill/>
        </p:spPr>
        <p:txBody>
          <a:bodyPr wrap="square" rtlCol="0">
            <a:spAutoFit/>
          </a:bodyPr>
          <a:lstStyle/>
          <a:p>
            <a:pPr algn="ctr"/>
            <a:r>
              <a:rPr lang="de-DE" sz="6000" b="1" dirty="0" smtClean="0">
                <a:latin typeface="Times New Roman" panose="02020603050405020304" pitchFamily="18" charset="0"/>
                <a:cs typeface="Times New Roman" panose="02020603050405020304" pitchFamily="18" charset="0"/>
              </a:rPr>
              <a:t>Was ist Raum?</a:t>
            </a:r>
            <a:endParaRPr lang="de-DE" sz="6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79981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p:cNvSpPr txBox="1"/>
          <p:nvPr/>
        </p:nvSpPr>
        <p:spPr>
          <a:xfrm>
            <a:off x="899592" y="1352838"/>
            <a:ext cx="7200800" cy="1938992"/>
          </a:xfrm>
          <a:prstGeom prst="rect">
            <a:avLst/>
          </a:prstGeom>
          <a:noFill/>
        </p:spPr>
        <p:txBody>
          <a:bodyPr wrap="square" rtlCol="0">
            <a:spAutoFit/>
          </a:bodyPr>
          <a:lstStyle/>
          <a:p>
            <a:pPr algn="ctr"/>
            <a:r>
              <a:rPr lang="de-DE" sz="6000" b="1" dirty="0" smtClean="0">
                <a:latin typeface="Times New Roman" panose="02020603050405020304" pitchFamily="18" charset="0"/>
                <a:cs typeface="Times New Roman" panose="02020603050405020304" pitchFamily="18" charset="0"/>
              </a:rPr>
              <a:t>Konkreter und abstrakter Raum</a:t>
            </a:r>
            <a:endParaRPr lang="de-DE" sz="6000" b="1" dirty="0">
              <a:latin typeface="Times New Roman" panose="02020603050405020304" pitchFamily="18" charset="0"/>
              <a:cs typeface="Times New Roman" panose="02020603050405020304" pitchFamily="18" charset="0"/>
            </a:endParaRPr>
          </a:p>
        </p:txBody>
      </p:sp>
      <p:sp>
        <p:nvSpPr>
          <p:cNvPr id="2" name="Textfeld 1"/>
          <p:cNvSpPr txBox="1"/>
          <p:nvPr/>
        </p:nvSpPr>
        <p:spPr>
          <a:xfrm>
            <a:off x="311374" y="3642578"/>
            <a:ext cx="3168352" cy="369332"/>
          </a:xfrm>
          <a:prstGeom prst="rect">
            <a:avLst/>
          </a:prstGeom>
          <a:noFill/>
        </p:spPr>
        <p:txBody>
          <a:bodyPr wrap="square" rtlCol="0">
            <a:spAutoFit/>
          </a:bodyPr>
          <a:lstStyle/>
          <a:p>
            <a:r>
              <a:rPr lang="de-DE" dirty="0" smtClean="0"/>
              <a:t>Das Video ist „kurz“ oder „lang“</a:t>
            </a:r>
            <a:endParaRPr lang="de-DE" dirty="0"/>
          </a:p>
        </p:txBody>
      </p:sp>
      <p:sp>
        <p:nvSpPr>
          <p:cNvPr id="5" name="Textfeld 4"/>
          <p:cNvSpPr txBox="1"/>
          <p:nvPr/>
        </p:nvSpPr>
        <p:spPr>
          <a:xfrm>
            <a:off x="1619672" y="4227934"/>
            <a:ext cx="3168352" cy="369332"/>
          </a:xfrm>
          <a:prstGeom prst="rect">
            <a:avLst/>
          </a:prstGeom>
          <a:noFill/>
        </p:spPr>
        <p:txBody>
          <a:bodyPr wrap="square" rtlCol="0">
            <a:spAutoFit/>
          </a:bodyPr>
          <a:lstStyle/>
          <a:p>
            <a:r>
              <a:rPr lang="de-DE" dirty="0" smtClean="0"/>
              <a:t>„hohes“ und „niedriges“ Niveau</a:t>
            </a:r>
            <a:endParaRPr lang="de-DE" dirty="0"/>
          </a:p>
        </p:txBody>
      </p:sp>
      <p:sp>
        <p:nvSpPr>
          <p:cNvPr id="6" name="Textfeld 5"/>
          <p:cNvSpPr txBox="1"/>
          <p:nvPr/>
        </p:nvSpPr>
        <p:spPr>
          <a:xfrm>
            <a:off x="323528" y="453901"/>
            <a:ext cx="2664296" cy="461665"/>
          </a:xfrm>
          <a:prstGeom prst="rect">
            <a:avLst/>
          </a:prstGeom>
          <a:noFill/>
        </p:spPr>
        <p:txBody>
          <a:bodyPr wrap="square" rtlCol="0">
            <a:spAutoFit/>
          </a:bodyPr>
          <a:lstStyle/>
          <a:p>
            <a:r>
              <a:rPr lang="de-DE" sz="2400" b="1" dirty="0" smtClean="0">
                <a:latin typeface="Times New Roman" panose="02020603050405020304" pitchFamily="18" charset="0"/>
                <a:cs typeface="Times New Roman" panose="02020603050405020304" pitchFamily="18" charset="0"/>
              </a:rPr>
              <a:t>Unmittelbarkeit</a:t>
            </a:r>
            <a:endParaRPr lang="de-DE" sz="2400" b="1" dirty="0">
              <a:latin typeface="Times New Roman" panose="02020603050405020304" pitchFamily="18" charset="0"/>
              <a:cs typeface="Times New Roman" panose="02020603050405020304" pitchFamily="18" charset="0"/>
            </a:endParaRPr>
          </a:p>
        </p:txBody>
      </p:sp>
      <p:sp>
        <p:nvSpPr>
          <p:cNvPr id="7" name="Textfeld 6"/>
          <p:cNvSpPr txBox="1"/>
          <p:nvPr/>
        </p:nvSpPr>
        <p:spPr>
          <a:xfrm>
            <a:off x="4067944" y="3651870"/>
            <a:ext cx="2664296" cy="369332"/>
          </a:xfrm>
          <a:prstGeom prst="rect">
            <a:avLst/>
          </a:prstGeom>
          <a:noFill/>
        </p:spPr>
        <p:txBody>
          <a:bodyPr wrap="square" rtlCol="0">
            <a:spAutoFit/>
          </a:bodyPr>
          <a:lstStyle/>
          <a:p>
            <a:r>
              <a:rPr lang="de-DE" dirty="0" smtClean="0"/>
              <a:t>„große und kleine Zahlen“</a:t>
            </a:r>
            <a:endParaRPr lang="de-DE" dirty="0"/>
          </a:p>
        </p:txBody>
      </p:sp>
      <p:sp>
        <p:nvSpPr>
          <p:cNvPr id="8" name="Textfeld 7"/>
          <p:cNvSpPr txBox="1"/>
          <p:nvPr/>
        </p:nvSpPr>
        <p:spPr>
          <a:xfrm>
            <a:off x="2987824" y="771550"/>
            <a:ext cx="2664296" cy="461665"/>
          </a:xfrm>
          <a:prstGeom prst="rect">
            <a:avLst/>
          </a:prstGeom>
          <a:noFill/>
        </p:spPr>
        <p:txBody>
          <a:bodyPr wrap="square" rtlCol="0">
            <a:spAutoFit/>
          </a:bodyPr>
          <a:lstStyle/>
          <a:p>
            <a:r>
              <a:rPr lang="de-DE" sz="2400" b="1" dirty="0" smtClean="0">
                <a:latin typeface="Times New Roman" panose="02020603050405020304" pitchFamily="18" charset="0"/>
                <a:cs typeface="Times New Roman" panose="02020603050405020304" pitchFamily="18" charset="0"/>
              </a:rPr>
              <a:t>Leiblichkeit</a:t>
            </a:r>
            <a:endParaRPr lang="de-DE" sz="2400" b="1" dirty="0">
              <a:latin typeface="Times New Roman" panose="02020603050405020304" pitchFamily="18" charset="0"/>
              <a:cs typeface="Times New Roman" panose="02020603050405020304" pitchFamily="18" charset="0"/>
            </a:endParaRPr>
          </a:p>
        </p:txBody>
      </p:sp>
      <p:sp>
        <p:nvSpPr>
          <p:cNvPr id="9" name="Textfeld 8"/>
          <p:cNvSpPr txBox="1"/>
          <p:nvPr/>
        </p:nvSpPr>
        <p:spPr>
          <a:xfrm>
            <a:off x="5652120" y="267494"/>
            <a:ext cx="3240360" cy="1200329"/>
          </a:xfrm>
          <a:prstGeom prst="rect">
            <a:avLst/>
          </a:prstGeom>
          <a:noFill/>
        </p:spPr>
        <p:txBody>
          <a:bodyPr wrap="square" rtlCol="0">
            <a:spAutoFit/>
          </a:bodyPr>
          <a:lstStyle/>
          <a:p>
            <a:r>
              <a:rPr lang="de-DE" b="1" dirty="0" err="1" smtClean="0">
                <a:latin typeface="Times New Roman" panose="02020603050405020304" pitchFamily="18" charset="0"/>
                <a:cs typeface="Times New Roman" panose="02020603050405020304" pitchFamily="18" charset="0"/>
              </a:rPr>
              <a:t>Topische</a:t>
            </a:r>
            <a:r>
              <a:rPr lang="de-DE" b="1" dirty="0" smtClean="0">
                <a:latin typeface="Times New Roman" panose="02020603050405020304" pitchFamily="18" charset="0"/>
                <a:cs typeface="Times New Roman" panose="02020603050405020304" pitchFamily="18" charset="0"/>
              </a:rPr>
              <a:t> Begriffe:</a:t>
            </a:r>
          </a:p>
          <a:p>
            <a:r>
              <a:rPr lang="de-DE" dirty="0" smtClean="0">
                <a:latin typeface="Times New Roman" panose="02020603050405020304" pitchFamily="18" charset="0"/>
                <a:cs typeface="Times New Roman" panose="02020603050405020304" pitchFamily="18" charset="0"/>
              </a:rPr>
              <a:t>Innen-außen</a:t>
            </a:r>
          </a:p>
          <a:p>
            <a:r>
              <a:rPr lang="de-DE" dirty="0" smtClean="0">
                <a:latin typeface="Times New Roman" panose="02020603050405020304" pitchFamily="18" charset="0"/>
                <a:cs typeface="Times New Roman" panose="02020603050405020304" pitchFamily="18" charset="0"/>
              </a:rPr>
              <a:t>Vorne-hinten  </a:t>
            </a:r>
            <a:r>
              <a:rPr lang="de-DE" dirty="0">
                <a:latin typeface="Times New Roman" panose="02020603050405020304" pitchFamily="18" charset="0"/>
                <a:cs typeface="Times New Roman" panose="02020603050405020304" pitchFamily="18" charset="0"/>
              </a:rPr>
              <a:t>Zentral-peripher</a:t>
            </a:r>
          </a:p>
          <a:p>
            <a:endParaRPr lang="de-DE" dirty="0" smtClean="0">
              <a:latin typeface="Times New Roman" panose="02020603050405020304" pitchFamily="18" charset="0"/>
              <a:cs typeface="Times New Roman" panose="02020603050405020304" pitchFamily="18" charset="0"/>
            </a:endParaRPr>
          </a:p>
        </p:txBody>
      </p:sp>
      <p:sp>
        <p:nvSpPr>
          <p:cNvPr id="10" name="Textfeld 9"/>
          <p:cNvSpPr txBox="1"/>
          <p:nvPr/>
        </p:nvSpPr>
        <p:spPr>
          <a:xfrm>
            <a:off x="7092280" y="555526"/>
            <a:ext cx="1656184" cy="369332"/>
          </a:xfrm>
          <a:prstGeom prst="rect">
            <a:avLst/>
          </a:prstGeom>
          <a:noFill/>
        </p:spPr>
        <p:txBody>
          <a:bodyPr wrap="square" rtlCol="0">
            <a:spAutoFit/>
          </a:bodyPr>
          <a:lstStyle/>
          <a:p>
            <a:r>
              <a:rPr lang="de-DE" dirty="0" smtClean="0">
                <a:latin typeface="Times New Roman" panose="02020603050405020304" pitchFamily="18" charset="0"/>
                <a:cs typeface="Times New Roman" panose="02020603050405020304" pitchFamily="18" charset="0"/>
              </a:rPr>
              <a:t>Oben-unten</a:t>
            </a:r>
            <a:endParaRPr lang="de-DE" dirty="0">
              <a:latin typeface="Times New Roman" panose="02020603050405020304" pitchFamily="18" charset="0"/>
              <a:cs typeface="Times New Roman" panose="02020603050405020304" pitchFamily="18" charset="0"/>
            </a:endParaRPr>
          </a:p>
        </p:txBody>
      </p:sp>
      <p:pic>
        <p:nvPicPr>
          <p:cNvPr id="1026" name="Picture 2" descr="File:Box with polygons.sv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94884" y="3554179"/>
            <a:ext cx="1850975" cy="134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7693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ttps://i9.ytimg.com/vi_webp/ZscbNrcDPMs/maxresdefault.webp?v=6706920b&amp;sqp=CIjRwNEG&amp;rs=AOn4CLBgkO4QPgT_Br73ZrrSzizXlEJW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4" name="AutoShape 4" descr="https://i9.ytimg.com/vi_webp/ZscbNrcDPMs/maxresdefault.webp?v=6706920b&amp;sqp=CIjRwNEG&amp;rs=AOn4CLBgkO4QPgT_Br73ZrrSzizXlEJW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282" y="160337"/>
            <a:ext cx="8487657" cy="4871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92451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ttps://i9.ytimg.com/vi_webp/ZscbNrcDPMs/maxresdefault.webp?v=6706920b&amp;sqp=CIjRwNEG&amp;rs=AOn4CLBgkO4QPgT_Br73ZrrSzizXlEJW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4" name="AutoShape 4" descr="https://i9.ytimg.com/vi_webp/ZscbNrcDPMs/maxresdefault.webp?v=6706920b&amp;sqp=CIjRwNEG&amp;rs=AOn4CLBgkO4QPgT_Br73ZrrSzizXlEJW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6" name="Textfeld 5"/>
          <p:cNvSpPr txBox="1"/>
          <p:nvPr/>
        </p:nvSpPr>
        <p:spPr>
          <a:xfrm>
            <a:off x="107504" y="84569"/>
            <a:ext cx="8856984" cy="830997"/>
          </a:xfrm>
          <a:prstGeom prst="rect">
            <a:avLst/>
          </a:prstGeom>
          <a:noFill/>
        </p:spPr>
        <p:txBody>
          <a:bodyPr wrap="square" rtlCol="0">
            <a:spAutoFit/>
          </a:bodyPr>
          <a:lstStyle/>
          <a:p>
            <a:pPr algn="ctr"/>
            <a:r>
              <a:rPr lang="de-DE" sz="4800" b="1" dirty="0" smtClean="0"/>
              <a:t>Absoluter vs. relationaler Raum</a:t>
            </a:r>
            <a:endParaRPr lang="de-DE" sz="4800" b="1" dirty="0"/>
          </a:p>
        </p:txBody>
      </p:sp>
      <p:sp>
        <p:nvSpPr>
          <p:cNvPr id="5" name="Textfeld 4"/>
          <p:cNvSpPr txBox="1"/>
          <p:nvPr/>
        </p:nvSpPr>
        <p:spPr>
          <a:xfrm>
            <a:off x="307975" y="1022414"/>
            <a:ext cx="8584505" cy="1477328"/>
          </a:xfrm>
          <a:prstGeom prst="rect">
            <a:avLst/>
          </a:prstGeom>
          <a:noFill/>
        </p:spPr>
        <p:txBody>
          <a:bodyPr wrap="square" rtlCol="0">
            <a:spAutoFit/>
          </a:bodyPr>
          <a:lstStyle/>
          <a:p>
            <a:pPr marL="342900" indent="-342900">
              <a:buAutoNum type="arabicParenR"/>
            </a:pPr>
            <a:r>
              <a:rPr lang="de-DE" b="1" dirty="0" smtClean="0"/>
              <a:t>Absoluter </a:t>
            </a:r>
            <a:r>
              <a:rPr lang="de-DE" b="1" dirty="0"/>
              <a:t>Raum / </a:t>
            </a:r>
            <a:r>
              <a:rPr lang="de-DE" b="1" dirty="0" err="1" smtClean="0"/>
              <a:t>Substantialismus</a:t>
            </a:r>
            <a:r>
              <a:rPr lang="de-DE" b="1" dirty="0" smtClean="0"/>
              <a:t>: </a:t>
            </a:r>
            <a:r>
              <a:rPr lang="de-DE" dirty="0" smtClean="0"/>
              <a:t>Der </a:t>
            </a:r>
            <a:r>
              <a:rPr lang="de-DE" dirty="0"/>
              <a:t>Raum wird zu einer Art Substanz </a:t>
            </a:r>
            <a:r>
              <a:rPr lang="de-DE" dirty="0" err="1" smtClean="0"/>
              <a:t>reifiziert</a:t>
            </a:r>
            <a:r>
              <a:rPr lang="de-DE" dirty="0" smtClean="0"/>
              <a:t>, </a:t>
            </a:r>
            <a:r>
              <a:rPr lang="de-DE" dirty="0"/>
              <a:t>die unabhängig von Körpern, Ereignissen, usw. existiert. </a:t>
            </a:r>
            <a:endParaRPr lang="de-DE" dirty="0" smtClean="0"/>
          </a:p>
          <a:p>
            <a:pPr marL="342900" indent="-342900">
              <a:buAutoNum type="arabicParenR"/>
            </a:pPr>
            <a:endParaRPr lang="de-DE" dirty="0"/>
          </a:p>
          <a:p>
            <a:pPr marL="342900" indent="-342900">
              <a:buAutoNum type="arabicParenR"/>
            </a:pPr>
            <a:r>
              <a:rPr lang="de-DE" b="1" dirty="0" err="1" smtClean="0"/>
              <a:t>Leibnizianischer</a:t>
            </a:r>
            <a:r>
              <a:rPr lang="de-DE" b="1" dirty="0" smtClean="0"/>
              <a:t> </a:t>
            </a:r>
            <a:r>
              <a:rPr lang="de-DE" b="1" dirty="0" err="1"/>
              <a:t>Relationismus</a:t>
            </a:r>
            <a:r>
              <a:rPr lang="de-DE" b="1" dirty="0" smtClean="0"/>
              <a:t>: </a:t>
            </a:r>
            <a:r>
              <a:rPr lang="de-DE" dirty="0"/>
              <a:t>Raum ist </a:t>
            </a:r>
            <a:r>
              <a:rPr lang="de-DE" i="1" dirty="0"/>
              <a:t>kein</a:t>
            </a:r>
            <a:r>
              <a:rPr lang="de-DE" dirty="0"/>
              <a:t> Behälter, sondern die Ordnung koexistierender Dinge (d. h. ohne Dinge kein Raum), er ist relational zu verstehen. </a:t>
            </a:r>
            <a:endParaRPr lang="de-DE" dirty="0" smtClean="0"/>
          </a:p>
        </p:txBody>
      </p:sp>
      <p:sp>
        <p:nvSpPr>
          <p:cNvPr id="7" name="Textfeld 6"/>
          <p:cNvSpPr txBox="1"/>
          <p:nvPr/>
        </p:nvSpPr>
        <p:spPr>
          <a:xfrm rot="365137">
            <a:off x="571426" y="2837161"/>
            <a:ext cx="2311425" cy="400110"/>
          </a:xfrm>
          <a:prstGeom prst="rect">
            <a:avLst/>
          </a:prstGeom>
          <a:noFill/>
        </p:spPr>
        <p:txBody>
          <a:bodyPr wrap="square" rtlCol="0">
            <a:spAutoFit/>
          </a:bodyPr>
          <a:lstStyle/>
          <a:p>
            <a:r>
              <a:rPr lang="de-DE" sz="2000" b="1" dirty="0" smtClean="0"/>
              <a:t>Eimerargument</a:t>
            </a:r>
            <a:endParaRPr lang="de-DE" sz="2000" b="1" dirty="0"/>
          </a:p>
        </p:txBody>
      </p:sp>
      <p:sp>
        <p:nvSpPr>
          <p:cNvPr id="9" name="Textfeld 8"/>
          <p:cNvSpPr txBox="1"/>
          <p:nvPr/>
        </p:nvSpPr>
        <p:spPr>
          <a:xfrm>
            <a:off x="2918071" y="2886833"/>
            <a:ext cx="2950073" cy="707886"/>
          </a:xfrm>
          <a:prstGeom prst="rect">
            <a:avLst/>
          </a:prstGeom>
          <a:noFill/>
        </p:spPr>
        <p:txBody>
          <a:bodyPr wrap="square" rtlCol="0">
            <a:spAutoFit/>
          </a:bodyPr>
          <a:lstStyle/>
          <a:p>
            <a:r>
              <a:rPr lang="de-DE" sz="2000" b="1" dirty="0"/>
              <a:t>Verschiebungs- und Spiegelungsargumente</a:t>
            </a:r>
          </a:p>
        </p:txBody>
      </p:sp>
      <p:sp>
        <p:nvSpPr>
          <p:cNvPr id="11" name="Textfeld 10"/>
          <p:cNvSpPr txBox="1"/>
          <p:nvPr/>
        </p:nvSpPr>
        <p:spPr>
          <a:xfrm rot="436878">
            <a:off x="5973117" y="2899860"/>
            <a:ext cx="2950073" cy="707886"/>
          </a:xfrm>
          <a:prstGeom prst="rect">
            <a:avLst/>
          </a:prstGeom>
          <a:noFill/>
        </p:spPr>
        <p:txBody>
          <a:bodyPr wrap="square" rtlCol="0">
            <a:spAutoFit/>
          </a:bodyPr>
          <a:lstStyle/>
          <a:p>
            <a:r>
              <a:rPr lang="de-DE" sz="2000" b="1" dirty="0" err="1" smtClean="0"/>
              <a:t>Relationalismus</a:t>
            </a:r>
            <a:r>
              <a:rPr lang="de-DE" sz="2000" b="1" dirty="0" smtClean="0"/>
              <a:t> =</a:t>
            </a:r>
            <a:endParaRPr lang="de-DE" sz="2000" b="1" dirty="0"/>
          </a:p>
          <a:p>
            <a:r>
              <a:rPr lang="de-DE" sz="2000" b="1" dirty="0" smtClean="0"/>
              <a:t>ontologisch sparsamer</a:t>
            </a:r>
            <a:endParaRPr lang="de-DE" sz="2000" b="1" dirty="0"/>
          </a:p>
        </p:txBody>
      </p:sp>
      <p:sp>
        <p:nvSpPr>
          <p:cNvPr id="8" name="Textfeld 7"/>
          <p:cNvSpPr txBox="1"/>
          <p:nvPr/>
        </p:nvSpPr>
        <p:spPr>
          <a:xfrm>
            <a:off x="578595" y="3494516"/>
            <a:ext cx="2478521" cy="400110"/>
          </a:xfrm>
          <a:prstGeom prst="rect">
            <a:avLst/>
          </a:prstGeom>
          <a:noFill/>
        </p:spPr>
        <p:txBody>
          <a:bodyPr wrap="square" rtlCol="0">
            <a:spAutoFit/>
          </a:bodyPr>
          <a:lstStyle/>
          <a:p>
            <a:r>
              <a:rPr lang="de-DE" sz="2000" b="1" dirty="0" err="1" smtClean="0"/>
              <a:t>Machsches</a:t>
            </a:r>
            <a:r>
              <a:rPr lang="de-DE" sz="2000" b="1" dirty="0" smtClean="0"/>
              <a:t> Prinzip</a:t>
            </a:r>
            <a:endParaRPr lang="de-DE" sz="2000" b="1" dirty="0"/>
          </a:p>
        </p:txBody>
      </p:sp>
      <p:sp>
        <p:nvSpPr>
          <p:cNvPr id="12" name="Textfeld 11"/>
          <p:cNvSpPr txBox="1"/>
          <p:nvPr/>
        </p:nvSpPr>
        <p:spPr>
          <a:xfrm>
            <a:off x="4547420" y="3795886"/>
            <a:ext cx="2904900" cy="400110"/>
          </a:xfrm>
          <a:prstGeom prst="rect">
            <a:avLst/>
          </a:prstGeom>
          <a:noFill/>
        </p:spPr>
        <p:txBody>
          <a:bodyPr wrap="square" rtlCol="0">
            <a:spAutoFit/>
          </a:bodyPr>
          <a:lstStyle/>
          <a:p>
            <a:pPr algn="ctr"/>
            <a:r>
              <a:rPr lang="de-DE" sz="2000" b="1" dirty="0" smtClean="0"/>
              <a:t>Verdopplungsargument</a:t>
            </a:r>
            <a:endParaRPr lang="de-DE" sz="2000" b="1" dirty="0"/>
          </a:p>
        </p:txBody>
      </p:sp>
      <p:sp>
        <p:nvSpPr>
          <p:cNvPr id="13" name="Textfeld 12"/>
          <p:cNvSpPr txBox="1"/>
          <p:nvPr/>
        </p:nvSpPr>
        <p:spPr>
          <a:xfrm>
            <a:off x="484722" y="4083918"/>
            <a:ext cx="4519326" cy="707886"/>
          </a:xfrm>
          <a:prstGeom prst="rect">
            <a:avLst/>
          </a:prstGeom>
          <a:noFill/>
        </p:spPr>
        <p:txBody>
          <a:bodyPr wrap="square" rtlCol="0">
            <a:spAutoFit/>
          </a:bodyPr>
          <a:lstStyle/>
          <a:p>
            <a:r>
              <a:rPr lang="de-DE" sz="2000" b="1" dirty="0" smtClean="0">
                <a:solidFill>
                  <a:srgbClr val="FF0000"/>
                </a:solidFill>
              </a:rPr>
              <a:t>Zeit = „Ordnung des Nacheinanders“</a:t>
            </a:r>
          </a:p>
          <a:p>
            <a:r>
              <a:rPr lang="de-DE" sz="2000" b="1" dirty="0" smtClean="0">
                <a:solidFill>
                  <a:srgbClr val="FF0000"/>
                </a:solidFill>
              </a:rPr>
              <a:t>Raum = „Ordnung des Nebeneinanders“</a:t>
            </a:r>
            <a:endParaRPr lang="de-DE" sz="2000" b="1" dirty="0">
              <a:solidFill>
                <a:srgbClr val="FF0000"/>
              </a:solidFill>
            </a:endParaRPr>
          </a:p>
        </p:txBody>
      </p:sp>
      <p:sp>
        <p:nvSpPr>
          <p:cNvPr id="14" name="Textfeld 13"/>
          <p:cNvSpPr txBox="1"/>
          <p:nvPr/>
        </p:nvSpPr>
        <p:spPr>
          <a:xfrm>
            <a:off x="5940152" y="4434666"/>
            <a:ext cx="3024336" cy="400110"/>
          </a:xfrm>
          <a:prstGeom prst="rect">
            <a:avLst/>
          </a:prstGeom>
          <a:noFill/>
        </p:spPr>
        <p:txBody>
          <a:bodyPr wrap="square" rtlCol="0">
            <a:spAutoFit/>
          </a:bodyPr>
          <a:lstStyle/>
          <a:p>
            <a:r>
              <a:rPr lang="de-DE" sz="2000" b="1" dirty="0" smtClean="0"/>
              <a:t>Clark-Leibniz-Briefwechsel</a:t>
            </a:r>
            <a:endParaRPr lang="de-DE" sz="2000" b="1" dirty="0"/>
          </a:p>
        </p:txBody>
      </p:sp>
    </p:spTree>
    <p:extLst>
      <p:ext uri="{BB962C8B-B14F-4D97-AF65-F5344CB8AC3E}">
        <p14:creationId xmlns:p14="http://schemas.microsoft.com/office/powerpoint/2010/main" val="10263808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ttps://i9.ytimg.com/vi_webp/ZscbNrcDPMs/maxresdefault.webp?v=6706920b&amp;sqp=CIjRwNEG&amp;rs=AOn4CLBgkO4QPgT_Br73ZrrSzizXlEJW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627534"/>
            <a:ext cx="6624736" cy="3175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AutoShape 4" descr="image.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sp>
        <p:nvSpPr>
          <p:cNvPr id="10" name="AutoShape 6" descr="image.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1032" name="Picture 8" descr="https://cdn.discordapp.com/attachments/1513251434966024372/1513290675268092094/image.png?ex=6a311484&amp;is=6a2fc304&amp;hm=ce995ce9cc4476a1fee22e8a71fd97b5130e7fd29aab0e955f3daef57b988fd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04248" y="1419622"/>
            <a:ext cx="2169884" cy="1800200"/>
          </a:xfrm>
          <a:prstGeom prst="rect">
            <a:avLst/>
          </a:prstGeom>
          <a:noFill/>
          <a:extLst>
            <a:ext uri="{909E8E84-426E-40DD-AFC4-6F175D3DCCD1}">
              <a14:hiddenFill xmlns:a14="http://schemas.microsoft.com/office/drawing/2010/main">
                <a:solidFill>
                  <a:srgbClr val="FFFFFF"/>
                </a:solidFill>
              </a14:hiddenFill>
            </a:ext>
          </a:extLst>
        </p:spPr>
      </p:pic>
      <p:sp>
        <p:nvSpPr>
          <p:cNvPr id="15" name="Textfeld 14"/>
          <p:cNvSpPr txBox="1"/>
          <p:nvPr/>
        </p:nvSpPr>
        <p:spPr>
          <a:xfrm>
            <a:off x="307975" y="3870796"/>
            <a:ext cx="8512497" cy="1077218"/>
          </a:xfrm>
          <a:prstGeom prst="rect">
            <a:avLst/>
          </a:prstGeom>
          <a:noFill/>
        </p:spPr>
        <p:txBody>
          <a:bodyPr wrap="square" rtlCol="0">
            <a:spAutoFit/>
          </a:bodyPr>
          <a:lstStyle/>
          <a:p>
            <a:pPr algn="just"/>
            <a:r>
              <a:rPr lang="de-DE" sz="1600" dirty="0" smtClean="0"/>
              <a:t>Wenn </a:t>
            </a:r>
            <a:r>
              <a:rPr lang="de-DE" sz="1600" dirty="0"/>
              <a:t>die allererste geschaffene Sache eine einzelne Hand wäre, müsste sie trotzdem entweder eine rechte oder eine linke Hand sein. Aber wenn nur die inneren Relationen ihrer Teile existierten, wäre nicht bestimmbar, welche sie ist. Also muss ihre Rechts- oder Linkshändigkeit durch mehr bestimmt sein als durch ihre internen Relationen: durch ihre Stellung zur Raumordnung überhaupt.</a:t>
            </a:r>
          </a:p>
        </p:txBody>
      </p:sp>
      <p:sp>
        <p:nvSpPr>
          <p:cNvPr id="16" name="Textfeld 15"/>
          <p:cNvSpPr txBox="1"/>
          <p:nvPr/>
        </p:nvSpPr>
        <p:spPr>
          <a:xfrm>
            <a:off x="251520" y="93861"/>
            <a:ext cx="6928321" cy="461665"/>
          </a:xfrm>
          <a:prstGeom prst="rect">
            <a:avLst/>
          </a:prstGeom>
          <a:noFill/>
        </p:spPr>
        <p:txBody>
          <a:bodyPr wrap="square" rtlCol="0">
            <a:spAutoFit/>
          </a:bodyPr>
          <a:lstStyle/>
          <a:p>
            <a:r>
              <a:rPr lang="de-DE" sz="2400" b="1" dirty="0" smtClean="0"/>
              <a:t>Argument der „inkongruenten Gegenstücke“</a:t>
            </a:r>
            <a:endParaRPr lang="de-DE" sz="2400" b="1" dirty="0"/>
          </a:p>
        </p:txBody>
      </p:sp>
    </p:spTree>
    <p:extLst>
      <p:ext uri="{BB962C8B-B14F-4D97-AF65-F5344CB8AC3E}">
        <p14:creationId xmlns:p14="http://schemas.microsoft.com/office/powerpoint/2010/main" val="29995676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cdn.discordapp.com/attachments/1513251434966024372/1513515451865497690/image.png?ex=6a313d1b&amp;is=6a2feb9b&amp;hm=65f534918166eec93f535f1121938b193552ed1287d7a9c99650d917dc86fdc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95486"/>
            <a:ext cx="4392488" cy="4732113"/>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3635896" y="1131590"/>
            <a:ext cx="5184576" cy="3416320"/>
          </a:xfrm>
          <a:prstGeom prst="rect">
            <a:avLst/>
          </a:prstGeom>
          <a:noFill/>
        </p:spPr>
        <p:txBody>
          <a:bodyPr wrap="square" rtlCol="0">
            <a:spAutoFit/>
          </a:bodyPr>
          <a:lstStyle/>
          <a:p>
            <a:pPr algn="just"/>
            <a:r>
              <a:rPr lang="de-DE" b="1" dirty="0" smtClean="0">
                <a:latin typeface="Times New Roman" panose="02020603050405020304" pitchFamily="18" charset="0"/>
                <a:cs typeface="Times New Roman" panose="02020603050405020304" pitchFamily="18" charset="0"/>
              </a:rPr>
              <a:t>Leibniz </a:t>
            </a:r>
            <a:r>
              <a:rPr lang="de-DE" b="1" dirty="0">
                <a:latin typeface="Times New Roman" panose="02020603050405020304" pitchFamily="18" charset="0"/>
                <a:cs typeface="Times New Roman" panose="02020603050405020304" pitchFamily="18" charset="0"/>
              </a:rPr>
              <a:t>will zeigen: </a:t>
            </a:r>
            <a:r>
              <a:rPr lang="de-DE" dirty="0">
                <a:latin typeface="Times New Roman" panose="02020603050405020304" pitchFamily="18" charset="0"/>
                <a:cs typeface="Times New Roman" panose="02020603050405020304" pitchFamily="18" charset="0"/>
              </a:rPr>
              <a:t>Wenn alle Körper gleich verschoben, gespiegelt oder mit derselben Geschwindigkeit bewegt würden, blieben alle Relationen zwischen Körpern gleich. Also seien Relationen der Körper zum Raum metaphysisch leer. Das soll den </a:t>
            </a:r>
            <a:r>
              <a:rPr lang="de-DE" dirty="0" err="1">
                <a:latin typeface="Times New Roman" panose="02020603050405020304" pitchFamily="18" charset="0"/>
                <a:cs typeface="Times New Roman" panose="02020603050405020304" pitchFamily="18" charset="0"/>
              </a:rPr>
              <a:t>relationalistischen</a:t>
            </a:r>
            <a:r>
              <a:rPr lang="de-DE" dirty="0">
                <a:latin typeface="Times New Roman" panose="02020603050405020304" pitchFamily="18" charset="0"/>
                <a:cs typeface="Times New Roman" panose="02020603050405020304" pitchFamily="18" charset="0"/>
              </a:rPr>
              <a:t> Satz stützen: Raum ist nichts Eigenständiges, sondern nur Ordnung der Körper</a:t>
            </a:r>
            <a:r>
              <a:rPr lang="de-DE" dirty="0" smtClean="0">
                <a:latin typeface="Times New Roman" panose="02020603050405020304" pitchFamily="18" charset="0"/>
                <a:cs typeface="Times New Roman" panose="02020603050405020304" pitchFamily="18" charset="0"/>
              </a:rPr>
              <a:t>.</a:t>
            </a:r>
          </a:p>
          <a:p>
            <a:pPr algn="just"/>
            <a:endParaRPr lang="de-DE" dirty="0">
              <a:latin typeface="Times New Roman" panose="02020603050405020304" pitchFamily="18" charset="0"/>
              <a:cs typeface="Times New Roman" panose="02020603050405020304" pitchFamily="18" charset="0"/>
            </a:endParaRPr>
          </a:p>
          <a:p>
            <a:pPr algn="just"/>
            <a:r>
              <a:rPr lang="de-DE" b="1" dirty="0">
                <a:latin typeface="Times New Roman" panose="02020603050405020304" pitchFamily="18" charset="0"/>
                <a:cs typeface="Times New Roman" panose="02020603050405020304" pitchFamily="18" charset="0"/>
              </a:rPr>
              <a:t>Nerlichs Einwand: </a:t>
            </a:r>
            <a:r>
              <a:rPr lang="de-DE" dirty="0">
                <a:latin typeface="Times New Roman" panose="02020603050405020304" pitchFamily="18" charset="0"/>
                <a:cs typeface="Times New Roman" panose="02020603050405020304" pitchFamily="18" charset="0"/>
              </a:rPr>
              <a:t>Damit diese Operationen überhaupt funktionieren, setzt Leibniz </a:t>
            </a:r>
            <a:r>
              <a:rPr lang="de-DE" dirty="0" err="1" smtClean="0">
                <a:latin typeface="Times New Roman" panose="02020603050405020304" pitchFamily="18" charset="0"/>
                <a:cs typeface="Times New Roman" panose="02020603050405020304" pitchFamily="18" charset="0"/>
              </a:rPr>
              <a:t>eukldische</a:t>
            </a:r>
            <a:r>
              <a:rPr lang="de-DE" dirty="0" smtClean="0">
                <a:latin typeface="Times New Roman" panose="02020603050405020304" pitchFamily="18" charset="0"/>
                <a:cs typeface="Times New Roman" panose="02020603050405020304" pitchFamily="18" charset="0"/>
              </a:rPr>
              <a:t> Raumstruktur voraus!</a:t>
            </a:r>
            <a:endParaRPr lang="de-D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71452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771550"/>
            <a:ext cx="8208912" cy="1393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60" y="2355726"/>
            <a:ext cx="7720047" cy="2404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467544" y="123478"/>
            <a:ext cx="6480720" cy="584775"/>
          </a:xfrm>
          <a:prstGeom prst="rect">
            <a:avLst/>
          </a:prstGeom>
          <a:noFill/>
        </p:spPr>
        <p:txBody>
          <a:bodyPr wrap="square" rtlCol="0">
            <a:spAutoFit/>
          </a:bodyPr>
          <a:lstStyle/>
          <a:p>
            <a:r>
              <a:rPr lang="de-DE" sz="3200" b="1" u="sng" dirty="0" smtClean="0"/>
              <a:t>Äquivalent zum Parallelenpostulat:</a:t>
            </a:r>
            <a:endParaRPr lang="de-DE" sz="3200" b="1" u="sng" dirty="0"/>
          </a:p>
        </p:txBody>
      </p:sp>
    </p:spTree>
    <p:extLst>
      <p:ext uri="{BB962C8B-B14F-4D97-AF65-F5344CB8AC3E}">
        <p14:creationId xmlns:p14="http://schemas.microsoft.com/office/powerpoint/2010/main" val="33776047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303759" y="915566"/>
            <a:ext cx="8730208" cy="2862322"/>
          </a:xfrm>
          <a:prstGeom prst="rect">
            <a:avLst/>
          </a:prstGeom>
        </p:spPr>
        <p:txBody>
          <a:bodyPr wrap="square">
            <a:spAutoFit/>
          </a:bodyPr>
          <a:lstStyle/>
          <a:p>
            <a:r>
              <a:rPr lang="de-DE" sz="4000" b="1" dirty="0" smtClean="0"/>
              <a:t>Zwei </a:t>
            </a:r>
            <a:r>
              <a:rPr lang="de-DE" sz="4000" b="1" dirty="0"/>
              <a:t>Lager zur Metrik des </a:t>
            </a:r>
            <a:r>
              <a:rPr lang="de-DE" sz="4000" b="1" dirty="0" smtClean="0"/>
              <a:t>Raums</a:t>
            </a:r>
            <a:endParaRPr lang="de-DE" sz="4000" b="1" dirty="0"/>
          </a:p>
          <a:p>
            <a:pPr marL="400050" indent="-400050">
              <a:buAutoNum type="romanLcParenR"/>
            </a:pPr>
            <a:r>
              <a:rPr lang="de-DE" sz="2800" dirty="0" smtClean="0"/>
              <a:t>Traditionslinie </a:t>
            </a:r>
            <a:r>
              <a:rPr lang="de-DE" sz="2800" dirty="0"/>
              <a:t>Newton-Helmholtz-Russell-Whitehead: Der Raum hat eine intrinsische Metrik, also einen ihm eigenen Maßstab</a:t>
            </a:r>
            <a:r>
              <a:rPr lang="de-DE" sz="2800" dirty="0" smtClean="0"/>
              <a:t>.</a:t>
            </a:r>
          </a:p>
          <a:p>
            <a:pPr marL="400050" indent="-400050">
              <a:buAutoNum type="romanLcParenR"/>
            </a:pPr>
            <a:r>
              <a:rPr lang="de-DE" sz="2800" dirty="0" smtClean="0"/>
              <a:t>Traditionslinie </a:t>
            </a:r>
            <a:r>
              <a:rPr lang="de-DE" sz="2800" dirty="0"/>
              <a:t>Riemann-</a:t>
            </a:r>
            <a:r>
              <a:rPr lang="de-DE" sz="2800" dirty="0" err="1"/>
              <a:t>Poincaré</a:t>
            </a:r>
            <a:r>
              <a:rPr lang="de-DE" sz="2800" dirty="0"/>
              <a:t>-Clifford-Einstein: </a:t>
            </a:r>
            <a:endParaRPr lang="de-DE" sz="2800" dirty="0" smtClean="0"/>
          </a:p>
          <a:p>
            <a:r>
              <a:rPr lang="de-DE" sz="2800" dirty="0"/>
              <a:t> </a:t>
            </a:r>
            <a:r>
              <a:rPr lang="de-DE" sz="2800" dirty="0" smtClean="0"/>
              <a:t>    Eine </a:t>
            </a:r>
            <a:r>
              <a:rPr lang="de-DE" sz="2800" dirty="0"/>
              <a:t>Metrik wird konventionell festgelegt.</a:t>
            </a:r>
          </a:p>
        </p:txBody>
      </p:sp>
    </p:spTree>
    <p:extLst>
      <p:ext uri="{BB962C8B-B14F-4D97-AF65-F5344CB8AC3E}">
        <p14:creationId xmlns:p14="http://schemas.microsoft.com/office/powerpoint/2010/main" val="6332308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771549"/>
            <a:ext cx="8352928" cy="3402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41155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descr="Immanuel Kant - İstanbul Okulu"/>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6023" y="712511"/>
            <a:ext cx="4622561" cy="4451527"/>
          </a:xfrm>
          <a:prstGeom prst="rect">
            <a:avLst/>
          </a:prstGeom>
          <a:noFill/>
          <a:effectLst>
            <a:glow rad="63500">
              <a:schemeClr val="bg1">
                <a:lumMod val="75000"/>
                <a:alpha val="40000"/>
              </a:schemeClr>
            </a:glow>
          </a:effectLst>
          <a:extLst>
            <a:ext uri="{909E8E84-426E-40DD-AFC4-6F175D3DCCD1}">
              <a14:hiddenFill xmlns:a14="http://schemas.microsoft.com/office/drawing/2010/main">
                <a:solidFill>
                  <a:srgbClr val="FFFFFF"/>
                </a:solidFill>
              </a14:hiddenFill>
            </a:ext>
          </a:extLst>
        </p:spPr>
      </p:pic>
      <p:sp>
        <p:nvSpPr>
          <p:cNvPr id="6" name="Rechteck 5"/>
          <p:cNvSpPr/>
          <p:nvPr/>
        </p:nvSpPr>
        <p:spPr>
          <a:xfrm>
            <a:off x="179512" y="51470"/>
            <a:ext cx="8640960" cy="1323439"/>
          </a:xfrm>
          <a:prstGeom prst="rect">
            <a:avLst/>
          </a:prstGeom>
        </p:spPr>
        <p:txBody>
          <a:bodyPr wrap="square">
            <a:spAutoFit/>
          </a:bodyPr>
          <a:lstStyle/>
          <a:p>
            <a:r>
              <a:rPr lang="de-DE" sz="4000" b="1" dirty="0">
                <a:latin typeface="Times New Roman" panose="02020603050405020304" pitchFamily="18" charset="0"/>
                <a:cs typeface="Times New Roman" panose="02020603050405020304" pitchFamily="18" charset="0"/>
              </a:rPr>
              <a:t>Philosophische Begründungen der ursprünglichen Einheit</a:t>
            </a:r>
          </a:p>
        </p:txBody>
      </p:sp>
      <p:sp>
        <p:nvSpPr>
          <p:cNvPr id="7" name="Textfeld 6"/>
          <p:cNvSpPr txBox="1"/>
          <p:nvPr/>
        </p:nvSpPr>
        <p:spPr>
          <a:xfrm>
            <a:off x="323528" y="1563638"/>
            <a:ext cx="2232248" cy="646331"/>
          </a:xfrm>
          <a:prstGeom prst="rect">
            <a:avLst/>
          </a:prstGeom>
          <a:noFill/>
        </p:spPr>
        <p:txBody>
          <a:bodyPr wrap="square" rtlCol="0">
            <a:spAutoFit/>
          </a:bodyPr>
          <a:lstStyle/>
          <a:p>
            <a:r>
              <a:rPr lang="de-DE" sz="3600" dirty="0" smtClean="0"/>
              <a:t>i) Kant</a:t>
            </a:r>
            <a:endParaRPr lang="de-DE" sz="3600" dirty="0"/>
          </a:p>
        </p:txBody>
      </p:sp>
      <p:sp>
        <p:nvSpPr>
          <p:cNvPr id="8" name="Textfeld 7"/>
          <p:cNvSpPr txBox="1"/>
          <p:nvPr/>
        </p:nvSpPr>
        <p:spPr>
          <a:xfrm>
            <a:off x="395536" y="2211710"/>
            <a:ext cx="5832648" cy="369332"/>
          </a:xfrm>
          <a:prstGeom prst="rect">
            <a:avLst/>
          </a:prstGeom>
          <a:noFill/>
        </p:spPr>
        <p:txBody>
          <a:bodyPr wrap="square" rtlCol="0">
            <a:spAutoFit/>
          </a:bodyPr>
          <a:lstStyle/>
          <a:p>
            <a:r>
              <a:rPr lang="de-DE" b="1" u="sng" dirty="0" smtClean="0"/>
              <a:t>Grundthese:</a:t>
            </a:r>
            <a:r>
              <a:rPr lang="de-DE" b="1" dirty="0" smtClean="0"/>
              <a:t> </a:t>
            </a:r>
            <a:r>
              <a:rPr lang="de-DE" dirty="0" smtClean="0"/>
              <a:t>Mathematische Urteile sind synthetisch a priori</a:t>
            </a:r>
            <a:endParaRPr lang="de-DE" dirty="0"/>
          </a:p>
        </p:txBody>
      </p:sp>
      <p:sp>
        <p:nvSpPr>
          <p:cNvPr id="9" name="Textfeld 8"/>
          <p:cNvSpPr txBox="1"/>
          <p:nvPr/>
        </p:nvSpPr>
        <p:spPr>
          <a:xfrm>
            <a:off x="467544" y="2643758"/>
            <a:ext cx="6192688" cy="2031325"/>
          </a:xfrm>
          <a:prstGeom prst="rect">
            <a:avLst/>
          </a:prstGeom>
          <a:noFill/>
        </p:spPr>
        <p:txBody>
          <a:bodyPr wrap="square" rtlCol="0">
            <a:spAutoFit/>
          </a:bodyPr>
          <a:lstStyle/>
          <a:p>
            <a:pPr marL="285750" indent="-285750">
              <a:buFontTx/>
              <a:buChar char="-"/>
            </a:pPr>
            <a:r>
              <a:rPr lang="de-DE" dirty="0" smtClean="0"/>
              <a:t>Geometrie </a:t>
            </a:r>
            <a:r>
              <a:rPr lang="de-DE" dirty="0" smtClean="0">
                <a:sym typeface="Wingdings" panose="05000000000000000000" pitchFamily="2" charset="2"/>
              </a:rPr>
              <a:t> </a:t>
            </a:r>
            <a:r>
              <a:rPr lang="de-DE" dirty="0" smtClean="0"/>
              <a:t>apriorische Anschauungsform </a:t>
            </a:r>
            <a:r>
              <a:rPr lang="de-DE" dirty="0"/>
              <a:t>des Raums</a:t>
            </a:r>
            <a:r>
              <a:rPr lang="de-DE" dirty="0" smtClean="0"/>
              <a:t>.</a:t>
            </a:r>
          </a:p>
          <a:p>
            <a:pPr marL="285750" indent="-285750">
              <a:buFontTx/>
              <a:buChar char="-"/>
            </a:pPr>
            <a:r>
              <a:rPr lang="de-DE" dirty="0" smtClean="0"/>
              <a:t>Arithmetik </a:t>
            </a:r>
            <a:r>
              <a:rPr lang="de-DE" dirty="0" smtClean="0">
                <a:sym typeface="Wingdings" panose="05000000000000000000" pitchFamily="2" charset="2"/>
              </a:rPr>
              <a:t> </a:t>
            </a:r>
            <a:r>
              <a:rPr lang="de-DE" dirty="0" smtClean="0"/>
              <a:t>apriorische </a:t>
            </a:r>
            <a:r>
              <a:rPr lang="de-DE" dirty="0"/>
              <a:t>Anschauungsform der Zeit</a:t>
            </a:r>
            <a:r>
              <a:rPr lang="de-DE" dirty="0" smtClean="0"/>
              <a:t>.</a:t>
            </a:r>
          </a:p>
          <a:p>
            <a:pPr marL="285750" indent="-285750">
              <a:buFontTx/>
              <a:buChar char="-"/>
            </a:pPr>
            <a:endParaRPr lang="de-DE" dirty="0"/>
          </a:p>
          <a:p>
            <a:pPr marL="285750" indent="-285750">
              <a:buFont typeface="Arial" panose="020B0604020202020204" pitchFamily="34" charset="0"/>
              <a:buChar char="•"/>
            </a:pPr>
            <a:r>
              <a:rPr lang="de-DE" dirty="0" smtClean="0"/>
              <a:t>Mathematik: Konstruktion</a:t>
            </a:r>
          </a:p>
          <a:p>
            <a:pPr marL="285750" indent="-285750">
              <a:buFont typeface="Arial" panose="020B0604020202020204" pitchFamily="34" charset="0"/>
              <a:buChar char="•"/>
            </a:pPr>
            <a:r>
              <a:rPr lang="de-DE" dirty="0" smtClean="0"/>
              <a:t>Philosophie: Analyse</a:t>
            </a:r>
          </a:p>
          <a:p>
            <a:endParaRPr lang="de-DE" dirty="0"/>
          </a:p>
          <a:p>
            <a:endParaRPr lang="de-DE" dirty="0"/>
          </a:p>
        </p:txBody>
      </p:sp>
    </p:spTree>
    <p:extLst>
      <p:ext uri="{BB962C8B-B14F-4D97-AF65-F5344CB8AC3E}">
        <p14:creationId xmlns:p14="http://schemas.microsoft.com/office/powerpoint/2010/main" val="21315293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descr="Immanuel Kant - İstanbul Okulu"/>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6023" y="712511"/>
            <a:ext cx="4622561" cy="4451527"/>
          </a:xfrm>
          <a:prstGeom prst="rect">
            <a:avLst/>
          </a:prstGeom>
          <a:noFill/>
          <a:effectLst>
            <a:glow rad="63500">
              <a:schemeClr val="bg1">
                <a:lumMod val="75000"/>
                <a:alpha val="40000"/>
              </a:schemeClr>
            </a:glow>
          </a:effectLst>
          <a:extLst>
            <a:ext uri="{909E8E84-426E-40DD-AFC4-6F175D3DCCD1}">
              <a14:hiddenFill xmlns:a14="http://schemas.microsoft.com/office/drawing/2010/main">
                <a:solidFill>
                  <a:srgbClr val="FFFFFF"/>
                </a:solidFill>
              </a14:hiddenFill>
            </a:ext>
          </a:extLst>
        </p:spPr>
      </p:pic>
      <p:sp>
        <p:nvSpPr>
          <p:cNvPr id="5" name="Textfeld 4"/>
          <p:cNvSpPr txBox="1"/>
          <p:nvPr/>
        </p:nvSpPr>
        <p:spPr>
          <a:xfrm>
            <a:off x="323528" y="411510"/>
            <a:ext cx="5472608" cy="4401205"/>
          </a:xfrm>
          <a:prstGeom prst="rect">
            <a:avLst/>
          </a:prstGeom>
          <a:noFill/>
        </p:spPr>
        <p:txBody>
          <a:bodyPr wrap="square" rtlCol="0">
            <a:spAutoFit/>
          </a:bodyPr>
          <a:lstStyle/>
          <a:p>
            <a:pPr lvl="0" algn="just"/>
            <a:r>
              <a:rPr lang="de-DE" altLang="de-DE" sz="2000" dirty="0" smtClean="0">
                <a:latin typeface="Times New Roman" panose="02020603050405020304" pitchFamily="18" charset="0"/>
                <a:cs typeface="Times New Roman" panose="02020603050405020304" pitchFamily="18" charset="0"/>
              </a:rPr>
              <a:t>„</a:t>
            </a:r>
            <a:r>
              <a:rPr lang="de-DE" altLang="de-DE" sz="2000" dirty="0">
                <a:latin typeface="Times New Roman" panose="02020603050405020304" pitchFamily="18" charset="0"/>
                <a:cs typeface="Times New Roman" panose="02020603050405020304" pitchFamily="18" charset="0"/>
              </a:rPr>
              <a:t>Man gebe einem Philosophen den Begriff eines Triangels und lasse ihn nach seiner Art  ausfindig machen, wie sich wohl die Summe seiner Winkel zum rechten verhalten möge. Er hat nun nichts als den Begriff von einer Figur, die in drei geraden Linien eingeschlossen ist, und an ihr den Begriff von eben so viel Winkeln. Nun mag er diesem Begriffe nachdenken, so lange er will, er wird nichts Neues herausbringen. Er kann den Begriff der geraden Linie oder eines Winkels oder der Zahl drei zergliedern und deutlich machen, aber nicht auf andere Eigenschaften kommen.“</a:t>
            </a:r>
            <a:r>
              <a:rPr lang="de-DE" altLang="de-DE" sz="900" dirty="0">
                <a:latin typeface="Times New Roman" panose="02020603050405020304" pitchFamily="18" charset="0"/>
                <a:cs typeface="Times New Roman" panose="02020603050405020304" pitchFamily="18" charset="0"/>
              </a:rPr>
              <a:t> </a:t>
            </a:r>
            <a:endParaRPr lang="de-DE" altLang="de-DE" sz="3200" dirty="0">
              <a:latin typeface="Times New Roman" panose="02020603050405020304" pitchFamily="18" charset="0"/>
              <a:cs typeface="Times New Roman" panose="02020603050405020304" pitchFamily="18" charset="0"/>
            </a:endParaRPr>
          </a:p>
          <a:p>
            <a:endParaRPr lang="de-DE" sz="2000" dirty="0" smtClean="0">
              <a:latin typeface="Times New Roman" panose="02020603050405020304" pitchFamily="18" charset="0"/>
              <a:cs typeface="Times New Roman" panose="02020603050405020304" pitchFamily="18" charset="0"/>
            </a:endParaRPr>
          </a:p>
          <a:p>
            <a:r>
              <a:rPr lang="de-DE" sz="1600" dirty="0" smtClean="0">
                <a:latin typeface="Times New Roman" panose="02020603050405020304" pitchFamily="18" charset="0"/>
                <a:cs typeface="Times New Roman" panose="02020603050405020304" pitchFamily="18" charset="0"/>
              </a:rPr>
              <a:t>(</a:t>
            </a:r>
            <a:r>
              <a:rPr lang="pt-BR" sz="1600" dirty="0">
                <a:latin typeface="Times New Roman" panose="02020603050405020304" pitchFamily="18" charset="0"/>
                <a:cs typeface="Times New Roman" panose="02020603050405020304" pitchFamily="18" charset="0"/>
              </a:rPr>
              <a:t>KrV A 716 / B </a:t>
            </a:r>
            <a:r>
              <a:rPr lang="pt-BR" sz="1600" dirty="0" smtClean="0">
                <a:latin typeface="Times New Roman" panose="02020603050405020304" pitchFamily="18" charset="0"/>
                <a:cs typeface="Times New Roman" panose="02020603050405020304" pitchFamily="18" charset="0"/>
              </a:rPr>
              <a:t>744)</a:t>
            </a:r>
            <a:endParaRPr lang="de-DE"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74901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descr="Immanuel Kant - İstanbul Okulu"/>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6023" y="712511"/>
            <a:ext cx="4622561" cy="4451527"/>
          </a:xfrm>
          <a:prstGeom prst="rect">
            <a:avLst/>
          </a:prstGeom>
          <a:noFill/>
          <a:effectLst>
            <a:glow rad="63500">
              <a:schemeClr val="bg1">
                <a:lumMod val="75000"/>
                <a:alpha val="40000"/>
              </a:schemeClr>
            </a:glow>
          </a:effectLst>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143" y="195486"/>
            <a:ext cx="5813009" cy="345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179512" y="3723878"/>
            <a:ext cx="5688632" cy="338554"/>
          </a:xfrm>
          <a:prstGeom prst="rect">
            <a:avLst/>
          </a:prstGeom>
          <a:noFill/>
        </p:spPr>
        <p:txBody>
          <a:bodyPr wrap="square" rtlCol="0">
            <a:spAutoFit/>
          </a:bodyPr>
          <a:lstStyle/>
          <a:p>
            <a:r>
              <a:rPr lang="de-DE" sz="1600" dirty="0" smtClean="0"/>
              <a:t>S. 55, </a:t>
            </a:r>
            <a:r>
              <a:rPr lang="de-DE" sz="1600" i="1" dirty="0"/>
              <a:t>Über die Form und die Prinzipien der Sinnen- und Geisteswelt</a:t>
            </a:r>
            <a:endParaRPr lang="de-DE" sz="1600" dirty="0"/>
          </a:p>
        </p:txBody>
      </p:sp>
    </p:spTree>
    <p:extLst>
      <p:ext uri="{BB962C8B-B14F-4D97-AF65-F5344CB8AC3E}">
        <p14:creationId xmlns:p14="http://schemas.microsoft.com/office/powerpoint/2010/main" val="11758355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descr="Immanuel Kant - İstanbul Okulu"/>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6023" y="712511"/>
            <a:ext cx="4622561" cy="4451527"/>
          </a:xfrm>
          <a:prstGeom prst="rect">
            <a:avLst/>
          </a:prstGeom>
          <a:noFill/>
          <a:effectLst>
            <a:glow rad="63500">
              <a:schemeClr val="bg1">
                <a:lumMod val="75000"/>
                <a:alpha val="40000"/>
              </a:schemeClr>
            </a:glow>
          </a:effectLst>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354008" y="97190"/>
            <a:ext cx="5832648" cy="338554"/>
          </a:xfrm>
          <a:prstGeom prst="rect">
            <a:avLst/>
          </a:prstGeom>
          <a:noFill/>
        </p:spPr>
        <p:txBody>
          <a:bodyPr wrap="square" rtlCol="0">
            <a:spAutoFit/>
          </a:bodyPr>
          <a:lstStyle/>
          <a:p>
            <a:r>
              <a:rPr lang="de-DE" sz="1600" dirty="0" smtClean="0"/>
              <a:t>S. 56 f., </a:t>
            </a:r>
            <a:r>
              <a:rPr lang="de-DE" sz="1600" i="1" dirty="0"/>
              <a:t>Über die Form und die Prinzipien der Sinnen- und Geisteswelt</a:t>
            </a:r>
            <a:endParaRPr lang="de-DE" sz="16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940" y="491902"/>
            <a:ext cx="5313040" cy="1461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2477"/>
          <a:stretch/>
        </p:blipFill>
        <p:spPr bwMode="auto">
          <a:xfrm>
            <a:off x="352415" y="1902264"/>
            <a:ext cx="5250557" cy="3076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44383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179512" y="51470"/>
            <a:ext cx="8640960" cy="1323439"/>
          </a:xfrm>
          <a:prstGeom prst="rect">
            <a:avLst/>
          </a:prstGeom>
        </p:spPr>
        <p:txBody>
          <a:bodyPr wrap="square">
            <a:spAutoFit/>
          </a:bodyPr>
          <a:lstStyle/>
          <a:p>
            <a:r>
              <a:rPr lang="de-DE" sz="4000" b="1" dirty="0">
                <a:latin typeface="Times New Roman" panose="02020603050405020304" pitchFamily="18" charset="0"/>
                <a:cs typeface="Times New Roman" panose="02020603050405020304" pitchFamily="18" charset="0"/>
              </a:rPr>
              <a:t>Philosophische Begründungen der ursprünglichen Einheit</a:t>
            </a:r>
          </a:p>
        </p:txBody>
      </p:sp>
      <p:sp>
        <p:nvSpPr>
          <p:cNvPr id="7" name="Textfeld 6"/>
          <p:cNvSpPr txBox="1"/>
          <p:nvPr/>
        </p:nvSpPr>
        <p:spPr>
          <a:xfrm>
            <a:off x="323528" y="1563638"/>
            <a:ext cx="4536504" cy="646331"/>
          </a:xfrm>
          <a:prstGeom prst="rect">
            <a:avLst/>
          </a:prstGeom>
          <a:noFill/>
        </p:spPr>
        <p:txBody>
          <a:bodyPr wrap="square" rtlCol="0">
            <a:spAutoFit/>
          </a:bodyPr>
          <a:lstStyle/>
          <a:p>
            <a:r>
              <a:rPr lang="de-DE" sz="3600" dirty="0" smtClean="0"/>
              <a:t>ii</a:t>
            </a:r>
            <a:r>
              <a:rPr lang="de-DE" sz="3600" dirty="0"/>
              <a:t>) </a:t>
            </a:r>
            <a:r>
              <a:rPr lang="de-DE" sz="3600" dirty="0" err="1" smtClean="0"/>
              <a:t>Beltrami</a:t>
            </a:r>
            <a:r>
              <a:rPr lang="de-DE" sz="3600" dirty="0" smtClean="0"/>
              <a:t> </a:t>
            </a:r>
            <a:r>
              <a:rPr lang="de-DE" sz="3600" dirty="0"/>
              <a:t>und Kant</a:t>
            </a:r>
          </a:p>
        </p:txBody>
      </p:sp>
      <p:sp>
        <p:nvSpPr>
          <p:cNvPr id="9" name="Textfeld 8"/>
          <p:cNvSpPr txBox="1"/>
          <p:nvPr/>
        </p:nvSpPr>
        <p:spPr>
          <a:xfrm>
            <a:off x="467544" y="2643758"/>
            <a:ext cx="6192688" cy="646331"/>
          </a:xfrm>
          <a:prstGeom prst="rect">
            <a:avLst/>
          </a:prstGeom>
          <a:noFill/>
        </p:spPr>
        <p:txBody>
          <a:bodyPr wrap="square" rtlCol="0">
            <a:spAutoFit/>
          </a:bodyPr>
          <a:lstStyle/>
          <a:p>
            <a:endParaRPr lang="de-DE" dirty="0"/>
          </a:p>
          <a:p>
            <a:endParaRPr lang="de-DE" dirty="0"/>
          </a:p>
        </p:txBody>
      </p:sp>
      <p:sp>
        <p:nvSpPr>
          <p:cNvPr id="2" name="AutoShape 2" descr="Eugenio Beltram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5124" name="Picture 4" descr="https://upload.wikimedia.org/wikipedia/commons/2/2d/Beltrami.jpg"/>
          <p:cNvPicPr>
            <a:picLocks noChangeAspect="1" noChangeArrowheads="1"/>
          </p:cNvPicPr>
          <p:nvPr/>
        </p:nvPicPr>
        <p:blipFill rotWithShape="1">
          <a:blip r:embed="rId3">
            <a:extLst>
              <a:ext uri="{28A0092B-C50C-407E-A947-70E740481C1C}">
                <a14:useLocalDpi xmlns:a14="http://schemas.microsoft.com/office/drawing/2010/main" val="0"/>
              </a:ext>
            </a:extLst>
          </a:blip>
          <a:srcRect b="18197"/>
          <a:stretch/>
        </p:blipFill>
        <p:spPr bwMode="auto">
          <a:xfrm flipH="1">
            <a:off x="6300192" y="888696"/>
            <a:ext cx="2449916" cy="3411246"/>
          </a:xfrm>
          <a:prstGeom prst="rect">
            <a:avLst/>
          </a:prstGeom>
          <a:noFill/>
          <a:extLst>
            <a:ext uri="{909E8E84-426E-40DD-AFC4-6F175D3DCCD1}">
              <a14:hiddenFill xmlns:a14="http://schemas.microsoft.com/office/drawing/2010/main">
                <a:solidFill>
                  <a:srgbClr val="FFFFFF"/>
                </a:solidFill>
              </a14:hiddenFill>
            </a:ext>
          </a:extLst>
        </p:spPr>
      </p:pic>
      <p:pic>
        <p:nvPicPr>
          <p:cNvPr id="512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706" y="2262936"/>
            <a:ext cx="5540454" cy="2037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feld 2"/>
          <p:cNvSpPr txBox="1"/>
          <p:nvPr/>
        </p:nvSpPr>
        <p:spPr>
          <a:xfrm>
            <a:off x="6228184" y="4371950"/>
            <a:ext cx="2449916" cy="677108"/>
          </a:xfrm>
          <a:prstGeom prst="rect">
            <a:avLst/>
          </a:prstGeom>
          <a:noFill/>
        </p:spPr>
        <p:txBody>
          <a:bodyPr wrap="square" rtlCol="0">
            <a:spAutoFit/>
          </a:bodyPr>
          <a:lstStyle/>
          <a:p>
            <a:pPr algn="ctr"/>
            <a:r>
              <a:rPr lang="de-DE" sz="2000" b="1" dirty="0" smtClean="0"/>
              <a:t>Eugenio </a:t>
            </a:r>
            <a:r>
              <a:rPr lang="de-DE" sz="2000" b="1" dirty="0" err="1" smtClean="0"/>
              <a:t>Beltrami</a:t>
            </a:r>
            <a:endParaRPr lang="de-DE" sz="2000" b="1" dirty="0" smtClean="0"/>
          </a:p>
          <a:p>
            <a:pPr algn="ctr"/>
            <a:r>
              <a:rPr lang="de-DE" dirty="0" smtClean="0"/>
              <a:t> (1835-1900)</a:t>
            </a:r>
            <a:endParaRPr lang="de-DE" dirty="0"/>
          </a:p>
        </p:txBody>
      </p:sp>
    </p:spTree>
    <p:extLst>
      <p:ext uri="{BB962C8B-B14F-4D97-AF65-F5344CB8AC3E}">
        <p14:creationId xmlns:p14="http://schemas.microsoft.com/office/powerpoint/2010/main" val="17794442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179512" y="51470"/>
            <a:ext cx="8640960" cy="1323439"/>
          </a:xfrm>
          <a:prstGeom prst="rect">
            <a:avLst/>
          </a:prstGeom>
        </p:spPr>
        <p:txBody>
          <a:bodyPr wrap="square">
            <a:spAutoFit/>
          </a:bodyPr>
          <a:lstStyle/>
          <a:p>
            <a:r>
              <a:rPr lang="de-DE" sz="4000" b="1" dirty="0">
                <a:latin typeface="Times New Roman" panose="02020603050405020304" pitchFamily="18" charset="0"/>
                <a:cs typeface="Times New Roman" panose="02020603050405020304" pitchFamily="18" charset="0"/>
              </a:rPr>
              <a:t>Philosophische Begründungen der ursprünglichen Einheit</a:t>
            </a:r>
          </a:p>
        </p:txBody>
      </p:sp>
      <p:sp>
        <p:nvSpPr>
          <p:cNvPr id="7" name="Textfeld 6"/>
          <p:cNvSpPr txBox="1"/>
          <p:nvPr/>
        </p:nvSpPr>
        <p:spPr>
          <a:xfrm>
            <a:off x="323528" y="1563638"/>
            <a:ext cx="5976664" cy="646331"/>
          </a:xfrm>
          <a:prstGeom prst="rect">
            <a:avLst/>
          </a:prstGeom>
          <a:noFill/>
        </p:spPr>
        <p:txBody>
          <a:bodyPr wrap="square" rtlCol="0">
            <a:spAutoFit/>
          </a:bodyPr>
          <a:lstStyle/>
          <a:p>
            <a:r>
              <a:rPr lang="de-DE" sz="3600" dirty="0"/>
              <a:t>iii) Verteidigung </a:t>
            </a:r>
            <a:r>
              <a:rPr lang="de-DE" sz="3600" dirty="0" smtClean="0"/>
              <a:t>Kants</a:t>
            </a:r>
            <a:endParaRPr lang="de-DE" sz="3600" dirty="0"/>
          </a:p>
        </p:txBody>
      </p:sp>
      <p:sp>
        <p:nvSpPr>
          <p:cNvPr id="9" name="Textfeld 8"/>
          <p:cNvSpPr txBox="1"/>
          <p:nvPr/>
        </p:nvSpPr>
        <p:spPr>
          <a:xfrm>
            <a:off x="467544" y="2643758"/>
            <a:ext cx="6192688" cy="646331"/>
          </a:xfrm>
          <a:prstGeom prst="rect">
            <a:avLst/>
          </a:prstGeom>
          <a:noFill/>
        </p:spPr>
        <p:txBody>
          <a:bodyPr wrap="square" rtlCol="0">
            <a:spAutoFit/>
          </a:bodyPr>
          <a:lstStyle/>
          <a:p>
            <a:endParaRPr lang="de-DE" dirty="0"/>
          </a:p>
          <a:p>
            <a:endParaRPr lang="de-DE" dirty="0"/>
          </a:p>
        </p:txBody>
      </p:sp>
      <p:sp>
        <p:nvSpPr>
          <p:cNvPr id="2" name="AutoShape 2" descr="Eugenio Beltram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8" name="Picture 7" descr="Immanuel Kant - İstanbul Okulu"/>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6023" y="712511"/>
            <a:ext cx="4622561" cy="4451527"/>
          </a:xfrm>
          <a:prstGeom prst="rect">
            <a:avLst/>
          </a:prstGeom>
          <a:noFill/>
          <a:effectLst>
            <a:glow rad="63500">
              <a:schemeClr val="bg1">
                <a:lumMod val="75000"/>
                <a:alpha val="40000"/>
              </a:schemeClr>
            </a:glow>
          </a:effectLst>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316359" y="2209969"/>
            <a:ext cx="5911825" cy="646331"/>
          </a:xfrm>
          <a:prstGeom prst="rect">
            <a:avLst/>
          </a:prstGeom>
          <a:noFill/>
        </p:spPr>
        <p:txBody>
          <a:bodyPr wrap="square" rtlCol="0">
            <a:spAutoFit/>
          </a:bodyPr>
          <a:lstStyle/>
          <a:p>
            <a:r>
              <a:rPr lang="de-DE" b="1" dirty="0" smtClean="0"/>
              <a:t>Behauptung: </a:t>
            </a:r>
            <a:r>
              <a:rPr lang="de-DE" dirty="0" smtClean="0"/>
              <a:t>Die </a:t>
            </a:r>
            <a:r>
              <a:rPr lang="de-DE" dirty="0"/>
              <a:t>nichteuklidische Geometrie zeigt nicht, dass Kant falsch lag, sondern bestätigt ihn sogar teilweise.</a:t>
            </a:r>
          </a:p>
        </p:txBody>
      </p:sp>
      <p:sp>
        <p:nvSpPr>
          <p:cNvPr id="4" name="Textfeld 3"/>
          <p:cNvSpPr txBox="1"/>
          <p:nvPr/>
        </p:nvSpPr>
        <p:spPr>
          <a:xfrm>
            <a:off x="323528" y="2966923"/>
            <a:ext cx="5400600" cy="1477328"/>
          </a:xfrm>
          <a:prstGeom prst="rect">
            <a:avLst/>
          </a:prstGeom>
          <a:noFill/>
        </p:spPr>
        <p:txBody>
          <a:bodyPr wrap="square" rtlCol="0">
            <a:spAutoFit/>
          </a:bodyPr>
          <a:lstStyle/>
          <a:p>
            <a:r>
              <a:rPr lang="de-DE" sz="2400" dirty="0" smtClean="0"/>
              <a:t>Logische Unabhängigkeit des Parallelenaxioms </a:t>
            </a:r>
          </a:p>
          <a:p>
            <a:pPr algn="ctr"/>
            <a:r>
              <a:rPr lang="de-DE" dirty="0" smtClean="0">
                <a:sym typeface="Wingdings" panose="05000000000000000000" pitchFamily="2" charset="2"/>
              </a:rPr>
              <a:t> </a:t>
            </a:r>
          </a:p>
          <a:p>
            <a:r>
              <a:rPr lang="de-DE" sz="2400" dirty="0" smtClean="0">
                <a:sym typeface="Wingdings" panose="05000000000000000000" pitchFamily="2" charset="2"/>
              </a:rPr>
              <a:t>Beleg für synthetische Natur des Axioms</a:t>
            </a:r>
            <a:endParaRPr lang="de-DE" sz="2400" dirty="0"/>
          </a:p>
        </p:txBody>
      </p:sp>
      <p:sp>
        <p:nvSpPr>
          <p:cNvPr id="5" name="Pfeil nach unten 4"/>
          <p:cNvSpPr/>
          <p:nvPr/>
        </p:nvSpPr>
        <p:spPr>
          <a:xfrm>
            <a:off x="4283968" y="3147814"/>
            <a:ext cx="216024" cy="81444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5703157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179512" y="51470"/>
            <a:ext cx="8640960" cy="1323439"/>
          </a:xfrm>
          <a:prstGeom prst="rect">
            <a:avLst/>
          </a:prstGeom>
        </p:spPr>
        <p:txBody>
          <a:bodyPr wrap="square">
            <a:spAutoFit/>
          </a:bodyPr>
          <a:lstStyle/>
          <a:p>
            <a:r>
              <a:rPr lang="de-DE" sz="4000" b="1" dirty="0">
                <a:latin typeface="Times New Roman" panose="02020603050405020304" pitchFamily="18" charset="0"/>
                <a:cs typeface="Times New Roman" panose="02020603050405020304" pitchFamily="18" charset="0"/>
              </a:rPr>
              <a:t>Philosophische Begründungen der ursprünglichen Einheit</a:t>
            </a:r>
          </a:p>
        </p:txBody>
      </p:sp>
      <p:sp>
        <p:nvSpPr>
          <p:cNvPr id="2" name="AutoShape 2" descr="Eugenio Beltram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3074" name="Picture 2" descr="https://upload.wikimedia.org/wikipedia/commons/thumb/0/02/Leonard_Nelson_%281882-1927%29_digitalised.jpg/500px-Leonard_Nelson_%281882-1927%29_digitalise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8184" y="915566"/>
            <a:ext cx="2698271" cy="4047406"/>
          </a:xfrm>
          <a:prstGeom prst="rect">
            <a:avLst/>
          </a:prstGeom>
          <a:noFill/>
          <a:extLst>
            <a:ext uri="{909E8E84-426E-40DD-AFC4-6F175D3DCCD1}">
              <a14:hiddenFill xmlns:a14="http://schemas.microsoft.com/office/drawing/2010/main">
                <a:solidFill>
                  <a:srgbClr val="FFFFFF"/>
                </a:solidFill>
              </a14:hiddenFill>
            </a:ext>
          </a:extLst>
        </p:spPr>
      </p:pic>
      <p:sp>
        <p:nvSpPr>
          <p:cNvPr id="11" name="Textfeld 10"/>
          <p:cNvSpPr txBox="1"/>
          <p:nvPr/>
        </p:nvSpPr>
        <p:spPr>
          <a:xfrm>
            <a:off x="179512" y="1541566"/>
            <a:ext cx="5886234" cy="3262432"/>
          </a:xfrm>
          <a:prstGeom prst="rect">
            <a:avLst/>
          </a:prstGeom>
          <a:noFill/>
        </p:spPr>
        <p:txBody>
          <a:bodyPr wrap="square" rtlCol="0">
            <a:spAutoFit/>
          </a:bodyPr>
          <a:lstStyle/>
          <a:p>
            <a:pPr algn="just"/>
            <a:r>
              <a:rPr lang="en-US" sz="1600" dirty="0" smtClean="0"/>
              <a:t>“What </a:t>
            </a:r>
            <a:r>
              <a:rPr lang="en-US" sz="1600" dirty="0"/>
              <a:t>is important to us here is this: The results of modern </a:t>
            </a:r>
            <a:r>
              <a:rPr lang="en-US" sz="1600" dirty="0" err="1"/>
              <a:t>axiomatics</a:t>
            </a:r>
            <a:r>
              <a:rPr lang="en-US" sz="1600" dirty="0"/>
              <a:t> are a completely clear and compelling corroboration of Kant's and </a:t>
            </a:r>
            <a:r>
              <a:rPr lang="en-US" sz="1600" dirty="0" err="1"/>
              <a:t>Fries's</a:t>
            </a:r>
            <a:r>
              <a:rPr lang="en-US" sz="1600" dirty="0"/>
              <a:t> assertion of the limits of logic in the field of mathematical knowledge, and they are conclusive proof of the doctrine of the "synthetic" character of the mathematical axioms. For it is proved that the negation of one axiom can lead to no contradiction even when the other axioms are introduced... And this was just the criterion that Kant had already specified for the synthetic character of a judgment: the </a:t>
            </a:r>
            <a:r>
              <a:rPr lang="en-US" sz="1600" dirty="0" err="1"/>
              <a:t>uncontradictory</a:t>
            </a:r>
            <a:r>
              <a:rPr lang="en-US" sz="1600" dirty="0"/>
              <a:t> character of its negation</a:t>
            </a:r>
            <a:r>
              <a:rPr lang="en-US" sz="1600" dirty="0" smtClean="0"/>
              <a:t>.”</a:t>
            </a:r>
          </a:p>
          <a:p>
            <a:endParaRPr lang="en-US" dirty="0" smtClean="0"/>
          </a:p>
          <a:p>
            <a:r>
              <a:rPr lang="en-US" sz="1400" dirty="0" smtClean="0"/>
              <a:t> </a:t>
            </a:r>
            <a:r>
              <a:rPr lang="en-US" sz="1400" dirty="0"/>
              <a:t>(Leonard Nelson, "Philosophy and </a:t>
            </a:r>
            <a:r>
              <a:rPr lang="en-US" sz="1400" dirty="0" err="1"/>
              <a:t>Axiomatics</a:t>
            </a:r>
            <a:r>
              <a:rPr lang="en-US" sz="1400" dirty="0"/>
              <a:t>," 1927, Socratic Method and Critical Philosophy)</a:t>
            </a:r>
            <a:endParaRPr lang="de-DE" sz="1400" dirty="0"/>
          </a:p>
        </p:txBody>
      </p:sp>
    </p:spTree>
    <p:extLst>
      <p:ext uri="{BB962C8B-B14F-4D97-AF65-F5344CB8AC3E}">
        <p14:creationId xmlns:p14="http://schemas.microsoft.com/office/powerpoint/2010/main" val="9947370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feld 9"/>
          <p:cNvSpPr txBox="1"/>
          <p:nvPr/>
        </p:nvSpPr>
        <p:spPr>
          <a:xfrm>
            <a:off x="179512" y="862717"/>
            <a:ext cx="8784976" cy="3293209"/>
          </a:xfrm>
          <a:prstGeom prst="rect">
            <a:avLst/>
          </a:prstGeom>
          <a:noFill/>
        </p:spPr>
        <p:txBody>
          <a:bodyPr wrap="square" rtlCol="0">
            <a:spAutoFit/>
          </a:bodyPr>
          <a:lstStyle/>
          <a:p>
            <a:pPr algn="just"/>
            <a:r>
              <a:rPr lang="de-DE" sz="2400" dirty="0" smtClean="0"/>
              <a:t>„</a:t>
            </a:r>
            <a:r>
              <a:rPr lang="de-DE" sz="2400" dirty="0"/>
              <a:t>Man kann aus der Euklidischen Geometrie beweisen, </a:t>
            </a:r>
            <a:r>
              <a:rPr lang="de-DE" sz="2400" dirty="0" err="1"/>
              <a:t>daß</a:t>
            </a:r>
            <a:r>
              <a:rPr lang="de-DE" sz="2400" dirty="0"/>
              <a:t> es nicht möglich ist, die Aussage des Euklidischen Parallelenaxioms aus den übrigen Axiomen der Euklidischen Geometrie als Satz abzuleiten. Damit ist … die Lösung des uralten Rätsels des Euklidischen Parallelenaxioms gegeben. </a:t>
            </a:r>
            <a:r>
              <a:rPr lang="de-DE" sz="2400" b="1" dirty="0" smtClean="0"/>
              <a:t>Sie </a:t>
            </a:r>
            <a:r>
              <a:rPr lang="de-DE" sz="2400" b="1" dirty="0"/>
              <a:t>rechtfertigt Euklid, der in genialer Weise die Notwendigkeit seines V. Postulats gefühlt hat</a:t>
            </a:r>
            <a:r>
              <a:rPr lang="de-DE" sz="2400" dirty="0" smtClean="0"/>
              <a:t>.“</a:t>
            </a:r>
          </a:p>
          <a:p>
            <a:pPr algn="just"/>
            <a:endParaRPr lang="de-DE" sz="2800" dirty="0" smtClean="0"/>
          </a:p>
          <a:p>
            <a:r>
              <a:rPr lang="de-DE" dirty="0" smtClean="0"/>
              <a:t>(</a:t>
            </a:r>
            <a:r>
              <a:rPr lang="de-DE" dirty="0"/>
              <a:t>Richard </a:t>
            </a:r>
            <a:r>
              <a:rPr lang="de-DE" dirty="0" err="1"/>
              <a:t>Baldus</a:t>
            </a:r>
            <a:r>
              <a:rPr lang="de-DE" dirty="0"/>
              <a:t>: Nichteuklidische Geometrie. Hyperbolische Geometrie der Ebene. Walter de </a:t>
            </a:r>
            <a:r>
              <a:rPr lang="de-DE" dirty="0" err="1"/>
              <a:t>Gruyter</a:t>
            </a:r>
            <a:r>
              <a:rPr lang="de-DE" dirty="0"/>
              <a:t>, Berlin 1964, S. 66.)</a:t>
            </a:r>
          </a:p>
        </p:txBody>
      </p:sp>
    </p:spTree>
    <p:extLst>
      <p:ext uri="{BB962C8B-B14F-4D97-AF65-F5344CB8AC3E}">
        <p14:creationId xmlns:p14="http://schemas.microsoft.com/office/powerpoint/2010/main" val="13610314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hteck 5"/>
          <p:cNvSpPr/>
          <p:nvPr/>
        </p:nvSpPr>
        <p:spPr>
          <a:xfrm>
            <a:off x="179512" y="51470"/>
            <a:ext cx="8640960" cy="1323439"/>
          </a:xfrm>
          <a:prstGeom prst="rect">
            <a:avLst/>
          </a:prstGeom>
        </p:spPr>
        <p:txBody>
          <a:bodyPr wrap="square">
            <a:spAutoFit/>
          </a:bodyPr>
          <a:lstStyle/>
          <a:p>
            <a:r>
              <a:rPr lang="de-DE" sz="4000" b="1" dirty="0">
                <a:latin typeface="Times New Roman" panose="02020603050405020304" pitchFamily="18" charset="0"/>
                <a:cs typeface="Times New Roman" panose="02020603050405020304" pitchFamily="18" charset="0"/>
              </a:rPr>
              <a:t>Philosophische Begründungen der ursprünglichen Einheit</a:t>
            </a:r>
          </a:p>
        </p:txBody>
      </p:sp>
      <p:sp>
        <p:nvSpPr>
          <p:cNvPr id="7" name="Textfeld 6"/>
          <p:cNvSpPr txBox="1"/>
          <p:nvPr/>
        </p:nvSpPr>
        <p:spPr>
          <a:xfrm>
            <a:off x="323528" y="1563638"/>
            <a:ext cx="5976664" cy="646331"/>
          </a:xfrm>
          <a:prstGeom prst="rect">
            <a:avLst/>
          </a:prstGeom>
          <a:noFill/>
        </p:spPr>
        <p:txBody>
          <a:bodyPr wrap="square" rtlCol="0">
            <a:spAutoFit/>
          </a:bodyPr>
          <a:lstStyle/>
          <a:p>
            <a:r>
              <a:rPr lang="de-DE" sz="3600" dirty="0" smtClean="0"/>
              <a:t>iv) Oskar Becker</a:t>
            </a:r>
            <a:endParaRPr lang="de-DE" sz="3600" dirty="0"/>
          </a:p>
        </p:txBody>
      </p:sp>
      <p:sp>
        <p:nvSpPr>
          <p:cNvPr id="2" name="AutoShape 2" descr="Eugenio Beltram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DE"/>
          </a:p>
        </p:txBody>
      </p:sp>
      <p:pic>
        <p:nvPicPr>
          <p:cNvPr id="7170" name="Picture 2" descr="Oskar Becker - Wikip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4208" y="1048922"/>
            <a:ext cx="2453258" cy="382708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Beiträge zur phänomenologischen Begründung der Geometrie und ihrer  physikalischen Anwendung : Becker, Oskar: Amazon.de: Büch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76056" y="1504404"/>
            <a:ext cx="1178912" cy="1787426"/>
          </a:xfrm>
          <a:prstGeom prst="rect">
            <a:avLst/>
          </a:prstGeom>
          <a:noFill/>
          <a:extLst>
            <a:ext uri="{909E8E84-426E-40DD-AFC4-6F175D3DCCD1}">
              <a14:hiddenFill xmlns:a14="http://schemas.microsoft.com/office/drawing/2010/main">
                <a:solidFill>
                  <a:srgbClr val="FFFFFF"/>
                </a:solidFill>
              </a14:hiddenFill>
            </a:ext>
          </a:extLst>
        </p:spPr>
      </p:pic>
      <p:sp>
        <p:nvSpPr>
          <p:cNvPr id="10" name="Textfeld 9"/>
          <p:cNvSpPr txBox="1"/>
          <p:nvPr/>
        </p:nvSpPr>
        <p:spPr>
          <a:xfrm>
            <a:off x="395536" y="2276167"/>
            <a:ext cx="4464496" cy="1015663"/>
          </a:xfrm>
          <a:prstGeom prst="rect">
            <a:avLst/>
          </a:prstGeom>
          <a:noFill/>
        </p:spPr>
        <p:txBody>
          <a:bodyPr wrap="square" rtlCol="0">
            <a:spAutoFit/>
          </a:bodyPr>
          <a:lstStyle/>
          <a:p>
            <a:pPr algn="just"/>
            <a:r>
              <a:rPr lang="de-DE" sz="2000" b="1" dirty="0"/>
              <a:t>Homogenität des Raumes: </a:t>
            </a:r>
            <a:r>
              <a:rPr lang="de-DE" sz="2000" dirty="0"/>
              <a:t>Ohne homogenen Raum könnte ich mich nicht „an die Stelle des anderen setzen</a:t>
            </a:r>
            <a:r>
              <a:rPr lang="de-DE" sz="2000" dirty="0" smtClean="0"/>
              <a:t>“.</a:t>
            </a:r>
            <a:endParaRPr lang="de-DE" sz="2000" dirty="0"/>
          </a:p>
        </p:txBody>
      </p:sp>
      <p:sp>
        <p:nvSpPr>
          <p:cNvPr id="11" name="Textfeld 10"/>
          <p:cNvSpPr txBox="1"/>
          <p:nvPr/>
        </p:nvSpPr>
        <p:spPr>
          <a:xfrm>
            <a:off x="323528" y="3435846"/>
            <a:ext cx="6071394" cy="1015663"/>
          </a:xfrm>
          <a:prstGeom prst="rect">
            <a:avLst/>
          </a:prstGeom>
          <a:noFill/>
        </p:spPr>
        <p:txBody>
          <a:bodyPr wrap="square" rtlCol="0">
            <a:spAutoFit/>
          </a:bodyPr>
          <a:lstStyle/>
          <a:p>
            <a:pPr marL="342900" indent="-342900">
              <a:buAutoNum type="arabicParenBoth"/>
            </a:pPr>
            <a:r>
              <a:rPr lang="de-DE" sz="2000" dirty="0" smtClean="0"/>
              <a:t>Der </a:t>
            </a:r>
            <a:r>
              <a:rPr lang="de-DE" sz="2000" dirty="0"/>
              <a:t>homogene Raum ist reines </a:t>
            </a:r>
            <a:r>
              <a:rPr lang="de-DE" sz="2000" dirty="0" smtClean="0"/>
              <a:t>Individuationsprinzip</a:t>
            </a:r>
          </a:p>
          <a:p>
            <a:pPr marL="342900" indent="-342900">
              <a:buAutoNum type="arabicParenBoth"/>
            </a:pPr>
            <a:r>
              <a:rPr lang="de-DE" sz="2000" dirty="0" smtClean="0"/>
              <a:t>Freie </a:t>
            </a:r>
            <a:r>
              <a:rPr lang="de-DE" sz="2000" dirty="0"/>
              <a:t>Beweglichkeit impliziert konstante </a:t>
            </a:r>
            <a:r>
              <a:rPr lang="de-DE" sz="2000" dirty="0" smtClean="0"/>
              <a:t>Krümmung</a:t>
            </a:r>
          </a:p>
          <a:p>
            <a:pPr marL="342900" indent="-342900">
              <a:buAutoNum type="arabicParenBoth"/>
            </a:pPr>
            <a:r>
              <a:rPr lang="de-DE" sz="2000" dirty="0" smtClean="0"/>
              <a:t>K=0 wegen Translationsinvarianz</a:t>
            </a:r>
            <a:endParaRPr lang="de-DE" sz="2000" dirty="0"/>
          </a:p>
        </p:txBody>
      </p:sp>
    </p:spTree>
    <p:extLst>
      <p:ext uri="{BB962C8B-B14F-4D97-AF65-F5344CB8AC3E}">
        <p14:creationId xmlns:p14="http://schemas.microsoft.com/office/powerpoint/2010/main" val="428760972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0</TotalTime>
  <Words>811</Words>
  <Application>Microsoft Office PowerPoint</Application>
  <PresentationFormat>Bildschirmpräsentation (16:9)</PresentationFormat>
  <Paragraphs>83</Paragraphs>
  <Slides>20</Slides>
  <Notes>8</Notes>
  <HiddenSlides>0</HiddenSlides>
  <MMClips>0</MMClips>
  <ScaleCrop>false</ScaleCrop>
  <HeadingPairs>
    <vt:vector size="4" baseType="variant">
      <vt:variant>
        <vt:lpstr>Design</vt:lpstr>
      </vt:variant>
      <vt:variant>
        <vt:i4>2</vt:i4>
      </vt:variant>
      <vt:variant>
        <vt:lpstr>Folientitel</vt:lpstr>
      </vt:variant>
      <vt:variant>
        <vt:i4>20</vt:i4>
      </vt:variant>
    </vt:vector>
  </HeadingPairs>
  <TitlesOfParts>
    <vt:vector size="22" baseType="lpstr">
      <vt:lpstr>Executive</vt:lpstr>
      <vt:lpstr>Larissa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Anton</dc:creator>
  <cp:lastModifiedBy>Anton </cp:lastModifiedBy>
  <cp:revision>21</cp:revision>
  <dcterms:created xsi:type="dcterms:W3CDTF">2026-06-07T20:40:48Z</dcterms:created>
  <dcterms:modified xsi:type="dcterms:W3CDTF">2026-06-15T21:56:54Z</dcterms:modified>
</cp:coreProperties>
</file>