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8"/>
  </p:notesMasterIdLst>
  <p:sldIdLst>
    <p:sldId id="257" r:id="rId3"/>
    <p:sldId id="258" r:id="rId4"/>
    <p:sldId id="261" r:id="rId5"/>
    <p:sldId id="263" r:id="rId6"/>
    <p:sldId id="262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66" autoAdjust="0"/>
  </p:normalViewPr>
  <p:slideViewPr>
    <p:cSldViewPr>
      <p:cViewPr varScale="1">
        <p:scale>
          <a:sx n="148" d="100"/>
          <a:sy n="148" d="100"/>
        </p:scale>
        <p:origin x="-61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16FF3-BA00-4C4C-BD7A-7F3377183239}" type="datetimeFigureOut">
              <a:rPr lang="de-DE" smtClean="0"/>
              <a:t>10.05.2025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99867-4BCD-402A-B88F-85BCAD91F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895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99867-4BCD-402A-B88F-85BCAD91FEC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293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99867-4BCD-402A-B88F-85BCAD91FEC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29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99867-4BCD-402A-B88F-85BCAD91FEC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293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99867-4BCD-402A-B88F-85BCAD91FEC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29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70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50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6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10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52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20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35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977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822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3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May 10,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56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May 10,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May 10,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9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0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12" Type="http://schemas.openxmlformats.org/officeDocument/2006/relationships/image" Target="../media/image26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24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18.png"/><Relationship Id="rId12" Type="http://schemas.openxmlformats.org/officeDocument/2006/relationships/image" Target="../media/image39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38.png"/><Relationship Id="rId5" Type="http://schemas.openxmlformats.org/officeDocument/2006/relationships/image" Target="../media/image16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8859" y1="16727" x2="49550" y2="13273"/>
                        <a14:foregroundMark x1="44444" y1="12909" x2="34234" y2="14727"/>
                        <a14:foregroundMark x1="33333" y1="16000" x2="33333" y2="22182"/>
                        <a14:foregroundMark x1="31832" y1="22727" x2="32432" y2="27455"/>
                        <a14:foregroundMark x1="31231" y1="26909" x2="40841" y2="12000"/>
                        <a14:foregroundMark x1="42042" y1="11091" x2="47147" y2="10545"/>
                        <a14:foregroundMark x1="49550" y1="29273" x2="58258" y2="36364"/>
                        <a14:foregroundMark x1="51652" y1="51818" x2="67568" y2="71091"/>
                        <a14:foregroundMark x1="66967" y1="46000" x2="91892" y2="56909"/>
                        <a14:foregroundMark x1="87387" y1="56909" x2="93093" y2="79455"/>
                        <a14:foregroundMark x1="83483" y1="80364" x2="50751" y2="90545"/>
                        <a14:foregroundMark x1="29129" y1="58727" x2="25225" y2="95273"/>
                        <a14:foregroundMark x1="13814" y1="63636" x2="8108" y2="99636"/>
                        <a14:foregroundMark x1="8709" y1="75818" x2="4805" y2="99091"/>
                        <a14:backgroundMark x1="3604" y1="70000" x2="601" y2="91818"/>
                        <a14:backgroundMark x1="6607" y1="78545" x2="2703" y2="98727"/>
                        <a14:backgroundMark x1="45045" y1="9636" x2="49249" y2="9818"/>
                        <a14:backgroundMark x1="75375" y1="13636" x2="99700" y2="33818"/>
                        <a14:backgroundMark x1="81682" y1="26909" x2="87988" y2="38364"/>
                        <a14:backgroundMark x1="74474" y1="36000" x2="86787" y2="47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31"/>
          <a:stretch/>
        </p:blipFill>
        <p:spPr bwMode="auto">
          <a:xfrm>
            <a:off x="6658915" y="1275606"/>
            <a:ext cx="2505373" cy="3888432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-180528" y="-92547"/>
            <a:ext cx="9324528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8300" b="1" dirty="0" smtClean="0"/>
              <a:t>Induktion über </a:t>
            </a:r>
            <a:r>
              <a:rPr lang="de-DE" sz="8300" b="1" dirty="0"/>
              <a:t>ℝ</a:t>
            </a:r>
            <a:endParaRPr lang="de-DE" sz="8300" b="1" dirty="0" smtClean="0"/>
          </a:p>
        </p:txBody>
      </p:sp>
      <p:sp>
        <p:nvSpPr>
          <p:cNvPr id="4" name="Textfeld 3"/>
          <p:cNvSpPr txBox="1"/>
          <p:nvPr/>
        </p:nvSpPr>
        <p:spPr>
          <a:xfrm>
            <a:off x="123728" y="1059582"/>
            <a:ext cx="88407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b="1" u="sng" dirty="0" smtClean="0">
                <a:solidFill>
                  <a:srgbClr val="FF0000"/>
                </a:solidFill>
              </a:rPr>
              <a:t>Beispiel:</a:t>
            </a:r>
            <a:r>
              <a:rPr lang="de-DE" sz="3800" b="1" dirty="0" smtClean="0">
                <a:solidFill>
                  <a:srgbClr val="FF0000"/>
                </a:solidFill>
              </a:rPr>
              <a:t> Satz von </a:t>
            </a:r>
            <a:r>
              <a:rPr lang="de-DE" sz="3800" b="1" dirty="0" err="1" smtClean="0">
                <a:solidFill>
                  <a:srgbClr val="FF0000"/>
                </a:solidFill>
              </a:rPr>
              <a:t>Bolzano-Weierstraß</a:t>
            </a:r>
            <a:endParaRPr lang="de-DE" sz="38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Bernard Bolzano - Wikipedia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640" b="13175"/>
          <a:stretch/>
        </p:blipFill>
        <p:spPr bwMode="auto">
          <a:xfrm flipH="1">
            <a:off x="-2" y="1686337"/>
            <a:ext cx="2915815" cy="3457163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28" r="25080"/>
          <a:stretch/>
        </p:blipFill>
        <p:spPr bwMode="auto">
          <a:xfrm>
            <a:off x="2557093" y="3402369"/>
            <a:ext cx="4175147" cy="1187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067694"/>
            <a:ext cx="4464496" cy="63286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956173"/>
            <a:ext cx="1944216" cy="31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611" y="3437369"/>
            <a:ext cx="2737621" cy="275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776756"/>
            <a:ext cx="981978" cy="231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146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Reelles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Induktionsprinzip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134" y="3242732"/>
            <a:ext cx="4153645" cy="72817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41085"/>
            <a:ext cx="5861174" cy="1665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feld 15"/>
          <p:cNvSpPr txBox="1"/>
          <p:nvPr/>
        </p:nvSpPr>
        <p:spPr>
          <a:xfrm>
            <a:off x="4594176" y="2124231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(„Induktionsschritt“)</a:t>
            </a:r>
            <a:endParaRPr lang="de-DE" sz="1400" dirty="0"/>
          </a:p>
        </p:txBody>
      </p:sp>
      <p:sp>
        <p:nvSpPr>
          <p:cNvPr id="17" name="Textfeld 16"/>
          <p:cNvSpPr txBox="1"/>
          <p:nvPr/>
        </p:nvSpPr>
        <p:spPr>
          <a:xfrm>
            <a:off x="3880446" y="2589492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(„</a:t>
            </a:r>
            <a:r>
              <a:rPr lang="de-DE" sz="1400" dirty="0"/>
              <a:t>Keine Lücke am Schluss</a:t>
            </a:r>
            <a:r>
              <a:rPr lang="de-DE" sz="1400" dirty="0" smtClean="0"/>
              <a:t>“)</a:t>
            </a:r>
            <a:endParaRPr lang="de-DE" sz="1400" dirty="0"/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9542"/>
            <a:ext cx="2836838" cy="27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 descr="undefin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58859" y1="16727" x2="49550" y2="13273"/>
                        <a14:foregroundMark x1="44444" y1="12909" x2="34234" y2="14727"/>
                        <a14:foregroundMark x1="33333" y1="16000" x2="33333" y2="22182"/>
                        <a14:foregroundMark x1="31832" y1="22727" x2="32432" y2="27455"/>
                        <a14:foregroundMark x1="31231" y1="26909" x2="40841" y2="12000"/>
                        <a14:foregroundMark x1="42042" y1="11091" x2="47147" y2="10545"/>
                        <a14:foregroundMark x1="49550" y1="29273" x2="58258" y2="36364"/>
                        <a14:foregroundMark x1="51652" y1="51818" x2="67568" y2="71091"/>
                        <a14:foregroundMark x1="66967" y1="46000" x2="91892" y2="56909"/>
                        <a14:foregroundMark x1="87387" y1="56909" x2="93093" y2="79455"/>
                        <a14:foregroundMark x1="83483" y1="80364" x2="50751" y2="90545"/>
                        <a14:foregroundMark x1="29129" y1="58727" x2="25225" y2="95273"/>
                        <a14:foregroundMark x1="13814" y1="63636" x2="8108" y2="99636"/>
                        <a14:foregroundMark x1="8709" y1="75818" x2="4805" y2="99091"/>
                        <a14:backgroundMark x1="3604" y1="70000" x2="601" y2="91818"/>
                        <a14:backgroundMark x1="6607" y1="78545" x2="2703" y2="98727"/>
                        <a14:backgroundMark x1="45045" y1="9636" x2="49249" y2="9818"/>
                        <a14:backgroundMark x1="75375" y1="13636" x2="99700" y2="33818"/>
                        <a14:backgroundMark x1="81682" y1="26909" x2="87988" y2="38364"/>
                        <a14:backgroundMark x1="74474" y1="36000" x2="86787" y2="47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31"/>
          <a:stretch/>
        </p:blipFill>
        <p:spPr bwMode="auto">
          <a:xfrm>
            <a:off x="6375687" y="836025"/>
            <a:ext cx="2788602" cy="4328013"/>
          </a:xfrm>
          <a:prstGeom prst="rect">
            <a:avLst/>
          </a:prstGeom>
          <a:noFill/>
          <a:effectLst>
            <a:glow rad="63500">
              <a:schemeClr val="tx1">
                <a:lumMod val="75000"/>
                <a:lumOff val="25000"/>
                <a:alpha val="40000"/>
              </a:schemeClr>
            </a:glo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feld 19"/>
          <p:cNvSpPr txBox="1"/>
          <p:nvPr/>
        </p:nvSpPr>
        <p:spPr>
          <a:xfrm>
            <a:off x="6372200" y="627534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err="1" smtClean="0"/>
              <a:t>Yuen</a:t>
            </a:r>
            <a:r>
              <a:rPr lang="de-DE" sz="2000" b="1" dirty="0" smtClean="0"/>
              <a:t> Ren Chao</a:t>
            </a:r>
          </a:p>
          <a:p>
            <a:pPr algn="ctr"/>
            <a:r>
              <a:rPr lang="de-DE" sz="1600" dirty="0" smtClean="0"/>
              <a:t>(1892-1982)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54769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19029"/>
            <a:ext cx="8568952" cy="268545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72" y="3147814"/>
            <a:ext cx="7513960" cy="520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73" y="3935549"/>
            <a:ext cx="6007143" cy="270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Gerade Verbindung 11"/>
          <p:cNvCxnSpPr/>
          <p:nvPr/>
        </p:nvCxnSpPr>
        <p:spPr>
          <a:xfrm>
            <a:off x="519511" y="4206339"/>
            <a:ext cx="48599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/>
          <p:cNvCxnSpPr/>
          <p:nvPr/>
        </p:nvCxnSpPr>
        <p:spPr>
          <a:xfrm>
            <a:off x="533798" y="3397071"/>
            <a:ext cx="48599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60" y="3961470"/>
            <a:ext cx="1772731" cy="24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321529"/>
            <a:ext cx="2304256" cy="262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45022"/>
            <a:ext cx="7632848" cy="708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2" y="1084982"/>
            <a:ext cx="973660" cy="24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1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57246"/>
            <a:ext cx="3384376" cy="2333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47301"/>
            <a:ext cx="6264696" cy="25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096" y="4328528"/>
            <a:ext cx="5380351" cy="26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609536"/>
            <a:ext cx="1790817" cy="286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884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467544" y="987574"/>
            <a:ext cx="7632848" cy="354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2" y="627534"/>
            <a:ext cx="973660" cy="24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73" y="1513919"/>
            <a:ext cx="6007143" cy="270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Gerade Verbindung 11"/>
          <p:cNvCxnSpPr/>
          <p:nvPr/>
        </p:nvCxnSpPr>
        <p:spPr>
          <a:xfrm>
            <a:off x="519511" y="1784709"/>
            <a:ext cx="48599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60" y="1539840"/>
            <a:ext cx="1772731" cy="24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7299"/>
            <a:ext cx="2304256" cy="262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65744"/>
            <a:ext cx="5976664" cy="278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39" y="4070294"/>
            <a:ext cx="5760640" cy="261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Gerade Verbindung 8"/>
          <p:cNvCxnSpPr/>
          <p:nvPr/>
        </p:nvCxnSpPr>
        <p:spPr>
          <a:xfrm>
            <a:off x="692805" y="2193808"/>
            <a:ext cx="215100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/>
        </p:nvCxnSpPr>
        <p:spPr>
          <a:xfrm>
            <a:off x="683568" y="2853776"/>
            <a:ext cx="58326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/>
          <p:cNvCxnSpPr/>
          <p:nvPr/>
        </p:nvCxnSpPr>
        <p:spPr>
          <a:xfrm>
            <a:off x="723717" y="4339021"/>
            <a:ext cx="55749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24" y="2946992"/>
            <a:ext cx="3231554" cy="252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295919"/>
            <a:ext cx="3456384" cy="312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18" y="3702065"/>
            <a:ext cx="3772799" cy="223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417" y="3698212"/>
            <a:ext cx="3210201" cy="228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Gerade Verbindung 16"/>
          <p:cNvCxnSpPr/>
          <p:nvPr/>
        </p:nvCxnSpPr>
        <p:spPr>
          <a:xfrm>
            <a:off x="285972" y="1394954"/>
            <a:ext cx="846249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492" y="1945153"/>
            <a:ext cx="5380351" cy="26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93" y="2206706"/>
            <a:ext cx="1790817" cy="286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05" y="4421243"/>
            <a:ext cx="1726140" cy="193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245" y="4421243"/>
            <a:ext cx="1877144" cy="238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837" y="4412716"/>
            <a:ext cx="3365326" cy="26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05" y="4707296"/>
            <a:ext cx="3353901" cy="224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475" y="4681478"/>
            <a:ext cx="1412410" cy="245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Gerade Verbindung 9"/>
          <p:cNvCxnSpPr/>
          <p:nvPr/>
        </p:nvCxnSpPr>
        <p:spPr>
          <a:xfrm>
            <a:off x="6732240" y="4659982"/>
            <a:ext cx="988378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/>
          <p:cNvCxnSpPr/>
          <p:nvPr/>
        </p:nvCxnSpPr>
        <p:spPr>
          <a:xfrm>
            <a:off x="2228242" y="4909659"/>
            <a:ext cx="77246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/>
        </p:nvCxnSpPr>
        <p:spPr>
          <a:xfrm>
            <a:off x="6156747" y="4643183"/>
            <a:ext cx="216024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/>
          <p:cNvCxnSpPr/>
          <p:nvPr/>
        </p:nvCxnSpPr>
        <p:spPr>
          <a:xfrm>
            <a:off x="3203848" y="4895117"/>
            <a:ext cx="72008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/>
          <p:cNvCxnSpPr/>
          <p:nvPr/>
        </p:nvCxnSpPr>
        <p:spPr>
          <a:xfrm>
            <a:off x="4951774" y="3603753"/>
            <a:ext cx="988378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/>
          <p:cNvCxnSpPr/>
          <p:nvPr/>
        </p:nvCxnSpPr>
        <p:spPr>
          <a:xfrm>
            <a:off x="2946963" y="2867511"/>
            <a:ext cx="2345117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/>
          <p:cNvCxnSpPr/>
          <p:nvPr/>
        </p:nvCxnSpPr>
        <p:spPr>
          <a:xfrm>
            <a:off x="3637132" y="3596312"/>
            <a:ext cx="1078884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>
          <a:xfrm>
            <a:off x="647087" y="2860069"/>
            <a:ext cx="193023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>
          <a:xfrm>
            <a:off x="2817618" y="4352562"/>
            <a:ext cx="344714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37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97" y="2730795"/>
            <a:ext cx="4570660" cy="271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844" y="2768040"/>
            <a:ext cx="1152128" cy="222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Gerade Verbindung 7"/>
          <p:cNvCxnSpPr/>
          <p:nvPr/>
        </p:nvCxnSpPr>
        <p:spPr>
          <a:xfrm>
            <a:off x="519511" y="2989284"/>
            <a:ext cx="48599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45022"/>
            <a:ext cx="7632848" cy="708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2" y="1084982"/>
            <a:ext cx="973660" cy="24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57246"/>
            <a:ext cx="3384376" cy="2333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148718"/>
            <a:ext cx="3384376" cy="259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722" y="3153188"/>
            <a:ext cx="4794746" cy="26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6" y="3448817"/>
            <a:ext cx="1184814" cy="24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95886"/>
            <a:ext cx="5785543" cy="25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997" y="3803247"/>
            <a:ext cx="2778375" cy="212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95432"/>
            <a:ext cx="2124707" cy="27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681" y="4186923"/>
            <a:ext cx="5256155" cy="26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482" y="4634259"/>
            <a:ext cx="862014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Gerade Verbindung 22"/>
          <p:cNvCxnSpPr/>
          <p:nvPr/>
        </p:nvCxnSpPr>
        <p:spPr>
          <a:xfrm>
            <a:off x="730084" y="4451939"/>
            <a:ext cx="19017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/>
          <p:cNvCxnSpPr/>
          <p:nvPr/>
        </p:nvCxnSpPr>
        <p:spPr>
          <a:xfrm>
            <a:off x="669926" y="4054448"/>
            <a:ext cx="560104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693541" y="3422877"/>
            <a:ext cx="323038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447" y="4623210"/>
            <a:ext cx="5185817" cy="299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19029"/>
            <a:ext cx="8568952" cy="268545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029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38</Words>
  <Application>Microsoft Office PowerPoint</Application>
  <PresentationFormat>Bildschirmpräsentation (16:9)</PresentationFormat>
  <Paragraphs>14</Paragraphs>
  <Slides>5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7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27</cp:revision>
  <dcterms:created xsi:type="dcterms:W3CDTF">2025-05-09T21:52:17Z</dcterms:created>
  <dcterms:modified xsi:type="dcterms:W3CDTF">2025-05-10T18:43:08Z</dcterms:modified>
</cp:coreProperties>
</file>