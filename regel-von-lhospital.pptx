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4" r:id="rId2"/>
  </p:sldMasterIdLst>
  <p:notesMasterIdLst>
    <p:notesMasterId r:id="rId14"/>
  </p:notesMasterIdLst>
  <p:sldIdLst>
    <p:sldId id="256" r:id="rId3"/>
    <p:sldId id="257" r:id="rId4"/>
    <p:sldId id="265" r:id="rId5"/>
    <p:sldId id="264" r:id="rId6"/>
    <p:sldId id="258" r:id="rId7"/>
    <p:sldId id="259" r:id="rId8"/>
    <p:sldId id="261" r:id="rId9"/>
    <p:sldId id="266" r:id="rId10"/>
    <p:sldId id="267" r:id="rId11"/>
    <p:sldId id="268" r:id="rId12"/>
    <p:sldId id="262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8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C950D-730B-486B-BE45-8C1F50ADD3B8}" type="datetimeFigureOut">
              <a:rPr lang="de-DE" smtClean="0"/>
              <a:t>27.07.2025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88B2-4D60-4F2D-A4D0-44D77AC3ED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6312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32004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14750"/>
            <a:ext cx="6400800" cy="9144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28701"/>
            <a:ext cx="7772400" cy="1878806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051574"/>
            <a:ext cx="7772400" cy="848915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2943226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2943226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2943226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200150"/>
            <a:ext cx="4041648" cy="339471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40188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3" y="1200150"/>
            <a:ext cx="4041775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1659636"/>
            <a:ext cx="4041648" cy="293522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1659637"/>
            <a:ext cx="4041648" cy="293489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90" y="200026"/>
            <a:ext cx="3008313" cy="1571625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40" y="204789"/>
            <a:ext cx="499586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90" y="1828801"/>
            <a:ext cx="3008313" cy="2765822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71451"/>
            <a:ext cx="5711824" cy="671513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857251"/>
            <a:ext cx="6054724" cy="3405783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357688"/>
            <a:ext cx="5711824" cy="40005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59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4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111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28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32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32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91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707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49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1836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103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7484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July 27,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49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00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50" y="4767264"/>
            <a:ext cx="2085975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2B1B13E-D5AF-485E-81A1-82A140076526}" type="datetime4">
              <a:rPr lang="en-US" smtClean="0"/>
              <a:pPr/>
              <a:t>July 27,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8" y="4767264"/>
            <a:ext cx="2847975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81" y="4767264"/>
            <a:ext cx="561975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4874539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4874539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July 27, 2025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67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8.png"/><Relationship Id="rId3" Type="http://schemas.openxmlformats.org/officeDocument/2006/relationships/image" Target="../media/image17.png"/><Relationship Id="rId7" Type="http://schemas.openxmlformats.org/officeDocument/2006/relationships/image" Target="../media/image34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0" Type="http://schemas.microsoft.com/office/2007/relationships/hdphoto" Target="../media/hdphoto1.wdp"/><Relationship Id="rId4" Type="http://schemas.openxmlformats.org/officeDocument/2006/relationships/image" Target="../media/image31.pn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 descr="undefined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73"/>
          <a:stretch/>
        </p:blipFill>
        <p:spPr bwMode="auto">
          <a:xfrm>
            <a:off x="2843808" y="3347242"/>
            <a:ext cx="1152128" cy="1600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hteck 4"/>
          <p:cNvSpPr/>
          <p:nvPr/>
        </p:nvSpPr>
        <p:spPr>
          <a:xfrm>
            <a:off x="74406" y="-112871"/>
            <a:ext cx="8928992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7100" b="1" dirty="0" smtClean="0"/>
              <a:t>Regel von L‘Hospital</a:t>
            </a:r>
          </a:p>
        </p:txBody>
      </p:sp>
      <p:pic>
        <p:nvPicPr>
          <p:cNvPr id="1026" name="Picture 2" descr="undefined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638" b="75964" l="6875" r="92500">
                        <a14:foregroundMark x1="34583" y1="22255" x2="30417" y2="35015"/>
                        <a14:foregroundMark x1="30417" y1="44510" x2="14167" y2="57567"/>
                        <a14:foregroundMark x1="13750" y1="51929" x2="22708" y2="43027"/>
                        <a14:foregroundMark x1="22708" y1="41840" x2="27500" y2="40504"/>
                        <a14:foregroundMark x1="15417" y1="56677" x2="23333" y2="57270"/>
                        <a14:foregroundMark x1="22500" y1="58754" x2="14167" y2="64095"/>
                        <a14:foregroundMark x1="16667" y1="64392" x2="21667" y2="64392"/>
                        <a14:foregroundMark x1="58750" y1="30564" x2="58750" y2="40950"/>
                        <a14:foregroundMark x1="64375" y1="31157" x2="69167" y2="54303"/>
                        <a14:foregroundMark x1="69167" y1="43620" x2="76875" y2="56380"/>
                        <a14:foregroundMark x1="77708" y1="58754" x2="87500" y2="65875"/>
                        <a14:foregroundMark x1="84375" y1="60534" x2="91042" y2="69436"/>
                        <a14:foregroundMark x1="77917" y1="75074" x2="37917" y2="75964"/>
                        <a14:foregroundMark x1="31875" y1="74332" x2="29583" y2="73294"/>
                        <a14:foregroundMark x1="36250" y1="20475" x2="44167" y2="16617"/>
                        <a14:foregroundMark x1="56667" y1="17804" x2="62708" y2="24332"/>
                        <a14:foregroundMark x1="62708" y1="24332" x2="64375" y2="32641"/>
                        <a14:foregroundMark x1="58750" y1="16914" x2="65833" y2="24629"/>
                        <a14:foregroundMark x1="60417" y1="54303" x2="62708" y2="70030"/>
                        <a14:foregroundMark x1="34583" y1="60682" x2="36667" y2="45252"/>
                        <a14:foregroundMark x1="36875" y1="43620" x2="54375" y2="59941"/>
                        <a14:backgroundMark x1="24583" y1="27003" x2="30208" y2="16172"/>
                        <a14:backgroundMark x1="26250" y1="13947" x2="17083" y2="31454"/>
                        <a14:backgroundMark x1="17708" y1="31751" x2="21042" y2="13353"/>
                        <a14:backgroundMark x1="21875" y1="12760" x2="47708" y2="9199"/>
                        <a14:backgroundMark x1="55208" y1="10682" x2="71042" y2="14540"/>
                        <a14:backgroundMark x1="81042" y1="24332" x2="81042" y2="39763"/>
                        <a14:backgroundMark x1="70417" y1="31157" x2="82500" y2="46588"/>
                        <a14:backgroundMark x1="70417" y1="38279" x2="83542" y2="54006"/>
                        <a14:backgroundMark x1="18750" y1="35312" x2="10417" y2="46884"/>
                        <a14:backgroundMark x1="11875" y1="59347" x2="12708" y2="71810"/>
                        <a14:backgroundMark x1="72708" y1="15430" x2="80208" y2="29080"/>
                        <a14:backgroundMark x1="71667" y1="44807" x2="82708" y2="55193"/>
                        <a14:backgroundMark x1="82917" y1="57864" x2="89375" y2="59347"/>
                        <a14:backgroundMark x1="80000" y1="53709" x2="73333" y2="47181"/>
                        <a14:backgroundMark x1="73333" y1="47774" x2="78333" y2="53116"/>
                        <a14:backgroundMark x1="15417" y1="42433" x2="26042" y2="35312"/>
                        <a14:backgroundMark x1="31042" y1="28190" x2="26250" y2="37685"/>
                        <a14:backgroundMark x1="23750" y1="39466" x2="14583" y2="47181"/>
                        <a14:backgroundMark x1="12917" y1="48368" x2="10417" y2="52226"/>
                        <a14:backgroundMark x1="9583" y1="54006" x2="10000" y2="54599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400" t="5302" r="7599" b="24075"/>
          <a:stretch/>
        </p:blipFill>
        <p:spPr bwMode="auto">
          <a:xfrm>
            <a:off x="-468560" y="1287609"/>
            <a:ext cx="3384376" cy="3948438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179512" y="908017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6000" dirty="0" smtClean="0">
                <a:solidFill>
                  <a:srgbClr val="FF0000"/>
                </a:solidFill>
              </a:rPr>
              <a:t>Intuition und Fallstricke</a:t>
            </a:r>
            <a:endParaRPr lang="de-DE" sz="6000" dirty="0">
              <a:solidFill>
                <a:srgbClr val="FF0000"/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851671"/>
            <a:ext cx="4573016" cy="126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943" y="2006064"/>
            <a:ext cx="5292587" cy="3157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Gerade Verbindung mit Pfeil 6"/>
          <p:cNvCxnSpPr/>
          <p:nvPr/>
        </p:nvCxnSpPr>
        <p:spPr>
          <a:xfrm flipH="1" flipV="1">
            <a:off x="6610350" y="3917950"/>
            <a:ext cx="854426" cy="54924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791" y="4037439"/>
            <a:ext cx="347585" cy="910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feld 11"/>
          <p:cNvSpPr txBox="1"/>
          <p:nvPr/>
        </p:nvSpPr>
        <p:spPr>
          <a:xfrm>
            <a:off x="7306791" y="4435248"/>
            <a:ext cx="649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 smtClean="0"/>
              <a:t>„</a:t>
            </a:r>
            <a:endParaRPr lang="de-DE" sz="3200" dirty="0"/>
          </a:p>
        </p:txBody>
      </p:sp>
      <p:sp>
        <p:nvSpPr>
          <p:cNvPr id="18" name="Textfeld 17"/>
          <p:cNvSpPr txBox="1"/>
          <p:nvPr/>
        </p:nvSpPr>
        <p:spPr>
          <a:xfrm>
            <a:off x="7954863" y="3867895"/>
            <a:ext cx="649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 smtClean="0"/>
              <a:t>“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397070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Marquis de </a:t>
            </a:r>
            <a:r>
              <a:rPr lang="en-CA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L’Hospital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2" name="Picture 4" descr="undefined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9" t="5180" r="6584" b="23904"/>
          <a:stretch/>
        </p:blipFill>
        <p:spPr bwMode="auto">
          <a:xfrm>
            <a:off x="6372200" y="771550"/>
            <a:ext cx="2525802" cy="2913824"/>
          </a:xfrm>
          <a:prstGeom prst="rect">
            <a:avLst/>
          </a:prstGeom>
          <a:noFill/>
          <a:ln w="28575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/>
          <p:cNvSpPr txBox="1"/>
          <p:nvPr/>
        </p:nvSpPr>
        <p:spPr>
          <a:xfrm>
            <a:off x="6228184" y="3756977"/>
            <a:ext cx="280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Guillaume François </a:t>
            </a:r>
            <a:r>
              <a:rPr lang="fr-FR" sz="1600" b="1" dirty="0" smtClean="0"/>
              <a:t>Antoine </a:t>
            </a:r>
            <a:r>
              <a:rPr lang="fr-FR" sz="1600" b="1" dirty="0"/>
              <a:t>Marquis de </a:t>
            </a:r>
            <a:r>
              <a:rPr lang="fr-FR" sz="1600" b="1" dirty="0" smtClean="0"/>
              <a:t>L’</a:t>
            </a:r>
            <a:r>
              <a:rPr lang="fr-FR" sz="1600" b="1" dirty="0" err="1" smtClean="0"/>
              <a:t>Hospital</a:t>
            </a:r>
            <a:endParaRPr lang="fr-FR" sz="1600" b="1" dirty="0" smtClean="0"/>
          </a:p>
          <a:p>
            <a:pPr algn="ctr"/>
            <a:r>
              <a:rPr lang="fr-FR" sz="1600" dirty="0" smtClean="0"/>
              <a:t>(1661-1704)</a:t>
            </a:r>
            <a:endParaRPr lang="de-DE" sz="1600" dirty="0"/>
          </a:p>
        </p:txBody>
      </p:sp>
      <p:sp>
        <p:nvSpPr>
          <p:cNvPr id="10" name="Textfeld 9"/>
          <p:cNvSpPr txBox="1"/>
          <p:nvPr/>
        </p:nvSpPr>
        <p:spPr>
          <a:xfrm>
            <a:off x="179512" y="699542"/>
            <a:ext cx="612068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- Französischer </a:t>
            </a:r>
            <a:r>
              <a:rPr lang="de-DE" sz="1600" dirty="0" smtClean="0"/>
              <a:t>Adliger und Kavallerieoffizier, später </a:t>
            </a:r>
            <a:r>
              <a:rPr lang="de-DE" sz="1600" dirty="0"/>
              <a:t>Mathematiker </a:t>
            </a:r>
            <a:r>
              <a:rPr lang="de-DE" sz="1200" dirty="0"/>
              <a:t>(Mit 15 Jahren löste er ein von Pascal gestelltes </a:t>
            </a:r>
            <a:r>
              <a:rPr lang="de-DE" sz="1200" dirty="0" err="1" smtClean="0"/>
              <a:t>Zykloidenproblem</a:t>
            </a:r>
            <a:r>
              <a:rPr lang="de-DE" sz="1200" dirty="0" smtClean="0"/>
              <a:t>, Berechnung der Bogenlänge einer logarithmischen Kurve, Lösung des </a:t>
            </a:r>
            <a:r>
              <a:rPr lang="de-DE" sz="1200" dirty="0" err="1" smtClean="0"/>
              <a:t>Brachistronproblems</a:t>
            </a:r>
            <a:r>
              <a:rPr lang="de-DE" sz="1200" dirty="0" smtClean="0"/>
              <a:t>)</a:t>
            </a:r>
          </a:p>
          <a:p>
            <a:endParaRPr lang="de-DE" sz="1600" dirty="0" smtClean="0"/>
          </a:p>
          <a:p>
            <a:r>
              <a:rPr lang="de-DE" sz="1600" dirty="0"/>
              <a:t>- Umfangreiche Korrespondenz mit Leibniz, Huygens, Pierre </a:t>
            </a:r>
            <a:r>
              <a:rPr lang="de-DE" sz="1600" dirty="0" err="1"/>
              <a:t>Varignon</a:t>
            </a:r>
            <a:r>
              <a:rPr lang="de-DE" sz="1600" dirty="0"/>
              <a:t> sowie Jacob und Johann Bernoulli</a:t>
            </a:r>
            <a:r>
              <a:rPr lang="de-DE" sz="1600" dirty="0" smtClean="0"/>
              <a:t>.</a:t>
            </a:r>
            <a:r>
              <a:rPr lang="de-DE" sz="1600" dirty="0"/>
              <a:t/>
            </a:r>
            <a:br>
              <a:rPr lang="de-DE" sz="1600" dirty="0"/>
            </a:br>
            <a:endParaRPr lang="de-DE" sz="1600" dirty="0" smtClean="0"/>
          </a:p>
          <a:p>
            <a:r>
              <a:rPr lang="de-DE" sz="1600" dirty="0" smtClean="0"/>
              <a:t>-</a:t>
            </a:r>
            <a:r>
              <a:rPr lang="de-DE" sz="1600" dirty="0"/>
              <a:t> Autor des ersten Lehrbuchs über Differentialrechnung: </a:t>
            </a:r>
            <a:r>
              <a:rPr lang="de-DE" sz="1600" i="1" dirty="0"/>
              <a:t>Analyse des </a:t>
            </a:r>
            <a:r>
              <a:rPr lang="de-DE" sz="1600" i="1" dirty="0" err="1"/>
              <a:t>infiniment</a:t>
            </a:r>
            <a:r>
              <a:rPr lang="de-DE" sz="1600" i="1" dirty="0"/>
              <a:t> </a:t>
            </a:r>
            <a:r>
              <a:rPr lang="de-DE" sz="1600" i="1" dirty="0" err="1"/>
              <a:t>petits</a:t>
            </a:r>
            <a:r>
              <a:rPr lang="de-DE" sz="1600" i="1" dirty="0"/>
              <a:t> </a:t>
            </a:r>
            <a:r>
              <a:rPr lang="de-DE" sz="1600" i="1" dirty="0" err="1"/>
              <a:t>pour</a:t>
            </a:r>
            <a:r>
              <a:rPr lang="de-DE" sz="1600" i="1" dirty="0"/>
              <a:t> </a:t>
            </a:r>
            <a:r>
              <a:rPr lang="de-DE" sz="1600" i="1" dirty="0" err="1"/>
              <a:t>l’intelligence</a:t>
            </a:r>
            <a:r>
              <a:rPr lang="de-DE" sz="1600" i="1" dirty="0"/>
              <a:t> des </a:t>
            </a:r>
            <a:r>
              <a:rPr lang="de-DE" sz="1600" i="1" dirty="0" err="1"/>
              <a:t>lignes</a:t>
            </a:r>
            <a:r>
              <a:rPr lang="de-DE" sz="1600" i="1" dirty="0"/>
              <a:t> </a:t>
            </a:r>
            <a:r>
              <a:rPr lang="de-DE" sz="1600" i="1" dirty="0" err="1"/>
              <a:t>courbes</a:t>
            </a:r>
            <a:r>
              <a:rPr lang="de-DE" sz="1600" dirty="0"/>
              <a:t> (1696; 2. Aufl. 1715</a:t>
            </a:r>
            <a:r>
              <a:rPr lang="de-DE" sz="1600" dirty="0" smtClean="0"/>
              <a:t>)</a:t>
            </a:r>
          </a:p>
          <a:p>
            <a:r>
              <a:rPr lang="de-DE" sz="1600" dirty="0"/>
              <a:t/>
            </a:r>
            <a:br>
              <a:rPr lang="de-DE" sz="1600" dirty="0"/>
            </a:br>
            <a:r>
              <a:rPr lang="de-DE" sz="1600" dirty="0"/>
              <a:t>- Lehrbuch enthält Schriften und Vorlesungsmanuskripte von Johann I. Bernoulli; finanzielles </a:t>
            </a:r>
            <a:r>
              <a:rPr lang="de-DE" sz="1600" dirty="0" smtClean="0"/>
              <a:t>Abkommen (Lehrer), </a:t>
            </a:r>
            <a:r>
              <a:rPr lang="de-DE" sz="1600" dirty="0"/>
              <a:t>Bernoulli stellte Ergebnisse exklusiv zur </a:t>
            </a:r>
            <a:r>
              <a:rPr lang="de-DE" sz="1600" dirty="0" smtClean="0"/>
              <a:t>Verfügung (für ca. 300 Francs pro Jahr).</a:t>
            </a:r>
          </a:p>
          <a:p>
            <a:endParaRPr lang="de-DE" sz="1600" dirty="0"/>
          </a:p>
          <a:p>
            <a:r>
              <a:rPr lang="de-DE" sz="1600" dirty="0"/>
              <a:t>- Bekanntester Beitrag: nach ihm benannte Regel von de </a:t>
            </a:r>
            <a:r>
              <a:rPr lang="de-DE" sz="1600" dirty="0" err="1" smtClean="0"/>
              <a:t>L’Hospital</a:t>
            </a:r>
            <a:r>
              <a:rPr lang="de-DE" sz="1600" dirty="0" smtClean="0"/>
              <a:t>, </a:t>
            </a:r>
            <a:r>
              <a:rPr lang="de-DE" sz="1600" dirty="0"/>
              <a:t>tatsächlich von Johann Bernoulli </a:t>
            </a:r>
            <a:r>
              <a:rPr lang="de-DE" sz="1600" dirty="0" smtClean="0"/>
              <a:t>entdeckt.</a:t>
            </a:r>
          </a:p>
          <a:p>
            <a:endParaRPr lang="de-DE" sz="1600" dirty="0" smtClean="0"/>
          </a:p>
        </p:txBody>
      </p:sp>
    </p:spTree>
    <p:extLst>
      <p:ext uri="{BB962C8B-B14F-4D97-AF65-F5344CB8AC3E}">
        <p14:creationId xmlns:p14="http://schemas.microsoft.com/office/powerpoint/2010/main" val="41485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Marquis de </a:t>
            </a:r>
            <a:r>
              <a:rPr lang="en-CA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L’Hospital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124" name="Picture 4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330" y="663223"/>
            <a:ext cx="2700158" cy="4068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undefine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07239"/>
            <a:ext cx="2664296" cy="399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undefine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275606"/>
            <a:ext cx="2880320" cy="2784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002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Warum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funktioniert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die Regel von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L’Hospital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99543"/>
            <a:ext cx="6727304" cy="273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059582"/>
            <a:ext cx="6696744" cy="384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11" y="1707654"/>
            <a:ext cx="1962919" cy="272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54338"/>
            <a:ext cx="4309826" cy="677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6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3453" r="29613" b="1"/>
          <a:stretch/>
        </p:blipFill>
        <p:spPr bwMode="auto">
          <a:xfrm>
            <a:off x="169987" y="3219822"/>
            <a:ext cx="4865698" cy="397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9212" b="24915"/>
          <a:stretch/>
        </p:blipFill>
        <p:spPr bwMode="auto">
          <a:xfrm>
            <a:off x="395536" y="3951662"/>
            <a:ext cx="4076649" cy="747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 descr="undefined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1563638"/>
            <a:ext cx="2880320" cy="214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36"/>
          <a:stretch/>
        </p:blipFill>
        <p:spPr bwMode="auto">
          <a:xfrm>
            <a:off x="4472506" y="3952651"/>
            <a:ext cx="2619773" cy="995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7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947" r="85501" b="-3932"/>
          <a:stretch/>
        </p:blipFill>
        <p:spPr bwMode="auto">
          <a:xfrm>
            <a:off x="7236293" y="4233855"/>
            <a:ext cx="1260394" cy="322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829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Wann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funktioniert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die Regel von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L’Hospital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598" b="45553"/>
          <a:stretch/>
        </p:blipFill>
        <p:spPr bwMode="auto">
          <a:xfrm>
            <a:off x="301824" y="987574"/>
            <a:ext cx="3478088" cy="984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33" r="63373" b="29115"/>
          <a:stretch/>
        </p:blipFill>
        <p:spPr bwMode="auto">
          <a:xfrm>
            <a:off x="3709392" y="987573"/>
            <a:ext cx="1978046" cy="225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179512" y="627534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Voraussetzungen der Regel von L‘Hospital</a:t>
            </a:r>
            <a:endParaRPr lang="de-DE" b="1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023"/>
          <a:stretch/>
        </p:blipFill>
        <p:spPr bwMode="auto">
          <a:xfrm>
            <a:off x="178768" y="2067694"/>
            <a:ext cx="6337448" cy="995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2" y="3107530"/>
            <a:ext cx="4950089" cy="198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 descr="undefined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638" b="75964" l="6875" r="92500">
                        <a14:foregroundMark x1="34583" y1="22255" x2="30417" y2="35015"/>
                        <a14:foregroundMark x1="30417" y1="44510" x2="14167" y2="57567"/>
                        <a14:foregroundMark x1="13750" y1="51929" x2="22708" y2="43027"/>
                        <a14:foregroundMark x1="22708" y1="41840" x2="27500" y2="40504"/>
                        <a14:foregroundMark x1="15417" y1="56677" x2="23333" y2="57270"/>
                        <a14:foregroundMark x1="22500" y1="58754" x2="14167" y2="64095"/>
                        <a14:foregroundMark x1="16667" y1="64392" x2="21667" y2="64392"/>
                        <a14:foregroundMark x1="58750" y1="30564" x2="58750" y2="40950"/>
                        <a14:foregroundMark x1="64375" y1="31157" x2="69167" y2="54303"/>
                        <a14:foregroundMark x1="69167" y1="43620" x2="76875" y2="56380"/>
                        <a14:foregroundMark x1="77708" y1="58754" x2="87500" y2="65875"/>
                        <a14:foregroundMark x1="84375" y1="60534" x2="91042" y2="69436"/>
                        <a14:foregroundMark x1="77917" y1="75074" x2="37917" y2="75964"/>
                        <a14:foregroundMark x1="31875" y1="74332" x2="29583" y2="73294"/>
                        <a14:foregroundMark x1="36250" y1="20475" x2="44167" y2="16617"/>
                        <a14:foregroundMark x1="56667" y1="17804" x2="62708" y2="24332"/>
                        <a14:foregroundMark x1="62708" y1="24332" x2="64375" y2="32641"/>
                        <a14:foregroundMark x1="58750" y1="16914" x2="65833" y2="24629"/>
                        <a14:foregroundMark x1="60417" y1="54303" x2="62708" y2="70030"/>
                        <a14:foregroundMark x1="34583" y1="60682" x2="36667" y2="45252"/>
                        <a14:foregroundMark x1="36875" y1="43620" x2="54375" y2="59941"/>
                        <a14:backgroundMark x1="24583" y1="27003" x2="30208" y2="16172"/>
                        <a14:backgroundMark x1="26250" y1="13947" x2="17083" y2="31454"/>
                        <a14:backgroundMark x1="17708" y1="31751" x2="21042" y2="13353"/>
                        <a14:backgroundMark x1="21875" y1="12760" x2="47708" y2="9199"/>
                        <a14:backgroundMark x1="55208" y1="10682" x2="71042" y2="14540"/>
                        <a14:backgroundMark x1="81042" y1="24332" x2="81042" y2="39763"/>
                        <a14:backgroundMark x1="70417" y1="31157" x2="82500" y2="46588"/>
                        <a14:backgroundMark x1="70417" y1="38279" x2="83542" y2="54006"/>
                        <a14:backgroundMark x1="18750" y1="35312" x2="10417" y2="46884"/>
                        <a14:backgroundMark x1="11875" y1="59347" x2="12708" y2="71810"/>
                        <a14:backgroundMark x1="72708" y1="15430" x2="80208" y2="29080"/>
                        <a14:backgroundMark x1="71667" y1="44807" x2="82708" y2="55193"/>
                        <a14:backgroundMark x1="82917" y1="57864" x2="89375" y2="59347"/>
                        <a14:backgroundMark x1="80000" y1="53709" x2="73333" y2="47181"/>
                        <a14:backgroundMark x1="73333" y1="47774" x2="78333" y2="53116"/>
                        <a14:backgroundMark x1="15417" y1="42433" x2="26042" y2="35312"/>
                        <a14:backgroundMark x1="31042" y1="28190" x2="26250" y2="37685"/>
                        <a14:backgroundMark x1="23750" y1="39466" x2="14583" y2="47181"/>
                        <a14:backgroundMark x1="12917" y1="48368" x2="10417" y2="52226"/>
                        <a14:backgroundMark x1="9583" y1="54006" x2="10000" y2="54599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400" t="5302" r="7599" b="24075"/>
          <a:stretch/>
        </p:blipFill>
        <p:spPr bwMode="auto">
          <a:xfrm flipH="1">
            <a:off x="6228184" y="1275606"/>
            <a:ext cx="3384376" cy="3948438"/>
          </a:xfrm>
          <a:prstGeom prst="rect">
            <a:avLst/>
          </a:prstGeom>
          <a:noFill/>
          <a:effectLst>
            <a:glow rad="63500">
              <a:schemeClr val="bg1">
                <a:lumMod val="50000"/>
                <a:alpha val="40000"/>
              </a:schemeClr>
            </a:glo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419621"/>
            <a:ext cx="2736304" cy="57502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266" r="41361"/>
          <a:stretch/>
        </p:blipFill>
        <p:spPr bwMode="auto">
          <a:xfrm>
            <a:off x="5868144" y="867488"/>
            <a:ext cx="3166864" cy="465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793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Notwendigkeit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der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Bedingungen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627534"/>
            <a:ext cx="2736304" cy="31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39" y="975916"/>
            <a:ext cx="5544616" cy="265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70" y="1315390"/>
            <a:ext cx="4025289" cy="272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70" y="1707654"/>
            <a:ext cx="3608859" cy="625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51" y="2499743"/>
            <a:ext cx="3510747" cy="331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931790"/>
            <a:ext cx="4420914" cy="394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867893"/>
            <a:ext cx="4608512" cy="631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939902"/>
            <a:ext cx="2952328" cy="514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659982"/>
            <a:ext cx="653143" cy="288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27" y="3451864"/>
            <a:ext cx="7564425" cy="246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8160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Notwendigkeit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der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Bedingungen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7" t="71870" r="44739" b="-1"/>
          <a:stretch/>
        </p:blipFill>
        <p:spPr bwMode="auto">
          <a:xfrm>
            <a:off x="251520" y="686888"/>
            <a:ext cx="3409950" cy="61296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19623"/>
            <a:ext cx="4680520" cy="343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51669"/>
            <a:ext cx="3240360" cy="358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283718"/>
            <a:ext cx="2059565" cy="643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056756"/>
            <a:ext cx="6349777" cy="26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416796"/>
            <a:ext cx="4104456" cy="279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 descr="undefined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638" b="75964" l="6875" r="92500">
                        <a14:foregroundMark x1="34583" y1="22255" x2="30417" y2="35015"/>
                        <a14:foregroundMark x1="30417" y1="44510" x2="14167" y2="57567"/>
                        <a14:foregroundMark x1="13750" y1="51929" x2="22708" y2="43027"/>
                        <a14:foregroundMark x1="22708" y1="41840" x2="27500" y2="40504"/>
                        <a14:foregroundMark x1="15417" y1="56677" x2="23333" y2="57270"/>
                        <a14:foregroundMark x1="22500" y1="58754" x2="14167" y2="64095"/>
                        <a14:foregroundMark x1="16667" y1="64392" x2="21667" y2="64392"/>
                        <a14:foregroundMark x1="58750" y1="30564" x2="58750" y2="40950"/>
                        <a14:foregroundMark x1="64375" y1="31157" x2="69167" y2="54303"/>
                        <a14:foregroundMark x1="69167" y1="43620" x2="76875" y2="56380"/>
                        <a14:foregroundMark x1="77708" y1="58754" x2="87500" y2="65875"/>
                        <a14:foregroundMark x1="84375" y1="60534" x2="91042" y2="69436"/>
                        <a14:foregroundMark x1="77917" y1="75074" x2="37917" y2="75964"/>
                        <a14:foregroundMark x1="31875" y1="74332" x2="29583" y2="73294"/>
                        <a14:foregroundMark x1="36250" y1="20475" x2="44167" y2="16617"/>
                        <a14:foregroundMark x1="56667" y1="17804" x2="62708" y2="24332"/>
                        <a14:foregroundMark x1="62708" y1="24332" x2="64375" y2="32641"/>
                        <a14:foregroundMark x1="58750" y1="16914" x2="65833" y2="24629"/>
                        <a14:foregroundMark x1="60417" y1="54303" x2="62708" y2="70030"/>
                        <a14:foregroundMark x1="34583" y1="60682" x2="36667" y2="45252"/>
                        <a14:foregroundMark x1="36875" y1="43620" x2="54375" y2="59941"/>
                        <a14:backgroundMark x1="24583" y1="27003" x2="30208" y2="16172"/>
                        <a14:backgroundMark x1="26250" y1="13947" x2="17083" y2="31454"/>
                        <a14:backgroundMark x1="17708" y1="31751" x2="21042" y2="13353"/>
                        <a14:backgroundMark x1="21875" y1="12760" x2="47708" y2="9199"/>
                        <a14:backgroundMark x1="55208" y1="10682" x2="71042" y2="14540"/>
                        <a14:backgroundMark x1="81042" y1="24332" x2="81042" y2="39763"/>
                        <a14:backgroundMark x1="70417" y1="31157" x2="82500" y2="46588"/>
                        <a14:backgroundMark x1="70417" y1="38279" x2="83542" y2="54006"/>
                        <a14:backgroundMark x1="18750" y1="35312" x2="10417" y2="46884"/>
                        <a14:backgroundMark x1="11875" y1="59347" x2="12708" y2="71810"/>
                        <a14:backgroundMark x1="72708" y1="15430" x2="80208" y2="29080"/>
                        <a14:backgroundMark x1="71667" y1="44807" x2="82708" y2="55193"/>
                        <a14:backgroundMark x1="82917" y1="57864" x2="89375" y2="59347"/>
                        <a14:backgroundMark x1="80000" y1="53709" x2="73333" y2="47181"/>
                        <a14:backgroundMark x1="73333" y1="47774" x2="78333" y2="53116"/>
                        <a14:backgroundMark x1="15417" y1="42433" x2="26042" y2="35312"/>
                        <a14:backgroundMark x1="31042" y1="28190" x2="26250" y2="37685"/>
                        <a14:backgroundMark x1="23750" y1="39466" x2="14583" y2="47181"/>
                        <a14:backgroundMark x1="12917" y1="48368" x2="10417" y2="52226"/>
                        <a14:backgroundMark x1="9583" y1="54006" x2="10000" y2="54599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400" t="5302" r="7599" b="24075"/>
          <a:stretch/>
        </p:blipFill>
        <p:spPr bwMode="auto">
          <a:xfrm flipH="1">
            <a:off x="6228184" y="1275606"/>
            <a:ext cx="3384376" cy="3948438"/>
          </a:xfrm>
          <a:prstGeom prst="rect">
            <a:avLst/>
          </a:prstGeom>
          <a:noFill/>
          <a:effectLst>
            <a:glow rad="63500">
              <a:schemeClr val="bg1">
                <a:lumMod val="50000"/>
                <a:alpha val="40000"/>
              </a:schemeClr>
            </a:glo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feld 13"/>
          <p:cNvSpPr txBox="1"/>
          <p:nvPr/>
        </p:nvSpPr>
        <p:spPr>
          <a:xfrm>
            <a:off x="6300192" y="948665"/>
            <a:ext cx="280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Guillaume François </a:t>
            </a:r>
            <a:r>
              <a:rPr lang="fr-FR" sz="1600" b="1" dirty="0" smtClean="0"/>
              <a:t>Antoine </a:t>
            </a:r>
            <a:r>
              <a:rPr lang="fr-FR" sz="1600" b="1" dirty="0"/>
              <a:t>Marquis de </a:t>
            </a:r>
            <a:r>
              <a:rPr lang="fr-FR" sz="1600" b="1" dirty="0" smtClean="0"/>
              <a:t>L’</a:t>
            </a:r>
            <a:r>
              <a:rPr lang="fr-FR" sz="1600" b="1" dirty="0" err="1" smtClean="0"/>
              <a:t>Hospital</a:t>
            </a:r>
            <a:endParaRPr lang="fr-FR" sz="1600" b="1" dirty="0" smtClean="0"/>
          </a:p>
          <a:p>
            <a:pPr algn="ctr"/>
            <a:r>
              <a:rPr lang="fr-FR" sz="1600" dirty="0" smtClean="0"/>
              <a:t>(1661-1704)</a:t>
            </a:r>
            <a:endParaRPr lang="de-DE" sz="1600" dirty="0"/>
          </a:p>
        </p:txBody>
      </p:sp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84" y="3878724"/>
            <a:ext cx="5112568" cy="277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251931"/>
            <a:ext cx="4392488" cy="696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6" name="Picture 1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152" y="2458977"/>
            <a:ext cx="1614656" cy="256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Gerade Verbindung 2"/>
          <p:cNvCxnSpPr/>
          <p:nvPr/>
        </p:nvCxnSpPr>
        <p:spPr>
          <a:xfrm>
            <a:off x="137984" y="3795886"/>
            <a:ext cx="594618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39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Kontraposition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und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Monotonie-Kriterium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771550"/>
            <a:ext cx="8606685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Gerade Verbindung 2"/>
          <p:cNvCxnSpPr/>
          <p:nvPr/>
        </p:nvCxnSpPr>
        <p:spPr>
          <a:xfrm>
            <a:off x="251520" y="1563638"/>
            <a:ext cx="842493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07654"/>
            <a:ext cx="8435480" cy="553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429337"/>
            <a:ext cx="5040560" cy="2518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669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Weitere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Fallstricke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24141"/>
            <a:ext cx="1584176" cy="655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14" y="3651870"/>
            <a:ext cx="8326934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205506" y="3147814"/>
            <a:ext cx="321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Kein Zyklus, aber keine Hilfe</a:t>
            </a:r>
            <a:endParaRPr lang="de-DE" b="1" dirty="0"/>
          </a:p>
        </p:txBody>
      </p:sp>
      <p:sp>
        <p:nvSpPr>
          <p:cNvPr id="4" name="Rechteck 3"/>
          <p:cNvSpPr/>
          <p:nvPr/>
        </p:nvSpPr>
        <p:spPr>
          <a:xfrm>
            <a:off x="179512" y="627534"/>
            <a:ext cx="781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/>
              <a:t>Zyklus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579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Weitere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Fallstricke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59582"/>
            <a:ext cx="8496944" cy="290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99542"/>
            <a:ext cx="1728192" cy="271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2281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Satz</a:t>
            </a:r>
            <a:r>
              <a:rPr lang="en-CA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von </a:t>
            </a:r>
            <a:r>
              <a:rPr lang="en-CA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Stolz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 descr="https://i9.ytimg.com/vi/S0EeehshTqw/maxresdefault.jpg?v=674cd4ea&amp;sqp=CKDFlcQG&amp;rs=AOn4CLDmpmGTG4_7bNy6bSkVR3Gx4Bvt5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794053"/>
            <a:ext cx="7128792" cy="4009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0634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85</Words>
  <Application>Microsoft Office PowerPoint</Application>
  <PresentationFormat>Bildschirmpräsentation (16:9)</PresentationFormat>
  <Paragraphs>38</Paragraphs>
  <Slides>11</Slides>
  <Notes>10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11</vt:i4>
      </vt:variant>
    </vt:vector>
  </HeadingPairs>
  <TitlesOfParts>
    <vt:vector size="13" baseType="lpstr">
      <vt:lpstr>Executive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Anton</dc:creator>
  <cp:lastModifiedBy>Anton </cp:lastModifiedBy>
  <cp:revision>19</cp:revision>
  <dcterms:created xsi:type="dcterms:W3CDTF">2025-07-26T21:50:07Z</dcterms:created>
  <dcterms:modified xsi:type="dcterms:W3CDTF">2025-07-27T10:44:56Z</dcterms:modified>
</cp:coreProperties>
</file>