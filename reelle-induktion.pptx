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  <p:sldMasterId id="2147483672" r:id="rId2"/>
    <p:sldMasterId id="2147483684" r:id="rId3"/>
  </p:sldMasterIdLst>
  <p:notesMasterIdLst>
    <p:notesMasterId r:id="rId29"/>
  </p:notesMasterIdLst>
  <p:sldIdLst>
    <p:sldId id="256" r:id="rId4"/>
    <p:sldId id="267" r:id="rId5"/>
    <p:sldId id="277" r:id="rId6"/>
    <p:sldId id="278" r:id="rId7"/>
    <p:sldId id="284" r:id="rId8"/>
    <p:sldId id="270" r:id="rId9"/>
    <p:sldId id="272" r:id="rId10"/>
    <p:sldId id="273" r:id="rId11"/>
    <p:sldId id="274" r:id="rId12"/>
    <p:sldId id="275" r:id="rId13"/>
    <p:sldId id="276" r:id="rId14"/>
    <p:sldId id="279" r:id="rId15"/>
    <p:sldId id="269" r:id="rId16"/>
    <p:sldId id="268" r:id="rId17"/>
    <p:sldId id="266" r:id="rId18"/>
    <p:sldId id="259" r:id="rId19"/>
    <p:sldId id="258" r:id="rId20"/>
    <p:sldId id="261" r:id="rId21"/>
    <p:sldId id="262" r:id="rId22"/>
    <p:sldId id="264" r:id="rId23"/>
    <p:sldId id="281" r:id="rId24"/>
    <p:sldId id="265" r:id="rId25"/>
    <p:sldId id="283" r:id="rId26"/>
    <p:sldId id="282" r:id="rId27"/>
    <p:sldId id="280" r:id="rId28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34587" autoAdjust="0"/>
    <p:restoredTop sz="94622" autoAdjust="0"/>
  </p:normalViewPr>
  <p:slideViewPr>
    <p:cSldViewPr>
      <p:cViewPr>
        <p:scale>
          <a:sx n="150" d="100"/>
          <a:sy n="150" d="100"/>
        </p:scale>
        <p:origin x="-72" y="-7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presProps" Target="presProps.xml"/><Relationship Id="rId8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610706-8629-4DAA-AF56-3E860581B3E1}" type="datetimeFigureOut">
              <a:rPr lang="de-DE" smtClean="0"/>
              <a:t>07.05.2025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288685-6092-48F3-99ED-73F1B7C912C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752053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C0CC26-DC94-4847-9E49-08E9D1DAFDF8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15965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C0CC26-DC94-4847-9E49-08E9D1DAFDF8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15965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C0CC26-DC94-4847-9E49-08E9D1DAFDF8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15965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C0CC26-DC94-4847-9E49-08E9D1DAFDF8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15965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C0CC26-DC94-4847-9E49-08E9D1DAFDF8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15965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C0CC26-DC94-4847-9E49-08E9D1DAFDF8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15965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C0CC26-DC94-4847-9E49-08E9D1DAFDF8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15965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C0CC26-DC94-4847-9E49-08E9D1DAFDF8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15965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C0CC26-DC94-4847-9E49-08E9D1DAFDF8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15965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C0CC26-DC94-4847-9E49-08E9D1DAFDF8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15965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C0CC26-DC94-4847-9E49-08E9D1DAFDF8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15965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C0CC26-DC94-4847-9E49-08E9D1DAFDF8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15965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C0CC26-DC94-4847-9E49-08E9D1DAFDF8}" type="slidenum">
              <a:rPr lang="de-DE" smtClean="0"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15965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288685-6092-48F3-99ED-73F1B7C912C9}" type="slidenum">
              <a:rPr lang="de-DE" smtClean="0"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674401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288685-6092-48F3-99ED-73F1B7C912C9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6744015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C0CC26-DC94-4847-9E49-08E9D1DAFDF8}" type="slidenum">
              <a:rPr lang="de-DE" smtClean="0"/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15965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C0CC26-DC94-4847-9E49-08E9D1DAFDF8}" type="slidenum">
              <a:rPr lang="de-DE" smtClean="0"/>
              <a:t>18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159657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C0CC26-DC94-4847-9E49-08E9D1DAFDF8}" type="slidenum">
              <a:rPr lang="de-DE" smtClean="0"/>
              <a:t>19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159657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C0CC26-DC94-4847-9E49-08E9D1DAFDF8}" type="slidenum">
              <a:rPr lang="de-DE" smtClean="0"/>
              <a:t>20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159657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C0CC26-DC94-4847-9E49-08E9D1DAFDF8}" type="slidenum">
              <a:rPr lang="de-DE" smtClean="0"/>
              <a:t>21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159657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C0CC26-DC94-4847-9E49-08E9D1DAFDF8}" type="slidenum">
              <a:rPr lang="de-DE" smtClean="0"/>
              <a:t>22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159657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C0CC26-DC94-4847-9E49-08E9D1DAFDF8}" type="slidenum">
              <a:rPr lang="de-DE" smtClean="0"/>
              <a:t>23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159657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C0CC26-DC94-4847-9E49-08E9D1DAFDF8}" type="slidenum">
              <a:rPr lang="de-DE" smtClean="0"/>
              <a:t>24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159657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C0CC26-DC94-4847-9E49-08E9D1DAFDF8}" type="slidenum">
              <a:rPr lang="de-DE" smtClean="0"/>
              <a:t>25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15965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57201"/>
            <a:ext cx="7772400" cy="32004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714750"/>
            <a:ext cx="6400800" cy="9144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smtClean="0"/>
              <a:t>Formatvorlage des Untertitelmasters durch Klicken bearbeiten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065BE-0657-4A47-90AD-C21C55E16B19}" type="datetime4">
              <a:rPr lang="en-US" smtClean="0"/>
              <a:pPr/>
              <a:t>May 7, 2025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BB8AF-C16A-4836-A92D-61834B5F0BA5}" type="datetime4">
              <a:rPr lang="en-US" smtClean="0"/>
              <a:pPr/>
              <a:t>May 7,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028701"/>
            <a:ext cx="7772400" cy="1878806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051576"/>
            <a:ext cx="7772400" cy="848915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D2193-4505-4A75-99BB-880C6989A757}" type="datetime4">
              <a:rPr lang="en-US" smtClean="0"/>
              <a:pPr/>
              <a:t>May 7,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4495800" y="2943227"/>
            <a:ext cx="84772" cy="63579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695825" y="2943227"/>
            <a:ext cx="84772" cy="63579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296728" y="2943227"/>
            <a:ext cx="84772" cy="63579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A18F4-33C3-445B-924C-31108C51719C}" type="datetime4">
              <a:rPr lang="en-US" smtClean="0"/>
              <a:pPr/>
              <a:t>May 7,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200150"/>
            <a:ext cx="4041648" cy="3394710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4040188" cy="4572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7" y="1200150"/>
            <a:ext cx="4041775" cy="4572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7543A-E259-478F-9E0D-57BA40E442B7}" type="datetime4">
              <a:rPr lang="en-US" smtClean="0"/>
              <a:pPr/>
              <a:t>May 7, 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1659636"/>
            <a:ext cx="4041648" cy="2935224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1659637"/>
            <a:ext cx="4041648" cy="2934890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B012D-77A1-44B0-BB26-329BA1EE55C9}" type="datetime4">
              <a:rPr lang="en-US" smtClean="0"/>
              <a:pPr/>
              <a:t>May 7, 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7499E-3031-413E-B01E-B94970708CAA}" type="datetime4">
              <a:rPr lang="en-US" smtClean="0"/>
              <a:pPr/>
              <a:t>May 7, 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94" y="200027"/>
            <a:ext cx="3008313" cy="1571625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43" y="204791"/>
            <a:ext cx="4995863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94" y="1828801"/>
            <a:ext cx="3008313" cy="2765822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AB0C-2220-4D0E-A0DD-DB7FA0F742F4}" type="datetime4">
              <a:rPr lang="en-US" smtClean="0"/>
              <a:pPr/>
              <a:t>May 7,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171453"/>
            <a:ext cx="5711824" cy="671513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857252"/>
            <a:ext cx="6054724" cy="3405783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 smtClean="0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4357688"/>
            <a:ext cx="5711824" cy="40005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16D63-31BF-4B94-B6C5-E20B2C63F515}" type="datetime4">
              <a:rPr lang="en-US" smtClean="0"/>
              <a:pPr/>
              <a:t>May 7,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C3AA4-67BE-44F7-809A-3582401494AF}" type="datetime4">
              <a:rPr lang="en-US" smtClean="0"/>
              <a:pPr/>
              <a:t>May 7,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72EEB-1769-4776-AD69-E7C1260563EB}" type="datetime4">
              <a:rPr lang="en-US" smtClean="0"/>
              <a:pPr/>
              <a:t>May 7,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1597823"/>
            <a:ext cx="7772400" cy="1102519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065BE-0657-4A47-90AD-C21C55E16B19}" type="datetime4">
              <a:rPr lang="en-US" smtClean="0"/>
              <a:pPr/>
              <a:t>May 7, 2025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7166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BB8AF-C16A-4836-A92D-61834B5F0BA5}" type="datetime4">
              <a:rPr lang="en-US" smtClean="0"/>
              <a:pPr/>
              <a:t>May 7, 2025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5710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D2193-4505-4A75-99BB-880C6989A757}" type="datetime4">
              <a:rPr lang="en-US" smtClean="0"/>
              <a:pPr/>
              <a:t>May 7, 2025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2814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900115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900115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A18F4-33C3-445B-924C-31108C51719C}" type="datetime4">
              <a:rPr lang="en-US" smtClean="0"/>
              <a:pPr/>
              <a:t>May 7, 2025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3356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33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33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7543A-E259-478F-9E0D-57BA40E442B7}" type="datetime4">
              <a:rPr lang="en-US" smtClean="0"/>
              <a:pPr/>
              <a:t>May 7, 2025</a:t>
            </a:fld>
            <a:endParaRPr lang="en-US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2540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B012D-77A1-44B0-BB26-329BA1EE55C9}" type="datetime4">
              <a:rPr lang="en-US" smtClean="0"/>
              <a:pPr/>
              <a:t>May 7, 2025</a:t>
            </a:fld>
            <a:endParaRPr lang="en-US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77737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7499E-3031-413E-B01E-B94970708CAA}" type="datetime4">
              <a:rPr lang="en-US" smtClean="0"/>
              <a:pPr/>
              <a:t>May 7, 2025</a:t>
            </a:fld>
            <a:endParaRPr lang="en-US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03307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9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04792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9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AB0C-2220-4D0E-A0DD-DB7FA0F742F4}" type="datetime4">
              <a:rPr lang="en-US" smtClean="0"/>
              <a:pPr/>
              <a:t>May 7, 2025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982568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4025507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16D63-31BF-4B94-B6C5-E20B2C63F515}" type="datetime4">
              <a:rPr lang="en-US" smtClean="0"/>
              <a:pPr/>
              <a:t>May 7, 2025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9187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C3AA4-67BE-44F7-809A-3582401494AF}" type="datetime4">
              <a:rPr lang="en-US" smtClean="0"/>
              <a:pPr/>
              <a:t>May 7, 2025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40798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154783"/>
            <a:ext cx="2057400" cy="3290888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154783"/>
            <a:ext cx="6019800" cy="3290888"/>
          </a:xfrm>
        </p:spPr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72EEB-1769-4776-AD69-E7C1260563EB}" type="datetime4">
              <a:rPr lang="en-US" smtClean="0"/>
              <a:pPr/>
              <a:t>May 7, 2025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1459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1597822"/>
            <a:ext cx="7772400" cy="1102519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065BE-0657-4A47-90AD-C21C55E16B19}" type="datetime4">
              <a:rPr lang="en-US" smtClean="0"/>
              <a:pPr/>
              <a:t>May 7, 2025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71664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BB8AF-C16A-4836-A92D-61834B5F0BA5}" type="datetime4">
              <a:rPr lang="en-US" smtClean="0"/>
              <a:pPr/>
              <a:t>May 7, 2025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57100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D2193-4505-4A75-99BB-880C6989A757}" type="datetime4">
              <a:rPr lang="en-US" smtClean="0"/>
              <a:pPr/>
              <a:t>May 7, 2025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28145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900115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900115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A18F4-33C3-445B-924C-31108C51719C}" type="datetime4">
              <a:rPr lang="en-US" smtClean="0"/>
              <a:pPr/>
              <a:t>May 7, 2025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33567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32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32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7543A-E259-478F-9E0D-57BA40E442B7}" type="datetime4">
              <a:rPr lang="en-US" smtClean="0"/>
              <a:pPr/>
              <a:t>May 7, 2025</a:t>
            </a:fld>
            <a:endParaRPr lang="en-US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25405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B012D-77A1-44B0-BB26-329BA1EE55C9}" type="datetime4">
              <a:rPr lang="en-US" smtClean="0"/>
              <a:pPr/>
              <a:t>May 7, 2025</a:t>
            </a:fld>
            <a:endParaRPr lang="en-US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77737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7499E-3031-413E-B01E-B94970708CAA}" type="datetime4">
              <a:rPr lang="en-US" smtClean="0"/>
              <a:pPr/>
              <a:t>May 7, 2025</a:t>
            </a:fld>
            <a:endParaRPr lang="en-US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03307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7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04791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7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AB0C-2220-4D0E-A0DD-DB7FA0F742F4}" type="datetime4">
              <a:rPr lang="en-US" smtClean="0"/>
              <a:pPr/>
              <a:t>May 7, 2025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982568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4025506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16D63-31BF-4B94-B6C5-E20B2C63F515}" type="datetime4">
              <a:rPr lang="en-US" smtClean="0"/>
              <a:pPr/>
              <a:t>May 7, 2025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9187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C3AA4-67BE-44F7-809A-3582401494AF}" type="datetime4">
              <a:rPr lang="en-US" smtClean="0"/>
              <a:pPr/>
              <a:t>May 7, 2025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40798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154783"/>
            <a:ext cx="2057400" cy="3290888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154783"/>
            <a:ext cx="6019800" cy="3290888"/>
          </a:xfrm>
        </p:spPr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72EEB-1769-4776-AD69-E7C1260563EB}" type="datetime4">
              <a:rPr lang="en-US" smtClean="0"/>
              <a:pPr/>
              <a:t>May 7, 2025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145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20015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63354" y="4767264"/>
            <a:ext cx="2085975" cy="273844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62B1B13E-D5AF-485E-81A1-82A140076526}" type="datetime4">
              <a:rPr lang="en-US" smtClean="0"/>
              <a:pPr/>
              <a:t>May 7,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172" y="4767264"/>
            <a:ext cx="2847975" cy="273844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3285" y="4767264"/>
            <a:ext cx="561975" cy="273844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2754ED01-E2A0-4C1E-8E21-014B99041579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8457760" y="4874540"/>
            <a:ext cx="84772" cy="63579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569119" y="4874540"/>
            <a:ext cx="84772" cy="63579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defTabSz="914400" rtl="0" eaLnBrk="1" latinLnBrk="0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+mn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B1B13E-D5AF-485E-81A1-82A140076526}" type="datetime4">
              <a:rPr lang="en-US" smtClean="0"/>
              <a:pPr/>
              <a:t>May 7, 2025</a:t>
            </a:fld>
            <a:endParaRPr lang="en-US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54ED01-E2A0-4C1E-8E21-014B99041579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4949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B1B13E-D5AF-485E-81A1-82A140076526}" type="datetime4">
              <a:rPr lang="en-US" smtClean="0"/>
              <a:pPr/>
              <a:t>May 7, 2025</a:t>
            </a:fld>
            <a:endParaRPr lang="en-US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54ED01-E2A0-4C1E-8E21-014B99041579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4949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9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microsoft.com/office/2007/relationships/hdphoto" Target="../media/hdphoto2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11.png"/><Relationship Id="rId4" Type="http://schemas.microsoft.com/office/2007/relationships/hdphoto" Target="../media/hdphoto3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0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microsoft.com/office/2007/relationships/hdphoto" Target="../media/hdphoto3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7.png"/><Relationship Id="rId4" Type="http://schemas.microsoft.com/office/2007/relationships/hdphoto" Target="../media/hdphoto3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microsoft.com/office/2007/relationships/hdphoto" Target="../media/hdphoto3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microsoft.com/office/2007/relationships/hdphoto" Target="../media/hdphoto3.wdp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4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30.png"/><Relationship Id="rId4" Type="http://schemas.microsoft.com/office/2007/relationships/hdphoto" Target="../media/hdphoto1.wdp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2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5" Type="http://schemas.openxmlformats.org/officeDocument/2006/relationships/image" Target="../media/image36.png"/><Relationship Id="rId10" Type="http://schemas.openxmlformats.org/officeDocument/2006/relationships/image" Target="../media/image41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46.png"/><Relationship Id="rId3" Type="http://schemas.openxmlformats.org/officeDocument/2006/relationships/image" Target="../media/image39.png"/><Relationship Id="rId7" Type="http://schemas.openxmlformats.org/officeDocument/2006/relationships/image" Target="../media/image45.png"/><Relationship Id="rId12" Type="http://schemas.openxmlformats.org/officeDocument/2006/relationships/image" Target="../media/image3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1.png"/><Relationship Id="rId11" Type="http://schemas.openxmlformats.org/officeDocument/2006/relationships/image" Target="../media/image36.png"/><Relationship Id="rId5" Type="http://schemas.openxmlformats.org/officeDocument/2006/relationships/image" Target="../media/image44.png"/><Relationship Id="rId10" Type="http://schemas.openxmlformats.org/officeDocument/2006/relationships/image" Target="../media/image35.png"/><Relationship Id="rId4" Type="http://schemas.openxmlformats.org/officeDocument/2006/relationships/image" Target="../media/image43.png"/><Relationship Id="rId9" Type="http://schemas.microsoft.com/office/2007/relationships/hdphoto" Target="../media/hdphoto1.wdp"/><Relationship Id="rId14" Type="http://schemas.openxmlformats.org/officeDocument/2006/relationships/image" Target="../media/image47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10" Type="http://schemas.openxmlformats.org/officeDocument/2006/relationships/image" Target="../media/image55.png"/><Relationship Id="rId4" Type="http://schemas.openxmlformats.org/officeDocument/2006/relationships/image" Target="../media/image49.png"/><Relationship Id="rId9" Type="http://schemas.openxmlformats.org/officeDocument/2006/relationships/image" Target="../media/image54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13" Type="http://schemas.openxmlformats.org/officeDocument/2006/relationships/image" Target="../media/image64.png"/><Relationship Id="rId3" Type="http://schemas.openxmlformats.org/officeDocument/2006/relationships/image" Target="../media/image48.png"/><Relationship Id="rId7" Type="http://schemas.openxmlformats.org/officeDocument/2006/relationships/image" Target="../media/image58.png"/><Relationship Id="rId12" Type="http://schemas.openxmlformats.org/officeDocument/2006/relationships/image" Target="../media/image6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7.png"/><Relationship Id="rId11" Type="http://schemas.openxmlformats.org/officeDocument/2006/relationships/image" Target="../media/image62.png"/><Relationship Id="rId5" Type="http://schemas.openxmlformats.org/officeDocument/2006/relationships/image" Target="../media/image56.png"/><Relationship Id="rId10" Type="http://schemas.openxmlformats.org/officeDocument/2006/relationships/image" Target="../media/image61.png"/><Relationship Id="rId4" Type="http://schemas.openxmlformats.org/officeDocument/2006/relationships/image" Target="../media/image49.png"/><Relationship Id="rId9" Type="http://schemas.openxmlformats.org/officeDocument/2006/relationships/image" Target="../media/image60.png"/><Relationship Id="rId14" Type="http://schemas.openxmlformats.org/officeDocument/2006/relationships/image" Target="../media/image65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48.png"/><Relationship Id="rId7" Type="http://schemas.openxmlformats.org/officeDocument/2006/relationships/image" Target="../media/image6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7.png"/><Relationship Id="rId11" Type="http://schemas.openxmlformats.org/officeDocument/2006/relationships/image" Target="../media/image72.png"/><Relationship Id="rId5" Type="http://schemas.openxmlformats.org/officeDocument/2006/relationships/image" Target="../media/image66.png"/><Relationship Id="rId10" Type="http://schemas.openxmlformats.org/officeDocument/2006/relationships/image" Target="../media/image71.png"/><Relationship Id="rId4" Type="http://schemas.openxmlformats.org/officeDocument/2006/relationships/image" Target="../media/image49.png"/><Relationship Id="rId9" Type="http://schemas.openxmlformats.org/officeDocument/2006/relationships/image" Target="../media/image7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undefined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0" r="100000">
                        <a14:foregroundMark x1="58859" y1="16727" x2="49550" y2="13273"/>
                        <a14:foregroundMark x1="44444" y1="12909" x2="34234" y2="14727"/>
                        <a14:foregroundMark x1="33333" y1="16000" x2="33333" y2="22182"/>
                        <a14:foregroundMark x1="31832" y1="22727" x2="32432" y2="27455"/>
                        <a14:foregroundMark x1="31231" y1="26909" x2="40841" y2="12000"/>
                        <a14:foregroundMark x1="42042" y1="11091" x2="47147" y2="10545"/>
                        <a14:foregroundMark x1="49550" y1="29273" x2="58258" y2="36364"/>
                        <a14:foregroundMark x1="51652" y1="51818" x2="67568" y2="71091"/>
                        <a14:foregroundMark x1="66967" y1="46000" x2="91892" y2="56909"/>
                        <a14:foregroundMark x1="87387" y1="56909" x2="93093" y2="79455"/>
                        <a14:foregroundMark x1="83483" y1="80364" x2="50751" y2="90545"/>
                        <a14:foregroundMark x1="29129" y1="58727" x2="25225" y2="95273"/>
                        <a14:foregroundMark x1="13814" y1="63636" x2="8108" y2="99636"/>
                        <a14:foregroundMark x1="8709" y1="75818" x2="4805" y2="99091"/>
                        <a14:backgroundMark x1="3604" y1="70000" x2="601" y2="91818"/>
                        <a14:backgroundMark x1="6607" y1="78545" x2="2703" y2="98727"/>
                        <a14:backgroundMark x1="45045" y1="9636" x2="49249" y2="9818"/>
                        <a14:backgroundMark x1="75375" y1="13636" x2="99700" y2="33818"/>
                        <a14:backgroundMark x1="81682" y1="26909" x2="87988" y2="38364"/>
                        <a14:backgroundMark x1="74474" y1="36000" x2="86787" y2="4763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6031"/>
          <a:stretch/>
        </p:blipFill>
        <p:spPr bwMode="auto">
          <a:xfrm>
            <a:off x="6658915" y="1275606"/>
            <a:ext cx="2505373" cy="3888432"/>
          </a:xfrm>
          <a:prstGeom prst="rect">
            <a:avLst/>
          </a:prstGeom>
          <a:noFill/>
          <a:effectLst>
            <a:glow rad="63500">
              <a:schemeClr val="accent6">
                <a:satMod val="175000"/>
                <a:alpha val="40000"/>
              </a:schemeClr>
            </a:glow>
            <a:softEdge rad="127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hteck 4"/>
          <p:cNvSpPr/>
          <p:nvPr/>
        </p:nvSpPr>
        <p:spPr>
          <a:xfrm>
            <a:off x="-180528" y="-92547"/>
            <a:ext cx="9324528" cy="13696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de-DE" sz="8300" b="1" dirty="0" smtClean="0"/>
              <a:t>Induktion über </a:t>
            </a:r>
            <a:r>
              <a:rPr lang="de-DE" sz="8300" b="1" dirty="0"/>
              <a:t>ℝ</a:t>
            </a:r>
            <a:endParaRPr lang="de-DE" sz="8300" b="1" dirty="0" smtClean="0"/>
          </a:p>
        </p:txBody>
      </p:sp>
      <p:sp>
        <p:nvSpPr>
          <p:cNvPr id="4" name="Textfeld 3"/>
          <p:cNvSpPr txBox="1"/>
          <p:nvPr/>
        </p:nvSpPr>
        <p:spPr>
          <a:xfrm>
            <a:off x="323528" y="1059582"/>
            <a:ext cx="864096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500" b="1" dirty="0" smtClean="0">
                <a:solidFill>
                  <a:srgbClr val="FF0000"/>
                </a:solidFill>
              </a:rPr>
              <a:t>Und ein Beweis des Zwischenwertsatzes</a:t>
            </a:r>
            <a:endParaRPr lang="de-DE" sz="3500" b="1" dirty="0">
              <a:solidFill>
                <a:srgbClr val="FF0000"/>
              </a:solidFill>
            </a:endParaRP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3117" y="1913020"/>
            <a:ext cx="3959123" cy="2818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4" descr="Bertrand Russell Legacy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2" y="1518214"/>
            <a:ext cx="2736304" cy="3625286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0107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/>
          <p:cNvSpPr txBox="1"/>
          <p:nvPr/>
        </p:nvSpPr>
        <p:spPr>
          <a:xfrm>
            <a:off x="36512" y="1707654"/>
            <a:ext cx="9144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8000" dirty="0" smtClean="0">
                <a:latin typeface="Palatino Linotype" panose="02040502050505030304" pitchFamily="18" charset="0"/>
              </a:rPr>
              <a:t>Geschichte</a:t>
            </a:r>
            <a:endParaRPr lang="de-DE" sz="8000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0583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/>
        </p:nvSpPr>
        <p:spPr>
          <a:xfrm>
            <a:off x="0" y="0"/>
            <a:ext cx="9144000" cy="555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6" name="Textfeld 5"/>
          <p:cNvSpPr txBox="1"/>
          <p:nvPr/>
        </p:nvSpPr>
        <p:spPr>
          <a:xfrm>
            <a:off x="0" y="-29237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Geschichte der </a:t>
            </a:r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vollständigen</a:t>
            </a:r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Induktion</a:t>
            </a:r>
            <a:endParaRPr lang="en-CA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feld 1"/>
          <p:cNvSpPr txBox="1"/>
          <p:nvPr/>
        </p:nvSpPr>
        <p:spPr>
          <a:xfrm>
            <a:off x="251520" y="760512"/>
            <a:ext cx="5760640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de-DE" sz="1400" b="1" dirty="0"/>
              <a:t>Latente Anwendung im Altertum</a:t>
            </a:r>
            <a:r>
              <a:rPr lang="de-DE" sz="1400" dirty="0"/>
              <a:t>: </a:t>
            </a:r>
            <a:r>
              <a:rPr lang="de-DE" sz="1400" b="1" dirty="0">
                <a:solidFill>
                  <a:srgbClr val="FF0000"/>
                </a:solidFill>
              </a:rPr>
              <a:t>Euklid</a:t>
            </a:r>
            <a:r>
              <a:rPr lang="de-DE" sz="1400" dirty="0">
                <a:solidFill>
                  <a:srgbClr val="FF0000"/>
                </a:solidFill>
              </a:rPr>
              <a:t> </a:t>
            </a:r>
            <a:r>
              <a:rPr lang="de-DE" sz="1400" dirty="0"/>
              <a:t>definiert </a:t>
            </a:r>
            <a:r>
              <a:rPr lang="de-DE" sz="1400" dirty="0" smtClean="0"/>
              <a:t>die „Zahl </a:t>
            </a:r>
            <a:r>
              <a:rPr lang="de-DE" sz="1400" dirty="0"/>
              <a:t>als aus Einheiten zusammengesetzte Menge“; intuitive </a:t>
            </a:r>
            <a:r>
              <a:rPr lang="de-DE" sz="1400" dirty="0" smtClean="0"/>
              <a:t>Induktion </a:t>
            </a:r>
            <a:r>
              <a:rPr lang="de-DE" sz="1400" dirty="0"/>
              <a:t>ohne formale Beweisstruktur.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de-DE" sz="1400" dirty="0"/>
              <a:t>Vereinzelt auch im hebräischen und arabischen Raum, aber ohne systematische Induktionsbeweise.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de-DE" sz="1400" b="1" dirty="0"/>
              <a:t>1575: </a:t>
            </a:r>
            <a:r>
              <a:rPr lang="de-DE" sz="1400" b="1" dirty="0">
                <a:solidFill>
                  <a:srgbClr val="FF0000"/>
                </a:solidFill>
              </a:rPr>
              <a:t>Franciscus </a:t>
            </a:r>
            <a:r>
              <a:rPr lang="de-DE" sz="1400" b="1" dirty="0" err="1">
                <a:solidFill>
                  <a:srgbClr val="FF0000"/>
                </a:solidFill>
              </a:rPr>
              <a:t>Maurolicus</a:t>
            </a:r>
            <a:r>
              <a:rPr lang="de-DE" sz="1400" b="1" dirty="0">
                <a:solidFill>
                  <a:srgbClr val="FF0000"/>
                </a:solidFill>
              </a:rPr>
              <a:t> </a:t>
            </a:r>
            <a:r>
              <a:rPr lang="de-DE" sz="1400" dirty="0"/>
              <a:t>liefert ersten expliziten vollständigen </a:t>
            </a:r>
            <a:r>
              <a:rPr lang="de-DE" sz="1400" dirty="0" smtClean="0"/>
              <a:t>Induktionsbeweis: 1+3+5+7+…+(2n-1)=n²</a:t>
            </a:r>
            <a:endParaRPr lang="de-DE" sz="1400" dirty="0"/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de-DE" sz="1400" b="1" dirty="0"/>
              <a:t>1654: </a:t>
            </a:r>
            <a:r>
              <a:rPr lang="de-DE" sz="1400" b="1" dirty="0">
                <a:solidFill>
                  <a:srgbClr val="FF0000"/>
                </a:solidFill>
              </a:rPr>
              <a:t>Blaise Pascal </a:t>
            </a:r>
            <a:r>
              <a:rPr lang="de-DE" sz="1400" dirty="0"/>
              <a:t>führt in seinem </a:t>
            </a:r>
            <a:r>
              <a:rPr lang="de-DE" sz="1400" i="1" dirty="0" err="1"/>
              <a:t>Traité</a:t>
            </a:r>
            <a:r>
              <a:rPr lang="de-DE" sz="1400" i="1" dirty="0"/>
              <a:t> du </a:t>
            </a:r>
            <a:r>
              <a:rPr lang="de-DE" sz="1400" i="1" dirty="0" err="1"/>
              <a:t>triangle</a:t>
            </a:r>
            <a:r>
              <a:rPr lang="de-DE" sz="1400" i="1" dirty="0"/>
              <a:t> </a:t>
            </a:r>
            <a:r>
              <a:rPr lang="de-DE" sz="1400" i="1" dirty="0" err="1"/>
              <a:t>arithmétique</a:t>
            </a:r>
            <a:r>
              <a:rPr lang="de-DE" sz="1400" dirty="0"/>
              <a:t> systematisch Induktionsanfang und Induktionsschritt ein.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de-DE" sz="1400" b="1" dirty="0"/>
              <a:t>Ab 1686: </a:t>
            </a:r>
            <a:r>
              <a:rPr lang="de-DE" sz="1400" b="1" dirty="0">
                <a:solidFill>
                  <a:srgbClr val="FF0000"/>
                </a:solidFill>
              </a:rPr>
              <a:t>Jakob I. Bernoulli </a:t>
            </a:r>
            <a:r>
              <a:rPr lang="de-DE" sz="1400" dirty="0"/>
              <a:t>trägt maßgeblich zur Verbreitung von Induktionsbeweisen bei.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de-DE" sz="1400" b="1" dirty="0"/>
              <a:t>1838: </a:t>
            </a:r>
            <a:r>
              <a:rPr lang="de-DE" sz="1400" b="1" dirty="0">
                <a:solidFill>
                  <a:srgbClr val="FF0000"/>
                </a:solidFill>
              </a:rPr>
              <a:t>Augustus De Morgan </a:t>
            </a:r>
            <a:r>
              <a:rPr lang="de-DE" sz="1400" dirty="0"/>
              <a:t>bezeichnet das Verfahren als „Induktion“ bzw. „sukzessive Induktion“.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de-DE" sz="1400" b="1" dirty="0"/>
              <a:t>1888: </a:t>
            </a:r>
            <a:r>
              <a:rPr lang="de-DE" sz="1400" b="1" dirty="0">
                <a:solidFill>
                  <a:srgbClr val="FF0000"/>
                </a:solidFill>
              </a:rPr>
              <a:t>Richard Dedekind </a:t>
            </a:r>
            <a:r>
              <a:rPr lang="de-DE" sz="1400" dirty="0"/>
              <a:t>prägt den Begriff „vollständige Induktion“.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de-DE" sz="1400" b="1" dirty="0"/>
              <a:t>1889: </a:t>
            </a:r>
            <a:r>
              <a:rPr lang="de-DE" sz="1400" b="1" dirty="0">
                <a:solidFill>
                  <a:srgbClr val="FF0000"/>
                </a:solidFill>
              </a:rPr>
              <a:t>Giuseppe </a:t>
            </a:r>
            <a:r>
              <a:rPr lang="de-DE" sz="1400" b="1" dirty="0" err="1">
                <a:solidFill>
                  <a:srgbClr val="FF0000"/>
                </a:solidFill>
              </a:rPr>
              <a:t>Peano</a:t>
            </a:r>
            <a:r>
              <a:rPr lang="de-DE" sz="1400" b="1" dirty="0">
                <a:solidFill>
                  <a:srgbClr val="FF0000"/>
                </a:solidFill>
              </a:rPr>
              <a:t> </a:t>
            </a:r>
            <a:r>
              <a:rPr lang="de-DE" sz="1400" dirty="0"/>
              <a:t>formt den ersten formalen Kalkül für ℕ mit Induktionsaxiom und zeigt daraus Ableitbarkeit der gesamten </a:t>
            </a:r>
            <a:r>
              <a:rPr lang="de-DE" sz="1400" dirty="0" smtClean="0"/>
              <a:t>Arithmetik.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de-DE" sz="1400" b="1" dirty="0" smtClean="0"/>
              <a:t>1919</a:t>
            </a:r>
            <a:r>
              <a:rPr lang="de-DE" sz="1400" b="1" dirty="0"/>
              <a:t>: </a:t>
            </a:r>
            <a:r>
              <a:rPr lang="de-DE" sz="1400" b="1" dirty="0" err="1">
                <a:solidFill>
                  <a:srgbClr val="FF0000"/>
                </a:solidFill>
              </a:rPr>
              <a:t>Yuen</a:t>
            </a:r>
            <a:r>
              <a:rPr lang="de-DE" sz="1400" b="1" dirty="0">
                <a:solidFill>
                  <a:srgbClr val="FF0000"/>
                </a:solidFill>
              </a:rPr>
              <a:t> Ren </a:t>
            </a:r>
            <a:r>
              <a:rPr lang="de-DE" sz="1400" b="1" dirty="0" smtClean="0">
                <a:solidFill>
                  <a:srgbClr val="FF0000"/>
                </a:solidFill>
              </a:rPr>
              <a:t>Chao </a:t>
            </a:r>
            <a:r>
              <a:rPr lang="de-DE" sz="1400" dirty="0" smtClean="0"/>
              <a:t>führt „reelle Induktion“ ein.</a:t>
            </a:r>
            <a:endParaRPr lang="de-DE" sz="1400" dirty="0"/>
          </a:p>
        </p:txBody>
      </p:sp>
      <p:pic>
        <p:nvPicPr>
          <p:cNvPr id="3076" name="Picture 4" descr="undefined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27" t="1937" r="2703" b="2919"/>
          <a:stretch/>
        </p:blipFill>
        <p:spPr bwMode="auto">
          <a:xfrm>
            <a:off x="6303523" y="699541"/>
            <a:ext cx="2516950" cy="35394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feld 2"/>
          <p:cNvSpPr txBox="1"/>
          <p:nvPr/>
        </p:nvSpPr>
        <p:spPr>
          <a:xfrm>
            <a:off x="6372200" y="4227934"/>
            <a:ext cx="2376264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b="1" dirty="0"/>
              <a:t>Franciscus </a:t>
            </a:r>
            <a:r>
              <a:rPr lang="de-DE" b="1" dirty="0" err="1" smtClean="0"/>
              <a:t>Maurolicus</a:t>
            </a:r>
            <a:endParaRPr lang="de-DE" b="1" dirty="0" smtClean="0"/>
          </a:p>
          <a:p>
            <a:pPr algn="ctr"/>
            <a:r>
              <a:rPr lang="de-DE" sz="1600" dirty="0" smtClean="0"/>
              <a:t>(1494-1575)</a:t>
            </a:r>
            <a:endParaRPr lang="de-DE" sz="1600" dirty="0"/>
          </a:p>
        </p:txBody>
      </p:sp>
    </p:spTree>
    <p:extLst>
      <p:ext uri="{BB962C8B-B14F-4D97-AF65-F5344CB8AC3E}">
        <p14:creationId xmlns:p14="http://schemas.microsoft.com/office/powerpoint/2010/main" val="3510375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/>
          <p:cNvSpPr txBox="1"/>
          <p:nvPr/>
        </p:nvSpPr>
        <p:spPr>
          <a:xfrm>
            <a:off x="140945" y="51470"/>
            <a:ext cx="889555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6600" dirty="0" smtClean="0">
                <a:solidFill>
                  <a:srgbClr val="FF0000"/>
                </a:solidFill>
                <a:latin typeface="Palatino Linotype" panose="02040502050505030304" pitchFamily="18" charset="0"/>
              </a:rPr>
              <a:t>Induktion als Prüfstein</a:t>
            </a:r>
          </a:p>
          <a:p>
            <a:pPr algn="ctr"/>
            <a:r>
              <a:rPr lang="de-DE" sz="4800" i="1" dirty="0" smtClean="0">
                <a:latin typeface="Palatino Linotype" panose="02040502050505030304" pitchFamily="18" charset="0"/>
              </a:rPr>
              <a:t>Wo liegt die Grenze zwischen Logik und Mathematik?</a:t>
            </a:r>
          </a:p>
        </p:txBody>
      </p:sp>
      <p:pic>
        <p:nvPicPr>
          <p:cNvPr id="1027" name="Picture 3" descr="D:\Downloads\ChatGPT Image May 7, 2025, 12_35_51 AM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961" b="89844" l="0" r="100000">
                        <a14:foregroundMark x1="42188" y1="51953" x2="71094" y2="34668"/>
                        <a14:foregroundMark x1="44629" y1="35449" x2="59961" y2="27246"/>
                        <a14:foregroundMark x1="60449" y1="27734" x2="90820" y2="24316"/>
                        <a14:foregroundMark x1="89551" y1="34668" x2="65625" y2="47559"/>
                        <a14:foregroundMark x1="45898" y1="50000" x2="37695" y2="56934"/>
                        <a14:foregroundMark x1="41406" y1="59863" x2="48828" y2="59863"/>
                        <a14:foregroundMark x1="48828" y1="59863" x2="73535" y2="53906"/>
                        <a14:foregroundMark x1="78516" y1="53906" x2="92090" y2="49512"/>
                        <a14:foregroundMark x1="43457" y1="31738" x2="83398" y2="21875"/>
                        <a14:foregroundMark x1="42676" y1="29785" x2="81445" y2="22363"/>
                        <a14:foregroundMark x1="89551" y1="22363" x2="95801" y2="22852"/>
                        <a14:foregroundMark x1="95801" y1="24121" x2="94531" y2="49512"/>
                        <a14:foregroundMark x1="87109" y1="21875" x2="80469" y2="19922"/>
                        <a14:foregroundMark x1="81445" y1="22852" x2="89551" y2="19922"/>
                        <a14:foregroundMark x1="38477" y1="56152" x2="33496" y2="66797"/>
                        <a14:foregroundMark x1="41406" y1="66309" x2="95801" y2="51465"/>
                        <a14:foregroundMark x1="41607" y1="47271" x2="30175" y2="64264"/>
                        <a14:foregroundMark x1="18538" y1="71679" x2="12564" y2="71679"/>
                        <a14:foregroundMark x1="12564" y1="71679" x2="8136" y2="73223"/>
                        <a14:backgroundMark x1="41895" y1="69727" x2="58691" y2="71191"/>
                        <a14:backgroundMark x1="77734" y1="74219" x2="93262" y2="66309"/>
                        <a14:backgroundMark x1="82129" y1="63867" x2="65625" y2="67285"/>
                        <a14:backgroundMark x1="65625" y1="67285" x2="52539" y2="71777"/>
                        <a14:backgroundMark x1="52539" y1="71777" x2="26172" y2="74707"/>
                        <a14:backgroundMark x1="36523" y1="71191" x2="49316" y2="6630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1851670"/>
            <a:ext cx="4028217" cy="40282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The creation, with the Pantocrator bearing. Bible of St Louis, c. 1220–1240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75" t="12564" r="5925" b="3499"/>
          <a:stretch/>
        </p:blipFill>
        <p:spPr bwMode="auto">
          <a:xfrm>
            <a:off x="7092280" y="2571750"/>
            <a:ext cx="1687773" cy="2275935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Can Animals Count? | Live Science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2899459"/>
            <a:ext cx="2232248" cy="149932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feld 1"/>
          <p:cNvSpPr txBox="1"/>
          <p:nvPr/>
        </p:nvSpPr>
        <p:spPr>
          <a:xfrm rot="20326427">
            <a:off x="4644743" y="4181050"/>
            <a:ext cx="1867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….</a:t>
            </a:r>
            <a:endParaRPr lang="de-DE" dirty="0"/>
          </a:p>
        </p:txBody>
      </p:sp>
      <p:pic>
        <p:nvPicPr>
          <p:cNvPr id="2054" name="Picture 6" descr="Die Kraft der liegenden Acht - Pallottiner"/>
          <p:cNvPicPr>
            <a:picLocks noChangeAspect="1" noChangeArrowheads="1"/>
          </p:cNvPicPr>
          <p:nvPr/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072" y="3896458"/>
            <a:ext cx="988795" cy="9887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4662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/>
          <p:cNvSpPr txBox="1"/>
          <p:nvPr/>
        </p:nvSpPr>
        <p:spPr>
          <a:xfrm>
            <a:off x="140945" y="195486"/>
            <a:ext cx="889555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3200" b="1" dirty="0" smtClean="0">
                <a:latin typeface="Palatino Linotype" panose="02040502050505030304" pitchFamily="18" charset="0"/>
              </a:rPr>
              <a:t>Ist die vollständige Induktion ein logisches Prinzip (wie z. B. der Satz vom Widerspruch)?</a:t>
            </a:r>
            <a:endParaRPr lang="de-DE" sz="2000" b="1" i="1" dirty="0" smtClean="0">
              <a:latin typeface="Palatino Linotype" panose="02040502050505030304" pitchFamily="18" charset="0"/>
            </a:endParaRPr>
          </a:p>
        </p:txBody>
      </p:sp>
      <p:pic>
        <p:nvPicPr>
          <p:cNvPr id="8" name="Picture 2" descr="Gottlob Frege – Wikipedi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855" b="89984" l="4367" r="99563">
                        <a14:foregroundMark x1="40830" y1="77868" x2="71397" y2="76090"/>
                        <a14:foregroundMark x1="7860" y1="63974" x2="27948" y2="78675"/>
                        <a14:foregroundMark x1="91266" y1="59612" x2="80786" y2="7350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2534" t="-1" r="18593" b="25816"/>
          <a:stretch/>
        </p:blipFill>
        <p:spPr bwMode="auto">
          <a:xfrm flipH="1">
            <a:off x="7098557" y="1621130"/>
            <a:ext cx="2081952" cy="3545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feld 8"/>
          <p:cNvSpPr txBox="1"/>
          <p:nvPr/>
        </p:nvSpPr>
        <p:spPr>
          <a:xfrm>
            <a:off x="7092280" y="1740173"/>
            <a:ext cx="205172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b="1" dirty="0" smtClean="0"/>
              <a:t>Gottlob Frege</a:t>
            </a:r>
          </a:p>
          <a:p>
            <a:pPr algn="ctr"/>
            <a:r>
              <a:rPr lang="de-DE" sz="1600" dirty="0" smtClean="0"/>
              <a:t>(1847-1925)</a:t>
            </a:r>
            <a:endParaRPr lang="de-DE" sz="1600" dirty="0"/>
          </a:p>
        </p:txBody>
      </p:sp>
      <p:sp>
        <p:nvSpPr>
          <p:cNvPr id="3" name="AutoShape 4" descr="1 Henri Poincaré around the time of writing his famous Prize Essay.. |  Download Scientific Diagra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5" name="AutoShape 6" descr="1 Henri Poincaré around the time of writing his famous Prize Essay.. |  Download Scientific Diagram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pic>
        <p:nvPicPr>
          <p:cNvPr id="3080" name="Picture 8" descr="File:PSM V82 D416 Henri Poincare.png - Wikimedia Commons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5804" y="2101716"/>
            <a:ext cx="2505831" cy="3206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4" descr="Bertrand Russell Legacy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916" y="2103120"/>
            <a:ext cx="2294826" cy="3040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feld 14"/>
          <p:cNvSpPr txBox="1"/>
          <p:nvPr/>
        </p:nvSpPr>
        <p:spPr>
          <a:xfrm>
            <a:off x="-36512" y="1635646"/>
            <a:ext cx="223224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b="1" dirty="0" smtClean="0"/>
              <a:t>Bertrand Russell</a:t>
            </a:r>
          </a:p>
          <a:p>
            <a:pPr algn="ctr"/>
            <a:r>
              <a:rPr lang="de-DE" sz="1600" dirty="0" smtClean="0"/>
              <a:t>(1872-1970)</a:t>
            </a:r>
            <a:endParaRPr lang="de-DE" sz="1600" dirty="0"/>
          </a:p>
        </p:txBody>
      </p:sp>
      <p:sp>
        <p:nvSpPr>
          <p:cNvPr id="16" name="Textfeld 15"/>
          <p:cNvSpPr txBox="1"/>
          <p:nvPr/>
        </p:nvSpPr>
        <p:spPr>
          <a:xfrm>
            <a:off x="3275856" y="1668165"/>
            <a:ext cx="2376264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b="1" dirty="0" smtClean="0"/>
              <a:t>Henri </a:t>
            </a:r>
            <a:r>
              <a:rPr lang="de-DE" b="1" dirty="0" err="1" smtClean="0"/>
              <a:t>Poincaré</a:t>
            </a:r>
            <a:endParaRPr lang="de-DE" b="1" dirty="0" smtClean="0"/>
          </a:p>
          <a:p>
            <a:pPr algn="ctr"/>
            <a:r>
              <a:rPr lang="de-DE" sz="1600" dirty="0" smtClean="0"/>
              <a:t>(1854-1912)</a:t>
            </a:r>
            <a:endParaRPr lang="de-DE" sz="1600" dirty="0"/>
          </a:p>
        </p:txBody>
      </p:sp>
    </p:spTree>
    <p:extLst>
      <p:ext uri="{BB962C8B-B14F-4D97-AF65-F5344CB8AC3E}">
        <p14:creationId xmlns:p14="http://schemas.microsoft.com/office/powerpoint/2010/main" val="3908398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/>
        </p:nvSpPr>
        <p:spPr>
          <a:xfrm>
            <a:off x="0" y="0"/>
            <a:ext cx="9144000" cy="555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6" name="Textfeld 5"/>
          <p:cNvSpPr txBox="1"/>
          <p:nvPr/>
        </p:nvSpPr>
        <p:spPr>
          <a:xfrm>
            <a:off x="0" y="-29237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Poincaré</a:t>
            </a:r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und </a:t>
            </a:r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Induktion</a:t>
            </a:r>
            <a:endParaRPr lang="en-CA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6146" name="Picture 2" descr="Henri Poincaré – Wikiquot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0680" y="771550"/>
            <a:ext cx="2443808" cy="3293541"/>
          </a:xfrm>
          <a:prstGeom prst="rect">
            <a:avLst/>
          </a:prstGeom>
          <a:noFill/>
          <a:ln w="28575">
            <a:solidFill>
              <a:srgbClr val="0070C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feld 6"/>
          <p:cNvSpPr txBox="1"/>
          <p:nvPr/>
        </p:nvSpPr>
        <p:spPr>
          <a:xfrm>
            <a:off x="179512" y="699542"/>
            <a:ext cx="612068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de-DE" sz="1600" b="1" dirty="0" smtClean="0">
                <a:solidFill>
                  <a:srgbClr val="FF0000"/>
                </a:solidFill>
              </a:rPr>
              <a:t>Vollständige Induktion nicht auf </a:t>
            </a:r>
            <a:r>
              <a:rPr lang="de-DE" sz="1600" b="1" dirty="0">
                <a:solidFill>
                  <a:srgbClr val="FF0000"/>
                </a:solidFill>
              </a:rPr>
              <a:t>rein logische Ableitung </a:t>
            </a:r>
            <a:r>
              <a:rPr lang="de-DE" sz="1600" b="1" dirty="0" smtClean="0">
                <a:solidFill>
                  <a:srgbClr val="FF0000"/>
                </a:solidFill>
              </a:rPr>
              <a:t>reduzierbar</a:t>
            </a:r>
            <a:r>
              <a:rPr lang="de-DE" sz="1600" dirty="0" smtClean="0">
                <a:solidFill>
                  <a:srgbClr val="FF0000"/>
                </a:solidFill>
              </a:rPr>
              <a:t>!</a:t>
            </a:r>
            <a:endParaRPr lang="de-DE" sz="1600" dirty="0" smtClean="0">
              <a:solidFill>
                <a:srgbClr val="FF0000"/>
              </a:solidFill>
            </a:endParaRPr>
          </a:p>
          <a:p>
            <a:pPr lvl="0" algn="just"/>
            <a:r>
              <a:rPr lang="de-DE" sz="1600" dirty="0" smtClean="0"/>
              <a:t>Vollständige Induktion sei ein </a:t>
            </a:r>
            <a:r>
              <a:rPr lang="de-DE" sz="1600" dirty="0"/>
              <a:t>Prinzip, das </a:t>
            </a:r>
            <a:r>
              <a:rPr lang="de-DE" sz="1600" dirty="0" smtClean="0"/>
              <a:t>auf </a:t>
            </a:r>
            <a:r>
              <a:rPr lang="de-DE" sz="1600" dirty="0"/>
              <a:t>einer spezifischen Form von </a:t>
            </a:r>
            <a:r>
              <a:rPr lang="de-DE" sz="1600" b="1" dirty="0"/>
              <a:t>reiner arithmetischer </a:t>
            </a:r>
            <a:r>
              <a:rPr lang="de-DE" sz="1600" b="1" dirty="0" smtClean="0"/>
              <a:t>Intuition</a:t>
            </a:r>
            <a:r>
              <a:rPr lang="de-DE" sz="1600" dirty="0"/>
              <a:t> </a:t>
            </a:r>
            <a:r>
              <a:rPr lang="de-DE" sz="1600" dirty="0" smtClean="0"/>
              <a:t>beruhe: </a:t>
            </a:r>
            <a:endParaRPr lang="de-DE" sz="1600" dirty="0" smtClean="0"/>
          </a:p>
          <a:p>
            <a:pPr lvl="0" algn="just"/>
            <a:endParaRPr lang="de-DE" sz="1600" i="1" dirty="0"/>
          </a:p>
          <a:p>
            <a:pPr lvl="0" algn="ctr"/>
            <a:r>
              <a:rPr lang="de-DE" sz="1600" i="1" dirty="0" smtClean="0"/>
              <a:t>Unendliche </a:t>
            </a:r>
            <a:r>
              <a:rPr lang="de-DE" sz="1600" i="1" dirty="0"/>
              <a:t>iterative Prozesse als </a:t>
            </a:r>
            <a:r>
              <a:rPr lang="de-DE" sz="1600" i="1" dirty="0" smtClean="0"/>
              <a:t>abgeschlossen zu erfassen.</a:t>
            </a:r>
          </a:p>
          <a:p>
            <a:pPr lvl="0" algn="just"/>
            <a:endParaRPr lang="de-DE" sz="1600" dirty="0"/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de-DE" sz="1600" dirty="0"/>
              <a:t>Die vollständige Induktion ist </a:t>
            </a:r>
            <a:r>
              <a:rPr lang="de-DE" sz="1600" b="1" dirty="0" smtClean="0"/>
              <a:t>nicht </a:t>
            </a:r>
            <a:r>
              <a:rPr lang="de-DE" sz="1600" b="1" dirty="0"/>
              <a:t>logisch-neutral </a:t>
            </a:r>
            <a:r>
              <a:rPr lang="de-DE" sz="1600" dirty="0"/>
              <a:t>(wie z. B. Modus </a:t>
            </a:r>
            <a:r>
              <a:rPr lang="de-DE" sz="1600" dirty="0" err="1"/>
              <a:t>ponens</a:t>
            </a:r>
            <a:r>
              <a:rPr lang="de-DE" sz="1600" dirty="0"/>
              <a:t>), sondern </a:t>
            </a:r>
            <a:r>
              <a:rPr lang="de-DE" sz="1600" dirty="0" smtClean="0"/>
              <a:t>inhaltlich gebunden </a:t>
            </a:r>
            <a:r>
              <a:rPr lang="de-DE" sz="1600" dirty="0"/>
              <a:t>an die Struktur der natürlichen Zahlen und damit </a:t>
            </a:r>
            <a:r>
              <a:rPr lang="de-DE" sz="1600" b="1" dirty="0"/>
              <a:t>lokal und </a:t>
            </a:r>
            <a:r>
              <a:rPr lang="de-DE" sz="1600" b="1" dirty="0" smtClean="0"/>
              <a:t>kontextuell </a:t>
            </a:r>
            <a:r>
              <a:rPr lang="de-DE" sz="1600" b="1" dirty="0"/>
              <a:t>begründet</a:t>
            </a:r>
            <a:endParaRPr lang="de-DE" sz="1600" b="1" dirty="0" smtClean="0"/>
          </a:p>
          <a:p>
            <a:pPr lvl="0" algn="just"/>
            <a:endParaRPr lang="de-DE" sz="1600" dirty="0"/>
          </a:p>
          <a:p>
            <a:pPr lvl="0" algn="just"/>
            <a:r>
              <a:rPr lang="de-DE" sz="1600" b="1" dirty="0"/>
              <a:t>Kritik an logizistischen Projekten</a:t>
            </a:r>
            <a:r>
              <a:rPr lang="de-DE" sz="1600" dirty="0" smtClean="0"/>
              <a:t>:</a:t>
            </a:r>
          </a:p>
          <a:p>
            <a:pPr lvl="0" algn="just"/>
            <a:r>
              <a:rPr lang="de-DE" sz="1600" dirty="0" err="1" smtClean="0"/>
              <a:t>Poincaré</a:t>
            </a:r>
            <a:r>
              <a:rPr lang="de-DE" sz="1600" dirty="0" smtClean="0"/>
              <a:t> </a:t>
            </a:r>
            <a:r>
              <a:rPr lang="de-DE" sz="1600" dirty="0"/>
              <a:t>kritisiert die </a:t>
            </a:r>
            <a:r>
              <a:rPr lang="de-DE" sz="1600" dirty="0" err="1"/>
              <a:t>Logizisten</a:t>
            </a:r>
            <a:r>
              <a:rPr lang="de-DE" sz="1600" dirty="0"/>
              <a:t> (insbesondere Russell und Frege), weil sie versuchten, vollständige Induktion als rein logisches Axiom oder gar Theorem zu behandeln. </a:t>
            </a:r>
          </a:p>
        </p:txBody>
      </p:sp>
      <p:sp>
        <p:nvSpPr>
          <p:cNvPr id="10" name="Textfeld 9"/>
          <p:cNvSpPr txBox="1"/>
          <p:nvPr/>
        </p:nvSpPr>
        <p:spPr>
          <a:xfrm>
            <a:off x="6554452" y="4155926"/>
            <a:ext cx="2376264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b="1" dirty="0" smtClean="0"/>
              <a:t>Henri </a:t>
            </a:r>
            <a:r>
              <a:rPr lang="de-DE" b="1" dirty="0" err="1" smtClean="0"/>
              <a:t>Poincaré</a:t>
            </a:r>
            <a:endParaRPr lang="de-DE" b="1" dirty="0" smtClean="0"/>
          </a:p>
          <a:p>
            <a:pPr algn="ctr"/>
            <a:r>
              <a:rPr lang="de-DE" sz="1600" dirty="0" smtClean="0"/>
              <a:t>(1854-1912)</a:t>
            </a:r>
            <a:endParaRPr lang="de-DE" sz="1600" dirty="0"/>
          </a:p>
        </p:txBody>
      </p:sp>
    </p:spTree>
    <p:extLst>
      <p:ext uri="{BB962C8B-B14F-4D97-AF65-F5344CB8AC3E}">
        <p14:creationId xmlns:p14="http://schemas.microsoft.com/office/powerpoint/2010/main" val="3574555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/>
        </p:nvSpPr>
        <p:spPr>
          <a:xfrm>
            <a:off x="0" y="0"/>
            <a:ext cx="9144000" cy="555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6" name="Textfeld 5"/>
          <p:cNvSpPr txBox="1"/>
          <p:nvPr/>
        </p:nvSpPr>
        <p:spPr>
          <a:xfrm>
            <a:off x="0" y="-29237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Logizismus</a:t>
            </a:r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und </a:t>
            </a:r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Induktion</a:t>
            </a:r>
            <a:endParaRPr lang="en-CA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8" name="Picture 2" descr="Gottlob Frege – Wikipedi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855" b="89984" l="4367" r="99563">
                        <a14:foregroundMark x1="40830" y1="77868" x2="71397" y2="76090"/>
                        <a14:foregroundMark x1="7860" y1="63974" x2="27948" y2="78675"/>
                        <a14:foregroundMark x1="91266" y1="59612" x2="80786" y2="7350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2534" t="-1" r="18593" b="25816"/>
          <a:stretch/>
        </p:blipFill>
        <p:spPr bwMode="auto">
          <a:xfrm flipH="1">
            <a:off x="6804247" y="1119899"/>
            <a:ext cx="2376263" cy="4046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feld 1"/>
          <p:cNvSpPr txBox="1"/>
          <p:nvPr/>
        </p:nvSpPr>
        <p:spPr>
          <a:xfrm>
            <a:off x="7092280" y="1164109"/>
            <a:ext cx="205172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b="1" dirty="0" smtClean="0"/>
              <a:t>Gottlob Frege</a:t>
            </a:r>
          </a:p>
          <a:p>
            <a:pPr algn="ctr"/>
            <a:r>
              <a:rPr lang="de-DE" sz="1600" dirty="0" smtClean="0"/>
              <a:t>(1847-1925)</a:t>
            </a:r>
            <a:endParaRPr lang="de-DE" sz="1600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3" y="699543"/>
            <a:ext cx="2808311" cy="2294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592" y="964714"/>
            <a:ext cx="6251996" cy="15247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8" name="Picture 6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612" y="2933543"/>
            <a:ext cx="5938564" cy="21278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1" name="Gerade Verbindung 10"/>
          <p:cNvCxnSpPr/>
          <p:nvPr/>
        </p:nvCxnSpPr>
        <p:spPr>
          <a:xfrm>
            <a:off x="179512" y="2555576"/>
            <a:ext cx="6408712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199" name="Picture 7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2621688"/>
            <a:ext cx="5400600" cy="241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45080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/>
        </p:nvSpPr>
        <p:spPr>
          <a:xfrm>
            <a:off x="0" y="0"/>
            <a:ext cx="9144000" cy="555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6" name="Textfeld 5"/>
          <p:cNvSpPr txBox="1"/>
          <p:nvPr/>
        </p:nvSpPr>
        <p:spPr>
          <a:xfrm>
            <a:off x="0" y="-29237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Logizismus</a:t>
            </a:r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und </a:t>
            </a:r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Induktion</a:t>
            </a:r>
            <a:endParaRPr lang="en-CA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8" name="Picture 2" descr="Gottlob Frege – Wikipedi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855" b="89984" l="4367" r="99563">
                        <a14:foregroundMark x1="40830" y1="77868" x2="71397" y2="76090"/>
                        <a14:foregroundMark x1="7860" y1="63974" x2="27948" y2="78675"/>
                        <a14:foregroundMark x1="91266" y1="59612" x2="80786" y2="7350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2534" t="-1" r="18593" b="25816"/>
          <a:stretch/>
        </p:blipFill>
        <p:spPr bwMode="auto">
          <a:xfrm flipH="1">
            <a:off x="6804247" y="1119899"/>
            <a:ext cx="2376263" cy="4046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feld 1"/>
          <p:cNvSpPr txBox="1"/>
          <p:nvPr/>
        </p:nvSpPr>
        <p:spPr>
          <a:xfrm>
            <a:off x="7092280" y="1164109"/>
            <a:ext cx="205172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b="1" dirty="0" smtClean="0"/>
              <a:t>Gottlob Frege</a:t>
            </a:r>
          </a:p>
          <a:p>
            <a:pPr algn="ctr"/>
            <a:r>
              <a:rPr lang="de-DE" sz="1600" dirty="0" smtClean="0"/>
              <a:t>(1847-1925)</a:t>
            </a:r>
            <a:endParaRPr lang="de-DE" sz="1600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699542"/>
            <a:ext cx="6696744" cy="18553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05387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/>
        </p:nvSpPr>
        <p:spPr>
          <a:xfrm>
            <a:off x="0" y="0"/>
            <a:ext cx="9144000" cy="555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6" name="Textfeld 5"/>
          <p:cNvSpPr txBox="1"/>
          <p:nvPr/>
        </p:nvSpPr>
        <p:spPr>
          <a:xfrm>
            <a:off x="0" y="-29237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Logizismus</a:t>
            </a:r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und </a:t>
            </a:r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Induktion</a:t>
            </a:r>
            <a:endParaRPr lang="en-CA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8" name="Picture 2" descr="Gottlob Frege – Wikipedi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855" b="89984" l="4367" r="99563">
                        <a14:foregroundMark x1="40830" y1="77868" x2="71397" y2="76090"/>
                        <a14:foregroundMark x1="7860" y1="63974" x2="27948" y2="78675"/>
                        <a14:foregroundMark x1="91266" y1="59612" x2="80786" y2="7350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2534" t="-1" r="18593" b="25816"/>
          <a:stretch/>
        </p:blipFill>
        <p:spPr bwMode="auto">
          <a:xfrm flipH="1">
            <a:off x="6804247" y="1119899"/>
            <a:ext cx="2376263" cy="4046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feld 1"/>
          <p:cNvSpPr txBox="1"/>
          <p:nvPr/>
        </p:nvSpPr>
        <p:spPr>
          <a:xfrm>
            <a:off x="7092280" y="1164109"/>
            <a:ext cx="205172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b="1" dirty="0" smtClean="0"/>
              <a:t>Gottlob Frege</a:t>
            </a:r>
          </a:p>
          <a:p>
            <a:pPr algn="ctr"/>
            <a:r>
              <a:rPr lang="de-DE" sz="1600" dirty="0" smtClean="0"/>
              <a:t>(1847-1925)</a:t>
            </a:r>
            <a:endParaRPr lang="de-DE" sz="1600" dirty="0"/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3" y="699543"/>
            <a:ext cx="2808311" cy="2294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592" y="964714"/>
            <a:ext cx="6251996" cy="15247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2706192"/>
            <a:ext cx="6279708" cy="19537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9" name="Gerade Verbindung 8"/>
          <p:cNvCxnSpPr/>
          <p:nvPr/>
        </p:nvCxnSpPr>
        <p:spPr>
          <a:xfrm>
            <a:off x="179512" y="2555576"/>
            <a:ext cx="6408712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5814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/>
        </p:nvSpPr>
        <p:spPr>
          <a:xfrm>
            <a:off x="0" y="0"/>
            <a:ext cx="9144000" cy="555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6" name="Textfeld 5"/>
          <p:cNvSpPr txBox="1"/>
          <p:nvPr/>
        </p:nvSpPr>
        <p:spPr>
          <a:xfrm>
            <a:off x="0" y="-29237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Logizismus</a:t>
            </a:r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und </a:t>
            </a:r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Induktion</a:t>
            </a:r>
            <a:endParaRPr lang="en-CA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8" name="Picture 2" descr="Gottlob Frege – Wikipedi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855" b="89984" l="4367" r="99563">
                        <a14:foregroundMark x1="40830" y1="77868" x2="71397" y2="76090"/>
                        <a14:foregroundMark x1="7860" y1="63974" x2="27948" y2="78675"/>
                        <a14:foregroundMark x1="91266" y1="59612" x2="80786" y2="7350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2534" t="-1" r="18593" b="25816"/>
          <a:stretch/>
        </p:blipFill>
        <p:spPr bwMode="auto">
          <a:xfrm flipH="1">
            <a:off x="6804247" y="1119899"/>
            <a:ext cx="2376263" cy="4046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feld 1"/>
          <p:cNvSpPr txBox="1"/>
          <p:nvPr/>
        </p:nvSpPr>
        <p:spPr>
          <a:xfrm>
            <a:off x="7092280" y="1164109"/>
            <a:ext cx="205172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b="1" dirty="0" smtClean="0"/>
              <a:t>Gottlob Frege</a:t>
            </a:r>
          </a:p>
          <a:p>
            <a:pPr algn="ctr"/>
            <a:r>
              <a:rPr lang="de-DE" sz="1600" dirty="0" smtClean="0"/>
              <a:t>(1847-1925)</a:t>
            </a:r>
            <a:endParaRPr lang="de-DE" sz="1600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699542"/>
            <a:ext cx="3600400" cy="3556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203598"/>
            <a:ext cx="6480720" cy="17288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22044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/>
        </p:nvSpPr>
        <p:spPr>
          <a:xfrm>
            <a:off x="0" y="0"/>
            <a:ext cx="9144000" cy="555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6" name="Textfeld 5"/>
          <p:cNvSpPr txBox="1"/>
          <p:nvPr/>
        </p:nvSpPr>
        <p:spPr>
          <a:xfrm>
            <a:off x="0" y="-29237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Logizismus</a:t>
            </a:r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und </a:t>
            </a:r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Induktion</a:t>
            </a:r>
            <a:endParaRPr lang="en-CA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2292" name="Picture 4" descr="Bertrand Russell Legac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2382" y="1144827"/>
            <a:ext cx="3018130" cy="39986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4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196" y="2931790"/>
            <a:ext cx="2910681" cy="261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5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3305564"/>
            <a:ext cx="5616624" cy="634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7" name="Picture 9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252" y="4036780"/>
            <a:ext cx="5613940" cy="623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8" name="Picture 10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540" y="4749298"/>
            <a:ext cx="5648612" cy="3066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feld 1"/>
          <p:cNvSpPr txBox="1"/>
          <p:nvPr/>
        </p:nvSpPr>
        <p:spPr>
          <a:xfrm>
            <a:off x="6588224" y="658014"/>
            <a:ext cx="223224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b="1" dirty="0" smtClean="0"/>
              <a:t>Bertrand Russell</a:t>
            </a:r>
          </a:p>
          <a:p>
            <a:pPr algn="ctr"/>
            <a:r>
              <a:rPr lang="de-DE" sz="1600" dirty="0" smtClean="0"/>
              <a:t>(1872-1970)</a:t>
            </a:r>
            <a:endParaRPr lang="de-DE" sz="1600" dirty="0"/>
          </a:p>
        </p:txBody>
      </p:sp>
      <p:pic>
        <p:nvPicPr>
          <p:cNvPr id="2050" name="Picture 2" descr="https://i.gyazo.com/14e48147f3743345a9184e7443211695.png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1" y="686457"/>
            <a:ext cx="6179939" cy="2101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0112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/>
          <p:cNvSpPr txBox="1"/>
          <p:nvPr/>
        </p:nvSpPr>
        <p:spPr>
          <a:xfrm>
            <a:off x="-3071" y="1066547"/>
            <a:ext cx="9144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6600" dirty="0" smtClean="0">
                <a:latin typeface="Palatino Linotype" panose="02040502050505030304" pitchFamily="18" charset="0"/>
              </a:rPr>
              <a:t>Induktion gibt es </a:t>
            </a:r>
            <a:r>
              <a:rPr lang="de-DE" sz="6600" u="sng" dirty="0" smtClean="0">
                <a:solidFill>
                  <a:srgbClr val="FF0000"/>
                </a:solidFill>
                <a:latin typeface="Palatino Linotype" panose="02040502050505030304" pitchFamily="18" charset="0"/>
              </a:rPr>
              <a:t>nicht nur über </a:t>
            </a:r>
            <a:r>
              <a:rPr lang="de-DE" sz="7200" u="sng" dirty="0" smtClean="0">
                <a:solidFill>
                  <a:srgbClr val="FF0000"/>
                </a:solidFill>
              </a:rPr>
              <a:t>ℕ</a:t>
            </a:r>
            <a:r>
              <a:rPr lang="de-DE" sz="7200" dirty="0" smtClean="0"/>
              <a:t>!</a:t>
            </a:r>
            <a:endParaRPr lang="de-DE" sz="7200" i="1" dirty="0" smtClean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568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/>
        </p:nvSpPr>
        <p:spPr>
          <a:xfrm>
            <a:off x="0" y="0"/>
            <a:ext cx="9144000" cy="555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6" name="Textfeld 5"/>
          <p:cNvSpPr txBox="1"/>
          <p:nvPr/>
        </p:nvSpPr>
        <p:spPr>
          <a:xfrm>
            <a:off x="0" y="-29237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Induktion</a:t>
            </a:r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</a:t>
            </a:r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en-CA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699542"/>
            <a:ext cx="8784976" cy="30056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57988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/>
        </p:nvSpPr>
        <p:spPr>
          <a:xfrm>
            <a:off x="0" y="0"/>
            <a:ext cx="9144000" cy="555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6" name="Textfeld 5"/>
          <p:cNvSpPr txBox="1"/>
          <p:nvPr/>
        </p:nvSpPr>
        <p:spPr>
          <a:xfrm>
            <a:off x="0" y="-29237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Beispiel</a:t>
            </a:r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</a:t>
            </a:r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Induktion</a:t>
            </a:r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über</a:t>
            </a:r>
            <a:r>
              <a:rPr lang="en-CA" sz="3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ℤ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714" y="699542"/>
            <a:ext cx="6491510" cy="40727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1943" y="1419622"/>
            <a:ext cx="4830537" cy="1244298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07709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/>
        </p:nvSpPr>
        <p:spPr>
          <a:xfrm>
            <a:off x="0" y="0"/>
            <a:ext cx="9144000" cy="555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8" name="Textfeld 7"/>
          <p:cNvSpPr txBox="1"/>
          <p:nvPr/>
        </p:nvSpPr>
        <p:spPr>
          <a:xfrm>
            <a:off x="0" y="-29237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Quelle</a:t>
            </a:r>
            <a:endParaRPr lang="en-CA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915566"/>
            <a:ext cx="6333244" cy="3747175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29833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/>
        </p:nvSpPr>
        <p:spPr>
          <a:xfrm>
            <a:off x="0" y="0"/>
            <a:ext cx="9144000" cy="555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8" name="Textfeld 7"/>
          <p:cNvSpPr txBox="1"/>
          <p:nvPr/>
        </p:nvSpPr>
        <p:spPr>
          <a:xfrm>
            <a:off x="0" y="-29237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Biographisches</a:t>
            </a:r>
            <a:endParaRPr lang="en-CA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" name="Picture 2" descr="undefined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100000" l="0" r="100000">
                        <a14:foregroundMark x1="58859" y1="16727" x2="49550" y2="13273"/>
                        <a14:foregroundMark x1="44444" y1="12909" x2="34234" y2="14727"/>
                        <a14:foregroundMark x1="33333" y1="16000" x2="33333" y2="22182"/>
                        <a14:foregroundMark x1="31832" y1="22727" x2="32432" y2="27455"/>
                        <a14:foregroundMark x1="31231" y1="26909" x2="40841" y2="12000"/>
                        <a14:foregroundMark x1="42042" y1="11091" x2="47147" y2="10545"/>
                        <a14:foregroundMark x1="49550" y1="29273" x2="58258" y2="36364"/>
                        <a14:foregroundMark x1="51652" y1="51818" x2="67568" y2="71091"/>
                        <a14:foregroundMark x1="66967" y1="46000" x2="91892" y2="56909"/>
                        <a14:foregroundMark x1="87387" y1="56909" x2="93093" y2="79455"/>
                        <a14:foregroundMark x1="83483" y1="80364" x2="50751" y2="90545"/>
                        <a14:foregroundMark x1="29129" y1="58727" x2="25225" y2="95273"/>
                        <a14:foregroundMark x1="13814" y1="63636" x2="8108" y2="99636"/>
                        <a14:foregroundMark x1="8709" y1="75818" x2="4805" y2="99091"/>
                        <a14:backgroundMark x1="3604" y1="70000" x2="601" y2="91818"/>
                        <a14:backgroundMark x1="6607" y1="78545" x2="2703" y2="98727"/>
                        <a14:backgroundMark x1="45045" y1="9636" x2="49249" y2="9818"/>
                        <a14:backgroundMark x1="75375" y1="13636" x2="99700" y2="33818"/>
                        <a14:backgroundMark x1="81682" y1="26909" x2="87988" y2="38364"/>
                        <a14:backgroundMark x1="74474" y1="36000" x2="86787" y2="4763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6031"/>
          <a:stretch/>
        </p:blipFill>
        <p:spPr bwMode="auto">
          <a:xfrm>
            <a:off x="6658915" y="1275606"/>
            <a:ext cx="2505373" cy="3888432"/>
          </a:xfrm>
          <a:prstGeom prst="rect">
            <a:avLst/>
          </a:prstGeom>
          <a:noFill/>
          <a:effectLst>
            <a:glow rad="63500">
              <a:schemeClr val="tx1">
                <a:lumMod val="50000"/>
                <a:lumOff val="50000"/>
                <a:alpha val="40000"/>
              </a:schemeClr>
            </a:glow>
            <a:softEdge rad="127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feld 1"/>
          <p:cNvSpPr txBox="1"/>
          <p:nvPr/>
        </p:nvSpPr>
        <p:spPr>
          <a:xfrm>
            <a:off x="6516216" y="989315"/>
            <a:ext cx="25202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000" b="1" dirty="0" err="1" smtClean="0"/>
              <a:t>Yuen</a:t>
            </a:r>
            <a:r>
              <a:rPr lang="de-DE" sz="2000" b="1" dirty="0" smtClean="0"/>
              <a:t> Ren Chao</a:t>
            </a:r>
          </a:p>
          <a:p>
            <a:pPr algn="ctr"/>
            <a:r>
              <a:rPr lang="de-DE" sz="1600" dirty="0" smtClean="0"/>
              <a:t>(1892-1982)</a:t>
            </a:r>
            <a:endParaRPr lang="de-DE" sz="1600" dirty="0"/>
          </a:p>
        </p:txBody>
      </p:sp>
      <p:sp>
        <p:nvSpPr>
          <p:cNvPr id="3" name="Textfeld 2"/>
          <p:cNvSpPr txBox="1"/>
          <p:nvPr/>
        </p:nvSpPr>
        <p:spPr>
          <a:xfrm>
            <a:off x="179511" y="771550"/>
            <a:ext cx="662473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 smtClean="0"/>
              <a:t>Gilt </a:t>
            </a:r>
            <a:r>
              <a:rPr lang="de-DE" sz="1600" dirty="0"/>
              <a:t>als </a:t>
            </a:r>
            <a:r>
              <a:rPr lang="de-DE" sz="1600" b="1" dirty="0"/>
              <a:t>Pionier der modernen chinesischen Linguistik </a:t>
            </a:r>
            <a:r>
              <a:rPr lang="de-DE" sz="1600" dirty="0"/>
              <a:t>mit grundlegenden Beiträgen zur Phonologie und Grammatik des </a:t>
            </a:r>
            <a:r>
              <a:rPr lang="de-DE" sz="1600" dirty="0" smtClean="0"/>
              <a:t>Chinesischen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 smtClean="0"/>
              <a:t>Studierte </a:t>
            </a:r>
            <a:r>
              <a:rPr lang="de-DE" sz="1600" dirty="0"/>
              <a:t>Mathematik und Linguistik an der Cornell University (A.B. 1914) und erwarb 1918 an der Harvard University seinen </a:t>
            </a:r>
            <a:r>
              <a:rPr lang="de-DE" sz="1600" dirty="0" err="1"/>
              <a:t>Ph.D</a:t>
            </a:r>
            <a:r>
              <a:rPr lang="de-DE" sz="1600" dirty="0"/>
              <a:t>. in Philosophie 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2139702"/>
            <a:ext cx="6119362" cy="15548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14105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/>
        </p:nvSpPr>
        <p:spPr>
          <a:xfrm>
            <a:off x="0" y="0"/>
            <a:ext cx="9144000" cy="555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6" name="Textfeld 5"/>
          <p:cNvSpPr txBox="1"/>
          <p:nvPr/>
        </p:nvSpPr>
        <p:spPr>
          <a:xfrm>
            <a:off x="0" y="-29237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Induktion</a:t>
            </a:r>
            <a:endParaRPr lang="en-CA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54" y="771550"/>
            <a:ext cx="2278014" cy="23176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0" name="Gerade Verbindung 9"/>
          <p:cNvCxnSpPr/>
          <p:nvPr/>
        </p:nvCxnSpPr>
        <p:spPr>
          <a:xfrm>
            <a:off x="2699792" y="771550"/>
            <a:ext cx="0" cy="388843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7904" y="3283738"/>
            <a:ext cx="4153645" cy="728172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7290" y="1282091"/>
            <a:ext cx="5861174" cy="1665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feld 1"/>
          <p:cNvSpPr txBox="1"/>
          <p:nvPr/>
        </p:nvSpPr>
        <p:spPr>
          <a:xfrm>
            <a:off x="7229946" y="2165237"/>
            <a:ext cx="21602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 smtClean="0"/>
              <a:t>(„Induktionsschritt“)</a:t>
            </a:r>
            <a:endParaRPr lang="de-DE" sz="1400" dirty="0"/>
          </a:p>
        </p:txBody>
      </p:sp>
      <p:sp>
        <p:nvSpPr>
          <p:cNvPr id="11" name="Textfeld 10"/>
          <p:cNvSpPr txBox="1"/>
          <p:nvPr/>
        </p:nvSpPr>
        <p:spPr>
          <a:xfrm>
            <a:off x="6516216" y="2630498"/>
            <a:ext cx="21602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 smtClean="0"/>
              <a:t>(„</a:t>
            </a:r>
            <a:r>
              <a:rPr lang="de-DE" sz="1400" dirty="0"/>
              <a:t>Keine Lücke am Schluss</a:t>
            </a:r>
            <a:r>
              <a:rPr lang="de-DE" sz="1400" dirty="0" smtClean="0"/>
              <a:t>“)</a:t>
            </a:r>
            <a:endParaRPr lang="de-DE" sz="1400" dirty="0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7290" y="740548"/>
            <a:ext cx="2836838" cy="2729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86101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/>
        </p:nvSpPr>
        <p:spPr>
          <a:xfrm>
            <a:off x="0" y="0"/>
            <a:ext cx="9144000" cy="555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6" name="Textfeld 5"/>
          <p:cNvSpPr txBox="1"/>
          <p:nvPr/>
        </p:nvSpPr>
        <p:spPr>
          <a:xfrm>
            <a:off x="0" y="-29237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Reelle</a:t>
            </a:r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Induktion</a:t>
            </a:r>
            <a:endParaRPr lang="en-CA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331" y="627534"/>
            <a:ext cx="4153645" cy="7281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848" y="1943228"/>
            <a:ext cx="4179128" cy="2684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052" y="2276019"/>
            <a:ext cx="4104456" cy="2112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68"/>
          <a:stretch/>
        </p:blipFill>
        <p:spPr bwMode="auto">
          <a:xfrm>
            <a:off x="1403648" y="2584906"/>
            <a:ext cx="1230015" cy="2821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3003798"/>
            <a:ext cx="7056784" cy="255148"/>
          </a:xfrm>
          <a:prstGeom prst="rect">
            <a:avLst/>
          </a:prstGeom>
          <a:noFill/>
          <a:ln w="127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515358"/>
            <a:ext cx="2376264" cy="264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0" name="Gerade Verbindung 9"/>
          <p:cNvCxnSpPr/>
          <p:nvPr/>
        </p:nvCxnSpPr>
        <p:spPr>
          <a:xfrm>
            <a:off x="202331" y="1779662"/>
            <a:ext cx="2281437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746" y="4011910"/>
            <a:ext cx="2001054" cy="2836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" name="Picture 2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4958" y="1148583"/>
            <a:ext cx="4248472" cy="1207143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4" name="Gruppieren 3"/>
          <p:cNvGrpSpPr/>
          <p:nvPr/>
        </p:nvGrpSpPr>
        <p:grpSpPr>
          <a:xfrm>
            <a:off x="2699792" y="3363838"/>
            <a:ext cx="3672408" cy="775980"/>
            <a:chOff x="3635896" y="3363838"/>
            <a:chExt cx="3672408" cy="775980"/>
          </a:xfrm>
        </p:grpSpPr>
        <p:cxnSp>
          <p:nvCxnSpPr>
            <p:cNvPr id="38" name="Gerade Verbindung 37"/>
            <p:cNvCxnSpPr/>
            <p:nvPr/>
          </p:nvCxnSpPr>
          <p:spPr>
            <a:xfrm>
              <a:off x="3635896" y="3770486"/>
              <a:ext cx="352839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feld 38"/>
            <p:cNvSpPr txBox="1"/>
            <p:nvPr/>
          </p:nvSpPr>
          <p:spPr>
            <a:xfrm>
              <a:off x="4283968" y="3573512"/>
              <a:ext cx="13681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 smtClean="0">
                  <a:solidFill>
                    <a:schemeClr val="accent1"/>
                  </a:solidFill>
                </a:rPr>
                <a:t>(</a:t>
              </a:r>
              <a:r>
                <a:rPr lang="de-DE" dirty="0" smtClean="0"/>
                <a:t>                  </a:t>
              </a:r>
              <a:r>
                <a:rPr lang="de-DE" dirty="0" smtClean="0">
                  <a:solidFill>
                    <a:schemeClr val="accent1"/>
                  </a:solidFill>
                </a:rPr>
                <a:t>)</a:t>
              </a:r>
              <a:endParaRPr lang="de-DE" dirty="0">
                <a:solidFill>
                  <a:schemeClr val="accent1"/>
                </a:solidFill>
              </a:endParaRPr>
            </a:p>
          </p:txBody>
        </p:sp>
        <p:sp>
          <p:nvSpPr>
            <p:cNvPr id="40" name="Textfeld 39"/>
            <p:cNvSpPr txBox="1"/>
            <p:nvPr/>
          </p:nvSpPr>
          <p:spPr>
            <a:xfrm>
              <a:off x="3707904" y="3572728"/>
              <a:ext cx="3600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 smtClean="0"/>
                <a:t>[          </a:t>
              </a:r>
              <a:r>
                <a:rPr lang="de-DE" dirty="0" smtClean="0">
                  <a:solidFill>
                    <a:schemeClr val="accent1"/>
                  </a:solidFill>
                </a:rPr>
                <a:t> </a:t>
              </a:r>
              <a:r>
                <a:rPr lang="de-DE" dirty="0" smtClean="0"/>
                <a:t>                                         ]</a:t>
              </a:r>
              <a:endParaRPr lang="de-DE" dirty="0"/>
            </a:p>
          </p:txBody>
        </p:sp>
        <p:sp>
          <p:nvSpPr>
            <p:cNvPr id="41" name="Textfeld 40"/>
            <p:cNvSpPr txBox="1"/>
            <p:nvPr/>
          </p:nvSpPr>
          <p:spPr>
            <a:xfrm>
              <a:off x="3701554" y="3363838"/>
              <a:ext cx="3600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 smtClean="0"/>
                <a:t>a</a:t>
              </a:r>
              <a:endParaRPr lang="de-DE" dirty="0"/>
            </a:p>
          </p:txBody>
        </p:sp>
        <p:sp>
          <p:nvSpPr>
            <p:cNvPr id="42" name="Textfeld 41"/>
            <p:cNvSpPr txBox="1"/>
            <p:nvPr/>
          </p:nvSpPr>
          <p:spPr>
            <a:xfrm>
              <a:off x="6490742" y="3374959"/>
              <a:ext cx="3600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 smtClean="0"/>
                <a:t>b</a:t>
              </a:r>
              <a:endParaRPr lang="de-DE" dirty="0"/>
            </a:p>
          </p:txBody>
        </p:sp>
        <p:sp>
          <p:nvSpPr>
            <p:cNvPr id="43" name="Textfeld 42"/>
            <p:cNvSpPr txBox="1"/>
            <p:nvPr/>
          </p:nvSpPr>
          <p:spPr>
            <a:xfrm>
              <a:off x="4788024" y="3770486"/>
              <a:ext cx="85268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b="1" dirty="0" smtClean="0">
                  <a:solidFill>
                    <a:schemeClr val="accent1"/>
                  </a:solidFill>
                </a:rPr>
                <a:t>S</a:t>
              </a:r>
              <a:endParaRPr lang="de-DE" b="1" dirty="0">
                <a:solidFill>
                  <a:schemeClr val="accent1"/>
                </a:solidFill>
              </a:endParaRPr>
            </a:p>
          </p:txBody>
        </p:sp>
      </p:grp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4421681"/>
            <a:ext cx="7200800" cy="5263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45832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/>
        </p:nvSpPr>
        <p:spPr>
          <a:xfrm>
            <a:off x="0" y="0"/>
            <a:ext cx="9144000" cy="555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6" name="Textfeld 5"/>
          <p:cNvSpPr txBox="1"/>
          <p:nvPr/>
        </p:nvSpPr>
        <p:spPr>
          <a:xfrm>
            <a:off x="0" y="-29237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Reelle</a:t>
            </a:r>
            <a:r>
              <a:rPr lang="en-CA" sz="3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CA" sz="32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Induktion</a:t>
            </a:r>
            <a:endParaRPr lang="en-CA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723270"/>
            <a:ext cx="2376264" cy="264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0" name="Gerade Verbindung 9"/>
          <p:cNvCxnSpPr/>
          <p:nvPr/>
        </p:nvCxnSpPr>
        <p:spPr>
          <a:xfrm>
            <a:off x="202331" y="987574"/>
            <a:ext cx="2281437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331" y="2113762"/>
            <a:ext cx="2176510" cy="2775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331" y="3064790"/>
            <a:ext cx="6984776" cy="606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008" y="860551"/>
            <a:ext cx="4248472" cy="1207143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" name="Picture 4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3" y="4682060"/>
            <a:ext cx="6912768" cy="337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8" name="Gerade Verbindung 17"/>
          <p:cNvCxnSpPr/>
          <p:nvPr/>
        </p:nvCxnSpPr>
        <p:spPr>
          <a:xfrm>
            <a:off x="196794" y="4983853"/>
            <a:ext cx="2448348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" descr="undefined"/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0" b="100000" l="0" r="100000">
                        <a14:foregroundMark x1="58859" y1="16727" x2="49550" y2="13273"/>
                        <a14:foregroundMark x1="44444" y1="12909" x2="34234" y2="14727"/>
                        <a14:foregroundMark x1="33333" y1="16000" x2="33333" y2="22182"/>
                        <a14:foregroundMark x1="31832" y1="22727" x2="32432" y2="27455"/>
                        <a14:foregroundMark x1="31231" y1="26909" x2="40841" y2="12000"/>
                        <a14:foregroundMark x1="42042" y1="11091" x2="47147" y2="10545"/>
                        <a14:foregroundMark x1="49550" y1="29273" x2="58258" y2="36364"/>
                        <a14:foregroundMark x1="51652" y1="51818" x2="67568" y2="71091"/>
                        <a14:foregroundMark x1="66967" y1="46000" x2="91892" y2="56909"/>
                        <a14:foregroundMark x1="87387" y1="56909" x2="93093" y2="79455"/>
                        <a14:foregroundMark x1="83483" y1="80364" x2="50751" y2="90545"/>
                        <a14:foregroundMark x1="29129" y1="58727" x2="25225" y2="95273"/>
                        <a14:foregroundMark x1="13814" y1="63636" x2="8108" y2="99636"/>
                        <a14:foregroundMark x1="8709" y1="75818" x2="4805" y2="99091"/>
                        <a14:backgroundMark x1="3604" y1="70000" x2="601" y2="91818"/>
                        <a14:backgroundMark x1="6607" y1="78545" x2="2703" y2="98727"/>
                        <a14:backgroundMark x1="45045" y1="9636" x2="49249" y2="9818"/>
                        <a14:backgroundMark x1="75375" y1="13636" x2="99700" y2="33818"/>
                        <a14:backgroundMark x1="81682" y1="26909" x2="87988" y2="38364"/>
                        <a14:backgroundMark x1="74474" y1="36000" x2="86787" y2="4763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6031"/>
          <a:stretch/>
        </p:blipFill>
        <p:spPr bwMode="auto">
          <a:xfrm>
            <a:off x="7092281" y="1948207"/>
            <a:ext cx="2072007" cy="3215831"/>
          </a:xfrm>
          <a:prstGeom prst="rect">
            <a:avLst/>
          </a:prstGeom>
          <a:noFill/>
          <a:effectLst>
            <a:glow rad="63500">
              <a:schemeClr val="tx1">
                <a:lumMod val="50000"/>
                <a:lumOff val="50000"/>
                <a:alpha val="40000"/>
              </a:schemeClr>
            </a:glow>
            <a:softEdge rad="127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2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848" y="1105737"/>
            <a:ext cx="4179128" cy="2684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9" name="Picture 4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052" y="1438528"/>
            <a:ext cx="4104456" cy="2112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" name="Picture 5"/>
          <p:cNvPicPr>
            <a:picLocks noChangeAspect="1" noChangeArrowheads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68"/>
          <a:stretch/>
        </p:blipFill>
        <p:spPr bwMode="auto">
          <a:xfrm>
            <a:off x="1403648" y="1747415"/>
            <a:ext cx="1230015" cy="2821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42" name="Gerade Verbindung 41"/>
          <p:cNvCxnSpPr/>
          <p:nvPr/>
        </p:nvCxnSpPr>
        <p:spPr>
          <a:xfrm>
            <a:off x="1835696" y="2762374"/>
            <a:ext cx="352839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feld 42"/>
          <p:cNvSpPr txBox="1"/>
          <p:nvPr/>
        </p:nvSpPr>
        <p:spPr>
          <a:xfrm>
            <a:off x="1907704" y="2565400"/>
            <a:ext cx="1512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>
                <a:solidFill>
                  <a:schemeClr val="accent1"/>
                </a:solidFill>
              </a:rPr>
              <a:t>(</a:t>
            </a:r>
            <a:r>
              <a:rPr lang="de-DE" dirty="0" smtClean="0"/>
              <a:t>                  </a:t>
            </a:r>
            <a:r>
              <a:rPr lang="de-DE" dirty="0">
                <a:solidFill>
                  <a:schemeClr val="accent1"/>
                </a:solidFill>
              </a:rPr>
              <a:t>]</a:t>
            </a:r>
          </a:p>
        </p:txBody>
      </p:sp>
      <p:sp>
        <p:nvSpPr>
          <p:cNvPr id="44" name="Textfeld 43"/>
          <p:cNvSpPr txBox="1"/>
          <p:nvPr/>
        </p:nvSpPr>
        <p:spPr>
          <a:xfrm>
            <a:off x="1907704" y="2564616"/>
            <a:ext cx="360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[          </a:t>
            </a:r>
            <a:r>
              <a:rPr lang="de-DE" dirty="0" smtClean="0">
                <a:solidFill>
                  <a:schemeClr val="accent1"/>
                </a:solidFill>
              </a:rPr>
              <a:t> </a:t>
            </a:r>
            <a:r>
              <a:rPr lang="de-DE" dirty="0" smtClean="0"/>
              <a:t>                                         ]</a:t>
            </a:r>
            <a:endParaRPr lang="de-DE" dirty="0"/>
          </a:p>
        </p:txBody>
      </p:sp>
      <p:sp>
        <p:nvSpPr>
          <p:cNvPr id="45" name="Textfeld 44"/>
          <p:cNvSpPr txBox="1"/>
          <p:nvPr/>
        </p:nvSpPr>
        <p:spPr>
          <a:xfrm>
            <a:off x="1901354" y="2355726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a</a:t>
            </a:r>
            <a:endParaRPr lang="de-DE" dirty="0"/>
          </a:p>
        </p:txBody>
      </p:sp>
      <p:sp>
        <p:nvSpPr>
          <p:cNvPr id="46" name="Textfeld 45"/>
          <p:cNvSpPr txBox="1"/>
          <p:nvPr/>
        </p:nvSpPr>
        <p:spPr>
          <a:xfrm>
            <a:off x="4690542" y="2366847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b</a:t>
            </a:r>
            <a:endParaRPr lang="de-DE" dirty="0"/>
          </a:p>
        </p:txBody>
      </p:sp>
      <p:sp>
        <p:nvSpPr>
          <p:cNvPr id="47" name="Textfeld 46"/>
          <p:cNvSpPr txBox="1"/>
          <p:nvPr/>
        </p:nvSpPr>
        <p:spPr>
          <a:xfrm>
            <a:off x="2423169" y="2762374"/>
            <a:ext cx="8526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 smtClean="0">
                <a:solidFill>
                  <a:schemeClr val="accent1"/>
                </a:solidFill>
              </a:rPr>
              <a:t>S</a:t>
            </a:r>
            <a:endParaRPr lang="de-DE" b="1" dirty="0">
              <a:solidFill>
                <a:schemeClr val="accent1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331" y="3813148"/>
            <a:ext cx="2274980" cy="314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24" name="Gerade Verbindung mit Pfeil 23"/>
          <p:cNvCxnSpPr/>
          <p:nvPr/>
        </p:nvCxnSpPr>
        <p:spPr>
          <a:xfrm flipH="1">
            <a:off x="3041516" y="2393004"/>
            <a:ext cx="116731" cy="36965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feld 48"/>
          <p:cNvSpPr txBox="1"/>
          <p:nvPr/>
        </p:nvSpPr>
        <p:spPr>
          <a:xfrm>
            <a:off x="2982693" y="2119957"/>
            <a:ext cx="6532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 err="1" smtClean="0"/>
              <a:t>inf</a:t>
            </a:r>
            <a:r>
              <a:rPr lang="de-DE" sz="1400" dirty="0" smtClean="0"/>
              <a:t> S‘</a:t>
            </a:r>
            <a:endParaRPr lang="de-DE" sz="1400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219" y="4241174"/>
            <a:ext cx="6280648" cy="264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05445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4" grpId="0"/>
      <p:bldP spid="45" grpId="0"/>
      <p:bldP spid="46" grpId="0"/>
      <p:bldP spid="47" grpId="0"/>
      <p:bldP spid="4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/>
        </p:nvSpPr>
        <p:spPr>
          <a:xfrm>
            <a:off x="0" y="0"/>
            <a:ext cx="9144000" cy="555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6" name="Textfeld 5"/>
          <p:cNvSpPr txBox="1"/>
          <p:nvPr/>
        </p:nvSpPr>
        <p:spPr>
          <a:xfrm>
            <a:off x="0" y="-29237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Zwischenwertsatz</a:t>
            </a:r>
            <a:endParaRPr lang="en-CA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699542"/>
            <a:ext cx="8712968" cy="45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275606"/>
            <a:ext cx="862568" cy="2220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7" name="Gerade Verbindung 6"/>
          <p:cNvCxnSpPr/>
          <p:nvPr/>
        </p:nvCxnSpPr>
        <p:spPr>
          <a:xfrm>
            <a:off x="179512" y="1203598"/>
            <a:ext cx="864096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612" y="1563638"/>
            <a:ext cx="8640960" cy="465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488" y="3371199"/>
            <a:ext cx="8587680" cy="4970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0343" y="3983359"/>
            <a:ext cx="6674049" cy="2718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80" name="Picture 8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4355524"/>
            <a:ext cx="8568952" cy="711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81" name="Picture 9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1880" y="1879895"/>
            <a:ext cx="1584176" cy="1423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82" name="Picture 10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1772" y="1917466"/>
            <a:ext cx="2024644" cy="1290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Pfeil nach rechts 2"/>
          <p:cNvSpPr/>
          <p:nvPr/>
        </p:nvSpPr>
        <p:spPr>
          <a:xfrm>
            <a:off x="5364088" y="2355726"/>
            <a:ext cx="712948" cy="42356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36655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/>
        </p:nvSpPr>
        <p:spPr>
          <a:xfrm>
            <a:off x="0" y="0"/>
            <a:ext cx="9144000" cy="555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6" name="Textfeld 5"/>
          <p:cNvSpPr txBox="1"/>
          <p:nvPr/>
        </p:nvSpPr>
        <p:spPr>
          <a:xfrm>
            <a:off x="0" y="-29237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Zwischenwertsatz</a:t>
            </a:r>
            <a:endParaRPr lang="en-CA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699542"/>
            <a:ext cx="8712968" cy="45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275606"/>
            <a:ext cx="862568" cy="2220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543402"/>
            <a:ext cx="8640960" cy="3082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480" y="1897481"/>
            <a:ext cx="936104" cy="2017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9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4" y="2067694"/>
            <a:ext cx="2520280" cy="2777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4" name="Picture 10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80" y="2499742"/>
            <a:ext cx="2895560" cy="2895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5" name="Picture 11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0988" y="2522602"/>
            <a:ext cx="2520280" cy="26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6" name="Picture 12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3078157"/>
            <a:ext cx="4824536" cy="2856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7" name="Picture 13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3582577"/>
            <a:ext cx="3816424" cy="3122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8" name="Picture 14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056" y="3959248"/>
            <a:ext cx="6738272" cy="3285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9" name="Picture 15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120" y="4347576"/>
            <a:ext cx="2295168" cy="3005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7" name="Gerade Verbindung 6"/>
          <p:cNvCxnSpPr/>
          <p:nvPr/>
        </p:nvCxnSpPr>
        <p:spPr>
          <a:xfrm>
            <a:off x="179512" y="1203598"/>
            <a:ext cx="864096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2"/>
          <p:cNvPicPr>
            <a:picLocks noChangeAspect="1" noChangeArrowheads="1"/>
          </p:cNvPicPr>
          <p:nvPr/>
        </p:nvPicPr>
        <p:blipFill>
          <a:blip r:embed="rId1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176" y="2133614"/>
            <a:ext cx="2254261" cy="16050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6826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/>
        </p:nvSpPr>
        <p:spPr>
          <a:xfrm>
            <a:off x="0" y="0"/>
            <a:ext cx="9144000" cy="555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6" name="Textfeld 5"/>
          <p:cNvSpPr txBox="1"/>
          <p:nvPr/>
        </p:nvSpPr>
        <p:spPr>
          <a:xfrm>
            <a:off x="0" y="-29237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Zwischenwertsatz</a:t>
            </a:r>
            <a:endParaRPr lang="en-CA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699542"/>
            <a:ext cx="8712968" cy="45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275606"/>
            <a:ext cx="862568" cy="2220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1" name="Gerade Verbindung 10"/>
          <p:cNvCxnSpPr/>
          <p:nvPr/>
        </p:nvCxnSpPr>
        <p:spPr>
          <a:xfrm>
            <a:off x="179512" y="1203598"/>
            <a:ext cx="864096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424" y="1563638"/>
            <a:ext cx="6444808" cy="3224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776" y="1995686"/>
            <a:ext cx="2804921" cy="317416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65"/>
          <a:stretch/>
        </p:blipFill>
        <p:spPr bwMode="auto">
          <a:xfrm>
            <a:off x="285428" y="2499742"/>
            <a:ext cx="5804598" cy="3048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220" y="2914650"/>
            <a:ext cx="7737753" cy="6354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032" y="3619300"/>
            <a:ext cx="8245008" cy="3206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3" name="Gerade Verbindung 2"/>
          <p:cNvCxnSpPr/>
          <p:nvPr/>
        </p:nvCxnSpPr>
        <p:spPr>
          <a:xfrm>
            <a:off x="1265982" y="3874244"/>
            <a:ext cx="1361802" cy="0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 Verbindung 19"/>
          <p:cNvCxnSpPr/>
          <p:nvPr/>
        </p:nvCxnSpPr>
        <p:spPr>
          <a:xfrm>
            <a:off x="4491782" y="1835894"/>
            <a:ext cx="2153592" cy="0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Gerade Verbindung 21"/>
          <p:cNvCxnSpPr/>
          <p:nvPr/>
        </p:nvCxnSpPr>
        <p:spPr>
          <a:xfrm>
            <a:off x="3018402" y="3874244"/>
            <a:ext cx="1172129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Gerade Verbindung 24"/>
          <p:cNvCxnSpPr/>
          <p:nvPr/>
        </p:nvCxnSpPr>
        <p:spPr>
          <a:xfrm>
            <a:off x="2059552" y="3531344"/>
            <a:ext cx="237508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03" name="Picture 7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6198" y="4161136"/>
            <a:ext cx="1091826" cy="28282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4" name="Picture 8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6376" y="4515966"/>
            <a:ext cx="866775" cy="46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4084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/>
        </p:nvSpPr>
        <p:spPr>
          <a:xfrm>
            <a:off x="0" y="0"/>
            <a:ext cx="9144000" cy="555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6" name="Textfeld 5"/>
          <p:cNvSpPr txBox="1"/>
          <p:nvPr/>
        </p:nvSpPr>
        <p:spPr>
          <a:xfrm>
            <a:off x="0" y="-29237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Weiteres</a:t>
            </a:r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Beispiel</a:t>
            </a:r>
            <a:endParaRPr lang="en-CA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851" y="915566"/>
            <a:ext cx="8705637" cy="33631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96098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/>
        </p:nvSpPr>
        <p:spPr>
          <a:xfrm>
            <a:off x="0" y="0"/>
            <a:ext cx="9144000" cy="555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6" name="Textfeld 5"/>
          <p:cNvSpPr txBox="1"/>
          <p:nvPr/>
        </p:nvSpPr>
        <p:spPr>
          <a:xfrm>
            <a:off x="0" y="-29237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Vorteil</a:t>
            </a:r>
            <a:endParaRPr lang="en-CA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feld 1"/>
          <p:cNvSpPr txBox="1"/>
          <p:nvPr/>
        </p:nvSpPr>
        <p:spPr>
          <a:xfrm>
            <a:off x="179512" y="719078"/>
            <a:ext cx="8928992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de-DE" sz="2000" dirty="0" smtClean="0"/>
              <a:t>Vollständige Induktion ist ein mechanisches Verfahren, das man immer nach gleichem Plan abspult: Wenn man reelle Induktion meistert, hätte man ein analoges Werkzeug für Analysis-Sätze. </a:t>
            </a:r>
          </a:p>
          <a:p>
            <a:endParaRPr lang="de-DE" sz="2000" dirty="0"/>
          </a:p>
          <a:p>
            <a:r>
              <a:rPr lang="de-DE" sz="2000" dirty="0" smtClean="0"/>
              <a:t>In dem Dokument wird noch diskutiert: </a:t>
            </a:r>
          </a:p>
          <a:p>
            <a:endParaRPr lang="de-DE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de-DE" sz="2000" dirty="0"/>
              <a:t>Extremwertsatz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de-DE" sz="2000" dirty="0" smtClean="0"/>
              <a:t>Satz </a:t>
            </a:r>
            <a:r>
              <a:rPr lang="de-DE" sz="2000" dirty="0"/>
              <a:t>von </a:t>
            </a:r>
            <a:r>
              <a:rPr lang="de-DE" sz="2000" dirty="0" err="1"/>
              <a:t>Bolzano-Weierstraß</a:t>
            </a:r>
            <a:endParaRPr lang="de-DE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de-DE" sz="2000" dirty="0"/>
              <a:t>Zusammenhang des Intervalls [</a:t>
            </a:r>
            <a:r>
              <a:rPr lang="de-DE" sz="2000" dirty="0" err="1"/>
              <a:t>a,b</a:t>
            </a:r>
            <a:r>
              <a:rPr lang="de-DE" sz="2000" dirty="0"/>
              <a:t>]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de-DE" sz="2000" dirty="0"/>
              <a:t>Satz von Heine-</a:t>
            </a:r>
            <a:r>
              <a:rPr lang="de-DE" sz="2000" dirty="0" err="1"/>
              <a:t>Borel</a:t>
            </a:r>
            <a:r>
              <a:rPr lang="de-DE" sz="2000" dirty="0"/>
              <a:t> (Kompaktheit)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de-DE" sz="2000" dirty="0"/>
              <a:t>Dinis Lemma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de-DE" sz="2000" dirty="0"/>
              <a:t>Satz von </a:t>
            </a:r>
            <a:r>
              <a:rPr lang="de-DE" sz="2000" dirty="0" err="1" smtClean="0"/>
              <a:t>Arzelà</a:t>
            </a:r>
            <a:r>
              <a:rPr lang="de-DE" sz="2000" dirty="0" smtClean="0"/>
              <a:t>–</a:t>
            </a:r>
            <a:r>
              <a:rPr lang="de-DE" sz="2000" dirty="0" err="1" smtClean="0"/>
              <a:t>Ascoli</a:t>
            </a:r>
            <a:endParaRPr lang="de-DE" sz="2000" dirty="0" smtClean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de-DE" sz="2000" dirty="0" smtClean="0"/>
              <a:t>…</a:t>
            </a:r>
            <a:endParaRPr lang="de-DE" sz="2000" dirty="0"/>
          </a:p>
        </p:txBody>
      </p:sp>
      <p:pic>
        <p:nvPicPr>
          <p:cNvPr id="19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88"/>
          <a:stretch/>
        </p:blipFill>
        <p:spPr bwMode="auto">
          <a:xfrm>
            <a:off x="4572000" y="1995686"/>
            <a:ext cx="4400252" cy="2769312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46205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/>
        </p:nvSpPr>
        <p:spPr>
          <a:xfrm>
            <a:off x="0" y="0"/>
            <a:ext cx="9144000" cy="555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6" name="Textfeld 5"/>
          <p:cNvSpPr txBox="1"/>
          <p:nvPr/>
        </p:nvSpPr>
        <p:spPr>
          <a:xfrm>
            <a:off x="0" y="-29237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Reelle</a:t>
            </a:r>
            <a:r>
              <a:rPr lang="en-CA" sz="3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CA" sz="32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Induktion</a:t>
            </a:r>
            <a:endParaRPr lang="en-CA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774228"/>
            <a:ext cx="5904656" cy="1677724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3" name="Gerade Verbindung 2"/>
          <p:cNvCxnSpPr/>
          <p:nvPr/>
        </p:nvCxnSpPr>
        <p:spPr>
          <a:xfrm>
            <a:off x="755576" y="3218476"/>
            <a:ext cx="741682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feld 3"/>
          <p:cNvSpPr txBox="1"/>
          <p:nvPr/>
        </p:nvSpPr>
        <p:spPr>
          <a:xfrm>
            <a:off x="971600" y="2931790"/>
            <a:ext cx="71287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 smtClean="0"/>
              <a:t>[           </a:t>
            </a:r>
            <a:r>
              <a:rPr lang="de-DE" sz="2800" dirty="0" smtClean="0">
                <a:solidFill>
                  <a:srgbClr val="FF0000"/>
                </a:solidFill>
              </a:rPr>
              <a:t>(</a:t>
            </a:r>
            <a:r>
              <a:rPr lang="de-DE" sz="2800" dirty="0" smtClean="0"/>
              <a:t>                 </a:t>
            </a:r>
            <a:r>
              <a:rPr lang="de-DE" sz="2800" dirty="0" smtClean="0">
                <a:solidFill>
                  <a:srgbClr val="FF0000"/>
                </a:solidFill>
              </a:rPr>
              <a:t>)    (   )     (         )</a:t>
            </a:r>
            <a:r>
              <a:rPr lang="de-DE" sz="2800" dirty="0" smtClean="0"/>
              <a:t>                          ]  </a:t>
            </a:r>
            <a:endParaRPr lang="de-DE" sz="2800" dirty="0"/>
          </a:p>
        </p:txBody>
      </p:sp>
      <p:sp>
        <p:nvSpPr>
          <p:cNvPr id="7" name="Ellipse 6"/>
          <p:cNvSpPr/>
          <p:nvPr/>
        </p:nvSpPr>
        <p:spPr>
          <a:xfrm>
            <a:off x="1078223" y="3182559"/>
            <a:ext cx="72008" cy="7200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Pfeil nach rechts 7"/>
          <p:cNvSpPr/>
          <p:nvPr/>
        </p:nvSpPr>
        <p:spPr>
          <a:xfrm rot="5400000">
            <a:off x="4031940" y="3759882"/>
            <a:ext cx="720080" cy="36004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37" name="Gerade Verbindung 36"/>
          <p:cNvCxnSpPr/>
          <p:nvPr/>
        </p:nvCxnSpPr>
        <p:spPr>
          <a:xfrm>
            <a:off x="755576" y="4567464"/>
            <a:ext cx="741682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feld 40"/>
          <p:cNvSpPr txBox="1"/>
          <p:nvPr/>
        </p:nvSpPr>
        <p:spPr>
          <a:xfrm>
            <a:off x="971600" y="4280778"/>
            <a:ext cx="71287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 smtClean="0">
                <a:solidFill>
                  <a:srgbClr val="FF0000"/>
                </a:solidFill>
              </a:rPr>
              <a:t>[                                                                                   ]  </a:t>
            </a:r>
            <a:endParaRPr lang="de-DE" sz="2800" dirty="0">
              <a:solidFill>
                <a:srgbClr val="FF0000"/>
              </a:solidFill>
            </a:endParaRPr>
          </a:p>
        </p:txBody>
      </p:sp>
      <p:sp>
        <p:nvSpPr>
          <p:cNvPr id="9" name="Textfeld 8"/>
          <p:cNvSpPr txBox="1"/>
          <p:nvPr/>
        </p:nvSpPr>
        <p:spPr>
          <a:xfrm>
            <a:off x="2771800" y="2571750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 smtClean="0">
                <a:solidFill>
                  <a:srgbClr val="FF0000"/>
                </a:solidFill>
              </a:rPr>
              <a:t>S</a:t>
            </a:r>
            <a:endParaRPr lang="de-DE" sz="2400" dirty="0">
              <a:solidFill>
                <a:srgbClr val="FF0000"/>
              </a:solidFill>
            </a:endParaRPr>
          </a:p>
        </p:txBody>
      </p:sp>
      <p:sp>
        <p:nvSpPr>
          <p:cNvPr id="11" name="Textfeld 10"/>
          <p:cNvSpPr txBox="1"/>
          <p:nvPr/>
        </p:nvSpPr>
        <p:spPr>
          <a:xfrm>
            <a:off x="984300" y="2741166"/>
            <a:ext cx="2534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a</a:t>
            </a:r>
            <a:endParaRPr lang="de-DE" dirty="0"/>
          </a:p>
        </p:txBody>
      </p:sp>
      <p:sp>
        <p:nvSpPr>
          <p:cNvPr id="50" name="Textfeld 49"/>
          <p:cNvSpPr txBox="1"/>
          <p:nvPr/>
        </p:nvSpPr>
        <p:spPr>
          <a:xfrm>
            <a:off x="7802525" y="2757299"/>
            <a:ext cx="2534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b</a:t>
            </a:r>
            <a:endParaRPr lang="de-DE" dirty="0"/>
          </a:p>
        </p:txBody>
      </p:sp>
      <p:sp>
        <p:nvSpPr>
          <p:cNvPr id="51" name="Textfeld 50"/>
          <p:cNvSpPr txBox="1"/>
          <p:nvPr/>
        </p:nvSpPr>
        <p:spPr>
          <a:xfrm>
            <a:off x="990941" y="4102462"/>
            <a:ext cx="2534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a</a:t>
            </a:r>
            <a:endParaRPr lang="de-DE" dirty="0"/>
          </a:p>
        </p:txBody>
      </p:sp>
      <p:sp>
        <p:nvSpPr>
          <p:cNvPr id="52" name="Textfeld 51"/>
          <p:cNvSpPr txBox="1"/>
          <p:nvPr/>
        </p:nvSpPr>
        <p:spPr>
          <a:xfrm>
            <a:off x="7802524" y="4102462"/>
            <a:ext cx="2534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b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24470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 animBg="1"/>
      <p:bldP spid="8" grpId="0" animBg="1"/>
      <p:bldP spid="41" grpId="0"/>
      <p:bldP spid="9" grpId="0"/>
      <p:bldP spid="11" grpId="0"/>
      <p:bldP spid="50" grpId="0"/>
      <p:bldP spid="51" grpId="0"/>
      <p:bldP spid="52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xecutive">
  <a:themeElements>
    <a:clrScheme name="Executive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Executi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xecu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500</Words>
  <Application>Microsoft Office PowerPoint</Application>
  <PresentationFormat>Bildschirmpräsentation (16:9)</PresentationFormat>
  <Paragraphs>125</Paragraphs>
  <Slides>25</Slides>
  <Notes>24</Notes>
  <HiddenSlides>0</HiddenSlides>
  <MMClips>0</MMClips>
  <ScaleCrop>false</ScaleCrop>
  <HeadingPairs>
    <vt:vector size="4" baseType="variant">
      <vt:variant>
        <vt:lpstr>Design</vt:lpstr>
      </vt:variant>
      <vt:variant>
        <vt:i4>3</vt:i4>
      </vt:variant>
      <vt:variant>
        <vt:lpstr>Folientitel</vt:lpstr>
      </vt:variant>
      <vt:variant>
        <vt:i4>25</vt:i4>
      </vt:variant>
    </vt:vector>
  </HeadingPairs>
  <TitlesOfParts>
    <vt:vector size="28" baseType="lpstr">
      <vt:lpstr>Executive</vt:lpstr>
      <vt:lpstr>Larissa</vt:lpstr>
      <vt:lpstr>1_Larissa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Anton</dc:creator>
  <cp:lastModifiedBy>Anton </cp:lastModifiedBy>
  <cp:revision>66</cp:revision>
  <dcterms:created xsi:type="dcterms:W3CDTF">2025-04-28T22:22:57Z</dcterms:created>
  <dcterms:modified xsi:type="dcterms:W3CDTF">2025-05-07T15:52:35Z</dcterms:modified>
</cp:coreProperties>
</file>