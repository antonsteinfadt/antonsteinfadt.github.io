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4" r:id="rId2"/>
  </p:sldMasterIdLst>
  <p:notesMasterIdLst>
    <p:notesMasterId r:id="rId16"/>
  </p:notesMasterIdLst>
  <p:sldIdLst>
    <p:sldId id="256" r:id="rId3"/>
    <p:sldId id="268" r:id="rId4"/>
    <p:sldId id="270" r:id="rId5"/>
    <p:sldId id="257" r:id="rId6"/>
    <p:sldId id="258" r:id="rId7"/>
    <p:sldId id="259" r:id="rId8"/>
    <p:sldId id="260" r:id="rId9"/>
    <p:sldId id="263" r:id="rId10"/>
    <p:sldId id="261" r:id="rId11"/>
    <p:sldId id="262" r:id="rId12"/>
    <p:sldId id="269" r:id="rId13"/>
    <p:sldId id="272" r:id="rId14"/>
    <p:sldId id="271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70" autoAdjust="0"/>
    <p:restoredTop sz="94660"/>
  </p:normalViewPr>
  <p:slideViewPr>
    <p:cSldViewPr>
      <p:cViewPr varScale="1">
        <p:scale>
          <a:sx n="147" d="100"/>
          <a:sy n="147" d="100"/>
        </p:scale>
        <p:origin x="-780" y="-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5E8BF-9424-4203-B2C1-9A8C33643F63}" type="datetimeFigureOut">
              <a:rPr lang="de-DE" smtClean="0"/>
              <a:t>19.09.2025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59F88-B42E-4BC6-995D-1CDCEE2FD3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542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59F88-B42E-4BC6-995D-1CDCEE2FD3F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9153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59F88-B42E-4BC6-995D-1CDCEE2FD3F9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9153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59F88-B42E-4BC6-995D-1CDCEE2FD3F9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9153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59F88-B42E-4BC6-995D-1CDCEE2FD3F9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9153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59F88-B42E-4BC6-995D-1CDCEE2FD3F9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9153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59F88-B42E-4BC6-995D-1CDCEE2FD3F9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9153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59F88-B42E-4BC6-995D-1CDCEE2FD3F9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9153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Triviales Beispiel: Kreis</a:t>
            </a:r>
            <a:br>
              <a:rPr lang="de-DE" dirty="0" smtClean="0"/>
            </a:br>
            <a:r>
              <a:rPr lang="de-DE" dirty="0" smtClean="0"/>
              <a:t>Einfaches</a:t>
            </a:r>
            <a:r>
              <a:rPr lang="de-DE" baseline="0" dirty="0" smtClean="0"/>
              <a:t> nicht-triviales Beispiel: </a:t>
            </a:r>
            <a:r>
              <a:rPr lang="de-DE" baseline="0" dirty="0" err="1" smtClean="0"/>
              <a:t>Reuleaux</a:t>
            </a:r>
            <a:r>
              <a:rPr lang="de-DE" baseline="0" dirty="0" smtClean="0"/>
              <a:t>-Dreieck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59F88-B42E-4BC6-995D-1CDCEE2FD3F9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9153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59F88-B42E-4BC6-995D-1CDCEE2FD3F9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91539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59F88-B42E-4BC6-995D-1CDCEE2FD3F9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9153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59F88-B42E-4BC6-995D-1CDCEE2FD3F9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9153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59F88-B42E-4BC6-995D-1CDCEE2FD3F9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91539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59F88-B42E-4BC6-995D-1CDCEE2FD3F9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9153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32004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14750"/>
            <a:ext cx="6400800" cy="9144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28701"/>
            <a:ext cx="7772400" cy="1878806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051573"/>
            <a:ext cx="7772400" cy="848915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200150"/>
            <a:ext cx="4041648" cy="339471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4040188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1" y="1200150"/>
            <a:ext cx="4041775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1659636"/>
            <a:ext cx="4041648" cy="2935224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1659637"/>
            <a:ext cx="4041648" cy="293489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8" y="200025"/>
            <a:ext cx="3008313" cy="1571625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8" y="204788"/>
            <a:ext cx="4995863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8" y="1828801"/>
            <a:ext cx="3008313" cy="2765822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71450"/>
            <a:ext cx="5711824" cy="671513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857250"/>
            <a:ext cx="6054724" cy="3405783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4357688"/>
            <a:ext cx="5711824" cy="40005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574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79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644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3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130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377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775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8009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90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644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September 19,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71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001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8" y="4767263"/>
            <a:ext cx="2085975" cy="273844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2B1B13E-D5AF-485E-81A1-82A140076526}" type="datetime4">
              <a:rPr lang="en-US" smtClean="0"/>
              <a:pPr/>
              <a:t>September 19,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6" y="4767263"/>
            <a:ext cx="2847975" cy="273844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9" y="4767263"/>
            <a:ext cx="561975" cy="273844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57760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September 19, 2025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374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12" Type="http://schemas.openxmlformats.org/officeDocument/2006/relationships/image" Target="../media/image2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undefined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521727"/>
            <a:ext cx="6840760" cy="3714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hteck 4"/>
          <p:cNvSpPr/>
          <p:nvPr/>
        </p:nvSpPr>
        <p:spPr>
          <a:xfrm>
            <a:off x="107504" y="-164554"/>
            <a:ext cx="8928992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7600" b="1" dirty="0" smtClean="0"/>
              <a:t>Formel von </a:t>
            </a:r>
            <a:r>
              <a:rPr lang="de-DE" sz="7600" b="1" dirty="0" err="1" smtClean="0"/>
              <a:t>Crofton</a:t>
            </a:r>
            <a:endParaRPr lang="de-DE" sz="7600" b="1" dirty="0" smtClean="0"/>
          </a:p>
        </p:txBody>
      </p:sp>
      <p:sp>
        <p:nvSpPr>
          <p:cNvPr id="4" name="AutoShape 4" descr="https://lh3.googleusercontent.com/gg-dl/AJfQ9KQ3amq-Sx_iMI2GIkmEg-LTX4X-wAM9AKnjyevE19XwPRjX8RKRMkWjY7Q_BlyLGVqvh_KqF_ZeusGBAc-2kxucddyEOcs1rRQvR5RRlNGQIwBBOkEwRNOfwDXdZ9DF5uroVsfovkXSnzGFq8PMQRlBXny3XybmD-nIiw9H89WUihk80g=s102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1034" name="Picture 10" descr="D:\Downloads\Gemini_Generated_Image_vrqgq5vrqgq5vrqg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939"/>
          <a:stretch/>
        </p:blipFill>
        <p:spPr bwMode="auto">
          <a:xfrm>
            <a:off x="6012160" y="1438072"/>
            <a:ext cx="3600400" cy="3715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80" y="1779662"/>
            <a:ext cx="2907360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feld 5"/>
          <p:cNvSpPr txBox="1"/>
          <p:nvPr/>
        </p:nvSpPr>
        <p:spPr>
          <a:xfrm>
            <a:off x="323528" y="771550"/>
            <a:ext cx="90969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200" dirty="0" smtClean="0">
                <a:solidFill>
                  <a:srgbClr val="FF0000"/>
                </a:solidFill>
              </a:rPr>
              <a:t>Die Bogenlänge </a:t>
            </a:r>
            <a:r>
              <a:rPr lang="de-DE" sz="5200" dirty="0" smtClean="0">
                <a:solidFill>
                  <a:srgbClr val="FF0000"/>
                </a:solidFill>
              </a:rPr>
              <a:t>einer Kurve</a:t>
            </a:r>
            <a:endParaRPr lang="de-DE" sz="5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505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Textfeld 10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Intuition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107504" y="627534"/>
            <a:ext cx="89644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b="1" dirty="0" smtClean="0"/>
              <a:t>Bogenlänge einer Kurve = Gemittelte Zahl der Schnittpunkte mit Geraden</a:t>
            </a:r>
            <a:endParaRPr lang="de-DE" sz="2200" b="1" dirty="0"/>
          </a:p>
        </p:txBody>
      </p:sp>
      <p:pic>
        <p:nvPicPr>
          <p:cNvPr id="9218" name="Picture 2" descr="undefin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187020"/>
            <a:ext cx="7056784" cy="3833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/>
          <p:cNvSpPr txBox="1"/>
          <p:nvPr/>
        </p:nvSpPr>
        <p:spPr>
          <a:xfrm>
            <a:off x="395536" y="2211710"/>
            <a:ext cx="38164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/>
              <a:t>Mit Geraden die Kurve </a:t>
            </a:r>
            <a:r>
              <a:rPr lang="de-DE" b="1" dirty="0"/>
              <a:t>„abklopfen“: </a:t>
            </a:r>
            <a:r>
              <a:rPr lang="de-DE" dirty="0"/>
              <a:t>Man kann sich die Kurve wie ein Schiff beim Spiel „Schiffe versenken“ </a:t>
            </a:r>
            <a:r>
              <a:rPr lang="de-DE" dirty="0" smtClean="0"/>
              <a:t>vorstellen.</a:t>
            </a:r>
          </a:p>
          <a:p>
            <a:endParaRPr lang="de-DE" dirty="0" smtClean="0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310256"/>
            <a:ext cx="3744416" cy="757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1303" y="1259028"/>
            <a:ext cx="962422" cy="2297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Gerade Verbindung mit Pfeil 4"/>
          <p:cNvCxnSpPr/>
          <p:nvPr/>
        </p:nvCxnSpPr>
        <p:spPr>
          <a:xfrm flipH="1">
            <a:off x="5436096" y="1592400"/>
            <a:ext cx="749352" cy="1178796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/>
          <p:nvPr/>
        </p:nvCxnSpPr>
        <p:spPr>
          <a:xfrm>
            <a:off x="6334605" y="1579430"/>
            <a:ext cx="823609" cy="389106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22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Textfeld 10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Intuition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6"/>
          <a:stretch/>
        </p:blipFill>
        <p:spPr bwMode="auto">
          <a:xfrm>
            <a:off x="251520" y="771728"/>
            <a:ext cx="5112568" cy="4085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feld 4"/>
          <p:cNvSpPr txBox="1"/>
          <p:nvPr/>
        </p:nvSpPr>
        <p:spPr>
          <a:xfrm>
            <a:off x="5580112" y="843558"/>
            <a:ext cx="3384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Man muss sich das für unendlich</a:t>
            </a:r>
          </a:p>
          <a:p>
            <a:r>
              <a:rPr lang="de-DE" dirty="0" smtClean="0"/>
              <a:t>viele Geraden vorstellen …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2228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Textfeld 10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Kurzeinführung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07504" y="646584"/>
            <a:ext cx="5256584" cy="265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12" y="1230530"/>
            <a:ext cx="4764103" cy="785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53" y="2128279"/>
            <a:ext cx="5112569" cy="22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3203716"/>
            <a:ext cx="4824536" cy="44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077" y="2493161"/>
            <a:ext cx="2880320" cy="582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679555"/>
            <a:ext cx="3456384" cy="2324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509"/>
          <a:stretch/>
        </p:blipFill>
        <p:spPr bwMode="auto">
          <a:xfrm>
            <a:off x="107504" y="999217"/>
            <a:ext cx="5256584" cy="20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5004048" y="3147814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(Dreht oder verschiebt man die Kurve, darf sich der Wert der </a:t>
            </a:r>
            <a:r>
              <a:rPr lang="de-DE" sz="1200" dirty="0" err="1"/>
              <a:t>Crofton</a:t>
            </a:r>
            <a:r>
              <a:rPr lang="de-DE" sz="1200" dirty="0"/>
              <a:t>-Integrals </a:t>
            </a:r>
            <a:r>
              <a:rPr lang="de-DE" sz="1200" dirty="0" smtClean="0"/>
              <a:t>[Bogenlänge] nicht </a:t>
            </a:r>
            <a:r>
              <a:rPr lang="de-DE" sz="1200" dirty="0"/>
              <a:t>ändern</a:t>
            </a:r>
            <a:r>
              <a:rPr lang="de-DE" sz="1200" dirty="0" smtClean="0"/>
              <a:t>.)</a:t>
            </a:r>
            <a:endParaRPr lang="de-DE" sz="1200" dirty="0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849103"/>
            <a:ext cx="3628330" cy="1232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173"/>
          <a:stretch/>
        </p:blipFill>
        <p:spPr bwMode="auto">
          <a:xfrm>
            <a:off x="3992066" y="3962773"/>
            <a:ext cx="4972422" cy="481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" name="Gerade Verbindung 11"/>
          <p:cNvCxnSpPr/>
          <p:nvPr/>
        </p:nvCxnSpPr>
        <p:spPr>
          <a:xfrm>
            <a:off x="48196" y="3742928"/>
            <a:ext cx="9001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10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97"/>
          <a:stretch/>
        </p:blipFill>
        <p:spPr bwMode="auto">
          <a:xfrm>
            <a:off x="4081174" y="4515966"/>
            <a:ext cx="4972422" cy="45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5840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Textfeld 10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Beispiel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Gerade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entlang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x-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Achse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 descr="undefin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27534"/>
            <a:ext cx="6840760" cy="3714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585741"/>
            <a:ext cx="3528392" cy="490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Gerade Verbindung 2"/>
          <p:cNvCxnSpPr/>
          <p:nvPr/>
        </p:nvCxnSpPr>
        <p:spPr>
          <a:xfrm>
            <a:off x="6228184" y="2830773"/>
            <a:ext cx="21602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99542"/>
            <a:ext cx="2952328" cy="445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203598"/>
            <a:ext cx="2088232" cy="337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371950"/>
            <a:ext cx="3357867" cy="577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3" y="960302"/>
            <a:ext cx="2377326" cy="603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028" y="4417714"/>
            <a:ext cx="2160240" cy="571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592" y="4403597"/>
            <a:ext cx="1869579" cy="625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4419671"/>
            <a:ext cx="1254199" cy="600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5" name="Picture 13" descr="Green checkmark Bilder - Kostenloser Download auf Freepik"/>
          <p:cNvPicPr>
            <a:picLocks noChangeAspect="1" noChangeArrowheads="1"/>
          </p:cNvPicPr>
          <p:nvPr/>
        </p:nvPicPr>
        <p:blipFill>
          <a:blip r:embed="rId1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607" y="3738455"/>
            <a:ext cx="628881" cy="628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6309" y="699542"/>
            <a:ext cx="1146051" cy="21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095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Textfeld 10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des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allgemeinen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Beweises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78624"/>
            <a:ext cx="4572806" cy="2986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5148064" y="833099"/>
            <a:ext cx="38164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smtClean="0"/>
              <a:t>Verallgemeinerung mittels </a:t>
            </a:r>
            <a:r>
              <a:rPr lang="de-DE" sz="2400" dirty="0"/>
              <a:t>Approximation durch gerade Linien auf eine beliebige </a:t>
            </a:r>
            <a:r>
              <a:rPr lang="de-DE" sz="2400" dirty="0" smtClean="0"/>
              <a:t>Kurve.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2566344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Textfeld 10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Beispiel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2: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Einheitskreislinie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123" name="Picture 3" descr="D:\Downloads\crofton_unit_circle_re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99542"/>
            <a:ext cx="4320480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771550"/>
            <a:ext cx="3227834" cy="286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29" b="77244"/>
          <a:stretch/>
        </p:blipFill>
        <p:spPr bwMode="auto">
          <a:xfrm>
            <a:off x="4716017" y="1125777"/>
            <a:ext cx="2034980" cy="32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5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58" t="34492"/>
          <a:stretch/>
        </p:blipFill>
        <p:spPr bwMode="auto">
          <a:xfrm>
            <a:off x="5220072" y="1491630"/>
            <a:ext cx="3067894" cy="941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764433"/>
            <a:ext cx="2922835" cy="760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Gerade Verbindung 3"/>
          <p:cNvCxnSpPr/>
          <p:nvPr/>
        </p:nvCxnSpPr>
        <p:spPr>
          <a:xfrm>
            <a:off x="4644008" y="2571750"/>
            <a:ext cx="432048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701" y="3596490"/>
            <a:ext cx="1953595" cy="415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3" descr="Green checkmark Bilder - Kostenloser Download auf Freepik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9362" y="3524482"/>
            <a:ext cx="1152128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11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Textfeld 10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Gleichdick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(“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Orbiformen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”)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836" y="699542"/>
            <a:ext cx="5293604" cy="397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247650" y="843558"/>
            <a:ext cx="288419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/>
              <a:t>Breite einer Kurve:</a:t>
            </a:r>
            <a:r>
              <a:rPr lang="de-DE" sz="1400" dirty="0"/>
              <a:t> </a:t>
            </a:r>
            <a:r>
              <a:rPr lang="de-DE" sz="1400" b="1" dirty="0" smtClean="0">
                <a:solidFill>
                  <a:srgbClr val="00B050"/>
                </a:solidFill>
              </a:rPr>
              <a:t>Abstand </a:t>
            </a:r>
            <a:r>
              <a:rPr lang="de-DE" sz="1400" dirty="0" smtClean="0"/>
              <a:t>zwischen </a:t>
            </a:r>
            <a:r>
              <a:rPr lang="de-DE" sz="1400" dirty="0"/>
              <a:t>zwei parallelen Geraden, die die Kurve auf gegenüberliegenden Seiten berühren</a:t>
            </a:r>
            <a:r>
              <a:rPr lang="de-DE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 smtClean="0"/>
              <a:t>Stützgeraden =</a:t>
            </a:r>
            <a:r>
              <a:rPr lang="de-DE" sz="1400" dirty="0" smtClean="0"/>
              <a:t> </a:t>
            </a:r>
            <a:r>
              <a:rPr lang="de-DE" sz="1400" dirty="0"/>
              <a:t>Diese</a:t>
            </a:r>
            <a:r>
              <a:rPr lang="de-DE" sz="1400" b="1" dirty="0">
                <a:solidFill>
                  <a:srgbClr val="0070C0"/>
                </a:solidFill>
              </a:rPr>
              <a:t> parallelen Berührgeraden</a:t>
            </a:r>
            <a:r>
              <a:rPr lang="de-DE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/>
              <a:t>Kurven konstanter Breite:</a:t>
            </a:r>
            <a:r>
              <a:rPr lang="de-DE" sz="1400" dirty="0"/>
              <a:t> Figuren, bei denen dieser Abstand in </a:t>
            </a:r>
            <a:r>
              <a:rPr lang="de-DE" sz="1400" b="1" dirty="0"/>
              <a:t>jeder Richtung</a:t>
            </a:r>
            <a:r>
              <a:rPr lang="de-DE" sz="1400" dirty="0"/>
              <a:t> gleich ist</a:t>
            </a:r>
            <a:r>
              <a:rPr lang="de-DE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Der Abstand ist </a:t>
            </a:r>
            <a:r>
              <a:rPr lang="de-DE" sz="1400" b="1" dirty="0"/>
              <a:t>unabhängig vom Angriffspunkt</a:t>
            </a:r>
            <a:r>
              <a:rPr lang="de-DE" sz="1400" dirty="0"/>
              <a:t> der Stützgeraden und ihrer </a:t>
            </a:r>
            <a:r>
              <a:rPr lang="de-DE" sz="1400" b="1" dirty="0"/>
              <a:t>Orientierung</a:t>
            </a:r>
            <a:r>
              <a:rPr lang="de-DE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492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Textfeld 10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Anwendung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Satz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von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Barbier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584" y="1203598"/>
            <a:ext cx="5616624" cy="268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908" b="65787"/>
          <a:stretch/>
        </p:blipFill>
        <p:spPr bwMode="auto">
          <a:xfrm>
            <a:off x="2987824" y="1923678"/>
            <a:ext cx="4315801" cy="250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6" t="59358"/>
          <a:stretch/>
        </p:blipFill>
        <p:spPr bwMode="auto">
          <a:xfrm>
            <a:off x="3491880" y="2246095"/>
            <a:ext cx="4953100" cy="297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82"/>
          <a:stretch/>
        </p:blipFill>
        <p:spPr bwMode="auto">
          <a:xfrm>
            <a:off x="2961537" y="2606135"/>
            <a:ext cx="6182463" cy="1265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951879"/>
            <a:ext cx="5976664" cy="1076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9543"/>
            <a:ext cx="8712968" cy="332876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87824" y="1596980"/>
            <a:ext cx="3222476" cy="23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 descr="D:\Downloads\crofton_diagram_phi_label.pn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71" r="12200"/>
          <a:stretch/>
        </p:blipFill>
        <p:spPr bwMode="auto">
          <a:xfrm>
            <a:off x="88010" y="1275606"/>
            <a:ext cx="2827806" cy="371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005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Textfeld 10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Anwendung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Satz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von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Barbier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095"/>
          <a:stretch/>
        </p:blipFill>
        <p:spPr bwMode="auto">
          <a:xfrm>
            <a:off x="4139952" y="699542"/>
            <a:ext cx="2808312" cy="607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905" y="1408991"/>
            <a:ext cx="1662834" cy="51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823" y="2067694"/>
            <a:ext cx="2117229" cy="27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484317"/>
            <a:ext cx="3442940" cy="375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823" y="3003798"/>
            <a:ext cx="3269357" cy="287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666"/>
          <a:stretch/>
        </p:blipFill>
        <p:spPr bwMode="auto">
          <a:xfrm>
            <a:off x="3923928" y="3363838"/>
            <a:ext cx="3353172" cy="61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160" y="4083918"/>
            <a:ext cx="1701293" cy="600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Gerade Verbindung mit Pfeil 2"/>
          <p:cNvCxnSpPr/>
          <p:nvPr/>
        </p:nvCxnSpPr>
        <p:spPr>
          <a:xfrm flipH="1" flipV="1">
            <a:off x="6516216" y="4011910"/>
            <a:ext cx="518952" cy="343301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/>
          <p:cNvSpPr txBox="1"/>
          <p:nvPr/>
        </p:nvSpPr>
        <p:spPr>
          <a:xfrm>
            <a:off x="7020272" y="4227934"/>
            <a:ext cx="1700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 smtClean="0"/>
              <a:t>Cauchys</a:t>
            </a:r>
            <a:r>
              <a:rPr lang="de-DE" dirty="0" smtClean="0"/>
              <a:t> Umfangsformel</a:t>
            </a:r>
            <a:endParaRPr lang="de-DE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476484">
            <a:off x="2593723" y="1835326"/>
            <a:ext cx="767623" cy="339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 descr="D:\Downloads\crofton_diagram_purple_trimmed.png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42" t="7000" r="10978" b="6601"/>
          <a:stretch/>
        </p:blipFill>
        <p:spPr bwMode="auto">
          <a:xfrm>
            <a:off x="179512" y="868777"/>
            <a:ext cx="3672408" cy="4007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28"/>
          <a:stretch/>
        </p:blipFill>
        <p:spPr bwMode="auto">
          <a:xfrm>
            <a:off x="7021800" y="689871"/>
            <a:ext cx="1690836" cy="607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7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66" t="4178" r="171" b="-4178"/>
          <a:stretch/>
        </p:blipFill>
        <p:spPr bwMode="auto">
          <a:xfrm>
            <a:off x="7299474" y="3395399"/>
            <a:ext cx="1088876" cy="61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3542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feld 12"/>
          <p:cNvSpPr txBox="1"/>
          <p:nvPr/>
        </p:nvSpPr>
        <p:spPr>
          <a:xfrm>
            <a:off x="3995936" y="699542"/>
            <a:ext cx="4752528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smtClean="0"/>
              <a:t>Experimentelle Durchführung</a:t>
            </a:r>
          </a:p>
          <a:p>
            <a:endParaRPr lang="de-DE" dirty="0"/>
          </a:p>
          <a:p>
            <a:r>
              <a:rPr lang="de-DE" dirty="0" smtClean="0"/>
              <a:t>Man wirft </a:t>
            </a:r>
            <a:r>
              <a:rPr lang="de-DE" dirty="0"/>
              <a:t>viele gleichlange Stäbchen zufällig auf eine Fläche mit parallelen Linien im Abstand </a:t>
            </a:r>
            <a:r>
              <a:rPr lang="de-DE" dirty="0" smtClean="0"/>
              <a:t>𝑑.</a:t>
            </a:r>
          </a:p>
          <a:p>
            <a:endParaRPr lang="de-DE" dirty="0"/>
          </a:p>
          <a:p>
            <a:r>
              <a:rPr lang="de-DE" dirty="0"/>
              <a:t>Man schätzt π, indem man „2 × Gesamtzahl der Stäbchen“ durch „Zahl der Stäbchen, die eine Linie schneiden“ teilt</a:t>
            </a:r>
            <a:r>
              <a:rPr lang="de-DE" dirty="0" smtClean="0"/>
              <a:t>.</a:t>
            </a:r>
          </a:p>
          <a:p>
            <a:endParaRPr lang="de-DE" dirty="0"/>
          </a:p>
          <a:p>
            <a:r>
              <a:rPr lang="de-DE" u="sng" dirty="0" smtClean="0"/>
              <a:t>In der linken Abbildung:</a:t>
            </a:r>
          </a:p>
          <a:p>
            <a:endParaRPr lang="de-DE" dirty="0"/>
          </a:p>
          <a:p>
            <a:r>
              <a:rPr lang="de-DE" b="1" dirty="0"/>
              <a:t>Beispiel: </a:t>
            </a:r>
            <a:r>
              <a:rPr lang="de-DE" dirty="0"/>
              <a:t>17 Würfe, 11 Schnittpunkte → π ≈ 3,1</a:t>
            </a:r>
          </a:p>
        </p:txBody>
      </p:sp>
      <p:sp>
        <p:nvSpPr>
          <p:cNvPr id="10" name="Rechteck 9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Textfeld 10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Buffonsches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Nadelproblem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184" name="Picture 16" descr="undefin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87" y="735546"/>
            <a:ext cx="3600400" cy="3780420"/>
          </a:xfrm>
          <a:prstGeom prst="rect">
            <a:avLst/>
          </a:prstGeom>
          <a:noFill/>
          <a:ln w="28575"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372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Textfeld 10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Buffonsches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Nadelproblem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luxe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2" descr="undefin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4" y="771550"/>
            <a:ext cx="4326260" cy="413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872475"/>
            <a:ext cx="2520280" cy="349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167" y="889626"/>
            <a:ext cx="1959329" cy="288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275606"/>
            <a:ext cx="3240360" cy="293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8" name="Picture 10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778"/>
          <a:stretch/>
        </p:blipFill>
        <p:spPr bwMode="auto">
          <a:xfrm>
            <a:off x="4499992" y="1635646"/>
            <a:ext cx="2448272" cy="596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10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70"/>
          <a:stretch/>
        </p:blipFill>
        <p:spPr bwMode="auto">
          <a:xfrm>
            <a:off x="5436096" y="2211710"/>
            <a:ext cx="2770101" cy="596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9" name="Picture 1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2859782"/>
            <a:ext cx="3024336" cy="2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80" name="Picture 1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3218944"/>
            <a:ext cx="2952328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81" name="Picture 1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869531"/>
            <a:ext cx="2808312" cy="574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82" name="Picture 14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4541432"/>
            <a:ext cx="1310097" cy="406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42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Textfeld 10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Buffonsches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Nadelproblem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luxe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2" descr="undefin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4" y="771550"/>
            <a:ext cx="3750196" cy="3582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843558"/>
            <a:ext cx="4824536" cy="1006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4696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0</TotalTime>
  <Words>248</Words>
  <Application>Microsoft Office PowerPoint</Application>
  <PresentationFormat>Bildschirmpräsentation (16:9)</PresentationFormat>
  <Paragraphs>51</Paragraphs>
  <Slides>13</Slides>
  <Notes>13</Notes>
  <HiddenSlides>0</HiddenSlides>
  <MMClips>0</MMClip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13</vt:i4>
      </vt:variant>
    </vt:vector>
  </HeadingPairs>
  <TitlesOfParts>
    <vt:vector size="15" baseType="lpstr">
      <vt:lpstr>Executive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Anton</dc:creator>
  <cp:lastModifiedBy>Anton </cp:lastModifiedBy>
  <cp:revision>36</cp:revision>
  <dcterms:created xsi:type="dcterms:W3CDTF">2025-09-18T21:32:03Z</dcterms:created>
  <dcterms:modified xsi:type="dcterms:W3CDTF">2025-09-19T15:13:55Z</dcterms:modified>
</cp:coreProperties>
</file>