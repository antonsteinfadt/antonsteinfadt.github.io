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27"/>
  </p:notesMasterIdLst>
  <p:sldIdLst>
    <p:sldId id="256" r:id="rId3"/>
    <p:sldId id="279" r:id="rId4"/>
    <p:sldId id="276" r:id="rId5"/>
    <p:sldId id="257" r:id="rId6"/>
    <p:sldId id="280" r:id="rId7"/>
    <p:sldId id="277" r:id="rId8"/>
    <p:sldId id="275" r:id="rId9"/>
    <p:sldId id="258" r:id="rId10"/>
    <p:sldId id="259" r:id="rId11"/>
    <p:sldId id="262" r:id="rId12"/>
    <p:sldId id="264" r:id="rId13"/>
    <p:sldId id="265" r:id="rId14"/>
    <p:sldId id="263" r:id="rId15"/>
    <p:sldId id="267" r:id="rId16"/>
    <p:sldId id="278" r:id="rId17"/>
    <p:sldId id="260" r:id="rId18"/>
    <p:sldId id="270" r:id="rId19"/>
    <p:sldId id="261" r:id="rId20"/>
    <p:sldId id="268" r:id="rId21"/>
    <p:sldId id="269" r:id="rId22"/>
    <p:sldId id="271" r:id="rId23"/>
    <p:sldId id="272" r:id="rId24"/>
    <p:sldId id="273" r:id="rId25"/>
    <p:sldId id="274"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7" d="100"/>
          <a:sy n="147" d="100"/>
        </p:scale>
        <p:origin x="-59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5D183C-E400-40E2-9F0B-22FD0DCDDF0D}" type="datetimeFigureOut">
              <a:rPr lang="de-DE" smtClean="0"/>
              <a:t>23.05.2025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7F81A6-1019-48C0-B844-72FA63756A5A}" type="slidenum">
              <a:rPr lang="de-DE" smtClean="0"/>
              <a:t>‹Nr.›</a:t>
            </a:fld>
            <a:endParaRPr lang="de-DE"/>
          </a:p>
        </p:txBody>
      </p:sp>
    </p:spTree>
    <p:extLst>
      <p:ext uri="{BB962C8B-B14F-4D97-AF65-F5344CB8AC3E}">
        <p14:creationId xmlns:p14="http://schemas.microsoft.com/office/powerpoint/2010/main" val="1339965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C7F81A6-1019-48C0-B844-72FA63756A5A}" type="slidenum">
              <a:rPr lang="de-DE" smtClean="0"/>
              <a:t>1</a:t>
            </a:fld>
            <a:endParaRPr lang="de-DE"/>
          </a:p>
        </p:txBody>
      </p:sp>
    </p:spTree>
    <p:extLst>
      <p:ext uri="{BB962C8B-B14F-4D97-AF65-F5344CB8AC3E}">
        <p14:creationId xmlns:p14="http://schemas.microsoft.com/office/powerpoint/2010/main" val="2206470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May 23, 2025</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May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May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May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May 23,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May 23,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May 23,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May 23, 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May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May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May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May 23,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202806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May 23,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32179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May 23,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928560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May 23,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747790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May 23, 2025</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20250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May 23, 2025</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93995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May 23, 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655622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May 23, 2025</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5442946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May 23,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878889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May 23,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910222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May 23,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44708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May 23, 2025</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May 23, 2025</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413539675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Wolkenförmige Legende 9"/>
          <p:cNvSpPr/>
          <p:nvPr/>
        </p:nvSpPr>
        <p:spPr>
          <a:xfrm>
            <a:off x="611560" y="921407"/>
            <a:ext cx="2500520" cy="2010383"/>
          </a:xfrm>
          <a:prstGeom prst="cloudCallou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e-DE"/>
          </a:p>
        </p:txBody>
      </p:sp>
      <p:sp>
        <p:nvSpPr>
          <p:cNvPr id="4" name="Rechteck 3"/>
          <p:cNvSpPr/>
          <p:nvPr/>
        </p:nvSpPr>
        <p:spPr>
          <a:xfrm>
            <a:off x="-36512" y="-92546"/>
            <a:ext cx="9145016" cy="1138773"/>
          </a:xfrm>
          <a:prstGeom prst="rect">
            <a:avLst/>
          </a:prstGeom>
        </p:spPr>
        <p:txBody>
          <a:bodyPr wrap="square">
            <a:spAutoFit/>
          </a:bodyPr>
          <a:lstStyle/>
          <a:p>
            <a:pPr algn="ctr"/>
            <a:r>
              <a:rPr lang="de-DE" sz="6800" b="1" dirty="0" smtClean="0"/>
              <a:t>Assoziationsmaschine</a:t>
            </a:r>
            <a:endParaRPr lang="de-DE" sz="6800" b="1" dirty="0" smtClean="0"/>
          </a:p>
        </p:txBody>
      </p:sp>
      <p:sp>
        <p:nvSpPr>
          <p:cNvPr id="5" name="Rechteck 4"/>
          <p:cNvSpPr/>
          <p:nvPr/>
        </p:nvSpPr>
        <p:spPr>
          <a:xfrm>
            <a:off x="3563888" y="1753722"/>
            <a:ext cx="5400600" cy="3016210"/>
          </a:xfrm>
          <a:prstGeom prst="rect">
            <a:avLst/>
          </a:prstGeom>
        </p:spPr>
        <p:txBody>
          <a:bodyPr wrap="square">
            <a:spAutoFit/>
          </a:bodyPr>
          <a:lstStyle/>
          <a:p>
            <a:endParaRPr lang="de-DE" sz="2400" dirty="0" smtClean="0"/>
          </a:p>
          <a:p>
            <a:endParaRPr lang="de-DE" sz="2400" dirty="0" smtClean="0"/>
          </a:p>
          <a:p>
            <a:r>
              <a:rPr lang="de-DE" sz="2400" dirty="0" smtClean="0"/>
              <a:t>Ist </a:t>
            </a:r>
            <a:r>
              <a:rPr lang="de-DE" sz="2400" dirty="0"/>
              <a:t>eine Folge schön beschränkt, </a:t>
            </a:r>
            <a:endParaRPr lang="de-DE" sz="2400" dirty="0" smtClean="0"/>
          </a:p>
          <a:p>
            <a:r>
              <a:rPr lang="de-DE" sz="2400" dirty="0" smtClean="0"/>
              <a:t>wie </a:t>
            </a:r>
            <a:r>
              <a:rPr lang="de-DE" sz="2400" dirty="0"/>
              <a:t>man das in ℂ so kennt, </a:t>
            </a:r>
          </a:p>
          <a:p>
            <a:r>
              <a:rPr lang="de-DE" sz="2400" dirty="0" smtClean="0"/>
              <a:t>dann </a:t>
            </a:r>
            <a:r>
              <a:rPr lang="de-DE" sz="2400" dirty="0"/>
              <a:t>sagt </a:t>
            </a:r>
            <a:r>
              <a:rPr lang="de-DE" sz="2400" dirty="0" err="1"/>
              <a:t>Bolzano</a:t>
            </a:r>
            <a:r>
              <a:rPr lang="de-DE" sz="2400" dirty="0"/>
              <a:t> kurz und rund: </a:t>
            </a:r>
            <a:endParaRPr lang="de-DE" sz="2400" dirty="0" smtClean="0"/>
          </a:p>
          <a:p>
            <a:r>
              <a:rPr lang="de-DE" sz="2400" dirty="0" smtClean="0"/>
              <a:t>Es </a:t>
            </a:r>
            <a:r>
              <a:rPr lang="de-DE" sz="2400" dirty="0"/>
              <a:t>gibt stets einen Häufungspunkt – </a:t>
            </a:r>
            <a:endParaRPr lang="de-DE" sz="2400" dirty="0" smtClean="0"/>
          </a:p>
          <a:p>
            <a:r>
              <a:rPr lang="de-DE" sz="2400" dirty="0" smtClean="0"/>
              <a:t>das </a:t>
            </a:r>
            <a:r>
              <a:rPr lang="de-DE" sz="2400" dirty="0"/>
              <a:t>heißt, es findet sich sodann </a:t>
            </a:r>
            <a:endParaRPr lang="de-DE" sz="2400" dirty="0" smtClean="0"/>
          </a:p>
          <a:p>
            <a:r>
              <a:rPr lang="de-DE" sz="2200" dirty="0" smtClean="0"/>
              <a:t>’ne </a:t>
            </a:r>
            <a:r>
              <a:rPr lang="de-DE" sz="2200" dirty="0"/>
              <a:t>Teilfolge, die </a:t>
            </a:r>
            <a:r>
              <a:rPr lang="de-DE" sz="2200" dirty="0" smtClean="0"/>
              <a:t>ihn stets erreichen</a:t>
            </a:r>
            <a:r>
              <a:rPr lang="de-DE" sz="2200" dirty="0"/>
              <a:t> kann.</a:t>
            </a:r>
          </a:p>
        </p:txBody>
      </p:sp>
      <p:pic>
        <p:nvPicPr>
          <p:cNvPr id="1026" name="Picture 2" descr="ChatGPT Deutsch"/>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5536" y="3001920"/>
            <a:ext cx="2141579" cy="2141580"/>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ige Legende 6"/>
          <p:cNvSpPr/>
          <p:nvPr/>
        </p:nvSpPr>
        <p:spPr>
          <a:xfrm>
            <a:off x="3491881" y="1707654"/>
            <a:ext cx="5400600" cy="3168352"/>
          </a:xfrm>
          <a:prstGeom prst="wedgeRectCallout">
            <a:avLst>
              <a:gd name="adj1" fmla="val -66155"/>
              <a:gd name="adj2" fmla="val 1972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p:cNvSpPr txBox="1"/>
          <p:nvPr/>
        </p:nvSpPr>
        <p:spPr>
          <a:xfrm>
            <a:off x="3563888" y="1832506"/>
            <a:ext cx="5040560" cy="523220"/>
          </a:xfrm>
          <a:prstGeom prst="rect">
            <a:avLst/>
          </a:prstGeom>
          <a:noFill/>
        </p:spPr>
        <p:txBody>
          <a:bodyPr wrap="square" rtlCol="0">
            <a:spAutoFit/>
          </a:bodyPr>
          <a:lstStyle/>
          <a:p>
            <a:r>
              <a:rPr lang="de-DE" sz="2800" b="1" dirty="0">
                <a:solidFill>
                  <a:srgbClr val="FF0000"/>
                </a:solidFill>
              </a:rPr>
              <a:t>Satz von </a:t>
            </a:r>
            <a:r>
              <a:rPr lang="de-DE" sz="2800" b="1" dirty="0" err="1" smtClean="0">
                <a:solidFill>
                  <a:srgbClr val="FF0000"/>
                </a:solidFill>
              </a:rPr>
              <a:t>Bolzano-Weierstraß</a:t>
            </a:r>
            <a:endParaRPr lang="de-DE" sz="2800" b="1" dirty="0">
              <a:solidFill>
                <a:srgbClr val="FF0000"/>
              </a:solidFill>
            </a:endParaRPr>
          </a:p>
        </p:txBody>
      </p:sp>
      <p:sp>
        <p:nvSpPr>
          <p:cNvPr id="2" name="Textfeld 1"/>
          <p:cNvSpPr txBox="1"/>
          <p:nvPr/>
        </p:nvSpPr>
        <p:spPr>
          <a:xfrm>
            <a:off x="3275856" y="1040418"/>
            <a:ext cx="5904656" cy="523220"/>
          </a:xfrm>
          <a:prstGeom prst="rect">
            <a:avLst/>
          </a:prstGeom>
          <a:noFill/>
        </p:spPr>
        <p:txBody>
          <a:bodyPr wrap="square" rtlCol="0">
            <a:spAutoFit/>
          </a:bodyPr>
          <a:lstStyle/>
          <a:p>
            <a:r>
              <a:rPr lang="de-DE" sz="2800" b="1" dirty="0" smtClean="0">
                <a:solidFill>
                  <a:srgbClr val="0070C0"/>
                </a:solidFill>
              </a:rPr>
              <a:t>„Erkläre mir den Satz als Gedicht“</a:t>
            </a:r>
            <a:endParaRPr lang="de-DE" sz="2800" b="1" dirty="0">
              <a:solidFill>
                <a:srgbClr val="0070C0"/>
              </a:solidFill>
            </a:endParaRPr>
          </a:p>
        </p:txBody>
      </p:sp>
      <p:pic>
        <p:nvPicPr>
          <p:cNvPr id="12" name="Picture 4" descr="D:\Downloads\ChatGPT Image May 23, 2025, 01_32_26 PM.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6869" y="1327968"/>
            <a:ext cx="1554203" cy="1036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70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4420"/>
            <a:ext cx="5534645" cy="4741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699542"/>
            <a:ext cx="2952328" cy="1357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8793" y="2546880"/>
            <a:ext cx="3035046" cy="1825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387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23478"/>
            <a:ext cx="5976664" cy="3145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3171579"/>
            <a:ext cx="5764776" cy="1033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168" y="483519"/>
            <a:ext cx="2935580" cy="757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89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3"/>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a:off x="6084168" y="1093091"/>
            <a:ext cx="3095745" cy="414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Rechteck 22"/>
          <p:cNvSpPr/>
          <p:nvPr/>
        </p:nvSpPr>
        <p:spPr>
          <a:xfrm>
            <a:off x="107504" y="-47833"/>
            <a:ext cx="8712968" cy="1323439"/>
          </a:xfrm>
          <a:prstGeom prst="rect">
            <a:avLst/>
          </a:prstGeom>
        </p:spPr>
        <p:txBody>
          <a:bodyPr wrap="square">
            <a:spAutoFit/>
          </a:bodyPr>
          <a:lstStyle/>
          <a:p>
            <a:pPr algn="ctr"/>
            <a:r>
              <a:rPr lang="de-DE" sz="8000" b="1" dirty="0" smtClean="0">
                <a:latin typeface="Palatino Linotype" panose="02040502050505030304" pitchFamily="18" charset="0"/>
              </a:rPr>
              <a:t>Ramanujanismus</a:t>
            </a:r>
          </a:p>
        </p:txBody>
      </p:sp>
      <p:sp>
        <p:nvSpPr>
          <p:cNvPr id="24" name="Textfeld 23"/>
          <p:cNvSpPr txBox="1"/>
          <p:nvPr/>
        </p:nvSpPr>
        <p:spPr>
          <a:xfrm>
            <a:off x="323528" y="1347614"/>
            <a:ext cx="6120680" cy="1446550"/>
          </a:xfrm>
          <a:prstGeom prst="rect">
            <a:avLst/>
          </a:prstGeom>
          <a:noFill/>
        </p:spPr>
        <p:txBody>
          <a:bodyPr wrap="square" rtlCol="0">
            <a:spAutoFit/>
          </a:bodyPr>
          <a:lstStyle/>
          <a:p>
            <a:r>
              <a:rPr lang="de-DE" sz="4400" b="1" dirty="0" smtClean="0">
                <a:latin typeface="Palatino Linotype" panose="02040502050505030304" pitchFamily="18" charset="0"/>
              </a:rPr>
              <a:t>Gedanken zum Einsatz </a:t>
            </a:r>
            <a:endParaRPr lang="de-DE" sz="4400" b="1" dirty="0">
              <a:latin typeface="Palatino Linotype" panose="02040502050505030304" pitchFamily="18" charset="0"/>
            </a:endParaRPr>
          </a:p>
          <a:p>
            <a:r>
              <a:rPr lang="de-DE" sz="4400" b="1" dirty="0" smtClean="0">
                <a:solidFill>
                  <a:srgbClr val="FF0000"/>
                </a:solidFill>
                <a:latin typeface="Palatino Linotype" panose="02040502050505030304" pitchFamily="18" charset="0"/>
              </a:rPr>
              <a:t>künstlicher Intelligenz</a:t>
            </a:r>
          </a:p>
        </p:txBody>
      </p:sp>
      <p:pic>
        <p:nvPicPr>
          <p:cNvPr id="25" name="Picture 7" descr="What is ChatGPT? • How can ChatGPT help my business? • ui42.com"/>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089" t="14615" b="19142"/>
          <a:stretch/>
        </p:blipFill>
        <p:spPr bwMode="auto">
          <a:xfrm>
            <a:off x="323528" y="2930844"/>
            <a:ext cx="4176464" cy="165713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9992" y="3075806"/>
            <a:ext cx="1354068" cy="136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213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555526"/>
            <a:ext cx="7795224"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799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179512" y="1275606"/>
            <a:ext cx="8496944" cy="1938992"/>
          </a:xfrm>
          <a:prstGeom prst="rect">
            <a:avLst/>
          </a:prstGeom>
          <a:noFill/>
        </p:spPr>
        <p:txBody>
          <a:bodyPr wrap="square" rtlCol="0">
            <a:spAutoFit/>
          </a:bodyPr>
          <a:lstStyle/>
          <a:p>
            <a:pPr algn="ctr"/>
            <a:r>
              <a:rPr lang="de-DE" sz="6000" dirty="0" smtClean="0"/>
              <a:t>Wie kann man KI in der Mathematik nutzen?</a:t>
            </a:r>
            <a:endParaRPr lang="de-DE" sz="6000" dirty="0"/>
          </a:p>
        </p:txBody>
      </p:sp>
    </p:spTree>
    <p:extLst>
      <p:ext uri="{BB962C8B-B14F-4D97-AF65-F5344CB8AC3E}">
        <p14:creationId xmlns:p14="http://schemas.microsoft.com/office/powerpoint/2010/main" val="20406402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Jacques Hadamard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788293"/>
            <a:ext cx="2615575" cy="3295625"/>
          </a:xfrm>
          <a:prstGeom prst="rect">
            <a:avLst/>
          </a:prstGeom>
          <a:noFill/>
          <a:ln w="28575">
            <a:solidFill>
              <a:srgbClr val="0070C0"/>
            </a:solidFill>
          </a:ln>
          <a:extLst>
            <a:ext uri="{909E8E84-426E-40DD-AFC4-6F175D3DCCD1}">
              <a14:hiddenFill xmlns:a14="http://schemas.microsoft.com/office/drawing/2010/main">
                <a:solidFill>
                  <a:srgbClr val="FFFFFF"/>
                </a:solidFill>
              </a14:hiddenFill>
            </a:ext>
          </a:extLst>
        </p:spPr>
      </p:pic>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Psychologie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mathematischen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Entdeckens</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6276905" y="4155926"/>
            <a:ext cx="2615575" cy="677108"/>
          </a:xfrm>
          <a:prstGeom prst="rect">
            <a:avLst/>
          </a:prstGeom>
          <a:noFill/>
        </p:spPr>
        <p:txBody>
          <a:bodyPr wrap="square" rtlCol="0">
            <a:spAutoFit/>
          </a:bodyPr>
          <a:lstStyle/>
          <a:p>
            <a:pPr algn="ctr"/>
            <a:r>
              <a:rPr lang="de-DE" sz="2000" b="1" dirty="0"/>
              <a:t>Jacques </a:t>
            </a:r>
            <a:r>
              <a:rPr lang="de-DE" sz="2000" b="1" dirty="0" err="1" smtClean="0"/>
              <a:t>Hadamard</a:t>
            </a:r>
            <a:endParaRPr lang="de-DE" sz="2000" b="1" dirty="0" smtClean="0"/>
          </a:p>
          <a:p>
            <a:pPr algn="ctr"/>
            <a:r>
              <a:rPr lang="de-DE" dirty="0" smtClean="0"/>
              <a:t>(1865-1963)</a:t>
            </a:r>
            <a:endParaRPr lang="de-DE"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843558"/>
            <a:ext cx="5400600" cy="33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1875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Psychologie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mathematischen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Entdeckens</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07504" y="627534"/>
            <a:ext cx="3816424" cy="369332"/>
          </a:xfrm>
          <a:prstGeom prst="rect">
            <a:avLst/>
          </a:prstGeom>
          <a:noFill/>
        </p:spPr>
        <p:txBody>
          <a:bodyPr wrap="square" rtlCol="0">
            <a:spAutoFit/>
          </a:bodyPr>
          <a:lstStyle/>
          <a:p>
            <a:r>
              <a:rPr lang="de-DE" b="1" dirty="0" smtClean="0"/>
              <a:t>Entdeckung versus Erfindung</a:t>
            </a:r>
            <a:endParaRPr lang="de-DE" b="1" dirty="0"/>
          </a:p>
        </p:txBody>
      </p:sp>
      <p:sp>
        <p:nvSpPr>
          <p:cNvPr id="4" name="Textfeld 3"/>
          <p:cNvSpPr txBox="1"/>
          <p:nvPr/>
        </p:nvSpPr>
        <p:spPr>
          <a:xfrm>
            <a:off x="251520" y="1059582"/>
            <a:ext cx="8568952" cy="830997"/>
          </a:xfrm>
          <a:prstGeom prst="rect">
            <a:avLst/>
          </a:prstGeom>
          <a:noFill/>
        </p:spPr>
        <p:txBody>
          <a:bodyPr wrap="square" rtlCol="0">
            <a:spAutoFit/>
          </a:bodyPr>
          <a:lstStyle/>
          <a:p>
            <a:pPr marL="285750" indent="-285750">
              <a:buFont typeface="Arial" panose="020B0604020202020204" pitchFamily="34" charset="0"/>
              <a:buChar char="•"/>
            </a:pPr>
            <a:r>
              <a:rPr lang="de-DE" sz="1600" dirty="0" smtClean="0"/>
              <a:t>Unterschied zwischen Erfindung (z. B. Blitzableiter) und Entdeckung (z. B. Amerikas) verschwimme in der Praxis oft.</a:t>
            </a:r>
          </a:p>
          <a:p>
            <a:pPr marL="285750" indent="-285750">
              <a:buFont typeface="Arial" panose="020B0604020202020204" pitchFamily="34" charset="0"/>
              <a:buChar char="•"/>
            </a:pPr>
            <a:r>
              <a:rPr lang="de-DE" sz="1600" dirty="0" smtClean="0"/>
              <a:t>Für psychologische Prozesse irrelevant: Es wirken die gleichen geistigen Mechanismen.</a:t>
            </a:r>
          </a:p>
        </p:txBody>
      </p:sp>
      <p:sp>
        <p:nvSpPr>
          <p:cNvPr id="10" name="Textfeld 9"/>
          <p:cNvSpPr txBox="1"/>
          <p:nvPr/>
        </p:nvSpPr>
        <p:spPr>
          <a:xfrm>
            <a:off x="251520" y="1995686"/>
            <a:ext cx="5760640" cy="369332"/>
          </a:xfrm>
          <a:prstGeom prst="rect">
            <a:avLst/>
          </a:prstGeom>
          <a:noFill/>
        </p:spPr>
        <p:txBody>
          <a:bodyPr wrap="square" rtlCol="0">
            <a:spAutoFit/>
          </a:bodyPr>
          <a:lstStyle/>
          <a:p>
            <a:r>
              <a:rPr lang="de-DE" b="1" dirty="0"/>
              <a:t>Vier-Phasen-Modell des </a:t>
            </a:r>
            <a:r>
              <a:rPr lang="de-DE" b="1" dirty="0" smtClean="0"/>
              <a:t>Entdeckens/Erfindens</a:t>
            </a:r>
            <a:endParaRPr lang="de-DE" b="1" dirty="0"/>
          </a:p>
        </p:txBody>
      </p:sp>
      <p:sp>
        <p:nvSpPr>
          <p:cNvPr id="5" name="Textfeld 4"/>
          <p:cNvSpPr txBox="1"/>
          <p:nvPr/>
        </p:nvSpPr>
        <p:spPr>
          <a:xfrm>
            <a:off x="323528" y="2365018"/>
            <a:ext cx="8424936" cy="2739211"/>
          </a:xfrm>
          <a:prstGeom prst="rect">
            <a:avLst/>
          </a:prstGeom>
          <a:noFill/>
        </p:spPr>
        <p:txBody>
          <a:bodyPr wrap="square" rtlCol="0">
            <a:spAutoFit/>
          </a:bodyPr>
          <a:lstStyle/>
          <a:p>
            <a:pPr marL="285750" indent="-285750">
              <a:buFont typeface="Arial" panose="020B0604020202020204" pitchFamily="34" charset="0"/>
              <a:buChar char="•"/>
            </a:pPr>
            <a:r>
              <a:rPr lang="de-DE" sz="1600" dirty="0" err="1" smtClean="0"/>
              <a:t>Hadamard</a:t>
            </a:r>
            <a:r>
              <a:rPr lang="de-DE" sz="1600" dirty="0" smtClean="0"/>
              <a:t> berichtet, dass </a:t>
            </a:r>
            <a:r>
              <a:rPr lang="de-DE" sz="1600" dirty="0"/>
              <a:t>viele </a:t>
            </a:r>
            <a:r>
              <a:rPr lang="de-DE" sz="1600" dirty="0" smtClean="0"/>
              <a:t>seiner Einsichten </a:t>
            </a:r>
            <a:r>
              <a:rPr lang="de-DE" sz="1600" dirty="0"/>
              <a:t>plötzlich und ohne bewusstes Nachdenken </a:t>
            </a:r>
            <a:r>
              <a:rPr lang="de-DE" sz="1600" dirty="0" smtClean="0"/>
              <a:t>erschienen (Rolle des Unbewussten)</a:t>
            </a:r>
          </a:p>
          <a:p>
            <a:pPr marL="285750" indent="-285750">
              <a:buFont typeface="Arial" panose="020B0604020202020204" pitchFamily="34" charset="0"/>
              <a:buChar char="•"/>
            </a:pPr>
            <a:r>
              <a:rPr lang="de-DE" sz="1600" dirty="0" err="1" smtClean="0"/>
              <a:t>Hadamard</a:t>
            </a:r>
            <a:r>
              <a:rPr lang="de-DE" sz="1600" dirty="0" smtClean="0"/>
              <a:t> unterscheidet vier typische Phasen</a:t>
            </a:r>
            <a:r>
              <a:rPr lang="de-DE" sz="1600" dirty="0"/>
              <a:t>:</a:t>
            </a:r>
          </a:p>
          <a:p>
            <a:pPr marL="742950" lvl="1" indent="-285750">
              <a:buFont typeface="Arial" panose="020B0604020202020204" pitchFamily="34" charset="0"/>
              <a:buChar char="•"/>
            </a:pPr>
            <a:r>
              <a:rPr lang="de-DE" sz="1600" b="1" dirty="0"/>
              <a:t>Vorbereitung</a:t>
            </a:r>
            <a:r>
              <a:rPr lang="de-DE" sz="1600" dirty="0"/>
              <a:t> – bewusste Beschäftigung mit einem Problem</a:t>
            </a:r>
          </a:p>
          <a:p>
            <a:pPr marL="742950" lvl="1" indent="-285750">
              <a:buFont typeface="Arial" panose="020B0604020202020204" pitchFamily="34" charset="0"/>
              <a:buChar char="•"/>
            </a:pPr>
            <a:r>
              <a:rPr lang="de-DE" sz="1600" b="1" dirty="0"/>
              <a:t>Inkubation</a:t>
            </a:r>
            <a:r>
              <a:rPr lang="de-DE" sz="1600" dirty="0"/>
              <a:t> – Phase der Ablenkung, in der unbewusst gearbeitet wird</a:t>
            </a:r>
          </a:p>
          <a:p>
            <a:pPr marL="742950" lvl="1" indent="-285750">
              <a:buFont typeface="Arial" panose="020B0604020202020204" pitchFamily="34" charset="0"/>
              <a:buChar char="•"/>
            </a:pPr>
            <a:r>
              <a:rPr lang="de-DE" sz="1600" b="1" dirty="0"/>
              <a:t>Illumination</a:t>
            </a:r>
            <a:r>
              <a:rPr lang="de-DE" sz="1600" dirty="0"/>
              <a:t> – plötzliche Eingebung</a:t>
            </a:r>
          </a:p>
          <a:p>
            <a:pPr marL="742950" lvl="1" indent="-285750">
              <a:buFont typeface="Arial" panose="020B0604020202020204" pitchFamily="34" charset="0"/>
              <a:buChar char="•"/>
            </a:pPr>
            <a:r>
              <a:rPr lang="de-DE" sz="1600" b="1" dirty="0"/>
              <a:t>Verifikation</a:t>
            </a:r>
            <a:r>
              <a:rPr lang="de-DE" sz="1600" dirty="0"/>
              <a:t> – nachträgliche rationale Überprüfung und Ausarbeitung</a:t>
            </a:r>
          </a:p>
          <a:p>
            <a:endParaRPr lang="de-DE" sz="1200" dirty="0" smtClean="0"/>
          </a:p>
          <a:p>
            <a:pPr algn="ctr"/>
            <a:r>
              <a:rPr lang="de-DE" sz="1600" dirty="0" smtClean="0"/>
              <a:t>Entdecken/Erfinden bedeutet </a:t>
            </a:r>
            <a:r>
              <a:rPr lang="de-DE" sz="1600" dirty="0"/>
              <a:t>für </a:t>
            </a:r>
            <a:r>
              <a:rPr lang="de-DE" sz="1600" dirty="0" smtClean="0"/>
              <a:t>nicht </a:t>
            </a:r>
            <a:r>
              <a:rPr lang="de-DE" sz="1600" dirty="0"/>
              <a:t>bloßes Kombinieren von Ideen, sondern vor allem Auswahl</a:t>
            </a:r>
            <a:r>
              <a:rPr lang="de-DE" sz="1600" dirty="0" smtClean="0"/>
              <a:t>: „</a:t>
            </a:r>
            <a:r>
              <a:rPr lang="de-DE" sz="1600" b="1" dirty="0" err="1" smtClean="0"/>
              <a:t>To</a:t>
            </a:r>
            <a:r>
              <a:rPr lang="de-DE" sz="1600" b="1" dirty="0" smtClean="0"/>
              <a:t> </a:t>
            </a:r>
            <a:r>
              <a:rPr lang="de-DE" sz="1600" b="1" dirty="0" err="1" smtClean="0"/>
              <a:t>invent</a:t>
            </a:r>
            <a:r>
              <a:rPr lang="de-DE" sz="1600" b="1" dirty="0" smtClean="0"/>
              <a:t> </a:t>
            </a:r>
            <a:r>
              <a:rPr lang="de-DE" sz="1600" b="1" dirty="0" err="1" smtClean="0"/>
              <a:t>is</a:t>
            </a:r>
            <a:r>
              <a:rPr lang="de-DE" sz="1600" b="1" dirty="0" smtClean="0"/>
              <a:t> </a:t>
            </a:r>
            <a:r>
              <a:rPr lang="de-DE" sz="1600" b="1" dirty="0" err="1" smtClean="0"/>
              <a:t>to</a:t>
            </a:r>
            <a:r>
              <a:rPr lang="de-DE" sz="1600" b="1" dirty="0" smtClean="0"/>
              <a:t> </a:t>
            </a:r>
            <a:r>
              <a:rPr lang="de-DE" sz="1600" b="1" dirty="0" err="1" smtClean="0"/>
              <a:t>choose</a:t>
            </a:r>
            <a:r>
              <a:rPr lang="de-DE" sz="1600" b="1" dirty="0" smtClean="0"/>
              <a:t>“ </a:t>
            </a:r>
          </a:p>
          <a:p>
            <a:pPr algn="ctr"/>
            <a:r>
              <a:rPr lang="de-DE" sz="1600" dirty="0" smtClean="0"/>
              <a:t>(Hier spielt Ästhetik  für ihn eine wichtige Rolle)</a:t>
            </a:r>
          </a:p>
        </p:txBody>
      </p:sp>
    </p:spTree>
    <p:extLst>
      <p:ext uri="{BB962C8B-B14F-4D97-AF65-F5344CB8AC3E}">
        <p14:creationId xmlns:p14="http://schemas.microsoft.com/office/powerpoint/2010/main" val="190637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Psychologie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mathematischen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Entdeckens</a:t>
            </a:r>
            <a:endParaRPr lang="en-CA" sz="3200"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783"/>
          <a:stretch/>
        </p:blipFill>
        <p:spPr bwMode="auto">
          <a:xfrm>
            <a:off x="1098699" y="699542"/>
            <a:ext cx="6497637"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931790"/>
            <a:ext cx="703103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4707"/>
          <a:stretch/>
        </p:blipFill>
        <p:spPr bwMode="auto">
          <a:xfrm>
            <a:off x="1043608" y="3795886"/>
            <a:ext cx="6926263"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t="4262"/>
          <a:stretch/>
        </p:blipFill>
        <p:spPr bwMode="auto">
          <a:xfrm>
            <a:off x="1098699" y="1851670"/>
            <a:ext cx="6785669"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036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Verräumlichung</a:t>
            </a:r>
            <a:r>
              <a:rPr lang="en-US" sz="3200" dirty="0" smtClean="0">
                <a:solidFill>
                  <a:schemeClr val="bg1"/>
                </a:solidFill>
                <a:effectLst>
                  <a:outerShdw blurRad="38100" dist="38100" dir="2700000" algn="tl">
                    <a:srgbClr val="000000">
                      <a:alpha val="43137"/>
                    </a:srgbClr>
                  </a:outerShdw>
                </a:effectLst>
              </a:rPr>
              <a:t> und </a:t>
            </a:r>
            <a:r>
              <a:rPr lang="en-US" sz="3200" dirty="0" err="1" smtClean="0">
                <a:solidFill>
                  <a:schemeClr val="bg1"/>
                </a:solidFill>
                <a:effectLst>
                  <a:outerShdw blurRad="38100" dist="38100" dir="2700000" algn="tl">
                    <a:srgbClr val="000000">
                      <a:alpha val="43137"/>
                    </a:srgbClr>
                  </a:outerShdw>
                </a:effectLst>
              </a:rPr>
              <a:t>Dynamisierung</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9275"/>
            <a:ext cx="8784976" cy="892552"/>
          </a:xfrm>
          <a:prstGeom prst="rect">
            <a:avLst/>
          </a:prstGeom>
          <a:noFill/>
        </p:spPr>
        <p:txBody>
          <a:bodyPr wrap="square" rtlCol="0">
            <a:spAutoFit/>
          </a:bodyPr>
          <a:lstStyle/>
          <a:p>
            <a:r>
              <a:rPr lang="de-DE" sz="2000" b="1" dirty="0" smtClean="0"/>
              <a:t>Bewegung</a:t>
            </a:r>
          </a:p>
          <a:p>
            <a:r>
              <a:rPr lang="de-DE" sz="1600" dirty="0"/>
              <a:t>Dies begegnet uns schon in der Schule: Schulbücher konzeptualisieren die Addition und Subtraktion üblicherweise als </a:t>
            </a:r>
            <a:r>
              <a:rPr lang="de-DE" sz="1600" i="1" dirty="0"/>
              <a:t>Bewegung</a:t>
            </a:r>
            <a:r>
              <a:rPr lang="de-DE" sz="1600" dirty="0"/>
              <a:t> und Zahlen als Punkte auf einer Geraden</a:t>
            </a:r>
            <a:r>
              <a:rPr lang="de-DE" sz="1600" dirty="0" smtClean="0"/>
              <a:t>:</a:t>
            </a:r>
            <a:endParaRPr lang="de-DE" sz="1600" dirty="0"/>
          </a:p>
        </p:txBody>
      </p:sp>
      <p:pic>
        <p:nvPicPr>
          <p:cNvPr id="10" name="Picture 2" descr="https://i.gyazo.com/297478fbcc9a4c6435481662833a9dba.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0000"/>
          <a:stretch/>
        </p:blipFill>
        <p:spPr bwMode="auto">
          <a:xfrm>
            <a:off x="1043608" y="1603432"/>
            <a:ext cx="6912768" cy="168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5819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Verräumlichung</a:t>
            </a:r>
            <a:r>
              <a:rPr lang="en-US" sz="3200" dirty="0" smtClean="0">
                <a:solidFill>
                  <a:schemeClr val="bg1"/>
                </a:solidFill>
                <a:effectLst>
                  <a:outerShdw blurRad="38100" dist="38100" dir="2700000" algn="tl">
                    <a:srgbClr val="000000">
                      <a:alpha val="43137"/>
                    </a:srgbClr>
                  </a:outerShdw>
                </a:effectLst>
              </a:rPr>
              <a:t> und </a:t>
            </a:r>
            <a:r>
              <a:rPr lang="en-US" sz="3200" dirty="0" err="1" smtClean="0">
                <a:solidFill>
                  <a:schemeClr val="bg1"/>
                </a:solidFill>
                <a:effectLst>
                  <a:outerShdw blurRad="38100" dist="38100" dir="2700000" algn="tl">
                    <a:srgbClr val="000000">
                      <a:alpha val="43137"/>
                    </a:srgbClr>
                  </a:outerShdw>
                </a:effectLst>
              </a:rPr>
              <a:t>Dynamisierung</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9275"/>
            <a:ext cx="8784976" cy="1138773"/>
          </a:xfrm>
          <a:prstGeom prst="rect">
            <a:avLst/>
          </a:prstGeom>
          <a:noFill/>
        </p:spPr>
        <p:txBody>
          <a:bodyPr wrap="square" rtlCol="0">
            <a:spAutoFit/>
          </a:bodyPr>
          <a:lstStyle/>
          <a:p>
            <a:r>
              <a:rPr lang="de-DE" sz="2000" b="1" dirty="0" smtClean="0"/>
              <a:t>Bewegung</a:t>
            </a:r>
          </a:p>
          <a:p>
            <a:r>
              <a:rPr lang="de-DE" sz="1600" dirty="0" smtClean="0"/>
              <a:t>Dies </a:t>
            </a:r>
            <a:r>
              <a:rPr lang="de-DE" sz="1600" dirty="0"/>
              <a:t>schien schon den alten Ägyptern ein natürliches Konzept zu sein: Der Moskauer Papyrus, der in etwa auf das Jahr 1850 v. Chr. datiert wird, zeigt, dass die Ägypter die Addition durch vorwärtslaufende 𓂽 und die Subtraktion durch rückwärtslaufende Beine 𓂻 notierten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768048"/>
            <a:ext cx="8622134" cy="3107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5808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Verräumlichung</a:t>
            </a:r>
            <a:r>
              <a:rPr lang="en-US" sz="3200" dirty="0" smtClean="0">
                <a:solidFill>
                  <a:schemeClr val="bg1"/>
                </a:solidFill>
                <a:effectLst>
                  <a:outerShdw blurRad="38100" dist="38100" dir="2700000" algn="tl">
                    <a:srgbClr val="000000">
                      <a:alpha val="43137"/>
                    </a:srgbClr>
                  </a:outerShdw>
                </a:effectLst>
              </a:rPr>
              <a:t> und </a:t>
            </a:r>
            <a:r>
              <a:rPr lang="en-US" sz="3200" dirty="0" err="1" smtClean="0">
                <a:solidFill>
                  <a:schemeClr val="bg1"/>
                </a:solidFill>
                <a:effectLst>
                  <a:outerShdw blurRad="38100" dist="38100" dir="2700000" algn="tl">
                    <a:srgbClr val="000000">
                      <a:alpha val="43137"/>
                    </a:srgbClr>
                  </a:outerShdw>
                </a:effectLst>
              </a:rPr>
              <a:t>Dynamisierung</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9275"/>
            <a:ext cx="8784976" cy="2369880"/>
          </a:xfrm>
          <a:prstGeom prst="rect">
            <a:avLst/>
          </a:prstGeom>
          <a:noFill/>
        </p:spPr>
        <p:txBody>
          <a:bodyPr wrap="square" rtlCol="0">
            <a:spAutoFit/>
          </a:bodyPr>
          <a:lstStyle/>
          <a:p>
            <a:r>
              <a:rPr lang="de-DE" sz="2000" b="1" dirty="0" smtClean="0"/>
              <a:t>Bewegung</a:t>
            </a:r>
          </a:p>
          <a:p>
            <a:pPr algn="just"/>
            <a:r>
              <a:rPr lang="de-DE" sz="1600" dirty="0"/>
              <a:t>Wir finden dieses motorische Denkschema aber nicht nur in der Arithmetik wieder, sondern auch vielfach in der Analysis. Ob man </a:t>
            </a:r>
            <a:r>
              <a:rPr lang="de-DE" sz="1600" i="1" dirty="0"/>
              <a:t>x</a:t>
            </a:r>
            <a:r>
              <a:rPr lang="de-DE" sz="1600" dirty="0"/>
              <a:t> gegen unendlich </a:t>
            </a:r>
            <a:r>
              <a:rPr lang="de-DE" sz="1600" i="1" dirty="0"/>
              <a:t>gehen</a:t>
            </a:r>
            <a:r>
              <a:rPr lang="de-DE" sz="1600" dirty="0"/>
              <a:t> lässt, sich zwei Funktionen einem gemeinsamen Berührpunkt </a:t>
            </a:r>
            <a:r>
              <a:rPr lang="de-DE" sz="1600" i="1" dirty="0"/>
              <a:t>annähern</a:t>
            </a:r>
            <a:r>
              <a:rPr lang="de-DE" sz="1600" dirty="0"/>
              <a:t>, oder eine Reihe, deren gebundene Variable einen bestimmten Bereich </a:t>
            </a:r>
            <a:r>
              <a:rPr lang="de-DE" sz="1600" i="1" dirty="0"/>
              <a:t>durchläuft</a:t>
            </a:r>
            <a:r>
              <a:rPr lang="de-DE" sz="1600" dirty="0"/>
              <a:t> für </a:t>
            </a:r>
            <a:r>
              <a:rPr lang="de-DE" sz="1600" i="1" dirty="0"/>
              <a:t>wachsendes</a:t>
            </a:r>
            <a:r>
              <a:rPr lang="de-DE" sz="1600" dirty="0"/>
              <a:t> </a:t>
            </a:r>
            <a:r>
              <a:rPr lang="de-DE" sz="1600" i="1" dirty="0"/>
              <a:t>n</a:t>
            </a:r>
            <a:r>
              <a:rPr lang="de-DE" sz="1600" dirty="0"/>
              <a:t> gegen einen Wert </a:t>
            </a:r>
            <a:r>
              <a:rPr lang="de-DE" sz="1600" i="1" dirty="0"/>
              <a:t>strebt</a:t>
            </a:r>
            <a:r>
              <a:rPr lang="de-DE" sz="1600" dirty="0"/>
              <a:t>. Funktionen können </a:t>
            </a:r>
            <a:r>
              <a:rPr lang="de-DE" sz="1600" i="1" dirty="0"/>
              <a:t>fallen</a:t>
            </a:r>
            <a:r>
              <a:rPr lang="de-DE" sz="1600" dirty="0"/>
              <a:t>, </a:t>
            </a:r>
            <a:r>
              <a:rPr lang="de-DE" sz="1600" i="1" dirty="0"/>
              <a:t>steigen</a:t>
            </a:r>
            <a:r>
              <a:rPr lang="de-DE" sz="1600" dirty="0"/>
              <a:t>, </a:t>
            </a:r>
            <a:r>
              <a:rPr lang="de-DE" sz="1600" i="1" dirty="0"/>
              <a:t>oszillieren</a:t>
            </a:r>
            <a:r>
              <a:rPr lang="de-DE" sz="1600" dirty="0"/>
              <a:t>, durch den Koordinatenursprung </a:t>
            </a:r>
            <a:r>
              <a:rPr lang="de-DE" sz="1600" i="1" dirty="0"/>
              <a:t>verlaufen</a:t>
            </a:r>
            <a:r>
              <a:rPr lang="de-DE" sz="1600" dirty="0"/>
              <a:t>. Dass diese Mobilität in den formalen Definitionen selbst nicht enthalten ist, stellt einen gut (empirisch) erforschten Grund dafür dar, dass Studenten Probleme mit der ‚</a:t>
            </a:r>
            <a:r>
              <a:rPr lang="de-DE" sz="1600" dirty="0" err="1"/>
              <a:t>Epsilontik</a:t>
            </a:r>
            <a:r>
              <a:rPr lang="de-DE" sz="1600" dirty="0"/>
              <a:t>‘ haben, da das </a:t>
            </a:r>
            <a:r>
              <a:rPr lang="de-DE" sz="1600" i="1" dirty="0"/>
              <a:t>Sich-Annähern</a:t>
            </a:r>
            <a:r>
              <a:rPr lang="de-DE" sz="1600" dirty="0"/>
              <a:t>, das </a:t>
            </a:r>
            <a:r>
              <a:rPr lang="de-DE" sz="1600" i="1" dirty="0"/>
              <a:t>Zulaufen</a:t>
            </a:r>
            <a:r>
              <a:rPr lang="de-DE" sz="1600" dirty="0"/>
              <a:t> auf einen Punkt vorwiegend dynamisch konzeptualisiert wird, die formale Charakterisierung aber „statisch“ </a:t>
            </a:r>
            <a:r>
              <a:rPr lang="de-DE" sz="1600" dirty="0" smtClean="0"/>
              <a:t>ist.</a:t>
            </a:r>
            <a:endParaRPr lang="de-DE" sz="1600" dirty="0"/>
          </a:p>
        </p:txBody>
      </p:sp>
    </p:spTree>
    <p:extLst>
      <p:ext uri="{BB962C8B-B14F-4D97-AF65-F5344CB8AC3E}">
        <p14:creationId xmlns:p14="http://schemas.microsoft.com/office/powerpoint/2010/main" val="24292725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Verräumlichung</a:t>
            </a:r>
            <a:r>
              <a:rPr lang="en-US" sz="3200" dirty="0" smtClean="0">
                <a:solidFill>
                  <a:schemeClr val="bg1"/>
                </a:solidFill>
                <a:effectLst>
                  <a:outerShdw blurRad="38100" dist="38100" dir="2700000" algn="tl">
                    <a:srgbClr val="000000">
                      <a:alpha val="43137"/>
                    </a:srgbClr>
                  </a:outerShdw>
                </a:effectLst>
              </a:rPr>
              <a:t> und </a:t>
            </a:r>
            <a:r>
              <a:rPr lang="en-US" sz="3200" dirty="0" err="1" smtClean="0">
                <a:solidFill>
                  <a:schemeClr val="bg1"/>
                </a:solidFill>
                <a:effectLst>
                  <a:outerShdw blurRad="38100" dist="38100" dir="2700000" algn="tl">
                    <a:srgbClr val="000000">
                      <a:alpha val="43137"/>
                    </a:srgbClr>
                  </a:outerShdw>
                </a:effectLst>
              </a:rPr>
              <a:t>Dynamisierung</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578167"/>
            <a:ext cx="8784976" cy="4585871"/>
          </a:xfrm>
          <a:prstGeom prst="rect">
            <a:avLst/>
          </a:prstGeom>
          <a:noFill/>
        </p:spPr>
        <p:txBody>
          <a:bodyPr wrap="square" rtlCol="0">
            <a:spAutoFit/>
          </a:bodyPr>
          <a:lstStyle/>
          <a:p>
            <a:r>
              <a:rPr lang="de-DE" sz="2000" b="1" dirty="0" smtClean="0"/>
              <a:t>Raum</a:t>
            </a:r>
          </a:p>
          <a:p>
            <a:pPr algn="just"/>
            <a:r>
              <a:rPr lang="de-DE" sz="1600" dirty="0" smtClean="0"/>
              <a:t>Der </a:t>
            </a:r>
            <a:r>
              <a:rPr lang="de-DE" sz="1600" dirty="0"/>
              <a:t>abstrakte Raumbegriff eröffnet ein ganzes „Feld“ </a:t>
            </a:r>
            <a:r>
              <a:rPr lang="de-DE" sz="1600" dirty="0" err="1"/>
              <a:t>topischer</a:t>
            </a:r>
            <a:r>
              <a:rPr lang="de-DE" sz="1600" dirty="0"/>
              <a:t> Begriffe: innen und außen, vorne und hinten, zentral und peripher, höher und tiefer. Wir sprechen heute wie selbstverständlich davon, dass Urlaube </a:t>
            </a:r>
            <a:r>
              <a:rPr lang="de-DE" sz="1600" i="1" dirty="0"/>
              <a:t>lang</a:t>
            </a:r>
            <a:r>
              <a:rPr lang="de-DE" sz="1600" dirty="0"/>
              <a:t> oder </a:t>
            </a:r>
            <a:r>
              <a:rPr lang="de-DE" sz="1600" i="1" dirty="0"/>
              <a:t>kurz</a:t>
            </a:r>
            <a:r>
              <a:rPr lang="de-DE" sz="1600" dirty="0"/>
              <a:t> sind, ein Gespräch </a:t>
            </a:r>
            <a:r>
              <a:rPr lang="de-DE" sz="1600" i="1" dirty="0"/>
              <a:t>hohes</a:t>
            </a:r>
            <a:r>
              <a:rPr lang="de-DE" sz="1600" dirty="0"/>
              <a:t> oder </a:t>
            </a:r>
            <a:r>
              <a:rPr lang="de-DE" sz="1600" i="1" dirty="0"/>
              <a:t>niedriges </a:t>
            </a:r>
            <a:r>
              <a:rPr lang="de-DE" sz="1600" dirty="0"/>
              <a:t>Niveau</a:t>
            </a:r>
            <a:r>
              <a:rPr lang="de-DE" sz="1600" i="1" dirty="0"/>
              <a:t> </a:t>
            </a:r>
            <a:r>
              <a:rPr lang="de-DE" sz="1600" dirty="0"/>
              <a:t>hat, Zahlen </a:t>
            </a:r>
            <a:r>
              <a:rPr lang="de-DE" sz="1600" i="1" dirty="0"/>
              <a:t>groß</a:t>
            </a:r>
            <a:r>
              <a:rPr lang="de-DE" sz="1600" dirty="0"/>
              <a:t> oder </a:t>
            </a:r>
            <a:r>
              <a:rPr lang="de-DE" sz="1600" i="1" dirty="0"/>
              <a:t>klein </a:t>
            </a:r>
            <a:r>
              <a:rPr lang="de-DE" sz="1600" dirty="0"/>
              <a:t>sein können. Der Begriff „Raum“ tritt heute in vielen festen Syntagmen auf; als sozialer Raum, kultureller Raum, virtueller Raum, usf. Diese verfügen je über eigene </a:t>
            </a:r>
            <a:r>
              <a:rPr lang="de-DE" sz="1600" dirty="0" err="1"/>
              <a:t>spatiale</a:t>
            </a:r>
            <a:r>
              <a:rPr lang="de-DE" sz="1600" dirty="0"/>
              <a:t> </a:t>
            </a:r>
            <a:r>
              <a:rPr lang="de-DE" sz="1600" dirty="0" err="1"/>
              <a:t>Logiken</a:t>
            </a:r>
            <a:r>
              <a:rPr lang="de-DE" sz="1600" dirty="0"/>
              <a:t>. Im politischen Raum etwa wird die Topik in Begriffen von „links“ und „rechts“ strukturiert. Selbst Emotionen bilden wir in räumlichen Kategorien ab: „Die Stimmung steigt/sinkt“, „Ich fühle mich niedergeschlagen“, „Er hat ein Tief“, „Sie ist hochmütig“. Die ubiquitäre Verwendung räumlicher Denkschemata macht es wenig verwunderlich, dass Räumlichkeit in der Mathematik eine wichtige Rolle spielt. Der Begriff „Raum“, obgleich er in der Mathematik überall vorkommt – metrischer Raum, Vektorraum, Wahrscheinlichkeitsraum, usw. – ist selbst nicht formal fixiert. </a:t>
            </a:r>
            <a:endParaRPr lang="de-DE" sz="1600" dirty="0" smtClean="0"/>
          </a:p>
          <a:p>
            <a:pPr algn="just"/>
            <a:endParaRPr lang="de-DE" sz="1600" dirty="0"/>
          </a:p>
          <a:p>
            <a:pPr algn="just"/>
            <a:r>
              <a:rPr lang="de-DE" sz="1600" dirty="0"/>
              <a:t>Zahlen haben strenggenommen keinen Ort, werden aber durch die Vorstellung des Zahlenstrahls adressierbar, platzierbar, örtlich. Und dies in einer Weise, dass „große“ Zahlen auch „weit“ vom Ursprung entfernt </a:t>
            </a:r>
            <a:r>
              <a:rPr lang="de-DE" sz="1600" dirty="0" smtClean="0"/>
              <a:t>sind (</a:t>
            </a:r>
            <a:r>
              <a:rPr lang="de-DE" sz="1600" dirty="0" err="1" smtClean="0"/>
              <a:t>conceptual</a:t>
            </a:r>
            <a:r>
              <a:rPr lang="de-DE" sz="1600" dirty="0" smtClean="0"/>
              <a:t> </a:t>
            </a:r>
            <a:r>
              <a:rPr lang="de-DE" sz="1600" dirty="0" err="1" smtClean="0"/>
              <a:t>blend</a:t>
            </a:r>
            <a:r>
              <a:rPr lang="de-DE" sz="1600" dirty="0" smtClean="0"/>
              <a:t>). </a:t>
            </a:r>
            <a:r>
              <a:rPr lang="de-DE" sz="1600" dirty="0"/>
              <a:t>Eine kühne </a:t>
            </a:r>
            <a:r>
              <a:rPr lang="de-DE" sz="1600" dirty="0" err="1"/>
              <a:t>Verräumlichung</a:t>
            </a:r>
            <a:r>
              <a:rPr lang="de-DE" sz="1600" dirty="0"/>
              <a:t> des Abstrakten</a:t>
            </a:r>
            <a:r>
              <a:rPr lang="de-DE" sz="1600" dirty="0" smtClean="0"/>
              <a:t>. Auch: Mengen als Behälter.</a:t>
            </a:r>
          </a:p>
          <a:p>
            <a:pPr algn="ctr"/>
            <a:r>
              <a:rPr lang="de-DE" sz="1600" dirty="0" smtClean="0">
                <a:sym typeface="Wingdings" panose="05000000000000000000" pitchFamily="2" charset="2"/>
              </a:rPr>
              <a:t> Diagramme, Skizzen, Zeichen, etc. sind auch räumlich ausgedehnte Objekte.</a:t>
            </a:r>
            <a:endParaRPr lang="de-DE" sz="1600" dirty="0"/>
          </a:p>
        </p:txBody>
      </p:sp>
    </p:spTree>
    <p:extLst>
      <p:ext uri="{BB962C8B-B14F-4D97-AF65-F5344CB8AC3E}">
        <p14:creationId xmlns:p14="http://schemas.microsoft.com/office/powerpoint/2010/main" val="66726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Metaphern</a:t>
            </a:r>
            <a:r>
              <a:rPr lang="en-US" sz="3200" dirty="0" smtClean="0">
                <a:solidFill>
                  <a:schemeClr val="bg1"/>
                </a:solidFill>
                <a:effectLst>
                  <a:outerShdw blurRad="38100" dist="38100" dir="2700000" algn="tl">
                    <a:srgbClr val="000000">
                      <a:alpha val="43137"/>
                    </a:srgbClr>
                  </a:outerShdw>
                </a:effectLst>
              </a:rPr>
              <a:t> der </a:t>
            </a:r>
            <a:r>
              <a:rPr lang="en-US"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7534"/>
            <a:ext cx="8784976" cy="3139321"/>
          </a:xfrm>
          <a:prstGeom prst="rect">
            <a:avLst/>
          </a:prstGeom>
          <a:noFill/>
        </p:spPr>
        <p:txBody>
          <a:bodyPr wrap="square" rtlCol="0">
            <a:spAutoFit/>
          </a:bodyPr>
          <a:lstStyle/>
          <a:p>
            <a:pPr algn="just"/>
            <a:r>
              <a:rPr lang="de-DE" i="1" dirty="0"/>
              <a:t>Die Mathematik verfügt über eine reichhaltige, lebensweltliche Metaphorik, die über </a:t>
            </a:r>
            <a:r>
              <a:rPr lang="de-DE" i="1" dirty="0" err="1"/>
              <a:t>spatiale</a:t>
            </a:r>
            <a:r>
              <a:rPr lang="de-DE" i="1" dirty="0"/>
              <a:t> und motorische Begriffe hinausgeht</a:t>
            </a:r>
            <a:r>
              <a:rPr lang="de-DE" dirty="0"/>
              <a:t>. </a:t>
            </a:r>
            <a:endParaRPr lang="de-DE" dirty="0" smtClean="0"/>
          </a:p>
          <a:p>
            <a:pPr algn="just"/>
            <a:endParaRPr lang="de-DE" dirty="0"/>
          </a:p>
          <a:p>
            <a:pPr algn="just"/>
            <a:r>
              <a:rPr lang="de-DE" dirty="0" smtClean="0"/>
              <a:t>In </a:t>
            </a:r>
            <a:r>
              <a:rPr lang="de-DE" dirty="0"/>
              <a:t>einigen Bereichen werden bestimmte Wortmilieus regelrecht zu ganzen semantischen Komplexen verdichtet. In der Topologie ist von „Garben“ die Rede, die aus „Halmen“ bestehen – von „Zöpfen“, „Netzen“, „Ketten“, „Blättern“ oder „Skeletten“. In der Funktionalanalysis spricht man von „Räumen mit Gewebe“, in der Differentialgeometrie von „Faserbündeln“, in der Gruppentheorie von „Bahnen“ und „</a:t>
            </a:r>
            <a:r>
              <a:rPr lang="de-DE" dirty="0" err="1"/>
              <a:t>Orbiträumen</a:t>
            </a:r>
            <a:r>
              <a:rPr lang="de-DE" dirty="0"/>
              <a:t>“, in der linearen Algebra von der „Hülle“ bzw. dem „Spannraum“. In der Analysis werden unendlich oft differenzierbare Funktionen als „glatt“ bezeichnet, von </a:t>
            </a:r>
            <a:r>
              <a:rPr lang="de-DE" dirty="0" smtClean="0"/>
              <a:t>„fallenden“ </a:t>
            </a:r>
            <a:r>
              <a:rPr lang="de-DE" dirty="0"/>
              <a:t>und </a:t>
            </a:r>
            <a:r>
              <a:rPr lang="de-DE" dirty="0" smtClean="0"/>
              <a:t>„steigenden“ </a:t>
            </a:r>
            <a:r>
              <a:rPr lang="de-DE" dirty="0"/>
              <a:t>Funktionen gesprochen.</a:t>
            </a:r>
            <a:endParaRPr lang="de-DE" sz="1400" dirty="0"/>
          </a:p>
        </p:txBody>
      </p:sp>
    </p:spTree>
    <p:extLst>
      <p:ext uri="{BB962C8B-B14F-4D97-AF65-F5344CB8AC3E}">
        <p14:creationId xmlns:p14="http://schemas.microsoft.com/office/powerpoint/2010/main" val="173699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p:cNvSpPr txBox="1"/>
          <p:nvPr/>
        </p:nvSpPr>
        <p:spPr>
          <a:xfrm>
            <a:off x="251520" y="1131590"/>
            <a:ext cx="8496944" cy="2554545"/>
          </a:xfrm>
          <a:prstGeom prst="rect">
            <a:avLst/>
          </a:prstGeom>
          <a:noFill/>
        </p:spPr>
        <p:txBody>
          <a:bodyPr wrap="square" rtlCol="0">
            <a:spAutoFit/>
          </a:bodyPr>
          <a:lstStyle/>
          <a:p>
            <a:pPr algn="ctr"/>
            <a:r>
              <a:rPr lang="de-DE" sz="8000" dirty="0" smtClean="0"/>
              <a:t>KI als assoziativer Resonanzraum</a:t>
            </a:r>
            <a:endParaRPr lang="de-DE" sz="8000" dirty="0"/>
          </a:p>
        </p:txBody>
      </p:sp>
    </p:spTree>
    <p:extLst>
      <p:ext uri="{BB962C8B-B14F-4D97-AF65-F5344CB8AC3E}">
        <p14:creationId xmlns:p14="http://schemas.microsoft.com/office/powerpoint/2010/main" val="24966597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Material </a:t>
            </a:r>
            <a:r>
              <a:rPr lang="en-US" sz="3200" dirty="0" err="1" smtClean="0">
                <a:solidFill>
                  <a:schemeClr val="bg1"/>
                </a:solidFill>
                <a:effectLst>
                  <a:outerShdw blurRad="38100" dist="38100" dir="2700000" algn="tl">
                    <a:srgbClr val="000000">
                      <a:alpha val="43137"/>
                    </a:srgbClr>
                  </a:outerShdw>
                </a:effectLst>
              </a:rPr>
              <a:t>fürs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Unbewusste</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2237" y="699542"/>
            <a:ext cx="630326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179512" y="1290784"/>
            <a:ext cx="6120680" cy="400110"/>
          </a:xfrm>
          <a:prstGeom prst="rect">
            <a:avLst/>
          </a:prstGeom>
          <a:noFill/>
        </p:spPr>
        <p:txBody>
          <a:bodyPr wrap="square" rtlCol="0">
            <a:spAutoFit/>
          </a:bodyPr>
          <a:lstStyle/>
          <a:p>
            <a:r>
              <a:rPr lang="de-DE" sz="2000" b="1" dirty="0" smtClean="0"/>
              <a:t>„Wie fühlt sich dieser Satz an?“</a:t>
            </a:r>
            <a:endParaRPr lang="de-DE" sz="2000" b="1" dirty="0"/>
          </a:p>
        </p:txBody>
      </p:sp>
      <p:sp>
        <p:nvSpPr>
          <p:cNvPr id="5" name="Textfeld 4"/>
          <p:cNvSpPr txBox="1"/>
          <p:nvPr/>
        </p:nvSpPr>
        <p:spPr>
          <a:xfrm>
            <a:off x="198967" y="1690894"/>
            <a:ext cx="8712968" cy="1200329"/>
          </a:xfrm>
          <a:prstGeom prst="rect">
            <a:avLst/>
          </a:prstGeom>
          <a:noFill/>
        </p:spPr>
        <p:txBody>
          <a:bodyPr wrap="square" rtlCol="0">
            <a:spAutoFit/>
          </a:bodyPr>
          <a:lstStyle/>
          <a:p>
            <a:pPr algn="just"/>
            <a:r>
              <a:rPr lang="de-DE" dirty="0" smtClean="0"/>
              <a:t>Der </a:t>
            </a:r>
            <a:r>
              <a:rPr lang="de-DE" dirty="0"/>
              <a:t>Satz wirkt, als drängten unendlich viele Menschen in einen begrenzten Raum, wodurch sich die Distanz zwischen ihnen immer weiter verringert und mit der Zeit an bestimmten Stellen zwangsläufig eine dichte Versammlung entstehen muss, damit alle Platz haben – genau dieser Zusammenballungsort ist der Häufungspunkt.</a:t>
            </a:r>
          </a:p>
        </p:txBody>
      </p:sp>
      <p:sp>
        <p:nvSpPr>
          <p:cNvPr id="6" name="Rechteck 5"/>
          <p:cNvSpPr/>
          <p:nvPr/>
        </p:nvSpPr>
        <p:spPr>
          <a:xfrm>
            <a:off x="251520" y="2915030"/>
            <a:ext cx="2461443" cy="369332"/>
          </a:xfrm>
          <a:prstGeom prst="rect">
            <a:avLst/>
          </a:prstGeom>
        </p:spPr>
        <p:txBody>
          <a:bodyPr wrap="none">
            <a:spAutoFit/>
          </a:bodyPr>
          <a:lstStyle/>
          <a:p>
            <a:r>
              <a:rPr lang="de-DE" b="1" dirty="0" smtClean="0"/>
              <a:t>„Stelle das grafisch dar“</a:t>
            </a:r>
            <a:endParaRPr lang="de-DE" b="1" dirty="0"/>
          </a:p>
        </p:txBody>
      </p:sp>
      <p:pic>
        <p:nvPicPr>
          <p:cNvPr id="13" name="Picture 5" descr="D:\Downloads\ChatGPT Image May 23, 2025, 12_34_20 PM.png"/>
          <p:cNvPicPr>
            <a:picLocks noChangeAspect="1" noChangeArrowheads="1"/>
          </p:cNvPicPr>
          <p:nvPr/>
        </p:nvPicPr>
        <p:blipFill>
          <a:blip r:embed="rId3" cstate="print">
            <a:clrChange>
              <a:clrFrom>
                <a:srgbClr val="FFFEFE"/>
              </a:clrFrom>
              <a:clrTo>
                <a:srgbClr val="FFFEFE">
                  <a:alpha val="0"/>
                </a:srgbClr>
              </a:clrTo>
            </a:clrChange>
            <a:extLst>
              <a:ext uri="{28A0092B-C50C-407E-A947-70E740481C1C}">
                <a14:useLocalDpi xmlns:a14="http://schemas.microsoft.com/office/drawing/2010/main" val="0"/>
              </a:ext>
            </a:extLst>
          </a:blip>
          <a:srcRect/>
          <a:stretch>
            <a:fillRect/>
          </a:stretch>
        </p:blipFill>
        <p:spPr bwMode="auto">
          <a:xfrm>
            <a:off x="3419872" y="3131054"/>
            <a:ext cx="1888968" cy="1888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00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Material </a:t>
            </a:r>
            <a:r>
              <a:rPr lang="en-US" sz="3200" dirty="0" err="1" smtClean="0">
                <a:solidFill>
                  <a:schemeClr val="bg1"/>
                </a:solidFill>
                <a:effectLst>
                  <a:outerShdw blurRad="38100" dist="38100" dir="2700000" algn="tl">
                    <a:srgbClr val="000000">
                      <a:alpha val="43137"/>
                    </a:srgbClr>
                  </a:outerShdw>
                </a:effectLst>
              </a:rPr>
              <a:t>fürs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Unbewusste</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2237" y="699542"/>
            <a:ext cx="630326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396552" y="1290784"/>
            <a:ext cx="8640960" cy="400110"/>
          </a:xfrm>
          <a:prstGeom prst="rect">
            <a:avLst/>
          </a:prstGeom>
          <a:noFill/>
        </p:spPr>
        <p:txBody>
          <a:bodyPr wrap="square" rtlCol="0">
            <a:spAutoFit/>
          </a:bodyPr>
          <a:lstStyle/>
          <a:p>
            <a:pPr algn="ctr"/>
            <a:r>
              <a:rPr lang="de-DE" sz="2000" b="1" dirty="0" smtClean="0"/>
              <a:t>„Erkläre mir die Aussage des Satzes in Form eines Bildes/Metapher.“</a:t>
            </a:r>
            <a:endParaRPr lang="de-DE" sz="2000" b="1" dirty="0"/>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787715"/>
            <a:ext cx="5688632" cy="193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descr="D:\Downloads\ChatGPT Image May 23, 2025, 01_32_26 PM.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86983" y="1800200"/>
            <a:ext cx="2777505" cy="1851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75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Material </a:t>
            </a:r>
            <a:r>
              <a:rPr lang="en-US" sz="3200" dirty="0" err="1" smtClean="0">
                <a:solidFill>
                  <a:schemeClr val="bg1"/>
                </a:solidFill>
                <a:effectLst>
                  <a:outerShdw blurRad="38100" dist="38100" dir="2700000" algn="tl">
                    <a:srgbClr val="000000">
                      <a:alpha val="43137"/>
                    </a:srgbClr>
                  </a:outerShdw>
                </a:effectLst>
              </a:rPr>
              <a:t>fürs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Unbewusste</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2237" y="699542"/>
            <a:ext cx="630326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179512" y="1290784"/>
            <a:ext cx="8640960" cy="707886"/>
          </a:xfrm>
          <a:prstGeom prst="rect">
            <a:avLst/>
          </a:prstGeom>
          <a:noFill/>
        </p:spPr>
        <p:txBody>
          <a:bodyPr wrap="square" rtlCol="0">
            <a:spAutoFit/>
          </a:bodyPr>
          <a:lstStyle/>
          <a:p>
            <a:pPr algn="ctr"/>
            <a:r>
              <a:rPr lang="de-DE" sz="2000" b="1" dirty="0" smtClean="0"/>
              <a:t>„Erkläre mir die Aussage des Satzes in Form einer bildlichen Geschichte. Versetze dich in die Perspektive der Folge“</a:t>
            </a:r>
            <a:endParaRPr lang="de-DE" sz="2000" b="1"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59" y="2167111"/>
            <a:ext cx="8449813" cy="1484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971" y="3746834"/>
            <a:ext cx="8428501" cy="91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458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Material </a:t>
            </a:r>
            <a:r>
              <a:rPr lang="en-US" sz="3200" dirty="0" err="1" smtClean="0">
                <a:solidFill>
                  <a:schemeClr val="bg1"/>
                </a:solidFill>
                <a:effectLst>
                  <a:outerShdw blurRad="38100" dist="38100" dir="2700000" algn="tl">
                    <a:srgbClr val="000000">
                      <a:alpha val="43137"/>
                    </a:srgbClr>
                  </a:outerShdw>
                </a:effectLst>
              </a:rPr>
              <a:t>fürs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Unbewusste</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2237" y="699542"/>
            <a:ext cx="630326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179512" y="1290784"/>
            <a:ext cx="8640960" cy="707886"/>
          </a:xfrm>
          <a:prstGeom prst="rect">
            <a:avLst/>
          </a:prstGeom>
          <a:noFill/>
        </p:spPr>
        <p:txBody>
          <a:bodyPr wrap="square" rtlCol="0">
            <a:spAutoFit/>
          </a:bodyPr>
          <a:lstStyle/>
          <a:p>
            <a:pPr algn="ctr"/>
            <a:r>
              <a:rPr lang="de-DE" sz="2000" b="1" dirty="0" smtClean="0"/>
              <a:t>„Erkläre mir die Aussage des Satzes in Form einer bildlichen Geschichte. Versetze dich in die Perspektive der Folge“</a:t>
            </a:r>
            <a:endParaRPr lang="de-DE" sz="2000" b="1" dirty="0"/>
          </a:p>
        </p:txBody>
      </p:sp>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5613"/>
          <a:stretch/>
        </p:blipFill>
        <p:spPr bwMode="auto">
          <a:xfrm>
            <a:off x="323528" y="2067694"/>
            <a:ext cx="8563155" cy="117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39" y="3355058"/>
            <a:ext cx="8549333" cy="1203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496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Material </a:t>
            </a:r>
            <a:r>
              <a:rPr lang="en-US" sz="3200" dirty="0" err="1" smtClean="0">
                <a:solidFill>
                  <a:schemeClr val="bg1"/>
                </a:solidFill>
                <a:effectLst>
                  <a:outerShdw blurRad="38100" dist="38100" dir="2700000" algn="tl">
                    <a:srgbClr val="000000">
                      <a:alpha val="43137"/>
                    </a:srgbClr>
                  </a:outerShdw>
                </a:effectLst>
              </a:rPr>
              <a:t>fürs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Unbewusste</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2237" y="699542"/>
            <a:ext cx="6303263"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179512" y="1290784"/>
            <a:ext cx="8640960" cy="707886"/>
          </a:xfrm>
          <a:prstGeom prst="rect">
            <a:avLst/>
          </a:prstGeom>
          <a:noFill/>
        </p:spPr>
        <p:txBody>
          <a:bodyPr wrap="square" rtlCol="0">
            <a:spAutoFit/>
          </a:bodyPr>
          <a:lstStyle/>
          <a:p>
            <a:pPr algn="ctr"/>
            <a:r>
              <a:rPr lang="de-DE" sz="2000" b="1" dirty="0" smtClean="0"/>
              <a:t>„Erkläre mir die Aussage des Satzes in Form einer bildlichen Geschichte. Versetze dich in die Perspektive der Folge“</a:t>
            </a:r>
            <a:endParaRPr lang="de-DE" sz="2000" b="1"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020756"/>
            <a:ext cx="8224528" cy="207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420" y="4227935"/>
            <a:ext cx="7277956" cy="279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4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Weitere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Ideen</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7534"/>
            <a:ext cx="8856984" cy="646331"/>
          </a:xfrm>
          <a:prstGeom prst="rect">
            <a:avLst/>
          </a:prstGeom>
          <a:noFill/>
        </p:spPr>
        <p:txBody>
          <a:bodyPr wrap="square" rtlCol="0">
            <a:spAutoFit/>
          </a:bodyPr>
          <a:lstStyle/>
          <a:p>
            <a:pPr marL="285750" indent="-285750">
              <a:buFont typeface="Arial" panose="020B0604020202020204" pitchFamily="34" charset="0"/>
              <a:buChar char="•"/>
            </a:pPr>
            <a:r>
              <a:rPr lang="de-DE" dirty="0" smtClean="0"/>
              <a:t>Gerichtsszene / Sokratisches Gespräch</a:t>
            </a:r>
          </a:p>
          <a:p>
            <a:pPr marL="285750" indent="-285750">
              <a:buFont typeface="Arial" panose="020B0604020202020204" pitchFamily="34" charset="0"/>
              <a:buChar char="•"/>
            </a:pPr>
            <a:r>
              <a:rPr lang="de-DE" dirty="0" smtClean="0"/>
              <a:t>Quizshow </a:t>
            </a:r>
            <a:endParaRPr lang="de-DE"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347614"/>
            <a:ext cx="8045497" cy="2845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48014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Weitere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Ideen</a:t>
            </a:r>
            <a:endParaRPr lang="en-CA" sz="3200" dirty="0">
              <a:solidFill>
                <a:schemeClr val="bg1"/>
              </a:solidFill>
              <a:effectLst>
                <a:outerShdw blurRad="38100" dist="38100" dir="2700000" algn="tl">
                  <a:srgbClr val="000000">
                    <a:alpha val="43137"/>
                  </a:srgbClr>
                </a:outerShdw>
              </a:effectLst>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699542"/>
            <a:ext cx="8496944" cy="326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71365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Weitere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Ideen</a:t>
            </a:r>
            <a:endParaRPr lang="en-CA" sz="3200" dirty="0">
              <a:solidFill>
                <a:schemeClr val="bg1"/>
              </a:solidFill>
              <a:effectLst>
                <a:outerShdw blurRad="38100" dist="38100" dir="2700000" algn="tl">
                  <a:srgbClr val="000000">
                    <a:alpha val="43137"/>
                  </a:srgbClr>
                </a:outerShdw>
              </a:effectLst>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687705"/>
            <a:ext cx="8402637"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6000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Textfeld 8"/>
          <p:cNvSpPr txBox="1"/>
          <p:nvPr/>
        </p:nvSpPr>
        <p:spPr>
          <a:xfrm>
            <a:off x="0" y="-29237"/>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Weitere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Ideen</a:t>
            </a:r>
            <a:endParaRPr lang="en-CA" sz="3200" dirty="0">
              <a:solidFill>
                <a:schemeClr val="bg1"/>
              </a:solidFill>
              <a:effectLst>
                <a:outerShdw blurRad="38100" dist="38100" dir="2700000" algn="tl">
                  <a:srgbClr val="000000">
                    <a:alpha val="43137"/>
                  </a:srgbClr>
                </a:outerShdw>
              </a:effectLst>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25" y="862013"/>
            <a:ext cx="7802563"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112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987</Words>
  <Application>Microsoft Office PowerPoint</Application>
  <PresentationFormat>Bildschirmpräsentation (16:9)</PresentationFormat>
  <Paragraphs>72</Paragraphs>
  <Slides>24</Slides>
  <Notes>1</Notes>
  <HiddenSlides>0</HiddenSlides>
  <MMClips>0</MMClips>
  <ScaleCrop>false</ScaleCrop>
  <HeadingPairs>
    <vt:vector size="4" baseType="variant">
      <vt:variant>
        <vt:lpstr>Design</vt:lpstr>
      </vt:variant>
      <vt:variant>
        <vt:i4>2</vt:i4>
      </vt:variant>
      <vt:variant>
        <vt:lpstr>Folientitel</vt:lpstr>
      </vt:variant>
      <vt:variant>
        <vt:i4>24</vt:i4>
      </vt:variant>
    </vt:vector>
  </HeadingPairs>
  <TitlesOfParts>
    <vt:vector size="26" baseType="lpstr">
      <vt:lpstr>Executive</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16</cp:revision>
  <dcterms:created xsi:type="dcterms:W3CDTF">2025-05-23T10:09:29Z</dcterms:created>
  <dcterms:modified xsi:type="dcterms:W3CDTF">2025-05-23T16:36:45Z</dcterms:modified>
</cp:coreProperties>
</file>