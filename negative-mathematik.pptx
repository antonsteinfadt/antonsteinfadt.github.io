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34"/>
  </p:notesMasterIdLst>
  <p:sldIdLst>
    <p:sldId id="256" r:id="rId3"/>
    <p:sldId id="294" r:id="rId4"/>
    <p:sldId id="286" r:id="rId5"/>
    <p:sldId id="281" r:id="rId6"/>
    <p:sldId id="282" r:id="rId7"/>
    <p:sldId id="283" r:id="rId8"/>
    <p:sldId id="273" r:id="rId9"/>
    <p:sldId id="261" r:id="rId10"/>
    <p:sldId id="270" r:id="rId11"/>
    <p:sldId id="276" r:id="rId12"/>
    <p:sldId id="271" r:id="rId13"/>
    <p:sldId id="285" r:id="rId14"/>
    <p:sldId id="259" r:id="rId15"/>
    <p:sldId id="296" r:id="rId16"/>
    <p:sldId id="295" r:id="rId17"/>
    <p:sldId id="275" r:id="rId18"/>
    <p:sldId id="279" r:id="rId19"/>
    <p:sldId id="289" r:id="rId20"/>
    <p:sldId id="290" r:id="rId21"/>
    <p:sldId id="291" r:id="rId22"/>
    <p:sldId id="284" r:id="rId23"/>
    <p:sldId id="298" r:id="rId24"/>
    <p:sldId id="299" r:id="rId25"/>
    <p:sldId id="297" r:id="rId26"/>
    <p:sldId id="272" r:id="rId27"/>
    <p:sldId id="263" r:id="rId28"/>
    <p:sldId id="274" r:id="rId29"/>
    <p:sldId id="280" r:id="rId30"/>
    <p:sldId id="288" r:id="rId31"/>
    <p:sldId id="292" r:id="rId32"/>
    <p:sldId id="293"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94660"/>
  </p:normalViewPr>
  <p:slideViewPr>
    <p:cSldViewPr>
      <p:cViewPr varScale="1">
        <p:scale>
          <a:sx n="147" d="100"/>
          <a:sy n="147" d="100"/>
        </p:scale>
        <p:origin x="-630"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E63A27-AC96-4ADC-8651-ED50DD944521}" type="datetimeFigureOut">
              <a:rPr lang="de-DE" smtClean="0"/>
              <a:t>02.08.2025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815E64-508B-4727-A11B-08F5A1F32EAF}" type="slidenum">
              <a:rPr lang="de-DE" smtClean="0"/>
              <a:t>‹Nr.›</a:t>
            </a:fld>
            <a:endParaRPr lang="de-DE"/>
          </a:p>
        </p:txBody>
      </p:sp>
    </p:spTree>
    <p:extLst>
      <p:ext uri="{BB962C8B-B14F-4D97-AF65-F5344CB8AC3E}">
        <p14:creationId xmlns:p14="http://schemas.microsoft.com/office/powerpoint/2010/main" val="3173307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12815E64-508B-4727-A11B-08F5A1F32EAF}" type="slidenum">
              <a:rPr lang="de-DE" smtClean="0"/>
              <a:t>2</a:t>
            </a:fld>
            <a:endParaRPr lang="de-DE"/>
          </a:p>
        </p:txBody>
      </p:sp>
    </p:spTree>
    <p:extLst>
      <p:ext uri="{BB962C8B-B14F-4D97-AF65-F5344CB8AC3E}">
        <p14:creationId xmlns:p14="http://schemas.microsoft.com/office/powerpoint/2010/main" val="1508408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3</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4</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5</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12815E64-508B-4727-A11B-08F5A1F32EAF}" type="slidenum">
              <a:rPr lang="de-DE" smtClean="0"/>
              <a:t>6</a:t>
            </a:fld>
            <a:endParaRPr lang="de-DE"/>
          </a:p>
        </p:txBody>
      </p:sp>
    </p:spTree>
    <p:extLst>
      <p:ext uri="{BB962C8B-B14F-4D97-AF65-F5344CB8AC3E}">
        <p14:creationId xmlns:p14="http://schemas.microsoft.com/office/powerpoint/2010/main" val="1508408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7</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9</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10</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11</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12</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13</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14</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15</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16</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17</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18</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19</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20</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21</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22</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23</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24</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12815E64-508B-4727-A11B-08F5A1F32EAF}" type="slidenum">
              <a:rPr lang="de-DE" smtClean="0"/>
              <a:t>25</a:t>
            </a:fld>
            <a:endParaRPr lang="de-DE"/>
          </a:p>
        </p:txBody>
      </p:sp>
    </p:spTree>
    <p:extLst>
      <p:ext uri="{BB962C8B-B14F-4D97-AF65-F5344CB8AC3E}">
        <p14:creationId xmlns:p14="http://schemas.microsoft.com/office/powerpoint/2010/main" val="1508408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26</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27</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28</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4C0CC26-DC94-4847-9E49-08E9D1DAFDF8}" type="slidenum">
              <a:rPr lang="de-DE" smtClean="0"/>
              <a:t>29</a:t>
            </a:fld>
            <a:endParaRPr lang="de-DE"/>
          </a:p>
        </p:txBody>
      </p:sp>
    </p:spTree>
    <p:extLst>
      <p:ext uri="{BB962C8B-B14F-4D97-AF65-F5344CB8AC3E}">
        <p14:creationId xmlns:p14="http://schemas.microsoft.com/office/powerpoint/2010/main" val="2031596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12815E64-508B-4727-A11B-08F5A1F32EAF}" type="slidenum">
              <a:rPr lang="de-DE" smtClean="0"/>
              <a:t>30</a:t>
            </a:fld>
            <a:endParaRPr lang="de-DE"/>
          </a:p>
        </p:txBody>
      </p:sp>
    </p:spTree>
    <p:extLst>
      <p:ext uri="{BB962C8B-B14F-4D97-AF65-F5344CB8AC3E}">
        <p14:creationId xmlns:p14="http://schemas.microsoft.com/office/powerpoint/2010/main" val="1508408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12815E64-508B-4727-A11B-08F5A1F32EAF}" type="slidenum">
              <a:rPr lang="de-DE" smtClean="0"/>
              <a:t>31</a:t>
            </a:fld>
            <a:endParaRPr lang="de-DE"/>
          </a:p>
        </p:txBody>
      </p:sp>
    </p:spTree>
    <p:extLst>
      <p:ext uri="{BB962C8B-B14F-4D97-AF65-F5344CB8AC3E}">
        <p14:creationId xmlns:p14="http://schemas.microsoft.com/office/powerpoint/2010/main" val="1508408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August 2, 2025</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August 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August 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August 2,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August 2, 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August 2, 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August 2, 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August 2, 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August 2,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August 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August 2,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August 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2034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August 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050131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August 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8479793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August 2, 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687005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August 2, 2025</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248092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August 2, 2025</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6683748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August 2, 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501447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August 2, 2025</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38520522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August 2, 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85242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August 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938218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August 2, 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55524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August 2, 2025</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August 2, 2025</a:t>
            </a:fld>
            <a:endParaRPr lang="en-US" dirty="0"/>
          </a:p>
        </p:txBody>
      </p:sp>
      <p:sp>
        <p:nvSpPr>
          <p:cNvPr id="5"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41903735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p:cNvSpPr/>
          <p:nvPr/>
        </p:nvSpPr>
        <p:spPr>
          <a:xfrm>
            <a:off x="107504" y="-20538"/>
            <a:ext cx="8928992" cy="1154162"/>
          </a:xfrm>
          <a:prstGeom prst="rect">
            <a:avLst/>
          </a:prstGeom>
        </p:spPr>
        <p:txBody>
          <a:bodyPr wrap="square">
            <a:spAutoFit/>
          </a:bodyPr>
          <a:lstStyle/>
          <a:p>
            <a:pPr algn="ctr"/>
            <a:r>
              <a:rPr lang="de-DE" sz="6900" b="1" dirty="0" smtClean="0"/>
              <a:t>Negative Mathematik</a:t>
            </a:r>
          </a:p>
        </p:txBody>
      </p:sp>
      <p:pic>
        <p:nvPicPr>
          <p:cNvPr id="1029" name="Picture 5" descr="D:\Downloads\ChatGPT Image 1. Aug. 2025, 12_29_17.png"/>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8272" t="7778" r="6790" b="52037"/>
          <a:stretch/>
        </p:blipFill>
        <p:spPr bwMode="auto">
          <a:xfrm>
            <a:off x="251520" y="2067694"/>
            <a:ext cx="8784976" cy="2770842"/>
          </a:xfrm>
          <a:prstGeom prst="rect">
            <a:avLst/>
          </a:prstGeom>
          <a:noFill/>
          <a:extLst>
            <a:ext uri="{909E8E84-426E-40DD-AFC4-6F175D3DCCD1}">
              <a14:hiddenFill xmlns:a14="http://schemas.microsoft.com/office/drawing/2010/main">
                <a:solidFill>
                  <a:srgbClr val="FFFFFF"/>
                </a:solidFill>
              </a14:hiddenFill>
            </a:ext>
          </a:extLst>
        </p:spPr>
      </p:pic>
      <p:sp>
        <p:nvSpPr>
          <p:cNvPr id="8" name="Nach unten gekrümmter Pfeil 7"/>
          <p:cNvSpPr/>
          <p:nvPr/>
        </p:nvSpPr>
        <p:spPr>
          <a:xfrm flipH="1">
            <a:off x="5724128" y="2499742"/>
            <a:ext cx="1584176" cy="57606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Textfeld 8"/>
          <p:cNvSpPr txBox="1"/>
          <p:nvPr/>
        </p:nvSpPr>
        <p:spPr>
          <a:xfrm>
            <a:off x="5652120" y="1923678"/>
            <a:ext cx="2736304" cy="369332"/>
          </a:xfrm>
          <a:prstGeom prst="rect">
            <a:avLst/>
          </a:prstGeom>
          <a:noFill/>
        </p:spPr>
        <p:txBody>
          <a:bodyPr wrap="square" rtlCol="0">
            <a:spAutoFit/>
          </a:bodyPr>
          <a:lstStyle/>
          <a:p>
            <a:r>
              <a:rPr lang="de-DE" b="1" dirty="0" smtClean="0">
                <a:latin typeface="Arial" panose="020B0604020202020204" pitchFamily="34" charset="0"/>
                <a:cs typeface="Arial" panose="020B0604020202020204" pitchFamily="34" charset="0"/>
              </a:rPr>
              <a:t>Assoziativität</a:t>
            </a:r>
            <a:endParaRPr lang="de-DE" b="1" dirty="0">
              <a:latin typeface="Arial" panose="020B0604020202020204" pitchFamily="34" charset="0"/>
              <a:cs typeface="Arial" panose="020B0604020202020204" pitchFamily="34" charset="0"/>
            </a:endParaRPr>
          </a:p>
        </p:txBody>
      </p:sp>
      <p:sp>
        <p:nvSpPr>
          <p:cNvPr id="19" name="Nach unten gekrümmter Pfeil 18"/>
          <p:cNvSpPr/>
          <p:nvPr/>
        </p:nvSpPr>
        <p:spPr>
          <a:xfrm flipH="1">
            <a:off x="4355976" y="2499742"/>
            <a:ext cx="1296144" cy="57606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0" name="Textfeld 19"/>
          <p:cNvSpPr txBox="1"/>
          <p:nvPr/>
        </p:nvSpPr>
        <p:spPr>
          <a:xfrm>
            <a:off x="4572000" y="1932970"/>
            <a:ext cx="1224136" cy="369332"/>
          </a:xfrm>
          <a:prstGeom prst="rect">
            <a:avLst/>
          </a:prstGeom>
          <a:noFill/>
        </p:spPr>
        <p:txBody>
          <a:bodyPr wrap="square" rtlCol="0">
            <a:spAutoFit/>
          </a:bodyPr>
          <a:lstStyle/>
          <a:p>
            <a:r>
              <a:rPr lang="de-DE" b="1" dirty="0" smtClean="0">
                <a:latin typeface="Arial" panose="020B0604020202020204" pitchFamily="34" charset="0"/>
                <a:cs typeface="Arial" panose="020B0604020202020204" pitchFamily="34" charset="0"/>
              </a:rPr>
              <a:t>Identität</a:t>
            </a:r>
            <a:endParaRPr lang="de-DE" b="1" dirty="0">
              <a:latin typeface="Arial" panose="020B0604020202020204" pitchFamily="34" charset="0"/>
              <a:cs typeface="Arial" panose="020B0604020202020204" pitchFamily="34" charset="0"/>
            </a:endParaRPr>
          </a:p>
        </p:txBody>
      </p:sp>
      <p:sp>
        <p:nvSpPr>
          <p:cNvPr id="21" name="Nach unten gekrümmter Pfeil 20"/>
          <p:cNvSpPr/>
          <p:nvPr/>
        </p:nvSpPr>
        <p:spPr>
          <a:xfrm flipH="1">
            <a:off x="2907680" y="2499742"/>
            <a:ext cx="1296144" cy="57606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2" name="Textfeld 21"/>
          <p:cNvSpPr txBox="1"/>
          <p:nvPr/>
        </p:nvSpPr>
        <p:spPr>
          <a:xfrm>
            <a:off x="2699792" y="1923678"/>
            <a:ext cx="2016224" cy="369332"/>
          </a:xfrm>
          <a:prstGeom prst="rect">
            <a:avLst/>
          </a:prstGeom>
          <a:noFill/>
        </p:spPr>
        <p:txBody>
          <a:bodyPr wrap="square" rtlCol="0">
            <a:spAutoFit/>
          </a:bodyPr>
          <a:lstStyle/>
          <a:p>
            <a:r>
              <a:rPr lang="de-DE" b="1" dirty="0" err="1" smtClean="0">
                <a:latin typeface="Arial" panose="020B0604020202020204" pitchFamily="34" charset="0"/>
                <a:cs typeface="Arial" panose="020B0604020202020204" pitchFamily="34" charset="0"/>
              </a:rPr>
              <a:t>Invertierbarkeit</a:t>
            </a:r>
            <a:endParaRPr lang="de-DE" b="1" dirty="0">
              <a:latin typeface="Arial" panose="020B0604020202020204" pitchFamily="34" charset="0"/>
              <a:cs typeface="Arial" panose="020B0604020202020204" pitchFamily="34" charset="0"/>
            </a:endParaRPr>
          </a:p>
        </p:txBody>
      </p:sp>
      <p:sp>
        <p:nvSpPr>
          <p:cNvPr id="23" name="Nach unten gekrümmter Pfeil 22"/>
          <p:cNvSpPr/>
          <p:nvPr/>
        </p:nvSpPr>
        <p:spPr>
          <a:xfrm flipH="1">
            <a:off x="1115616" y="2427734"/>
            <a:ext cx="1728192" cy="72008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4" name="Textfeld 23"/>
          <p:cNvSpPr txBox="1"/>
          <p:nvPr/>
        </p:nvSpPr>
        <p:spPr>
          <a:xfrm>
            <a:off x="827584" y="1923678"/>
            <a:ext cx="2736304" cy="369332"/>
          </a:xfrm>
          <a:prstGeom prst="rect">
            <a:avLst/>
          </a:prstGeom>
          <a:noFill/>
        </p:spPr>
        <p:txBody>
          <a:bodyPr wrap="square" rtlCol="0">
            <a:spAutoFit/>
          </a:bodyPr>
          <a:lstStyle/>
          <a:p>
            <a:r>
              <a:rPr lang="de-DE" b="1" dirty="0" err="1" smtClean="0">
                <a:latin typeface="Arial" panose="020B0604020202020204" pitchFamily="34" charset="0"/>
                <a:cs typeface="Arial" panose="020B0604020202020204" pitchFamily="34" charset="0"/>
              </a:rPr>
              <a:t>Kommutativität</a:t>
            </a:r>
            <a:endParaRPr lang="de-DE" b="1" dirty="0">
              <a:latin typeface="Arial" panose="020B0604020202020204" pitchFamily="34" charset="0"/>
              <a:cs typeface="Arial" panose="020B0604020202020204" pitchFamily="34" charset="0"/>
            </a:endParaRPr>
          </a:p>
        </p:txBody>
      </p:sp>
      <p:sp>
        <p:nvSpPr>
          <p:cNvPr id="2" name="Textfeld 1"/>
          <p:cNvSpPr txBox="1"/>
          <p:nvPr/>
        </p:nvSpPr>
        <p:spPr>
          <a:xfrm>
            <a:off x="298128" y="843558"/>
            <a:ext cx="8784976" cy="1938992"/>
          </a:xfrm>
          <a:prstGeom prst="rect">
            <a:avLst/>
          </a:prstGeom>
          <a:noFill/>
        </p:spPr>
        <p:txBody>
          <a:bodyPr wrap="square" rtlCol="0">
            <a:spAutoFit/>
          </a:bodyPr>
          <a:lstStyle/>
          <a:p>
            <a:r>
              <a:rPr lang="de-DE" sz="6000" dirty="0">
                <a:solidFill>
                  <a:srgbClr val="FF0000"/>
                </a:solidFill>
              </a:rPr>
              <a:t>Die Skizze eines Projekts</a:t>
            </a:r>
          </a:p>
          <a:p>
            <a:endParaRPr lang="de-DE" sz="6000" dirty="0"/>
          </a:p>
        </p:txBody>
      </p:sp>
    </p:spTree>
    <p:extLst>
      <p:ext uri="{BB962C8B-B14F-4D97-AF65-F5344CB8AC3E}">
        <p14:creationId xmlns:p14="http://schemas.microsoft.com/office/powerpoint/2010/main" val="42173763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611560" y="1352838"/>
            <a:ext cx="7920880" cy="1938992"/>
          </a:xfrm>
          <a:prstGeom prst="rect">
            <a:avLst/>
          </a:prstGeom>
        </p:spPr>
        <p:txBody>
          <a:bodyPr wrap="square">
            <a:spAutoFit/>
          </a:bodyPr>
          <a:lstStyle/>
          <a:p>
            <a:pPr algn="ctr"/>
            <a:r>
              <a:rPr lang="de-DE" sz="6000" dirty="0" smtClean="0"/>
              <a:t>Didaktik der negativen Mathematik</a:t>
            </a:r>
          </a:p>
        </p:txBody>
      </p:sp>
    </p:spTree>
    <p:extLst>
      <p:ext uri="{BB962C8B-B14F-4D97-AF65-F5344CB8AC3E}">
        <p14:creationId xmlns:p14="http://schemas.microsoft.com/office/powerpoint/2010/main" val="134615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KI und Negative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pic>
        <p:nvPicPr>
          <p:cNvPr id="174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699543"/>
            <a:ext cx="4320480" cy="823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43260"/>
          <a:stretch/>
        </p:blipFill>
        <p:spPr bwMode="auto">
          <a:xfrm>
            <a:off x="4788024" y="1053232"/>
            <a:ext cx="3672408" cy="676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476" y="1641168"/>
            <a:ext cx="7542604" cy="3357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4766816" y="699542"/>
            <a:ext cx="1728192" cy="369332"/>
          </a:xfrm>
          <a:prstGeom prst="rect">
            <a:avLst/>
          </a:prstGeom>
          <a:noFill/>
        </p:spPr>
        <p:txBody>
          <a:bodyPr wrap="square" rtlCol="0">
            <a:spAutoFit/>
          </a:bodyPr>
          <a:lstStyle/>
          <a:p>
            <a:r>
              <a:rPr lang="de-DE" dirty="0" smtClean="0"/>
              <a:t>Prompt:</a:t>
            </a:r>
            <a:endParaRPr lang="de-DE" dirty="0"/>
          </a:p>
        </p:txBody>
      </p:sp>
    </p:spTree>
    <p:extLst>
      <p:ext uri="{BB962C8B-B14F-4D97-AF65-F5344CB8AC3E}">
        <p14:creationId xmlns:p14="http://schemas.microsoft.com/office/powerpoint/2010/main" val="280361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Didaktik</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negativen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179512" y="690250"/>
            <a:ext cx="8640960" cy="923330"/>
          </a:xfrm>
          <a:prstGeom prst="rect">
            <a:avLst/>
          </a:prstGeom>
          <a:noFill/>
        </p:spPr>
        <p:txBody>
          <a:bodyPr wrap="square" rtlCol="0">
            <a:spAutoFit/>
          </a:bodyPr>
          <a:lstStyle/>
          <a:p>
            <a:pPr marL="285750" indent="-285750">
              <a:buFont typeface="Arial" panose="020B0604020202020204" pitchFamily="34" charset="0"/>
              <a:buChar char="•"/>
            </a:pPr>
            <a:r>
              <a:rPr lang="de-DE" dirty="0" smtClean="0"/>
              <a:t>Verständnis „ex </a:t>
            </a:r>
            <a:r>
              <a:rPr lang="de-DE" dirty="0" err="1" smtClean="0"/>
              <a:t>negativo</a:t>
            </a:r>
            <a:r>
              <a:rPr lang="de-DE" dirty="0" smtClean="0"/>
              <a:t>“: </a:t>
            </a:r>
            <a:r>
              <a:rPr lang="de-DE" i="1" dirty="0" smtClean="0"/>
              <a:t>Sag mir, was kein Vektorraum ist und warum.</a:t>
            </a:r>
          </a:p>
          <a:p>
            <a:pPr marL="285750" indent="-285750">
              <a:buFont typeface="Arial" panose="020B0604020202020204" pitchFamily="34" charset="0"/>
              <a:buChar char="•"/>
            </a:pPr>
            <a:r>
              <a:rPr lang="de-DE" dirty="0" smtClean="0"/>
              <a:t>Übliche Fehler (Taxonomien falscher Beweise, etc.) und faule Definitionen (</a:t>
            </a:r>
            <a:r>
              <a:rPr lang="de-DE" dirty="0" err="1" smtClean="0"/>
              <a:t>Wohldef</a:t>
            </a:r>
            <a:r>
              <a:rPr lang="de-DE" dirty="0" smtClean="0"/>
              <a:t>.)</a:t>
            </a:r>
          </a:p>
          <a:p>
            <a:pPr marL="285750" indent="-285750">
              <a:buFont typeface="Arial" panose="020B0604020202020204" pitchFamily="34" charset="0"/>
              <a:buChar char="•"/>
            </a:pPr>
            <a:r>
              <a:rPr lang="de-DE" dirty="0" smtClean="0"/>
              <a:t>Scheinbeweise und mathematische Trugschlüsse</a:t>
            </a:r>
            <a:endParaRPr lang="de-DE"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635646"/>
            <a:ext cx="8128383" cy="1793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feld 6"/>
          <p:cNvSpPr txBox="1"/>
          <p:nvPr/>
        </p:nvSpPr>
        <p:spPr>
          <a:xfrm>
            <a:off x="251520" y="3579862"/>
            <a:ext cx="6408712" cy="369332"/>
          </a:xfrm>
          <a:prstGeom prst="rect">
            <a:avLst/>
          </a:prstGeom>
          <a:noFill/>
        </p:spPr>
        <p:txBody>
          <a:bodyPr wrap="square" rtlCol="0">
            <a:spAutoFit/>
          </a:bodyPr>
          <a:lstStyle/>
          <a:p>
            <a:r>
              <a:rPr lang="de-DE" dirty="0" smtClean="0">
                <a:sym typeface="Wingdings" panose="05000000000000000000" pitchFamily="2" charset="2"/>
              </a:rPr>
              <a:t> Beispiel: Pferde-Paradox ; Beweise dass 0=1 ; …  </a:t>
            </a:r>
            <a:endParaRPr lang="de-DE" dirty="0"/>
          </a:p>
        </p:txBody>
      </p:sp>
    </p:spTree>
    <p:extLst>
      <p:ext uri="{BB962C8B-B14F-4D97-AF65-F5344CB8AC3E}">
        <p14:creationId xmlns:p14="http://schemas.microsoft.com/office/powerpoint/2010/main" val="105645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Didaktik</a:t>
            </a:r>
            <a:r>
              <a:rPr lang="en-CA" sz="3200" dirty="0">
                <a:solidFill>
                  <a:schemeClr val="bg1"/>
                </a:solidFill>
                <a:effectLst>
                  <a:outerShdw blurRad="38100" dist="38100" dir="2700000" algn="tl">
                    <a:srgbClr val="000000">
                      <a:alpha val="43137"/>
                    </a:srgbClr>
                  </a:outerShdw>
                </a:effectLst>
              </a:rPr>
              <a:t> </a:t>
            </a:r>
            <a:r>
              <a:rPr lang="en-CA" sz="3200" dirty="0" smtClean="0">
                <a:solidFill>
                  <a:schemeClr val="bg1"/>
                </a:solidFill>
                <a:effectLst>
                  <a:outerShdw blurRad="38100" dist="38100" dir="2700000" algn="tl">
                    <a:srgbClr val="000000">
                      <a:alpha val="43137"/>
                    </a:srgbClr>
                  </a:outerShdw>
                </a:effectLst>
              </a:rPr>
              <a:t>der </a:t>
            </a:r>
            <a:r>
              <a:rPr lang="en-CA" sz="3200" dirty="0" err="1" smtClean="0">
                <a:solidFill>
                  <a:schemeClr val="bg1"/>
                </a:solidFill>
                <a:effectLst>
                  <a:outerShdw blurRad="38100" dist="38100" dir="2700000" algn="tl">
                    <a:srgbClr val="000000">
                      <a:alpha val="43137"/>
                    </a:srgbClr>
                  </a:outerShdw>
                </a:effectLst>
              </a:rPr>
              <a:t>negativen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699542"/>
            <a:ext cx="5184576" cy="4299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909414"/>
            <a:ext cx="367665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34381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1115616" y="1347614"/>
            <a:ext cx="6984776" cy="1938992"/>
          </a:xfrm>
          <a:prstGeom prst="rect">
            <a:avLst/>
          </a:prstGeom>
        </p:spPr>
        <p:txBody>
          <a:bodyPr wrap="square">
            <a:spAutoFit/>
          </a:bodyPr>
          <a:lstStyle/>
          <a:p>
            <a:r>
              <a:rPr lang="de-DE" sz="4000" dirty="0"/>
              <a:t>Die Dinge können auf unzählige</a:t>
            </a:r>
          </a:p>
          <a:p>
            <a:r>
              <a:rPr lang="de-DE" sz="4000" dirty="0"/>
              <a:t>Weisen </a:t>
            </a:r>
            <a:r>
              <a:rPr lang="de-DE" sz="4000" dirty="0" smtClean="0"/>
              <a:t>falsch sein, </a:t>
            </a:r>
            <a:r>
              <a:rPr lang="de-DE" sz="4000" dirty="0"/>
              <a:t>aber nur auf </a:t>
            </a:r>
            <a:endParaRPr lang="de-DE" sz="4000" dirty="0" smtClean="0"/>
          </a:p>
          <a:p>
            <a:r>
              <a:rPr lang="de-DE" sz="4000" dirty="0" smtClean="0"/>
              <a:t>eine wahr.</a:t>
            </a:r>
            <a:endParaRPr lang="de-DE" sz="4000" dirty="0"/>
          </a:p>
        </p:txBody>
      </p:sp>
    </p:spTree>
    <p:extLst>
      <p:ext uri="{BB962C8B-B14F-4D97-AF65-F5344CB8AC3E}">
        <p14:creationId xmlns:p14="http://schemas.microsoft.com/office/powerpoint/2010/main" val="15267626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Bücher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zu</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Gegenbeispielen</a:t>
            </a:r>
            <a:endParaRPr lang="en-CA" sz="3200" dirty="0">
              <a:solidFill>
                <a:schemeClr val="bg1"/>
              </a:solidFill>
              <a:effectLst>
                <a:outerShdw blurRad="38100" dist="38100" dir="2700000" algn="tl">
                  <a:srgbClr val="000000">
                    <a:alpha val="43137"/>
                  </a:srgbClr>
                </a:outerShdw>
              </a:effectLst>
            </a:endParaRPr>
          </a:p>
        </p:txBody>
      </p:sp>
      <p:pic>
        <p:nvPicPr>
          <p:cNvPr id="7" name="Picture 2" descr="Counterexamples in Topology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44" y="1130436"/>
            <a:ext cx="2016224" cy="31695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ounterexamples in Analysis (Dover Books on Mathematics): Bernard R.  Gelbaum, John M. H. Olmsted: 9780486428758: Amazon.com: Book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1760" y="1118490"/>
            <a:ext cx="2010676" cy="31814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Counterexamples in Probability: Third Edition (Dover Books on Mathematics)  : Stoyanov, Jordan: Amazon.de: Book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248" y="1130437"/>
            <a:ext cx="2055650" cy="31695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Counterexamples in Calculus"/>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00055" y="1130436"/>
            <a:ext cx="2105961" cy="3169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93142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a:solidFill>
                  <a:schemeClr val="bg1"/>
                </a:solidFill>
                <a:effectLst>
                  <a:outerShdw blurRad="38100" dist="38100" dir="2700000" algn="tl">
                    <a:srgbClr val="000000">
                      <a:alpha val="43137"/>
                    </a:srgbClr>
                  </a:outerShdw>
                </a:effectLst>
              </a:rPr>
              <a:t>Hannah Cairo</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627534"/>
            <a:ext cx="4896544" cy="4250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5220072" y="1059582"/>
            <a:ext cx="3816424" cy="2954655"/>
          </a:xfrm>
          <a:prstGeom prst="rect">
            <a:avLst/>
          </a:prstGeom>
          <a:noFill/>
        </p:spPr>
        <p:txBody>
          <a:bodyPr wrap="square" rtlCol="0">
            <a:spAutoFit/>
          </a:bodyPr>
          <a:lstStyle/>
          <a:p>
            <a:r>
              <a:rPr lang="en-US" dirty="0"/>
              <a:t>“After months of trying to prove the result, I managed to understand why it was so difficult. I realized that if I used that information correctly, I might be able to refute the claim. Finally, after several failed attempts, I found a way to construct a </a:t>
            </a:r>
            <a:r>
              <a:rPr lang="en-US" dirty="0" smtClean="0"/>
              <a:t>counterexample.”</a:t>
            </a:r>
          </a:p>
          <a:p>
            <a:endParaRPr lang="en-US" dirty="0"/>
          </a:p>
          <a:p>
            <a:r>
              <a:rPr lang="en-US" sz="1050" dirty="0"/>
              <a:t>A 17-year-old teen refutes a mathematical conjecture proposed 40 years ago. EL PAÍS English. https://english.elpais.com/science-tech/2025-07-01/a-17-year-old-teen-refutes-a-mathematical-conjecture-proposed-40-years-ago.html</a:t>
            </a:r>
            <a:endParaRPr lang="de-DE" sz="1050" dirty="0"/>
          </a:p>
        </p:txBody>
      </p:sp>
    </p:spTree>
    <p:extLst>
      <p:ext uri="{BB962C8B-B14F-4D97-AF65-F5344CB8AC3E}">
        <p14:creationId xmlns:p14="http://schemas.microsoft.com/office/powerpoint/2010/main" val="6881227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Strategien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zum</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Finden</a:t>
            </a:r>
            <a:r>
              <a:rPr lang="en-CA" sz="3200" dirty="0" smtClean="0">
                <a:solidFill>
                  <a:schemeClr val="bg1"/>
                </a:solidFill>
                <a:effectLst>
                  <a:outerShdw blurRad="38100" dist="38100" dir="2700000" algn="tl">
                    <a:srgbClr val="000000">
                      <a:alpha val="43137"/>
                    </a:srgbClr>
                  </a:outerShdw>
                </a:effectLst>
              </a:rPr>
              <a:t> von </a:t>
            </a:r>
            <a:r>
              <a:rPr lang="en-CA" sz="3200" dirty="0" err="1" smtClean="0">
                <a:solidFill>
                  <a:schemeClr val="bg1"/>
                </a:solidFill>
                <a:effectLst>
                  <a:outerShdw blurRad="38100" dist="38100" dir="2700000" algn="tl">
                    <a:srgbClr val="000000">
                      <a:alpha val="43137"/>
                    </a:srgbClr>
                  </a:outerShdw>
                </a:effectLst>
              </a:rPr>
              <a:t>Gegenbeispielen</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67598"/>
            <a:ext cx="8856984" cy="3416320"/>
          </a:xfrm>
          <a:prstGeom prst="rect">
            <a:avLst/>
          </a:prstGeom>
          <a:noFill/>
        </p:spPr>
        <p:txBody>
          <a:bodyPr wrap="square" rtlCol="0">
            <a:spAutoFit/>
          </a:bodyPr>
          <a:lstStyle/>
          <a:p>
            <a:pPr marL="285750" indent="-285750">
              <a:buFont typeface="Arial" panose="020B0604020202020204" pitchFamily="34" charset="0"/>
              <a:buChar char="•"/>
            </a:pPr>
            <a:r>
              <a:rPr lang="de-DE" dirty="0" smtClean="0"/>
              <a:t>Versuche den Satz zu beweisen, und betrachte die Stelle, wo der </a:t>
            </a:r>
            <a:r>
              <a:rPr lang="de-DE" b="1" dirty="0" smtClean="0"/>
              <a:t>Beweis „hängen bleibt“</a:t>
            </a:r>
            <a:r>
              <a:rPr lang="de-DE" dirty="0" smtClean="0"/>
              <a:t>; genau diese Eigenschaft muss ein Gegenbeispiel verletzen.</a:t>
            </a:r>
          </a:p>
          <a:p>
            <a:pPr marL="285750" indent="-285750">
              <a:buFont typeface="Arial" panose="020B0604020202020204" pitchFamily="34" charset="0"/>
              <a:buChar char="•"/>
            </a:pPr>
            <a:endParaRPr lang="de-DE" dirty="0" smtClean="0"/>
          </a:p>
          <a:p>
            <a:pPr marL="285750" indent="-285750">
              <a:buFont typeface="Arial" panose="020B0604020202020204" pitchFamily="34" charset="0"/>
              <a:buChar char="•"/>
            </a:pPr>
            <a:r>
              <a:rPr lang="de-DE" b="1" dirty="0" smtClean="0"/>
              <a:t>Mit einfachen oder extremen </a:t>
            </a:r>
            <a:r>
              <a:rPr lang="de-DE" b="1" dirty="0"/>
              <a:t>Fällen beginnen</a:t>
            </a:r>
            <a:r>
              <a:rPr lang="de-DE" dirty="0"/>
              <a:t>: </a:t>
            </a:r>
            <a:r>
              <a:rPr lang="de-DE" b="1" dirty="0"/>
              <a:t>typische Fälle</a:t>
            </a:r>
            <a:r>
              <a:rPr lang="de-DE" dirty="0"/>
              <a:t>, </a:t>
            </a:r>
            <a:r>
              <a:rPr lang="de-DE" b="1" dirty="0"/>
              <a:t>Spezialfälle</a:t>
            </a:r>
            <a:r>
              <a:rPr lang="de-DE" dirty="0"/>
              <a:t> und „</a:t>
            </a:r>
            <a:r>
              <a:rPr lang="de-DE" b="1" dirty="0"/>
              <a:t>obskure</a:t>
            </a:r>
            <a:r>
              <a:rPr lang="de-DE" dirty="0"/>
              <a:t>“ </a:t>
            </a:r>
            <a:r>
              <a:rPr lang="de-DE" b="1" dirty="0"/>
              <a:t>Fälle</a:t>
            </a:r>
            <a:r>
              <a:rPr lang="de-DE" dirty="0"/>
              <a:t>: Typische Fälle sind die ersten Beispiele, die einem einfallen und liefern oft schon einen Treffer; Spezialfälle nutzen Randbedingungen (etwa die leere Menge, das kleinste nichttriviale Objekt etc.), obskure Fälle entstehen durch weitere </a:t>
            </a:r>
            <a:r>
              <a:rPr lang="de-DE" dirty="0" smtClean="0"/>
              <a:t>Varianten.</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b="1" dirty="0" smtClean="0"/>
              <a:t>Systematische Variation</a:t>
            </a:r>
            <a:r>
              <a:rPr lang="de-DE" dirty="0" smtClean="0"/>
              <a:t>: „Um </a:t>
            </a:r>
            <a:r>
              <a:rPr lang="de-DE" dirty="0"/>
              <a:t>ein Gegenbeispiel zu erzeugen, nimmt man bekannte Beispiele und verändert sie schrittweise</a:t>
            </a:r>
            <a:r>
              <a:rPr lang="de-DE" dirty="0" smtClean="0"/>
              <a:t>.“</a:t>
            </a:r>
          </a:p>
          <a:p>
            <a:pPr marL="285750" indent="-285750">
              <a:buFont typeface="Arial" panose="020B0604020202020204" pitchFamily="34" charset="0"/>
              <a:buChar char="•"/>
            </a:pPr>
            <a:endParaRPr lang="de-DE" dirty="0" smtClean="0"/>
          </a:p>
          <a:p>
            <a:pPr marL="285750" indent="-285750">
              <a:buFont typeface="Arial" panose="020B0604020202020204" pitchFamily="34" charset="0"/>
              <a:buChar char="•"/>
            </a:pPr>
            <a:r>
              <a:rPr lang="de-DE" dirty="0" smtClean="0"/>
              <a:t>???</a:t>
            </a:r>
            <a:endParaRPr lang="de-DE"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784" y="3503072"/>
            <a:ext cx="3384376" cy="60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54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Monster und </a:t>
            </a:r>
            <a:r>
              <a:rPr lang="en-CA" sz="3200" dirty="0" err="1" smtClean="0">
                <a:solidFill>
                  <a:schemeClr val="bg1"/>
                </a:solidFill>
                <a:effectLst>
                  <a:outerShdw blurRad="38100" dist="38100" dir="2700000" algn="tl">
                    <a:srgbClr val="000000">
                      <a:alpha val="43137"/>
                    </a:srgbClr>
                  </a:outerShdw>
                </a:effectLst>
              </a:rPr>
              <a:t>Pathologien</a:t>
            </a:r>
            <a:endParaRPr lang="en-CA" sz="3200" dirty="0">
              <a:solidFill>
                <a:schemeClr val="bg1"/>
              </a:solidFill>
              <a:effectLst>
                <a:outerShdw blurRad="38100" dist="38100" dir="2700000" algn="tl">
                  <a:srgbClr val="000000">
                    <a:alpha val="43137"/>
                  </a:srgbClr>
                </a:outerShdw>
              </a:effectLst>
            </a:endParaRPr>
          </a:p>
        </p:txBody>
      </p:sp>
      <p:pic>
        <p:nvPicPr>
          <p:cNvPr id="5122" name="Picture 2"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682454"/>
            <a:ext cx="4104456" cy="26093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undefin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655848"/>
            <a:ext cx="4824536" cy="248765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define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4048" y="699542"/>
            <a:ext cx="3744416" cy="280831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undefine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9627" y="3665114"/>
            <a:ext cx="1934741" cy="128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721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Lakatos</a:t>
            </a:r>
            <a:r>
              <a:rPr lang="en-CA" sz="3200" dirty="0" smtClean="0">
                <a:solidFill>
                  <a:schemeClr val="bg1"/>
                </a:solidFill>
                <a:effectLst>
                  <a:outerShdw blurRad="38100" dist="38100" dir="2700000" algn="tl">
                    <a:srgbClr val="000000">
                      <a:alpha val="43137"/>
                    </a:srgbClr>
                  </a:outerShdw>
                </a:effectLst>
              </a:rPr>
              <a:t>’ </a:t>
            </a:r>
            <a:r>
              <a:rPr lang="en-CA" sz="3200" i="1" dirty="0" smtClean="0">
                <a:solidFill>
                  <a:schemeClr val="bg1"/>
                </a:solidFill>
                <a:effectLst>
                  <a:outerShdw blurRad="38100" dist="38100" dir="2700000" algn="tl">
                    <a:srgbClr val="000000">
                      <a:alpha val="43137"/>
                    </a:srgbClr>
                  </a:outerShdw>
                </a:effectLst>
              </a:rPr>
              <a:t>Proofs and Refutations</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712316"/>
            <a:ext cx="6120680" cy="4278094"/>
          </a:xfrm>
          <a:prstGeom prst="rect">
            <a:avLst/>
          </a:prstGeom>
          <a:noFill/>
        </p:spPr>
        <p:txBody>
          <a:bodyPr wrap="square" rtlCol="0">
            <a:spAutoFit/>
          </a:bodyPr>
          <a:lstStyle/>
          <a:p>
            <a:pPr algn="just"/>
            <a:r>
              <a:rPr lang="de-DE" sz="1600" dirty="0" err="1"/>
              <a:t>Lakatos</a:t>
            </a:r>
            <a:r>
              <a:rPr lang="de-DE" sz="1600" dirty="0"/>
              <a:t> versteht ein Gegenbeispiel nicht bloß als </a:t>
            </a:r>
            <a:r>
              <a:rPr lang="de-DE" sz="1600" dirty="0" smtClean="0"/>
              <a:t>„Defekt“, </a:t>
            </a:r>
            <a:r>
              <a:rPr lang="de-DE" sz="1600" dirty="0"/>
              <a:t>der eine Vermutung erledigt, sondern als zentrales Werkzeug, mit dem mathematische Erkenntnis voranschreitet</a:t>
            </a:r>
            <a:r>
              <a:rPr lang="de-DE" sz="1600" dirty="0" smtClean="0"/>
              <a:t>.</a:t>
            </a:r>
          </a:p>
          <a:p>
            <a:pPr algn="just"/>
            <a:endParaRPr lang="de-DE" sz="1600" dirty="0"/>
          </a:p>
          <a:p>
            <a:pPr algn="just"/>
            <a:r>
              <a:rPr lang="de-DE" sz="1600" b="1" dirty="0" smtClean="0"/>
              <a:t>Lokales und globales Gegenbeispiel</a:t>
            </a:r>
          </a:p>
          <a:p>
            <a:pPr marL="285750" indent="-285750" algn="just">
              <a:buFont typeface="Arial" panose="020B0604020202020204" pitchFamily="34" charset="0"/>
              <a:buChar char="•"/>
            </a:pPr>
            <a:r>
              <a:rPr lang="de-DE" sz="1600" dirty="0"/>
              <a:t>Global: widerlegt die </a:t>
            </a:r>
            <a:r>
              <a:rPr lang="de-DE" sz="1600" i="1" dirty="0"/>
              <a:t>Vermutung selbst</a:t>
            </a:r>
            <a:r>
              <a:rPr lang="de-DE" sz="1600" dirty="0"/>
              <a:t>. </a:t>
            </a:r>
            <a:endParaRPr lang="de-DE" sz="1600" dirty="0" smtClean="0"/>
          </a:p>
          <a:p>
            <a:pPr marL="285750" indent="-285750" algn="just">
              <a:buFont typeface="Arial" panose="020B0604020202020204" pitchFamily="34" charset="0"/>
              <a:buChar char="•"/>
            </a:pPr>
            <a:r>
              <a:rPr lang="de-DE" sz="1600" dirty="0"/>
              <a:t>Lokal: greift nur einen </a:t>
            </a:r>
            <a:r>
              <a:rPr lang="de-DE" sz="1600" i="1" dirty="0"/>
              <a:t>Hilfssatz</a:t>
            </a:r>
            <a:r>
              <a:rPr lang="de-DE" sz="1600" dirty="0"/>
              <a:t> / eine Teilvermutung im Beweis </a:t>
            </a:r>
            <a:r>
              <a:rPr lang="de-DE" sz="1600" dirty="0" smtClean="0"/>
              <a:t>an.</a:t>
            </a:r>
          </a:p>
          <a:p>
            <a:pPr marL="285750" indent="-285750" algn="just">
              <a:buFont typeface="Arial" panose="020B0604020202020204" pitchFamily="34" charset="0"/>
              <a:buChar char="•"/>
            </a:pPr>
            <a:endParaRPr lang="de-DE" sz="1600" dirty="0" smtClean="0"/>
          </a:p>
          <a:p>
            <a:pPr marL="285750" indent="-285750" algn="just">
              <a:buFont typeface="Wingdings"/>
              <a:buChar char="à"/>
            </a:pPr>
            <a:r>
              <a:rPr lang="de-DE" sz="1600" dirty="0" smtClean="0"/>
              <a:t>Lokale</a:t>
            </a:r>
            <a:r>
              <a:rPr lang="de-DE" sz="1600" dirty="0"/>
              <a:t>, aber nicht globale Gegenbeispiele decken einen fehlerhaften, zuvor verborgenen Hilfssatz </a:t>
            </a:r>
            <a:r>
              <a:rPr lang="de-DE" sz="1600" dirty="0" smtClean="0"/>
              <a:t>auf</a:t>
            </a:r>
          </a:p>
          <a:p>
            <a:pPr marL="285750" indent="-285750" algn="just">
              <a:buFont typeface="Wingdings"/>
              <a:buChar char="à"/>
            </a:pPr>
            <a:r>
              <a:rPr lang="de-DE" sz="1600" dirty="0"/>
              <a:t>Globale Gegenbeispiele widerlegen die Vermutung selbst; gängige Strategien sind Kapitulation, Monstersperre, Ausnahmensperre und Monsteranpassung.</a:t>
            </a:r>
          </a:p>
          <a:p>
            <a:pPr algn="just"/>
            <a:endParaRPr lang="de-DE" sz="1600" dirty="0"/>
          </a:p>
          <a:p>
            <a:pPr algn="just"/>
            <a:r>
              <a:rPr lang="de-DE" sz="1600" dirty="0"/>
              <a:t>Das Wechselspiel von Beweis ⇌ Widerlegung schafft neue Fragen, stärkere Sätze und erhöhten Gehalt; lokal werdende Gegenbeispiele dienen als heuristische Sprungbretter.</a:t>
            </a:r>
          </a:p>
        </p:txBody>
      </p:sp>
      <p:pic>
        <p:nvPicPr>
          <p:cNvPr id="13314" name="Picture 2"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224" y="771550"/>
            <a:ext cx="2304256" cy="3391097"/>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6516216" y="4198898"/>
            <a:ext cx="2448272" cy="677108"/>
          </a:xfrm>
          <a:prstGeom prst="rect">
            <a:avLst/>
          </a:prstGeom>
          <a:noFill/>
        </p:spPr>
        <p:txBody>
          <a:bodyPr wrap="square" rtlCol="0">
            <a:spAutoFit/>
          </a:bodyPr>
          <a:lstStyle/>
          <a:p>
            <a:pPr algn="ctr"/>
            <a:r>
              <a:rPr lang="de-DE" sz="2000" b="1" dirty="0" smtClean="0"/>
              <a:t>Imre </a:t>
            </a:r>
            <a:r>
              <a:rPr lang="de-DE" sz="2000" b="1" dirty="0" err="1" smtClean="0"/>
              <a:t>Lakatos</a:t>
            </a:r>
            <a:endParaRPr lang="de-DE" sz="2000" b="1" dirty="0" smtClean="0"/>
          </a:p>
          <a:p>
            <a:pPr algn="ctr"/>
            <a:r>
              <a:rPr lang="de-DE" dirty="0" smtClean="0"/>
              <a:t>(1922-1974)</a:t>
            </a:r>
            <a:endParaRPr lang="de-DE" dirty="0"/>
          </a:p>
        </p:txBody>
      </p:sp>
    </p:spTree>
    <p:extLst>
      <p:ext uri="{BB962C8B-B14F-4D97-AF65-F5344CB8AC3E}">
        <p14:creationId xmlns:p14="http://schemas.microsoft.com/office/powerpoint/2010/main" val="184322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Lakatos</a:t>
            </a:r>
            <a:r>
              <a:rPr lang="en-CA" sz="3200" dirty="0" smtClean="0">
                <a:solidFill>
                  <a:schemeClr val="bg1"/>
                </a:solidFill>
                <a:effectLst>
                  <a:outerShdw blurRad="38100" dist="38100" dir="2700000" algn="tl">
                    <a:srgbClr val="000000">
                      <a:alpha val="43137"/>
                    </a:srgbClr>
                  </a:outerShdw>
                </a:effectLst>
              </a:rPr>
              <a:t>’ </a:t>
            </a:r>
            <a:r>
              <a:rPr lang="en-CA" sz="3200" i="1" dirty="0" smtClean="0">
                <a:solidFill>
                  <a:schemeClr val="bg1"/>
                </a:solidFill>
                <a:effectLst>
                  <a:outerShdw blurRad="38100" dist="38100" dir="2700000" algn="tl">
                    <a:srgbClr val="000000">
                      <a:alpha val="43137"/>
                    </a:srgbClr>
                  </a:outerShdw>
                </a:effectLst>
              </a:rPr>
              <a:t>Proofs and Refutations</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79512" y="712316"/>
            <a:ext cx="6120680" cy="3293209"/>
          </a:xfrm>
          <a:prstGeom prst="rect">
            <a:avLst/>
          </a:prstGeom>
          <a:noFill/>
        </p:spPr>
        <p:txBody>
          <a:bodyPr wrap="square" rtlCol="0">
            <a:spAutoFit/>
          </a:bodyPr>
          <a:lstStyle/>
          <a:p>
            <a:r>
              <a:rPr lang="de-DE" sz="1600" b="1" dirty="0"/>
              <a:t>Prinzip der Rückübertragung der Falschheit</a:t>
            </a:r>
            <a:r>
              <a:rPr lang="de-DE" sz="1600" dirty="0"/>
              <a:t/>
            </a:r>
            <a:br>
              <a:rPr lang="de-DE" sz="1600" dirty="0"/>
            </a:br>
            <a:r>
              <a:rPr lang="de-DE" sz="1600" dirty="0"/>
              <a:t>Ein globales Gegenbeispiel muss (nach genügender Beweisanalyse) auch lokal werden; erst dann ist klar, </a:t>
            </a:r>
            <a:r>
              <a:rPr lang="de-DE" sz="1600" i="1" dirty="0"/>
              <a:t>wo</a:t>
            </a:r>
            <a:r>
              <a:rPr lang="de-DE" sz="1600" dirty="0"/>
              <a:t> der Fehler steckt. Das Prinzip reguliert den Fortschritt, indem es immer tiefere Hilfssätze freilegt. </a:t>
            </a:r>
            <a:endParaRPr lang="de-DE" sz="1600" dirty="0" smtClean="0"/>
          </a:p>
          <a:p>
            <a:endParaRPr lang="de-DE" sz="1600" dirty="0"/>
          </a:p>
          <a:p>
            <a:r>
              <a:rPr lang="de-DE" sz="1600" b="1" dirty="0"/>
              <a:t>Vier </a:t>
            </a:r>
            <a:r>
              <a:rPr lang="de-DE" sz="1600" b="1" dirty="0" err="1"/>
              <a:t>Standard­strategien</a:t>
            </a:r>
            <a:r>
              <a:rPr lang="de-DE" sz="1600" b="1" dirty="0"/>
              <a:t> auf globale Gegenbeispiele</a:t>
            </a:r>
            <a:endParaRPr lang="de-DE" sz="1600" dirty="0"/>
          </a:p>
          <a:p>
            <a:pPr marL="285750" indent="-285750">
              <a:buFont typeface="Arial" panose="020B0604020202020204" pitchFamily="34" charset="0"/>
              <a:buChar char="•"/>
            </a:pPr>
            <a:r>
              <a:rPr lang="de-DE" sz="1600" i="1" dirty="0"/>
              <a:t>Kapitulation</a:t>
            </a:r>
            <a:r>
              <a:rPr lang="de-DE" sz="1600" dirty="0"/>
              <a:t> – Vermutung aufgeben.</a:t>
            </a:r>
          </a:p>
          <a:p>
            <a:pPr marL="285750" indent="-285750">
              <a:buFont typeface="Arial" panose="020B0604020202020204" pitchFamily="34" charset="0"/>
              <a:buChar char="•"/>
            </a:pPr>
            <a:r>
              <a:rPr lang="de-DE" sz="1600" i="1" dirty="0"/>
              <a:t>Monstersperre</a:t>
            </a:r>
            <a:r>
              <a:rPr lang="de-DE" sz="1600" dirty="0"/>
              <a:t> – Gegenbeispiel durch Neudefinition aussondern.</a:t>
            </a:r>
          </a:p>
          <a:p>
            <a:pPr marL="285750" indent="-285750">
              <a:buFont typeface="Arial" panose="020B0604020202020204" pitchFamily="34" charset="0"/>
              <a:buChar char="•"/>
            </a:pPr>
            <a:r>
              <a:rPr lang="de-DE" sz="1600" i="1" dirty="0"/>
              <a:t>Ausnahmensperre</a:t>
            </a:r>
            <a:r>
              <a:rPr lang="de-DE" sz="1600" dirty="0"/>
              <a:t> – Vermutung einschränken (Ausnahmen katalogisieren).</a:t>
            </a:r>
          </a:p>
          <a:p>
            <a:pPr marL="285750" indent="-285750">
              <a:buFont typeface="Arial" panose="020B0604020202020204" pitchFamily="34" charset="0"/>
              <a:buChar char="•"/>
            </a:pPr>
            <a:r>
              <a:rPr lang="de-DE" sz="1600" i="1" dirty="0"/>
              <a:t>Monsteranpassung</a:t>
            </a:r>
            <a:r>
              <a:rPr lang="de-DE" sz="1600" dirty="0"/>
              <a:t> – Begriffe so umdeuten, dass das „Monster“ doch ein Beispiel wird. </a:t>
            </a:r>
          </a:p>
          <a:p>
            <a:endParaRPr lang="de-DE" sz="1600" dirty="0" smtClean="0"/>
          </a:p>
        </p:txBody>
      </p:sp>
      <p:pic>
        <p:nvPicPr>
          <p:cNvPr id="13314" name="Picture 2" descr="undefin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224" y="771550"/>
            <a:ext cx="2304256" cy="3391097"/>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6516216" y="4198898"/>
            <a:ext cx="2448272" cy="677108"/>
          </a:xfrm>
          <a:prstGeom prst="rect">
            <a:avLst/>
          </a:prstGeom>
          <a:noFill/>
        </p:spPr>
        <p:txBody>
          <a:bodyPr wrap="square" rtlCol="0">
            <a:spAutoFit/>
          </a:bodyPr>
          <a:lstStyle/>
          <a:p>
            <a:pPr algn="ctr"/>
            <a:r>
              <a:rPr lang="de-DE" sz="2000" b="1" dirty="0" smtClean="0"/>
              <a:t>Imre </a:t>
            </a:r>
            <a:r>
              <a:rPr lang="de-DE" sz="2000" b="1" dirty="0" err="1" smtClean="0"/>
              <a:t>Lakatos</a:t>
            </a:r>
            <a:endParaRPr lang="de-DE" sz="2000" b="1" dirty="0" smtClean="0"/>
          </a:p>
          <a:p>
            <a:pPr algn="ctr"/>
            <a:r>
              <a:rPr lang="de-DE" dirty="0" smtClean="0"/>
              <a:t>(1922-1974)</a:t>
            </a:r>
            <a:endParaRPr lang="de-DE" dirty="0"/>
          </a:p>
        </p:txBody>
      </p:sp>
    </p:spTree>
    <p:extLst>
      <p:ext uri="{BB962C8B-B14F-4D97-AF65-F5344CB8AC3E}">
        <p14:creationId xmlns:p14="http://schemas.microsoft.com/office/powerpoint/2010/main" val="420455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Monster und </a:t>
            </a:r>
            <a:r>
              <a:rPr lang="en-CA" sz="3200" dirty="0" err="1" smtClean="0">
                <a:solidFill>
                  <a:schemeClr val="bg1"/>
                </a:solidFill>
                <a:effectLst>
                  <a:outerShdw blurRad="38100" dist="38100" dir="2700000" algn="tl">
                    <a:srgbClr val="000000">
                      <a:alpha val="43137"/>
                    </a:srgbClr>
                  </a:outerShdw>
                </a:effectLst>
              </a:rPr>
              <a:t>Pathologien</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8856984" cy="4247317"/>
          </a:xfrm>
          <a:prstGeom prst="rect">
            <a:avLst/>
          </a:prstGeom>
          <a:noFill/>
        </p:spPr>
        <p:txBody>
          <a:bodyPr wrap="square" rtlCol="0">
            <a:spAutoFit/>
          </a:bodyPr>
          <a:lstStyle/>
          <a:p>
            <a:pPr algn="just"/>
            <a:r>
              <a:rPr lang="de-DE" dirty="0"/>
              <a:t>„Lange Zeit waren die Objekte, mit denen sich Mathematiker befassen, nur unzureichend definiert; wir glaubten, sie zu kennen, weil wir sie mit den Sinnen oder der Vorstellungskraft darstellten, aber wir hatten nur eine grobe Vorstellung und keine genaue Vorstellung, auf die sich die Argumentation stützen könnte. […] Die vage Vorstellung von Stetigkeit, die wir der Intuition verdankten, wurde in ein kompliziertes System von Ungleichungen in Bezug auf ganze Zahlen aufgelöst. So verschwanden ein für alle Mal alle Schwierigkeiten, die unsere Väter erschreckten, als sie über die Grundlagen der Infinitesimalrechnung nachdachten. […] Logik bringt manchmal Monster hervor. Im letzten halben Jahrhundert haben wir die Entstehung einer Vielzahl bizarrer Funktionen erlebt, die scheinbar danach streben, so wenig wie möglich ehrlichen Funktionen zu ähneln, die einem Zweck dienen. […] Wenn in der Vergangenheit eine neue Funktion erfunden wurde, geschah dies mit Blick auf ein praktisches Ziel; Heute erfinden wir sie absichtlich, um die Argumentation unserer Väter zu untergraben, und das ist alles, was wir jemals davon haben werden</a:t>
            </a:r>
            <a:r>
              <a:rPr lang="de-DE" dirty="0" smtClean="0"/>
              <a:t>.“</a:t>
            </a:r>
          </a:p>
          <a:p>
            <a:endParaRPr lang="de-DE" dirty="0"/>
          </a:p>
          <a:p>
            <a:r>
              <a:rPr lang="de-DE" dirty="0"/>
              <a:t>– Henri </a:t>
            </a:r>
            <a:r>
              <a:rPr lang="de-DE" dirty="0" err="1"/>
              <a:t>Poincaré</a:t>
            </a:r>
            <a:r>
              <a:rPr lang="de-DE" dirty="0"/>
              <a:t>: Wissenschaft und Hypothese</a:t>
            </a:r>
          </a:p>
        </p:txBody>
      </p:sp>
    </p:spTree>
    <p:extLst>
      <p:ext uri="{BB962C8B-B14F-4D97-AF65-F5344CB8AC3E}">
        <p14:creationId xmlns:p14="http://schemas.microsoft.com/office/powerpoint/2010/main" val="19431619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Hässliche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173" y="699542"/>
            <a:ext cx="7719275"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37240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611560" y="1700103"/>
            <a:ext cx="7920880" cy="1015663"/>
          </a:xfrm>
          <a:prstGeom prst="rect">
            <a:avLst/>
          </a:prstGeom>
        </p:spPr>
        <p:txBody>
          <a:bodyPr wrap="square">
            <a:spAutoFit/>
          </a:bodyPr>
          <a:lstStyle/>
          <a:p>
            <a:pPr algn="ctr"/>
            <a:r>
              <a:rPr lang="de-DE" sz="6000" dirty="0" smtClean="0"/>
              <a:t>Theoretisches</a:t>
            </a:r>
          </a:p>
        </p:txBody>
      </p:sp>
    </p:spTree>
    <p:extLst>
      <p:ext uri="{BB962C8B-B14F-4D97-AF65-F5344CB8AC3E}">
        <p14:creationId xmlns:p14="http://schemas.microsoft.com/office/powerpoint/2010/main" val="19379283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Unmöglichkeitssätze</a:t>
            </a:r>
            <a:endParaRPr lang="en-CA" sz="3200" dirty="0">
              <a:solidFill>
                <a:schemeClr val="bg1"/>
              </a:solidFill>
              <a:effectLst>
                <a:outerShdw blurRad="38100" dist="38100" dir="2700000" algn="tl">
                  <a:srgbClr val="000000">
                    <a:alpha val="43137"/>
                  </a:srgbClr>
                </a:outerShdw>
              </a:effectLst>
            </a:endParaRPr>
          </a:p>
        </p:txBody>
      </p:sp>
      <p:pic>
        <p:nvPicPr>
          <p:cNvPr id="7170" name="Picture 2" descr="Datei:01 Dreiteilung-Winkel Einleitungsbild.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1545" y="679154"/>
            <a:ext cx="1907837" cy="182058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Quadratur des Kreis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6016" y="2715766"/>
            <a:ext cx="2071839" cy="205363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Datei:01-Würfelverdoppelung-Menaichmos-1.sv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8024" y="787260"/>
            <a:ext cx="1728192" cy="1712482"/>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1520" y="3291830"/>
            <a:ext cx="4051887" cy="1477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7"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1520" y="683934"/>
            <a:ext cx="4051887" cy="2334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descr="undefined"/>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68663" y="2745184"/>
            <a:ext cx="1602681" cy="2075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973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Physikalische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Analogie</a:t>
            </a:r>
            <a:endParaRPr lang="en-CA" sz="3200" dirty="0">
              <a:solidFill>
                <a:schemeClr val="bg1"/>
              </a:solidFill>
              <a:effectLst>
                <a:outerShdw blurRad="38100" dist="38100" dir="2700000" algn="tl">
                  <a:srgbClr val="000000">
                    <a:alpha val="43137"/>
                  </a:srgbClr>
                </a:outerShdw>
              </a:effectLst>
            </a:endParaRPr>
          </a:p>
        </p:txBody>
      </p:sp>
      <p:pic>
        <p:nvPicPr>
          <p:cNvPr id="819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53095"/>
          <a:stretch/>
        </p:blipFill>
        <p:spPr bwMode="auto">
          <a:xfrm>
            <a:off x="323528" y="699542"/>
            <a:ext cx="8568952"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395536" y="2787774"/>
            <a:ext cx="8208912" cy="1477328"/>
          </a:xfrm>
          <a:prstGeom prst="rect">
            <a:avLst/>
          </a:prstGeom>
          <a:noFill/>
        </p:spPr>
        <p:txBody>
          <a:bodyPr wrap="square" rtlCol="0">
            <a:spAutoFit/>
          </a:bodyPr>
          <a:lstStyle/>
          <a:p>
            <a:pPr marL="285750" indent="-285750">
              <a:buFont typeface="Arial" panose="020B0604020202020204" pitchFamily="34" charset="0"/>
              <a:buChar char="•"/>
            </a:pPr>
            <a:r>
              <a:rPr lang="de-DE" b="1" dirty="0" smtClean="0"/>
              <a:t>Zweiter Hauptsatz der </a:t>
            </a:r>
            <a:r>
              <a:rPr lang="de-DE" b="1" dirty="0"/>
              <a:t>Thermodynamik</a:t>
            </a:r>
            <a:r>
              <a:rPr lang="de-DE" dirty="0" smtClean="0"/>
              <a:t>: kein Perpetuum mobile zweiter Art</a:t>
            </a:r>
          </a:p>
          <a:p>
            <a:pPr marL="285750" indent="-285750">
              <a:buFont typeface="Arial" panose="020B0604020202020204" pitchFamily="34" charset="0"/>
              <a:buChar char="•"/>
            </a:pPr>
            <a:r>
              <a:rPr lang="de-DE" b="1" dirty="0" err="1" smtClean="0"/>
              <a:t>Earnshaw</a:t>
            </a:r>
            <a:r>
              <a:rPr lang="de-DE" b="1" dirty="0" smtClean="0"/>
              <a:t>-Theorem</a:t>
            </a:r>
            <a:r>
              <a:rPr lang="de-DE" dirty="0" smtClean="0"/>
              <a:t>: Maxwell-Gleichungen erlauben kein stabiles Gleichgewicht für ein Teilchen in elektrostatischen Feldern</a:t>
            </a:r>
          </a:p>
          <a:p>
            <a:pPr marL="285750" indent="-285750">
              <a:buFont typeface="Arial" panose="020B0604020202020204" pitchFamily="34" charset="0"/>
              <a:buChar char="•"/>
            </a:pPr>
            <a:r>
              <a:rPr lang="de-DE" b="1" dirty="0" err="1" smtClean="0"/>
              <a:t>No</a:t>
            </a:r>
            <a:r>
              <a:rPr lang="de-DE" b="1" dirty="0" smtClean="0"/>
              <a:t>-</a:t>
            </a:r>
            <a:r>
              <a:rPr lang="de-DE" b="1" dirty="0" err="1" smtClean="0"/>
              <a:t>Cloning</a:t>
            </a:r>
            <a:r>
              <a:rPr lang="de-DE" b="1" dirty="0"/>
              <a:t>-Theorem</a:t>
            </a:r>
            <a:r>
              <a:rPr lang="de-DE" dirty="0"/>
              <a:t>: </a:t>
            </a:r>
            <a:r>
              <a:rPr lang="de-DE" dirty="0" smtClean="0"/>
              <a:t>in </a:t>
            </a:r>
            <a:r>
              <a:rPr lang="de-DE" dirty="0"/>
              <a:t>der Quantenmechanik gibt es keinen Prozess, der einen beliebigen, unbekannten Quantenzustand </a:t>
            </a:r>
            <a:r>
              <a:rPr lang="de-DE" dirty="0" smtClean="0"/>
              <a:t>kopiert</a:t>
            </a:r>
            <a:endParaRPr lang="de-DE" dirty="0"/>
          </a:p>
        </p:txBody>
      </p:sp>
    </p:spTree>
    <p:extLst>
      <p:ext uri="{BB962C8B-B14F-4D97-AF65-F5344CB8AC3E}">
        <p14:creationId xmlns:p14="http://schemas.microsoft.com/office/powerpoint/2010/main" val="3286730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Beweislücken</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Theorie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nichtformaler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Beweise</a:t>
            </a:r>
            <a:endParaRPr lang="en-CA" sz="3200" i="1"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699542"/>
            <a:ext cx="8808003" cy="3303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4347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Beweislücken</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Theorie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nichtformaler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Beweise</a:t>
            </a:r>
            <a:endParaRPr lang="en-CA" sz="3200" i="1" dirty="0">
              <a:solidFill>
                <a:schemeClr val="bg1"/>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717762"/>
            <a:ext cx="8541382" cy="336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48869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Beweislücken</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Theorie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nichtformaler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Beweise</a:t>
            </a:r>
            <a:endParaRPr lang="en-CA" sz="3200" i="1" dirty="0">
              <a:solidFill>
                <a:schemeClr val="bg1"/>
              </a:solidFill>
              <a:effectLst>
                <a:outerShdw blurRad="38100" dist="38100" dir="2700000" algn="tl">
                  <a:srgbClr val="000000">
                    <a:alpha val="43137"/>
                  </a:srgbClr>
                </a:outerShdw>
              </a:effectLst>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771550"/>
            <a:ext cx="8352928" cy="305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1310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Beweislücken</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Theorie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nichtformaler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Beweise</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8856984" cy="1538883"/>
          </a:xfrm>
          <a:prstGeom prst="rect">
            <a:avLst/>
          </a:prstGeom>
          <a:noFill/>
        </p:spPr>
        <p:txBody>
          <a:bodyPr wrap="square" rtlCol="0">
            <a:spAutoFit/>
          </a:bodyPr>
          <a:lstStyle/>
          <a:p>
            <a:r>
              <a:rPr lang="de-DE" sz="2800" b="1" dirty="0" smtClean="0"/>
              <a:t>Don </a:t>
            </a:r>
            <a:r>
              <a:rPr lang="de-DE" sz="2800" b="1" dirty="0" err="1" smtClean="0"/>
              <a:t>Fallis</a:t>
            </a:r>
            <a:r>
              <a:rPr lang="de-DE" sz="2800" b="1" dirty="0"/>
              <a:t>’ Lückentaxonomie (2003</a:t>
            </a:r>
            <a:r>
              <a:rPr lang="de-DE" sz="2800" b="1" dirty="0" smtClean="0"/>
              <a:t>)</a:t>
            </a:r>
          </a:p>
          <a:p>
            <a:pPr marL="285750" indent="-285750">
              <a:buFont typeface="Arial" panose="020B0604020202020204" pitchFamily="34" charset="0"/>
              <a:buChar char="•"/>
            </a:pPr>
            <a:endParaRPr lang="de-DE" dirty="0"/>
          </a:p>
          <a:p>
            <a:r>
              <a:rPr lang="en-US" sz="1600" b="1" dirty="0" err="1" smtClean="0"/>
              <a:t>Inferentielle</a:t>
            </a:r>
            <a:r>
              <a:rPr lang="en-US" sz="1600" b="1" dirty="0" smtClean="0"/>
              <a:t> </a:t>
            </a:r>
            <a:r>
              <a:rPr lang="en-US" sz="1600" b="1" dirty="0" err="1"/>
              <a:t>Lücken</a:t>
            </a:r>
            <a:r>
              <a:rPr lang="en-US" sz="1600" b="1" dirty="0"/>
              <a:t>:</a:t>
            </a:r>
            <a:r>
              <a:rPr lang="en-US" sz="1600" dirty="0"/>
              <a:t> „A mathematician has left an inferential gap whenever the particular sequence of propositions that the mathematician has in mind (as being a proof) is not a proof</a:t>
            </a:r>
            <a:r>
              <a:rPr lang="en-US" sz="1600" dirty="0" smtClean="0"/>
              <a:t>.“</a:t>
            </a:r>
          </a:p>
          <a:p>
            <a:endParaRPr lang="en-US" sz="16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995686"/>
            <a:ext cx="37433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8998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Beweislücken</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Theorie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nichtformaler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Beweise</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35496" y="627534"/>
            <a:ext cx="9217024" cy="584775"/>
          </a:xfrm>
          <a:prstGeom prst="rect">
            <a:avLst/>
          </a:prstGeom>
          <a:noFill/>
        </p:spPr>
        <p:txBody>
          <a:bodyPr wrap="square" rtlCol="0">
            <a:spAutoFit/>
          </a:bodyPr>
          <a:lstStyle/>
          <a:p>
            <a:r>
              <a:rPr lang="en-US" sz="1600" b="1" dirty="0" err="1" smtClean="0"/>
              <a:t>Enthymematische</a:t>
            </a:r>
            <a:r>
              <a:rPr lang="en-US" sz="1600" b="1" dirty="0" smtClean="0"/>
              <a:t> </a:t>
            </a:r>
            <a:r>
              <a:rPr lang="en-US" sz="1600" b="1" dirty="0" err="1"/>
              <a:t>Lücken</a:t>
            </a:r>
            <a:r>
              <a:rPr lang="en-US" sz="1600" b="1" dirty="0"/>
              <a:t>:</a:t>
            </a:r>
            <a:r>
              <a:rPr lang="en-US" sz="1600" dirty="0"/>
              <a:t> „A mathematician has left an enthymematic gap whenever he does not explicitly state the particular sequence of propositions that he has in mind</a:t>
            </a:r>
            <a:r>
              <a:rPr lang="en-US" sz="1600" dirty="0" smtClean="0"/>
              <a: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64984"/>
            <a:ext cx="7637708" cy="946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b="25792"/>
          <a:stretch/>
        </p:blipFill>
        <p:spPr bwMode="auto">
          <a:xfrm>
            <a:off x="303724" y="2355726"/>
            <a:ext cx="7580644" cy="1911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8024" y="4587974"/>
            <a:ext cx="3534568" cy="3143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75887" r="55354"/>
          <a:stretch/>
        </p:blipFill>
        <p:spPr bwMode="auto">
          <a:xfrm>
            <a:off x="303724" y="4371950"/>
            <a:ext cx="3384376" cy="621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07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Beweislücken</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Theorie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nichtformaler</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Beweise</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8856984" cy="2031325"/>
          </a:xfrm>
          <a:prstGeom prst="rect">
            <a:avLst/>
          </a:prstGeom>
          <a:noFill/>
        </p:spPr>
        <p:txBody>
          <a:bodyPr wrap="square" rtlCol="0">
            <a:spAutoFit/>
          </a:bodyPr>
          <a:lstStyle/>
          <a:p>
            <a:r>
              <a:rPr lang="de-DE" sz="2800" b="1" dirty="0" smtClean="0"/>
              <a:t>Don </a:t>
            </a:r>
            <a:r>
              <a:rPr lang="de-DE" sz="2800" b="1" dirty="0" err="1" smtClean="0"/>
              <a:t>Fallis</a:t>
            </a:r>
            <a:r>
              <a:rPr lang="de-DE" sz="2800" b="1" dirty="0"/>
              <a:t>’ Lückentaxonomie (2003</a:t>
            </a:r>
            <a:r>
              <a:rPr lang="de-DE" sz="2800" b="1" dirty="0" smtClean="0"/>
              <a:t>)</a:t>
            </a:r>
          </a:p>
          <a:p>
            <a:endParaRPr lang="de-DE" dirty="0"/>
          </a:p>
          <a:p>
            <a:r>
              <a:rPr lang="en-US" sz="1600" b="1" dirty="0" err="1"/>
              <a:t>Untraversierte</a:t>
            </a:r>
            <a:r>
              <a:rPr lang="en-US" sz="1600" b="1" dirty="0"/>
              <a:t> </a:t>
            </a:r>
            <a:r>
              <a:rPr lang="en-US" sz="1600" b="1" dirty="0" err="1"/>
              <a:t>Lücken</a:t>
            </a:r>
            <a:r>
              <a:rPr lang="en-US" sz="1600" b="1" dirty="0"/>
              <a:t>:</a:t>
            </a:r>
            <a:r>
              <a:rPr lang="en-US" sz="1600" dirty="0"/>
              <a:t> „A mathematician has left an untraversed gap whenever he has not tried to verify directly that each proposition in the sequence of propositions that he has in mind (as being a proof) follows from previous propositions in the sequence by a basic mathematical inference</a:t>
            </a:r>
            <a:r>
              <a:rPr lang="en-US" sz="1600" dirty="0" smtClean="0"/>
              <a:t>.“</a:t>
            </a:r>
          </a:p>
          <a:p>
            <a:endParaRPr lang="en-US" sz="1600" dirty="0"/>
          </a:p>
          <a:p>
            <a:r>
              <a:rPr lang="en-US" sz="1600" dirty="0" smtClean="0">
                <a:sym typeface="Wingdings" panose="05000000000000000000" pitchFamily="2" charset="2"/>
              </a:rPr>
              <a:t> </a:t>
            </a:r>
            <a:r>
              <a:rPr lang="en-US" sz="1600" dirty="0" err="1" smtClean="0">
                <a:sym typeface="Wingdings" panose="05000000000000000000" pitchFamily="2" charset="2"/>
              </a:rPr>
              <a:t>Beispiele</a:t>
            </a:r>
            <a:r>
              <a:rPr lang="en-US" sz="1600" dirty="0" smtClean="0">
                <a:sym typeface="Wingdings" panose="05000000000000000000" pitchFamily="2" charset="2"/>
              </a:rPr>
              <a:t> in der  </a:t>
            </a:r>
            <a:r>
              <a:rPr lang="en-US" sz="1600" dirty="0" err="1" smtClean="0">
                <a:sym typeface="Wingdings" panose="05000000000000000000" pitchFamily="2" charset="2"/>
              </a:rPr>
              <a:t>Liste</a:t>
            </a:r>
            <a:r>
              <a:rPr lang="en-US" sz="1600" dirty="0" smtClean="0">
                <a:sym typeface="Wingdings" panose="05000000000000000000" pitchFamily="2" charset="2"/>
              </a:rPr>
              <a:t> der “incomplete proofs”. </a:t>
            </a:r>
            <a:endParaRPr lang="en-US" sz="1600" dirty="0"/>
          </a:p>
        </p:txBody>
      </p:sp>
    </p:spTree>
    <p:extLst>
      <p:ext uri="{BB962C8B-B14F-4D97-AF65-F5344CB8AC3E}">
        <p14:creationId xmlns:p14="http://schemas.microsoft.com/office/powerpoint/2010/main" val="238270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p:cNvSpPr txBox="1"/>
          <p:nvPr/>
        </p:nvSpPr>
        <p:spPr>
          <a:xfrm>
            <a:off x="2771800" y="1779662"/>
            <a:ext cx="6408712" cy="1015663"/>
          </a:xfrm>
          <a:prstGeom prst="rect">
            <a:avLst/>
          </a:prstGeom>
          <a:noFill/>
        </p:spPr>
        <p:txBody>
          <a:bodyPr wrap="square" rtlCol="0">
            <a:spAutoFit/>
          </a:bodyPr>
          <a:lstStyle/>
          <a:p>
            <a:r>
              <a:rPr lang="de-DE" sz="6000" dirty="0" smtClean="0"/>
              <a:t>Im Umfeld</a:t>
            </a:r>
            <a:endParaRPr lang="de-DE" sz="6000" dirty="0"/>
          </a:p>
        </p:txBody>
      </p:sp>
    </p:spTree>
    <p:extLst>
      <p:ext uri="{BB962C8B-B14F-4D97-AF65-F5344CB8AC3E}">
        <p14:creationId xmlns:p14="http://schemas.microsoft.com/office/powerpoint/2010/main" val="39997479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Antoni </a:t>
            </a:r>
            <a:r>
              <a:rPr lang="en-CA" sz="3200" dirty="0" err="1" smtClean="0">
                <a:solidFill>
                  <a:schemeClr val="bg1"/>
                </a:solidFill>
                <a:effectLst>
                  <a:outerShdw blurRad="38100" dist="38100" dir="2700000" algn="tl">
                    <a:srgbClr val="000000">
                      <a:alpha val="43137"/>
                    </a:srgbClr>
                  </a:outerShdw>
                </a:effectLst>
              </a:rPr>
              <a:t>Zygmund</a:t>
            </a:r>
            <a:r>
              <a:rPr lang="en-CA" sz="3200" dirty="0" smtClean="0">
                <a:solidFill>
                  <a:schemeClr val="bg1"/>
                </a:solidFill>
                <a:effectLst>
                  <a:outerShdw blurRad="38100" dist="38100" dir="2700000" algn="tl">
                    <a:srgbClr val="000000">
                      <a:alpha val="43137"/>
                    </a:srgbClr>
                  </a:outerShdw>
                </a:effectLst>
              </a:rPr>
              <a:t> – der Centipede Surgeon</a:t>
            </a:r>
            <a:endParaRPr lang="en-CA" sz="3200" dirty="0">
              <a:solidFill>
                <a:schemeClr val="bg1"/>
              </a:solidFill>
              <a:effectLst>
                <a:outerShdw blurRad="38100" dist="38100" dir="2700000" algn="tl">
                  <a:srgbClr val="000000">
                    <a:alpha val="43137"/>
                  </a:srgbClr>
                </a:outerShdw>
              </a:effectLst>
            </a:endParaRPr>
          </a:p>
        </p:txBody>
      </p:sp>
      <p:pic>
        <p:nvPicPr>
          <p:cNvPr id="3074" name="Picture 2" descr="undefine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4564"/>
          <a:stretch/>
        </p:blipFill>
        <p:spPr bwMode="auto">
          <a:xfrm>
            <a:off x="6697157" y="741804"/>
            <a:ext cx="2267331" cy="3270106"/>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6588224" y="4011910"/>
            <a:ext cx="2446843" cy="677108"/>
          </a:xfrm>
          <a:prstGeom prst="rect">
            <a:avLst/>
          </a:prstGeom>
          <a:noFill/>
        </p:spPr>
        <p:txBody>
          <a:bodyPr wrap="square" rtlCol="0">
            <a:spAutoFit/>
          </a:bodyPr>
          <a:lstStyle/>
          <a:p>
            <a:pPr algn="ctr"/>
            <a:r>
              <a:rPr lang="de-DE" sz="2000" b="1" dirty="0"/>
              <a:t>Antoni </a:t>
            </a:r>
            <a:r>
              <a:rPr lang="de-DE" sz="2000" b="1" dirty="0" smtClean="0"/>
              <a:t>Zygmund</a:t>
            </a:r>
          </a:p>
          <a:p>
            <a:pPr algn="ctr"/>
            <a:r>
              <a:rPr lang="de-DE" dirty="0" smtClean="0"/>
              <a:t>(1900-1992)</a:t>
            </a:r>
            <a:endParaRPr lang="de-DE" dirty="0"/>
          </a:p>
        </p:txBody>
      </p:sp>
      <p:sp>
        <p:nvSpPr>
          <p:cNvPr id="3" name="Textfeld 2"/>
          <p:cNvSpPr txBox="1"/>
          <p:nvPr/>
        </p:nvSpPr>
        <p:spPr>
          <a:xfrm>
            <a:off x="179512" y="680958"/>
            <a:ext cx="6336704" cy="2893100"/>
          </a:xfrm>
          <a:prstGeom prst="rect">
            <a:avLst/>
          </a:prstGeom>
          <a:noFill/>
        </p:spPr>
        <p:txBody>
          <a:bodyPr wrap="square" rtlCol="0">
            <a:spAutoFit/>
          </a:bodyPr>
          <a:lstStyle/>
          <a:p>
            <a:pPr marL="285750" indent="-285750">
              <a:buFont typeface="Arial" panose="020B0604020202020204" pitchFamily="34" charset="0"/>
              <a:buChar char="•"/>
            </a:pPr>
            <a:r>
              <a:rPr lang="de-DE" sz="1400" b="1" dirty="0"/>
              <a:t>„</a:t>
            </a:r>
            <a:r>
              <a:rPr lang="de-DE" sz="1400" b="1" dirty="0" err="1"/>
              <a:t>Centipede</a:t>
            </a:r>
            <a:r>
              <a:rPr lang="de-DE" sz="1400" b="1" dirty="0"/>
              <a:t> </a:t>
            </a:r>
            <a:r>
              <a:rPr lang="de-DE" sz="1400" b="1" dirty="0" err="1"/>
              <a:t>Mathematics</a:t>
            </a:r>
            <a:r>
              <a:rPr lang="de-DE" sz="1400" b="1" dirty="0"/>
              <a:t>“ bezeichnet das schrittweise Entfernen von Axiomen </a:t>
            </a:r>
            <a:r>
              <a:rPr lang="de-DE" sz="1400" dirty="0"/>
              <a:t>bzw. Einschränkungen in algebraischen Strukturen, analog zum Abreißen der Beine eines Tausendfüßlers, um zu untersuchen, was noch übrigbleibt</a:t>
            </a:r>
            <a:r>
              <a:rPr lang="de-DE" sz="1400" dirty="0" smtClean="0"/>
              <a:t>.</a:t>
            </a:r>
          </a:p>
          <a:p>
            <a:pPr marL="285750" indent="-285750">
              <a:buFont typeface="Arial" panose="020B0604020202020204" pitchFamily="34" charset="0"/>
              <a:buChar char="•"/>
            </a:pPr>
            <a:endParaRPr lang="de-DE" sz="1400" dirty="0" smtClean="0"/>
          </a:p>
          <a:p>
            <a:pPr marL="285750" indent="-285750">
              <a:buFont typeface="Arial" panose="020B0604020202020204" pitchFamily="34" charset="0"/>
              <a:buChar char="•"/>
            </a:pPr>
            <a:r>
              <a:rPr lang="de-DE" sz="1400" b="1" dirty="0"/>
              <a:t>Ursprung: </a:t>
            </a:r>
            <a:r>
              <a:rPr lang="de-DE" sz="1400" dirty="0" smtClean="0"/>
              <a:t>Antoni Zygmund, </a:t>
            </a:r>
            <a:r>
              <a:rPr lang="de-DE" sz="1400" dirty="0"/>
              <a:t>der laut Überlieferung sagte: „Man reißt einem </a:t>
            </a:r>
            <a:r>
              <a:rPr lang="de-DE" sz="1400" dirty="0" smtClean="0"/>
              <a:t>Tausendfüßler 99 </a:t>
            </a:r>
            <a:r>
              <a:rPr lang="de-DE" sz="1400" dirty="0"/>
              <a:t>Beine ab und schaut, was er noch kann</a:t>
            </a:r>
            <a:r>
              <a:rPr lang="de-DE" sz="1400" dirty="0" smtClean="0"/>
              <a:t>.“</a:t>
            </a:r>
          </a:p>
          <a:p>
            <a:pPr marL="285750" indent="-285750">
              <a:buFont typeface="Arial" panose="020B0604020202020204" pitchFamily="34" charset="0"/>
              <a:buChar char="•"/>
            </a:pPr>
            <a:endParaRPr lang="de-DE" sz="1400" dirty="0"/>
          </a:p>
          <a:p>
            <a:r>
              <a:rPr lang="de-DE" sz="1400" b="1" dirty="0" smtClean="0"/>
              <a:t>Beispiele: </a:t>
            </a:r>
          </a:p>
          <a:p>
            <a:r>
              <a:rPr lang="de-DE" sz="1400" u="sng" dirty="0" smtClean="0"/>
              <a:t>Start</a:t>
            </a:r>
            <a:r>
              <a:rPr lang="de-DE" sz="1400" dirty="0" smtClean="0"/>
              <a:t>: </a:t>
            </a:r>
            <a:r>
              <a:rPr lang="de-DE" sz="1400" dirty="0" err="1" smtClean="0"/>
              <a:t>Abelsche</a:t>
            </a:r>
            <a:r>
              <a:rPr lang="de-DE" sz="1400" dirty="0" smtClean="0"/>
              <a:t> </a:t>
            </a:r>
            <a:r>
              <a:rPr lang="de-DE" sz="1400" dirty="0"/>
              <a:t>Gruppe </a:t>
            </a:r>
            <a:endParaRPr lang="de-DE" sz="1400" dirty="0" smtClean="0"/>
          </a:p>
          <a:p>
            <a:r>
              <a:rPr lang="de-DE" sz="1400" dirty="0" smtClean="0"/>
              <a:t>→ </a:t>
            </a:r>
            <a:r>
              <a:rPr lang="de-DE" sz="1400" dirty="0"/>
              <a:t>Gruppe (</a:t>
            </a:r>
            <a:r>
              <a:rPr lang="de-DE" sz="1400" dirty="0" err="1"/>
              <a:t>Kommutativität</a:t>
            </a:r>
            <a:r>
              <a:rPr lang="de-DE" sz="1400" dirty="0"/>
              <a:t> weglassen) </a:t>
            </a:r>
            <a:endParaRPr lang="de-DE" sz="1400" dirty="0" smtClean="0"/>
          </a:p>
          <a:p>
            <a:r>
              <a:rPr lang="de-DE" sz="1400" dirty="0" smtClean="0"/>
              <a:t>→ </a:t>
            </a:r>
            <a:r>
              <a:rPr lang="de-DE" sz="1400" dirty="0" err="1"/>
              <a:t>Monoid</a:t>
            </a:r>
            <a:r>
              <a:rPr lang="de-DE" sz="1400" dirty="0"/>
              <a:t> (Inversen weglassen) </a:t>
            </a:r>
            <a:endParaRPr lang="de-DE" sz="1400" dirty="0" smtClean="0"/>
          </a:p>
          <a:p>
            <a:r>
              <a:rPr lang="de-DE" sz="1400" dirty="0" smtClean="0"/>
              <a:t>→ </a:t>
            </a:r>
            <a:r>
              <a:rPr lang="de-DE" sz="1400" dirty="0"/>
              <a:t>Halbgruppe (</a:t>
            </a:r>
            <a:r>
              <a:rPr lang="de-DE" sz="1400" dirty="0" err="1"/>
              <a:t>Einheits­element</a:t>
            </a:r>
            <a:r>
              <a:rPr lang="de-DE" sz="1400" dirty="0"/>
              <a:t> weglassen) </a:t>
            </a:r>
            <a:endParaRPr lang="de-DE" sz="1400" dirty="0" smtClean="0"/>
          </a:p>
          <a:p>
            <a:r>
              <a:rPr lang="de-DE" sz="1400" dirty="0" smtClean="0"/>
              <a:t>→ </a:t>
            </a:r>
            <a:r>
              <a:rPr lang="de-DE" sz="1400" dirty="0"/>
              <a:t>Magma (Assoziativität weglassen).</a:t>
            </a:r>
          </a:p>
        </p:txBody>
      </p:sp>
      <p:pic>
        <p:nvPicPr>
          <p:cNvPr id="3076" name="Picture 4" descr="undefin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848" y="2155622"/>
            <a:ext cx="3528392" cy="2792392"/>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p:cNvSpPr txBox="1"/>
          <p:nvPr/>
        </p:nvSpPr>
        <p:spPr>
          <a:xfrm>
            <a:off x="179512" y="3795886"/>
            <a:ext cx="3024336" cy="954107"/>
          </a:xfrm>
          <a:prstGeom prst="rect">
            <a:avLst/>
          </a:prstGeom>
          <a:noFill/>
          <a:ln w="12700">
            <a:solidFill>
              <a:schemeClr val="tx1"/>
            </a:solidFill>
          </a:ln>
        </p:spPr>
        <p:txBody>
          <a:bodyPr wrap="square" rtlCol="0">
            <a:spAutoFit/>
          </a:bodyPr>
          <a:lstStyle/>
          <a:p>
            <a:pPr algn="just"/>
            <a:r>
              <a:rPr lang="de-DE" sz="1400" dirty="0" smtClean="0"/>
              <a:t>John</a:t>
            </a:r>
            <a:r>
              <a:rPr lang="de-DE" sz="1400" dirty="0"/>
              <a:t> Baez spricht in seinem Blog auch von „subaltern </a:t>
            </a:r>
            <a:r>
              <a:rPr lang="de-DE" sz="1400" dirty="0" err="1"/>
              <a:t>concepts</a:t>
            </a:r>
            <a:r>
              <a:rPr lang="de-DE" sz="1400" dirty="0"/>
              <a:t>“, also »defektiven« Versionen bekannter Strukturen (z. B. </a:t>
            </a:r>
            <a:r>
              <a:rPr lang="de-DE" sz="1400" dirty="0" err="1"/>
              <a:t>Monoid</a:t>
            </a:r>
            <a:r>
              <a:rPr lang="de-DE" sz="1400" dirty="0"/>
              <a:t> statt Gruppe);</a:t>
            </a:r>
          </a:p>
        </p:txBody>
      </p:sp>
    </p:spTree>
    <p:extLst>
      <p:ext uri="{BB962C8B-B14F-4D97-AF65-F5344CB8AC3E}">
        <p14:creationId xmlns:p14="http://schemas.microsoft.com/office/powerpoint/2010/main" val="2776698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7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Proof Mining</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27534"/>
            <a:ext cx="5544616" cy="2554545"/>
          </a:xfrm>
          <a:prstGeom prst="rect">
            <a:avLst/>
          </a:prstGeom>
          <a:noFill/>
        </p:spPr>
        <p:txBody>
          <a:bodyPr wrap="square" rtlCol="0">
            <a:spAutoFit/>
          </a:bodyPr>
          <a:lstStyle/>
          <a:p>
            <a:pPr algn="just"/>
            <a:r>
              <a:rPr lang="de-DE" sz="1600" b="1" dirty="0" smtClean="0"/>
              <a:t>Frage</a:t>
            </a:r>
            <a:r>
              <a:rPr lang="de-DE" sz="1600" b="1" dirty="0"/>
              <a:t>: </a:t>
            </a:r>
            <a:r>
              <a:rPr lang="de-DE" sz="1600" dirty="0"/>
              <a:t>„Was wissen wir noch, wenn wir wissen, dass ein Satz mit eingeschränkten Mitteln beweisbar ist, im Vergleich dazu, dass wir nur seine Wahrheit kennen</a:t>
            </a:r>
            <a:r>
              <a:rPr lang="de-DE" sz="1600" dirty="0" smtClean="0"/>
              <a:t>?“</a:t>
            </a:r>
          </a:p>
          <a:p>
            <a:pPr algn="just"/>
            <a:endParaRPr lang="de-DE" sz="1600" dirty="0" smtClean="0"/>
          </a:p>
          <a:p>
            <a:pPr algn="just"/>
            <a:r>
              <a:rPr lang="de-DE" sz="1600" dirty="0"/>
              <a:t>Diese Überlegung führte zum Konzept des </a:t>
            </a:r>
            <a:r>
              <a:rPr lang="de-DE" sz="1600" b="1" dirty="0" err="1"/>
              <a:t>Unwindings</a:t>
            </a:r>
            <a:r>
              <a:rPr lang="de-DE" sz="1600" dirty="0"/>
              <a:t> (deutsch etwa „Entwicklung“) von Beweisen, das später </a:t>
            </a:r>
            <a:r>
              <a:rPr lang="de-DE" sz="1600" b="1" dirty="0"/>
              <a:t>Proof Mining </a:t>
            </a:r>
            <a:r>
              <a:rPr lang="de-DE" sz="1600" dirty="0"/>
              <a:t>genannt wurde</a:t>
            </a:r>
            <a:r>
              <a:rPr lang="de-DE" sz="1600" dirty="0" smtClean="0"/>
              <a:t>.</a:t>
            </a:r>
            <a:endParaRPr lang="de-DE" sz="1600" dirty="0"/>
          </a:p>
          <a:p>
            <a:pPr algn="just"/>
            <a:endParaRPr lang="de-DE" sz="1600" dirty="0" smtClean="0"/>
          </a:p>
          <a:p>
            <a:pPr algn="just"/>
            <a:r>
              <a:rPr lang="de-DE" sz="1600" dirty="0"/>
              <a:t>Die Methoden des Proof Mining verbinden logische Techniken mit Themen aus der Analysis, Numerik und Informatik</a:t>
            </a:r>
            <a:r>
              <a:rPr lang="de-DE" sz="1600" dirty="0" smtClean="0"/>
              <a:t>.</a:t>
            </a:r>
          </a:p>
        </p:txBody>
      </p:sp>
      <p:pic>
        <p:nvPicPr>
          <p:cNvPr id="10242" name="Picture 2" descr="Pictures of Georg Kreisel - MacTutor History of Mathemat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699542"/>
            <a:ext cx="2724150" cy="3105150"/>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6156176" y="3867894"/>
            <a:ext cx="2724150" cy="738664"/>
          </a:xfrm>
          <a:prstGeom prst="rect">
            <a:avLst/>
          </a:prstGeom>
          <a:noFill/>
        </p:spPr>
        <p:txBody>
          <a:bodyPr wrap="square" rtlCol="0">
            <a:spAutoFit/>
          </a:bodyPr>
          <a:lstStyle/>
          <a:p>
            <a:pPr algn="ctr"/>
            <a:r>
              <a:rPr lang="de-DE" sz="2400" b="1" dirty="0" smtClean="0"/>
              <a:t>Georg Kreisel</a:t>
            </a:r>
          </a:p>
          <a:p>
            <a:pPr algn="ctr"/>
            <a:r>
              <a:rPr lang="de-DE" dirty="0" smtClean="0"/>
              <a:t>(1923-2015)</a:t>
            </a:r>
            <a:endParaRPr lang="de-DE" dirty="0"/>
          </a:p>
        </p:txBody>
      </p:sp>
    </p:spTree>
    <p:extLst>
      <p:ext uri="{BB962C8B-B14F-4D97-AF65-F5344CB8AC3E}">
        <p14:creationId xmlns:p14="http://schemas.microsoft.com/office/powerpoint/2010/main" val="309804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Reverse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179512" y="701283"/>
            <a:ext cx="5616624" cy="3970318"/>
          </a:xfrm>
          <a:prstGeom prst="rect">
            <a:avLst/>
          </a:prstGeom>
        </p:spPr>
        <p:txBody>
          <a:bodyPr wrap="square">
            <a:spAutoFit/>
          </a:bodyPr>
          <a:lstStyle/>
          <a:p>
            <a:pPr algn="just"/>
            <a:r>
              <a:rPr lang="de-DE" i="1" dirty="0"/>
              <a:t>Ziel und Idee:</a:t>
            </a:r>
            <a:r>
              <a:rPr lang="de-DE" dirty="0"/>
              <a:t> </a:t>
            </a:r>
            <a:endParaRPr lang="de-DE" dirty="0" smtClean="0"/>
          </a:p>
          <a:p>
            <a:pPr algn="just"/>
            <a:r>
              <a:rPr lang="de-DE" dirty="0" smtClean="0"/>
              <a:t>Reverse</a:t>
            </a:r>
            <a:r>
              <a:rPr lang="de-DE" dirty="0"/>
              <a:t> Mathematik ist ein Forschungsprogramm der Logik, das klärt, </a:t>
            </a:r>
            <a:r>
              <a:rPr lang="de-DE" b="1" dirty="0"/>
              <a:t>welche Axiome minimal nötig sind, um einen gegebenen Satz zu beweisen</a:t>
            </a:r>
            <a:r>
              <a:rPr lang="de-DE" dirty="0" smtClean="0"/>
              <a:t>.</a:t>
            </a:r>
          </a:p>
          <a:p>
            <a:endParaRPr lang="de-DE" dirty="0"/>
          </a:p>
          <a:p>
            <a:pPr marL="285750" indent="-285750">
              <a:buFont typeface="Wingdings"/>
              <a:buChar char="à"/>
            </a:pPr>
            <a:r>
              <a:rPr lang="de-DE" dirty="0" smtClean="0"/>
              <a:t>„</a:t>
            </a:r>
            <a:r>
              <a:rPr lang="de-DE" dirty="0"/>
              <a:t>Zurückgehen von den Theoremen zu den Axiomen“ </a:t>
            </a:r>
          </a:p>
          <a:p>
            <a:pPr marL="285750" indent="-285750">
              <a:buFont typeface="Wingdings"/>
              <a:buChar char="à"/>
            </a:pPr>
            <a:r>
              <a:rPr lang="de-DE" dirty="0" smtClean="0"/>
              <a:t>„Herausmeißeln der notwendigen Bedingungen aus den hinreichenden“</a:t>
            </a:r>
          </a:p>
          <a:p>
            <a:endParaRPr lang="de-DE" dirty="0" smtClean="0"/>
          </a:p>
          <a:p>
            <a:pPr algn="just"/>
            <a:r>
              <a:rPr lang="de-DE" i="1" dirty="0"/>
              <a:t>Framework:</a:t>
            </a:r>
            <a:r>
              <a:rPr lang="de-DE" dirty="0"/>
              <a:t> Reverse Mathematik arbeitet meist in </a:t>
            </a:r>
            <a:r>
              <a:rPr lang="de-DE" b="1" dirty="0"/>
              <a:t>Subsystemen der zweiten Ordnung der Arithmetik</a:t>
            </a:r>
            <a:r>
              <a:rPr lang="de-DE" dirty="0"/>
              <a:t>. Alle mathematischen Objekte werden dabei als natürliche Zahlen oder Mengen natürlicher Zahlen kodiert; so können Methoden der Rekursionstheorie genutzt werden</a:t>
            </a:r>
          </a:p>
        </p:txBody>
      </p:sp>
      <p:pic>
        <p:nvPicPr>
          <p:cNvPr id="9218" name="Picture 2"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1406" y="768866"/>
            <a:ext cx="2921074" cy="3027020"/>
          </a:xfrm>
          <a:prstGeom prst="rect">
            <a:avLst/>
          </a:prstGeom>
          <a:noFill/>
          <a:ln w="28575">
            <a:solidFill>
              <a:schemeClr val="accent1"/>
            </a:solidFill>
          </a:ln>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5971406" y="3867894"/>
            <a:ext cx="2921074" cy="677108"/>
          </a:xfrm>
          <a:prstGeom prst="rect">
            <a:avLst/>
          </a:prstGeom>
          <a:noFill/>
        </p:spPr>
        <p:txBody>
          <a:bodyPr wrap="square" rtlCol="0">
            <a:spAutoFit/>
          </a:bodyPr>
          <a:lstStyle/>
          <a:p>
            <a:pPr algn="ctr"/>
            <a:r>
              <a:rPr lang="de-DE" sz="2000" b="1" dirty="0" smtClean="0"/>
              <a:t>Harvey Friedman</a:t>
            </a:r>
          </a:p>
          <a:p>
            <a:pPr algn="ctr"/>
            <a:r>
              <a:rPr lang="de-DE" dirty="0" smtClean="0"/>
              <a:t>*1948 in Chicago</a:t>
            </a:r>
            <a:endParaRPr lang="de-DE" dirty="0"/>
          </a:p>
        </p:txBody>
      </p:sp>
    </p:spTree>
    <p:extLst>
      <p:ext uri="{BB962C8B-B14F-4D97-AF65-F5344CB8AC3E}">
        <p14:creationId xmlns:p14="http://schemas.microsoft.com/office/powerpoint/2010/main" val="15451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Reverse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179512" y="701283"/>
            <a:ext cx="5616624" cy="3046988"/>
          </a:xfrm>
          <a:prstGeom prst="rect">
            <a:avLst/>
          </a:prstGeom>
        </p:spPr>
        <p:txBody>
          <a:bodyPr wrap="square">
            <a:spAutoFit/>
          </a:bodyPr>
          <a:lstStyle/>
          <a:p>
            <a:pPr algn="just"/>
            <a:r>
              <a:rPr lang="de-DE" sz="1600" i="1" dirty="0"/>
              <a:t>Methodischer Ablauf:</a:t>
            </a:r>
            <a:r>
              <a:rPr lang="de-DE" sz="1600" dirty="0"/>
              <a:t> </a:t>
            </a:r>
            <a:endParaRPr lang="de-DE" sz="1600" dirty="0" smtClean="0"/>
          </a:p>
          <a:p>
            <a:pPr algn="just"/>
            <a:r>
              <a:rPr lang="de-DE" sz="1600" dirty="0" smtClean="0"/>
              <a:t>Eine </a:t>
            </a:r>
            <a:r>
              <a:rPr lang="de-DE" sz="1600" dirty="0"/>
              <a:t>Reverse‑Mathematik‑Analyse durchläuft (mindestens) drei Schritte</a:t>
            </a:r>
            <a:r>
              <a:rPr lang="de-DE" sz="1600" dirty="0" smtClean="0"/>
              <a:t>:</a:t>
            </a:r>
          </a:p>
          <a:p>
            <a:pPr algn="just"/>
            <a:endParaRPr lang="de-DE" sz="1600" dirty="0"/>
          </a:p>
          <a:p>
            <a:pPr marL="342900" indent="-342900">
              <a:buFont typeface="+mj-lt"/>
              <a:buAutoNum type="arabicParenR"/>
            </a:pPr>
            <a:r>
              <a:rPr lang="de-DE" sz="1600" b="1" dirty="0"/>
              <a:t>Satz identifizieren:</a:t>
            </a:r>
            <a:r>
              <a:rPr lang="de-DE" sz="1600" dirty="0"/>
              <a:t> Man wählt den zu untersuchenden mathematischen Satz aus.</a:t>
            </a:r>
          </a:p>
          <a:p>
            <a:pPr marL="342900" indent="-342900">
              <a:buFont typeface="+mj-lt"/>
              <a:buAutoNum type="arabicParenR"/>
            </a:pPr>
            <a:r>
              <a:rPr lang="de-DE" sz="1600" b="1" dirty="0"/>
              <a:t>Axiome bestimmen:</a:t>
            </a:r>
            <a:r>
              <a:rPr lang="de-DE" sz="1600" dirty="0"/>
              <a:t> Es werden die Axiome ermittelt, die zum Beweis notwendig sind. Dabei werden u.a. Beweisanalysen und Modellkonstruktionen eingesetzt</a:t>
            </a:r>
          </a:p>
          <a:p>
            <a:pPr marL="342900" indent="-342900" algn="just">
              <a:buFont typeface="+mj-lt"/>
              <a:buAutoNum type="arabicParenR"/>
            </a:pPr>
            <a:r>
              <a:rPr lang="de-DE" sz="1600" b="1" dirty="0"/>
              <a:t>Komplexität kalibrieren:</a:t>
            </a:r>
            <a:r>
              <a:rPr lang="de-DE" sz="1600" dirty="0"/>
              <a:t> Die Stärke des Satzes wird durch Vergleich mit anderen Sätzen in demselben formalen System eingeordnet</a:t>
            </a:r>
          </a:p>
        </p:txBody>
      </p:sp>
      <p:sp>
        <p:nvSpPr>
          <p:cNvPr id="3" name="Textfeld 2"/>
          <p:cNvSpPr txBox="1"/>
          <p:nvPr/>
        </p:nvSpPr>
        <p:spPr>
          <a:xfrm>
            <a:off x="6115422" y="3579862"/>
            <a:ext cx="2921074" cy="677108"/>
          </a:xfrm>
          <a:prstGeom prst="rect">
            <a:avLst/>
          </a:prstGeom>
          <a:noFill/>
        </p:spPr>
        <p:txBody>
          <a:bodyPr wrap="square" rtlCol="0">
            <a:spAutoFit/>
          </a:bodyPr>
          <a:lstStyle/>
          <a:p>
            <a:pPr algn="ctr"/>
            <a:r>
              <a:rPr lang="de-DE" sz="2000" b="1" dirty="0" smtClean="0"/>
              <a:t>Steve Simpson</a:t>
            </a:r>
          </a:p>
          <a:p>
            <a:pPr algn="ctr"/>
            <a:r>
              <a:rPr lang="de-DE" dirty="0" smtClean="0"/>
              <a:t>*1945</a:t>
            </a:r>
            <a:endParaRPr lang="de-DE" dirty="0"/>
          </a:p>
        </p:txBody>
      </p:sp>
      <p:pic>
        <p:nvPicPr>
          <p:cNvPr id="10242" name="Picture 2" descr="undefined"/>
          <p:cNvPicPr>
            <a:picLocks noChangeAspect="1" noChangeArrowheads="1"/>
          </p:cNvPicPr>
          <p:nvPr/>
        </p:nvPicPr>
        <p:blipFill rotWithShape="1">
          <a:blip r:embed="rId3">
            <a:extLst>
              <a:ext uri="{28A0092B-C50C-407E-A947-70E740481C1C}">
                <a14:useLocalDpi xmlns:a14="http://schemas.microsoft.com/office/drawing/2010/main" val="0"/>
              </a:ext>
            </a:extLst>
          </a:blip>
          <a:srcRect l="10681" r="18720"/>
          <a:stretch/>
        </p:blipFill>
        <p:spPr bwMode="auto">
          <a:xfrm>
            <a:off x="6202680" y="722362"/>
            <a:ext cx="2689800" cy="2857500"/>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57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Der </a:t>
            </a:r>
            <a:r>
              <a:rPr lang="en-CA" sz="3200" dirty="0" err="1" smtClean="0">
                <a:solidFill>
                  <a:schemeClr val="bg1"/>
                </a:solidFill>
                <a:effectLst>
                  <a:outerShdw blurRad="38100" dist="38100" dir="2700000" algn="tl">
                    <a:srgbClr val="000000">
                      <a:alpha val="43137"/>
                    </a:srgbClr>
                  </a:outerShdw>
                </a:effectLst>
              </a:rPr>
              <a:t>offene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Horizont</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Mathematik</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20" y="574576"/>
            <a:ext cx="9413354" cy="458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65497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“Exotic Probabilities”</a:t>
            </a:r>
            <a:endParaRPr lang="en-CA" sz="3200" dirty="0">
              <a:solidFill>
                <a:schemeClr val="bg1"/>
              </a:solidFill>
              <a:effectLst>
                <a:outerShdw blurRad="38100" dist="38100" dir="2700000" algn="tl">
                  <a:srgbClr val="000000">
                    <a:alpha val="43137"/>
                  </a:srgbClr>
                </a:outerShdw>
              </a:effectLst>
            </a:endParaRPr>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2499742"/>
            <a:ext cx="5338986" cy="143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feld 6"/>
          <p:cNvSpPr txBox="1"/>
          <p:nvPr/>
        </p:nvSpPr>
        <p:spPr>
          <a:xfrm>
            <a:off x="154008" y="771550"/>
            <a:ext cx="5858152" cy="1415772"/>
          </a:xfrm>
          <a:prstGeom prst="rect">
            <a:avLst/>
          </a:prstGeom>
          <a:noFill/>
        </p:spPr>
        <p:txBody>
          <a:bodyPr wrap="square" rtlCol="0">
            <a:spAutoFit/>
          </a:bodyPr>
          <a:lstStyle/>
          <a:p>
            <a:r>
              <a:rPr lang="en-US" dirty="0" smtClean="0"/>
              <a:t>“Negative </a:t>
            </a:r>
            <a:r>
              <a:rPr lang="en-US" dirty="0"/>
              <a:t>energies and probabilities should not be considered as nonsense. They are well-defined concepts mathematically, like a negative of money</a:t>
            </a:r>
            <a:r>
              <a:rPr lang="en-US" dirty="0" smtClean="0"/>
              <a:t>.”</a:t>
            </a:r>
          </a:p>
          <a:p>
            <a:endParaRPr lang="en-US" dirty="0" smtClean="0"/>
          </a:p>
          <a:p>
            <a:r>
              <a:rPr lang="en-US" sz="1400" dirty="0"/>
              <a:t>- Paul Dirac (1942): The Physical Interpretation of Quantum Mechanics</a:t>
            </a:r>
            <a:endParaRPr lang="de-DE" sz="1400" dirty="0"/>
          </a:p>
        </p:txBody>
      </p:sp>
      <p:pic>
        <p:nvPicPr>
          <p:cNvPr id="5124" name="Picture 4" descr="undefin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8184" y="771550"/>
            <a:ext cx="2520280" cy="3719934"/>
          </a:xfrm>
          <a:prstGeom prst="rect">
            <a:avLst/>
          </a:prstGeom>
          <a:noFill/>
          <a:ln w="19050">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74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a:solidFill>
                  <a:schemeClr val="bg1"/>
                </a:solidFill>
                <a:effectLst>
                  <a:outerShdw blurRad="38100" dist="38100" dir="2700000" algn="tl">
                    <a:srgbClr val="000000">
                      <a:alpha val="43137"/>
                    </a:srgbClr>
                  </a:outerShdw>
                </a:effectLst>
              </a:rPr>
              <a:t>Probabilistic metric space</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771550"/>
            <a:ext cx="8536334"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244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1143</Words>
  <Application>Microsoft Office PowerPoint</Application>
  <PresentationFormat>Bildschirmpräsentation (16:9)</PresentationFormat>
  <Paragraphs>158</Paragraphs>
  <Slides>31</Slides>
  <Notes>29</Notes>
  <HiddenSlides>0</HiddenSlides>
  <MMClips>0</MMClips>
  <ScaleCrop>false</ScaleCrop>
  <HeadingPairs>
    <vt:vector size="4" baseType="variant">
      <vt:variant>
        <vt:lpstr>Design</vt:lpstr>
      </vt:variant>
      <vt:variant>
        <vt:i4>2</vt:i4>
      </vt:variant>
      <vt:variant>
        <vt:lpstr>Folientitel</vt:lpstr>
      </vt:variant>
      <vt:variant>
        <vt:i4>31</vt:i4>
      </vt:variant>
    </vt:vector>
  </HeadingPairs>
  <TitlesOfParts>
    <vt:vector size="33" baseType="lpstr">
      <vt:lpstr>Executive</vt:lpstr>
      <vt:lpstr>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38</cp:revision>
  <dcterms:created xsi:type="dcterms:W3CDTF">2025-06-11T13:56:05Z</dcterms:created>
  <dcterms:modified xsi:type="dcterms:W3CDTF">2025-08-02T12:00:32Z</dcterms:modified>
</cp:coreProperties>
</file>