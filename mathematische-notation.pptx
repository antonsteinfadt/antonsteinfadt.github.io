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notesSlides/notesSlide3.xml" ContentType="application/vnd.openxmlformats-officedocument.presentationml.notesSlide+xml"/>
  <Override PartName="/ppt/ink/ink2.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3.xml" ContentType="application/inkml+xml"/>
  <Override PartName="/ppt/ink/ink4.xml" ContentType="application/inkml+xml"/>
  <Override PartName="/ppt/notesSlides/notesSlide6.xml" ContentType="application/vnd.openxmlformats-officedocument.presentationml.notesSlide+xml"/>
  <Override PartName="/ppt/ink/ink5.xml" ContentType="application/inkml+xml"/>
  <Override PartName="/ppt/ink/ink6.xml" ContentType="application/inkml+xml"/>
  <Override PartName="/ppt/notesSlides/notesSlide7.xml" ContentType="application/vnd.openxmlformats-officedocument.presentationml.notesSlide+xml"/>
  <Override PartName="/ppt/ink/ink7.xml" ContentType="application/inkml+xml"/>
  <Override PartName="/ppt/notesSlides/notesSlide8.xml" ContentType="application/vnd.openxmlformats-officedocument.presentationml.notesSlide+xml"/>
  <Override PartName="/ppt/notesSlides/notesSlide9.xml" ContentType="application/vnd.openxmlformats-officedocument.presentationml.notesSlide+xml"/>
  <Override PartName="/ppt/ink/ink8.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 id="2147483672" r:id="rId2"/>
  </p:sldMasterIdLst>
  <p:notesMasterIdLst>
    <p:notesMasterId r:id="rId61"/>
  </p:notesMasterIdLst>
  <p:sldIdLst>
    <p:sldId id="256" r:id="rId3"/>
    <p:sldId id="295" r:id="rId4"/>
    <p:sldId id="339" r:id="rId5"/>
    <p:sldId id="328" r:id="rId6"/>
    <p:sldId id="257" r:id="rId7"/>
    <p:sldId id="332" r:id="rId8"/>
    <p:sldId id="335" r:id="rId9"/>
    <p:sldId id="336" r:id="rId10"/>
    <p:sldId id="334" r:id="rId11"/>
    <p:sldId id="305" r:id="rId12"/>
    <p:sldId id="307" r:id="rId13"/>
    <p:sldId id="308" r:id="rId14"/>
    <p:sldId id="321" r:id="rId15"/>
    <p:sldId id="322" r:id="rId16"/>
    <p:sldId id="323" r:id="rId17"/>
    <p:sldId id="304" r:id="rId18"/>
    <p:sldId id="298" r:id="rId19"/>
    <p:sldId id="324" r:id="rId20"/>
    <p:sldId id="286" r:id="rId21"/>
    <p:sldId id="288" r:id="rId22"/>
    <p:sldId id="279" r:id="rId23"/>
    <p:sldId id="271" r:id="rId24"/>
    <p:sldId id="267" r:id="rId25"/>
    <p:sldId id="262" r:id="rId26"/>
    <p:sldId id="263" r:id="rId27"/>
    <p:sldId id="268" r:id="rId28"/>
    <p:sldId id="260" r:id="rId29"/>
    <p:sldId id="265" r:id="rId30"/>
    <p:sldId id="261" r:id="rId31"/>
    <p:sldId id="318" r:id="rId32"/>
    <p:sldId id="319" r:id="rId33"/>
    <p:sldId id="270" r:id="rId34"/>
    <p:sldId id="275" r:id="rId35"/>
    <p:sldId id="290" r:id="rId36"/>
    <p:sldId id="291" r:id="rId37"/>
    <p:sldId id="292" r:id="rId38"/>
    <p:sldId id="293" r:id="rId39"/>
    <p:sldId id="315" r:id="rId40"/>
    <p:sldId id="327" r:id="rId41"/>
    <p:sldId id="326" r:id="rId42"/>
    <p:sldId id="329" r:id="rId43"/>
    <p:sldId id="300" r:id="rId44"/>
    <p:sldId id="320" r:id="rId45"/>
    <p:sldId id="296" r:id="rId46"/>
    <p:sldId id="302" r:id="rId47"/>
    <p:sldId id="297" r:id="rId48"/>
    <p:sldId id="333" r:id="rId49"/>
    <p:sldId id="316" r:id="rId50"/>
    <p:sldId id="314" r:id="rId51"/>
    <p:sldId id="331" r:id="rId52"/>
    <p:sldId id="337" r:id="rId53"/>
    <p:sldId id="338" r:id="rId54"/>
    <p:sldId id="313" r:id="rId55"/>
    <p:sldId id="280" r:id="rId56"/>
    <p:sldId id="309" r:id="rId57"/>
    <p:sldId id="310" r:id="rId58"/>
    <p:sldId id="311" r:id="rId59"/>
    <p:sldId id="312" r:id="rId60"/>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890" autoAdjust="0"/>
    <p:restoredTop sz="94707" autoAdjust="0"/>
  </p:normalViewPr>
  <p:slideViewPr>
    <p:cSldViewPr>
      <p:cViewPr>
        <p:scale>
          <a:sx n="150" d="100"/>
          <a:sy n="150" d="100"/>
        </p:scale>
        <p:origin x="-516" y="-36"/>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5" Type="http://schemas.openxmlformats.org/officeDocument/2006/relationships/slide" Target="slides/slide3.xml"/><Relationship Id="rId61" Type="http://schemas.openxmlformats.org/officeDocument/2006/relationships/notesMaster" Target="notesMasters/notesMaster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36.85221" units="1/cm"/>
          <inkml:channelProperty channel="Y" name="resolution" value="36.86007" units="1/cm"/>
        </inkml:channelProperties>
      </inkml:inkSource>
      <inkml:timestamp xml:id="ts0" timeString="2025-05-27T12:06:42.090"/>
    </inkml:context>
    <inkml:brush xml:id="br0">
      <inkml:brushProperty name="width" value="0.05292" units="cm"/>
      <inkml:brushProperty name="height" value="0.05292" units="cm"/>
      <inkml:brushProperty name="color" value="#FF0000"/>
    </inkml:brush>
  </inkml:definitions>
  <inkml:trace contextRef="#ctx0" brushRef="#br0">16073 4379,'0'0,"0"-13,0-1,0 1,0 0,0-14,0 14,0-13,0-1,0 1,0-1,0 1,0 13,0-14,0 1,0 13,0-1,0 1,0 0,0 0,14-1,-14 1,26 0,-26 0,13 13,1-13,-14-1,13 1,-13 0,13 13,-26 0,13 13,-13 0,-14 14,14-14,0 0,-1 0,-12 1,0 12,-1-13,1 1,-1 12,-13-13,27 14,-13-14,13 0,-14 0,14 1,13-28,13-12</inkml:trace>
  <inkml:trace contextRef="#ctx0" brushRef="#br0" timeOffset="908.2824">16312 4008,'0'-13,"0"0,13 13,0-13,0 13,0 0,-13-13,14 13,-1 0,0 0,0-14,1 14,-1 0,0 0,0 0,1 0,-1 0,0 0,-13 14,0 12,0-13,-40 0,40 14,-26-1,-1 1,14-1,-13 1,-1-1,14 1,-13-1,12-13,-12 14,13-14,13 0,-14 0,14 1,0-1,27-13,13 0,-27 0,13 0,1 0,-1 0,-13 0,14 0,-1-13,-12 13,-1 0,0 0,-13-14,0 1</inkml:trace>
  <inkml:trace contextRef="#ctx0" brushRef="#br0" timeOffset="1708.0574">16722 3942,'0'-13,"0"0,26 13,1-13,-14-1,0 14,14-13,-14 13,0 0,0 0,0 0,1 0,-14 13,0 27,-27-27,27 1,-39 12,25-13,1 14,0-14,-14 0,27 0,0 1,-26-1,26 0,13-13,-13 13,27-13,-14 0,0 0,0 0,14 0,-14 0,0 14,0-14,14 0,-14 13,0-13,-13 13,14 0,-1 0,-13 1,0-1,-27 0,-12-13,12 13,14-13,-13 0,-1 0,1 0,12 0,-12 0,13 0,13-13,-14 13,14-13,27 13,-1-13</inkml:trace>
  <inkml:trace contextRef="#ctx0" brushRef="#br0" timeOffset="10796.1336">17211 3850,'-13'0,"13"-14,0 28,-13 12,13 1,-14-14,14 0,-13 0,13 1,0-1,0 0,0 0,13-13,1 0,-1 0,-13 13,26-13,-12 0,-1 0,0 0,0 0,1 0,12-26,-13 26,0 0,1-13,-1 13,0-13,0 13,-13-14,0 1</inkml:trace>
  <inkml:trace contextRef="#ctx0" brushRef="#br0" timeOffset="11060.1267">17370 3823,'0'-13,"13"26,-13 14,0-14,0 0,0 0,0 14,0-14,0 0,0 14,0-14,13 13,-13-12,0 12,0-13,0 14,14-14,-14 0,0 14,0-14,13 0,-13 0,0 1,0-1</inkml:trace>
  <inkml:trace contextRef="#ctx0" brushRef="#br0" timeOffset="12515.2061">15544 4643,'-13'27,"13"-14,0 0,13 1,-13-1,0 13,0-13,0 14,0-1,14-12,-14 12,0 1,0-1,0 0,0-12,0-1,0 0,0 0,13 1,-13-41,0 1,0-1</inkml:trace>
  <inkml:trace contextRef="#ctx0" brushRef="#br0" timeOffset="12819.2776">15412 4895,'13'0,"0"-13,1 13,-1 0,0 0,0-14,1 14,12-13,-13 13,1 0,-1-13,0 13,0-13,0 13,1-14,-1 14,0 0,0-13</inkml:trace>
  <inkml:trace contextRef="#ctx0" brushRef="#br0" timeOffset="14447.3528">16060 4643,'0'0,"-26"0,13 0,-1 14,1-14,0 13,0-13,-1 13,1 0,0 1,13-1,-13-13,13 13,0 0,0 0,0 1,0-1,13-13,-13 13,26-13,-26 13,27 1,-14-14,0 13,1-13,-1 13,0 0,0-13,0 14,1-14,-1 0,0 13,0-13,1 13,-1-13,-13 13,0 0,-13-13,13 14,-27-14,27 13,-26-13,12 13,1-13,0 0,0 13,0-13,-1 0,1 0,0 0,0 0,-1 0,14-26,-13 26,13-13,-13 13,13-27,-13 14,13 0,0 0,-14 13</inkml:trace>
  <inkml:trace contextRef="#ctx0" brushRef="#br0" timeOffset="14728.6059">16021 4696,'0'0,"13"0,0 0,0 0,0-13,1 13,-14-13,13 13,0 0,0 0,1-13,-1 13,0 0</inkml:trace>
  <inkml:trace contextRef="#ctx0" brushRef="#br0" timeOffset="15375.2579">16417 4538,'-13'0,"0"0,13 26,-13-26,13 27,-14-14,14 0,-13 13,13-12,-13 12,13 1,0-14,0 13,0-13,0 14,0-14,0 0,0 1,0-1,13 0,-13 0,13 1,-13-1,27 0,-14 0,0-13,1 0,12 0,-13 0,1 0,-1 0,0-13,0 13,-13-26,13 26,1-27,-1 27,-13-13,0 0,13-1,-13 1,0 0,0 0,0-1,0 1,-26 13,-1 0,1 0,13 0,-1 13,1-13,0 27,0-27,13 13,-14 0</inkml:trace>
  <inkml:trace contextRef="#ctx0" brushRef="#br0" timeOffset="16052.4343">16708 4591,'-13'-14,"13"1,27 0,-14 13,0-13,0-1,14 14,-1-13,1 0,-1 13,-13-13,14 13,-14 0,14 0,-14-14,0 14,0 0,0 0,-13 27,0-14,-26 0,26 1,-13 12,13-13,-13 14,-1-1,14 1,0-1,-13-13,13 14,0-14,0 0,0 0,0 1,0-1,0 0,13 0,1 1,-1-14,0 0,-13-27</inkml:trace>
  <inkml:trace contextRef="#ctx0" brushRef="#br0" timeOffset="16248.1141">16828 4736,'0'0,"-14"0,41-13,-1 13,-13-13,1 13,12 0,1-14,-1 14,0-13,1 0,-1 0,1-1,-1 1,1 0</inkml:trace>
  <inkml:trace contextRef="#ctx0" brushRef="#br0" timeOffset="16948.2548">17476 4299,'0'0,"-14"0,1 0,0 0,0 0,0 0,13 14,-14-14,1 0,13 13,-13-13,13 13,-13 0,13 1,0-1,-14 0,14 0,0 1,0-1,0 0,27-13,-27 13,0 0,26 14,-26-14,14 0,-14 1,13-1,0 0,0-13,0 13,1 1,-1-14,0 0,0 13,1-13,-1 0,-13 13,13-13,-13 13,13-13,-13 13,0 1,0-1,0 0,0 0,-26-13,26 14,-13-1,13 0,-27-13,14 13,0-13,-1 13,1-13,0 0,0 0,13-26,0 0,0 12,0 1,0 0,0-14,13 1,-13 0,26-1,-26 1,14-1,-1 1,0-1,0 1,1-1,-1 14,0-13,0 12,-13 1,14 0,-1 0,-40 13,14 0</inkml:trace>
  <inkml:trace contextRef="#ctx0" brushRef="#br0" timeOffset="18303.1961">15491 5199,'14'0,"-14"-13,13 13,0 0,0 0,1 0,-1 0,0 0,0 0,0 0,1 0,-1 0,0 0,0 0,1 0,-1 0,0 0,13 0,-12 0,12-13,1 13,-1-14,1 14,-1-13,14 13,-14-13,14 0,0 13,-1-14,1 14,0-13,-14 13,14 0,-1 0,-12 0,-1 0,1 0,-1 0,-13 0,1 0,12 0,-13 0,1 0,-1 0,13 0,-12 0,-1 0,13 0,1-26,-1 26,1-13,-1 13,1-14,-1 14,0-13,1 13,-14 0,14 0,-1 0,-13 0,1 0,-1 0,13 0,-13 0,1 0,12 0,-13 0,14 0,-1 0,1 0,-1 0,1 0,-1 0,14 0,-14-26,1 26,-1 0,1-14,-1 14,-13 0,1-13,-1 13,0 0,0 0,0 0,1 0,-1 0,0 0,0 0,14 0,-14 0,13-13,1 13,-1-13,1 13,13-27,-14 27,0-13,1 13,-14 0,14 0,-14 0,-13-13,13 13,0 0,1 0,-1 0,0 0,0 0,0 0,1 0,-1 0,0 0,0 0,14 0,-14 0,0-13,1 13,-1 0,0 0,0 0,0 0,1-14,-1 14,-26 0</inkml:trace>
  <inkml:trace contextRef="#ctx0" brushRef="#br0" timeOffset="22011.5732">17502 5159,'-13'0,"13"-13,0 0,0 0,26 13,-26-14,14 14,-1-13,-13 0,13 13,0 0,1 0,-1 0,-13 13,13-13,-13 13,13-13,-13 14,0-1,0 0,0 0,0 1,0-1,-13 0,13 0,-26 1,26-1,-14 0,14 0,-13 0,13 1,-13-1,13 0,0 0,13-13,14 0,-14 0,0 0,13 0,-12 0,12-26,-13 26,14-13,-1 13,-12-14,-1 14,0-13,0 13,0-13,1 13,-41 0</inkml:trace>
  <inkml:trace contextRef="#ctx0" brushRef="#br0" timeOffset="22927.3444">17039 5067,'-13'0,"13"-13,0-1,0 1,0 0,0 0,0-1,0 1,0 0,0 0,0-1,0-12,0 13,0 0,0-1,13 1,-13 26,-13-13,13 14,-27-1,14 13,-13-13,13 1,-1-14,14 13,-13-13,0 0,13 13,-13-13,13-13</inkml:trace>
  <inkml:trace contextRef="#ctx0" brushRef="#br0" timeOffset="26620.1073">17132 5450,'-13'0,"13"14,0-41,-27 14,27 0,0 0,0-1,0 1,0 0,0 0,0-1,0 1,0-13,0 12,0 1,0 0,0 0,0 0,0-1,0 1,0 0,0 0,0 26,-13 0,0-13,13 13,-14 1,1-1,0 0,0 0,-1-13,1 13,0 1,0-1,0 0,-1-13,1 13,13 1,-13-14,0 13,13 0,-14 0,1-13,13 14,-13-1,13-40,26 1</inkml:trace>
  <inkml:trace contextRef="#ctx0" brushRef="#br0" timeOffset="27648.0601">16536 5173,'-13'0,"13"-14,0 1,0 0,-26 13,26-13,-13-1,13 1,0 0,0 0,0 0,0-1,0 1,0 0,0 0,0-1,0 28,0-1,-14-13,14 13,-26-13,26 13,-13 1,-14-1,14 0,0-13,13-26,0-1,0 14</inkml:trace>
  <inkml:trace contextRef="#ctx0" brushRef="#br0" timeOffset="30303.1723">16563 5252,'-27'0,"14"0,0 0,0 13,0-13,-1 13,14 1,-13-14,13 13,0 0,0 0,13-13,-13 14,0-1,14 0,-14 0,13-13,0 0,0 0,0 0,1-26,-1 26,0-13,0 13,-13-14,14 14,-14-13,13 13,-13-13,0 0,0-1,0 1,-13 13,13-13,-14 13,14 13,0 0,0 1,14-1,-14 0,13-13,-13 13,13 1,0-1,1 0,-1 0,-13 14,13-14,-13 0,13 14,-13-14,0 13,0-12,0-1,0 0,0 0,0 0,0 1,0-1,0 0,-13-13,13 13,-13-13,0 0,-1 0,1 0,0 0,0 0,-1 0,1 0,0-13,0 13,-1 0,1-13,0 13,0 0,0 0</inkml:trace>
  <inkml:trace contextRef="#ctx0" brushRef="#br0" timeOffset="33034.819">16153 5133,'-13'0,"-1"0,1 0,13 13,-13-13,13 13,-13-13,-1 14,1-1,0 0,13 0,-13 1,0-1,13 0,-14 0,14 0,-13 1,13-1,-13 0,13 0,0 1,0-1,0 0,0 0,0 1,-13-1,13 0,0 0,0 0,0 1,0-1,0 0,0 0,0 1,0-1,0 0,0 0,26 0,-26 1,13-1,-13 0,0 0,14 1,-1-14,-13 13,13 0,0-13,0 0,-13 13,14-13,-1 0,0 0,0 0,1 0,-1 0,0 0,0 0,0 0,-13-13,14 13,-1-13,-13 0,13 13,-13-14,0 1,13 0,-13 0,0-1,14 1,-14 0,0 0,0 0,-27 13,27-14,-13 14,0-13,-1 13,1-13,0 13,0 0,0 0,-1 0,1 0,0 0,0 0,-1 13,1-13,13 13,-13-13,13 14,-13-14,13 13,-13-13,13 13,13-13</inkml:trace>
</inkml:ink>
</file>

<file path=ppt/ink/ink2.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36.85221" units="1/cm"/>
          <inkml:channelProperty channel="Y" name="resolution" value="36.86007" units="1/cm"/>
        </inkml:channelProperties>
      </inkml:inkSource>
      <inkml:timestamp xml:id="ts0" timeString="2025-05-27T12:15:23.060"/>
    </inkml:context>
    <inkml:brush xml:id="br0">
      <inkml:brushProperty name="width" value="0.05292" units="cm"/>
      <inkml:brushProperty name="height" value="0.05292" units="cm"/>
      <inkml:brushProperty name="color" value="#FF0000"/>
    </inkml:brush>
  </inkml:definitions>
  <inkml:trace contextRef="#ctx0" brushRef="#br0">6284 13626,'26'0,"40"0,27 0,39 0,1 0,-1 0,0 0,1 0,-1 0,0 0,0 0,1 0,-1 0,0 0,1 0,-1 0,0 0,0 0,1 0,-1 0,0 0,1 0,-1 0,0 0,0 0,1 0,-1 0,0 0,1 0,-67-93,40 54,-14 39,41 0,-1 0,0 0,0 0</inkml:trace>
</inkml:ink>
</file>

<file path=ppt/ink/ink3.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36.85221" units="1/cm"/>
          <inkml:channelProperty channel="Y" name="resolution" value="36.86007" units="1/cm"/>
        </inkml:channelProperties>
      </inkml:inkSource>
      <inkml:timestamp xml:id="ts0" timeString="2025-05-27T12:25:32.402"/>
    </inkml:context>
    <inkml:brush xml:id="br0">
      <inkml:brushProperty name="width" value="0.05292" units="cm"/>
      <inkml:brushProperty name="height" value="0.05292" units="cm"/>
      <inkml:brushProperty name="color" value="#FF0000"/>
    </inkml:brush>
  </inkml:definitions>
  <inkml:trace contextRef="#ctx0" brushRef="#br0">16457 3241,'-93'66,"54"27,39 39,0 0,0 1,26-67,14 40,26-80,27 14,39-40,-66-66,-26-27,-40-13,0-26,0 0,0-1,-66 67,-27 66,53-92,-52 52</inkml:trace>
</inkml:ink>
</file>

<file path=ppt/ink/ink4.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36.85221" units="1/cm"/>
          <inkml:channelProperty channel="Y" name="resolution" value="36.86007" units="1/cm"/>
        </inkml:channelProperties>
      </inkml:inkSource>
      <inkml:timestamp xml:id="ts0" timeString="2025-05-27T12:31:54.818"/>
    </inkml:context>
    <inkml:brush xml:id="br0">
      <inkml:brushProperty name="width" value="0.05292" units="cm"/>
      <inkml:brushProperty name="height" value="0.05292" units="cm"/>
      <inkml:brushProperty name="color" value="#FF0000"/>
    </inkml:brush>
  </inkml:definitions>
  <inkml:trace contextRef="#ctx0" brushRef="#br0">3598 4855,'-66'0,"-26"0,52 66,40 27,-93 39,54 0,65-65,14 38,26-78,26 13,41-40,-1 0,-66-67,40 67,-13-92,-27-14,40 40,-199 66,-13 0,-26 0,0 0,-1 0,67-93,93-13</inkml:trace>
  <inkml:trace contextRef="#ctx0" brushRef="#br0" timeOffset="10791.7732">15081 9842,'-39'-26,"-54"26,53-93,40-12,0-28,0 1,-92 0,52-1,40 1,0 0,26 66,80 66,-13 0</inkml:trace>
  <inkml:trace contextRef="#ctx0" brushRef="#br0" timeOffset="11600.1442">14711 9088,'66'0,"27"0</inkml:trace>
  <inkml:trace contextRef="#ctx0" brushRef="#br0" timeOffset="16898.0521">16986 9763,'0'0,"0"13,13-13,1 0,-14-26,0 13,0-14,0 1,-14-14,14 0,-13 1,13-14,-26-13,13 13,-1-13,1-1,0 15,0-15,-1 14,1 1,13-1,0 0,0 0,0 13,0 0,27 1,-27-1,26 14,1-1,-1 14,0 0,14-1,-13 1,12 13,1 0,-14 0,14 0,0 0,-14 27,1-27,-1 26,1-26,-14 13,0-13,0 14,1-14,-14 26,0-13</inkml:trace>
  <inkml:trace contextRef="#ctx0" brushRef="#br0" timeOffset="17168.2784">16867 9155,'0'0,"-13"13,0-13,0 13,-1-13,41 0,-27-13,26 13,1-13,-14 13,13 0,1-14,-1 14,1 0,-1 0,14 0,-14-13,1 13,-14 0,13 0,-12 0,-1 0,0 0</inkml:trace>
  <inkml:trace contextRef="#ctx0" brushRef="#br0" timeOffset="19308.2086">18865 8850,'-13'0,"13"27,0-14,13 0,-13 0,0 1,0 12,0 1,0-1,0 1,0-1,0 14,0-14,0 1,0 12,0-12,0-1,0 1,0-1,0 14,0-14,0 1,0-1,0 1,0-1,13 1,-13-1,0-13,0 14,0-14,13 0,-13 0,13-13,1-13,-1 13,0-13,14 13,-14-13,13 13,-12-14,12 1,0 13,1-13,-1 13,14-13,-13 13,-1 0,0-13,-12 13,12 0,-13 0,14 0,-14 0,0 0,1 0,-1 0,0 0,0 0,0 0,1 0,-1 0,0 0,0 0,-13-14,14 14,-14-13,0 0,13 0,-13-1,0-12,0 13,0-14,13 1,-13-1,0 1,0-14,0 14,0-1,0 1,0-1,0 1,0-1,0 1,0 0,0-1,13 1,-13-1,0 1,0-1,13 14,-13-13,0 12,0 1,14 0,-14 0,0-1,-27 14,14 0,0 0,0 0,-14 0,14 0,-14 0,14 0,-13 0,-1 0,1 0,-1 0,1 0,-1 0,1 0,0 0,12 0,-12 0,13 0,-1 0,1 0,13-13,13 13,-13-26</inkml:trace>
  <inkml:trace contextRef="#ctx0" brushRef="#br0" timeOffset="20001.5366">20042 9644,'0'0,"0"-13,0 0,0-1,-13-12,13-1,-27 1,27 0,-13-14,0 0,0-13,13 14,-13-14,13 0,-14 0,14 0,0 13,0 1,0-1,0 0,27 14,-27-1,13 1,-13 13,13-1,-13 1,27 0,-14 0,0 13,0-14,1 14,-1 0,0-13,0 13,14 0,-14 0,13 0,-12 0,-1 0,0 27,0-27,1 13,-1-13,0 26,-13-12,0-1,0 0,0 0,0 0,-26 1</inkml:trace>
  <inkml:trace contextRef="#ctx0" brushRef="#br0" timeOffset="20249.4267">19804 9168,'0'0,"-13"13,0-13,-1 0,14 13,0 1,14-14,12 13,-13-13,-13 13,27-13,-14 0,0 0,0 0,14 0,-1 0,1 0,-1 0,1-13,12 13,-12 0,13 0,-14 0,0 0,1 0,-14 0,0 0</inkml:trace>
  <inkml:trace contextRef="#ctx0" brushRef="#br0" timeOffset="21728.5738">18957 10266,'0'13,"-26"14,26-14,-13 0,13 13,-27 1,27-14,-26 14,26-1,0-13,0 14,0-1,0 1,0-1,0 1,0-1,0 14,0-14,13 1,-13-1,0 1,0-1,0 0,0 1,0-14,0 14,0-14,0 0,13-13,0-13,1 13,-1 0,13-13,-12 13,-1 0,0 0,14-14,-14 14,0 0,13-13,-12 13,12 0,1 0,-14 0,13-13,1 13,-14 0,13 0,-12 0,-1 0,0 0,0 0,1 0,-1 0,0 0,0 0,1 0,-1-13,0 13,0 0,-13-14,13 14,-13-13,14 0,-14 0,13 13,-13-13,13 13,-13-14,13 14,-13-13,0 0,0 0,0-1,0 1,0-13,0 12,0 1,0-13,0 13,14-14,-14 14,0 0,0-1,13 1,-13 0,0 0,0 0,0-1,0 1,-13 13,-1-13,1 13,13-13,-13 13,0 0,-1-14,1 14,0-13,0 0,0 13,-1-13,1 13,0 0,0-14,-1 14,1 0,-13-13,12 13,-12 0,0 0,-1 0,1 0,-1 0,14-13,-14 13,1 0,13 0,0 0,-1 0,1 0,13 13,0 14,-13-27,13 13</inkml:trace>
  <inkml:trace contextRef="#ctx0" brushRef="#br0" timeOffset="22908.5257">19883 10319,'-13'0,"0"0,13 13,0 13,-13-12,13 12,-13-13,13 14,-14-1,14 1,-26-1,26 1,-13-1,13 1,-14-1,14 0,-13 1,13-1,0 1,0-14,0 14,0-14,0 0,0 0,0 0,0 1,13-1,1-13,-1 0,0 0,0 0,1 0,-1 0,13 0,1 0,-1 0,1 0,12 0,-12 0,12 0,-12 0,13-27,-1 27,-12-13,-1 13,1-13,-1 13,-13-13,14 13,-14-13,0 13,0 0,-13-27,27 1,-27 12,13-12,-13 13,13-14,-13 1,0 13,0-14,0 1,0-1,0 1,0-1,0 1,0-1,0 1,0-1,0 1,0 13,0-14,-13 14,13 0,0 0,-13 13,0 26,-1-26,-12 0,13 13,-14 1,1-1,-1-13,-12 13,12 0,1-13,-14 0,14 13,-1-13,-13 0,14 14,0-14,12 0,-12 0,13 13,-1-13,1 0,13-27,0 1</inkml:trace>
  <inkml:trace contextRef="#ctx0" brushRef="#br0" timeOffset="23482.1218">21127 10927,'0'0,"0"14,0-41,0 14,0-14,-13 14,13-13,-27-1,14 1,0-1,0-12,-1-1,-12 0,13-13,-1 14,1-27,0 13,0 0,13 0,0 0,0 0,0 13,0 1,13 12,-13 1,0 12,26 1,-26 0,14 13,-1 0,0 0,0 0,1 0,12 0,-13 0,14 13,-14-13,13 13,1-13,-14 27,14-14,-14-13,0 13,0 1,0-1,1 0,-1 0,-13 0,13 1,-13 12,0-13,0 1,0-1,0 0</inkml:trace>
  <inkml:trace contextRef="#ctx0" brushRef="#br0" timeOffset="23688.1897">20902 10517,'0'0,"-26"0,12 0,1 0,13 13,13-13,-13 14,40-14,-27 13,1-13,12 0,0 0,1 13,-1-13,1 0,13 0,-14 0,0-26,14 26,-13-14,-1 14,-13-26,14 26,-14-26</inkml:trace>
</inkml:ink>
</file>

<file path=ppt/ink/ink5.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36.85221" units="1/cm"/>
          <inkml:channelProperty channel="Y" name="resolution" value="36.86007" units="1/cm"/>
        </inkml:channelProperties>
      </inkml:inkSource>
      <inkml:timestamp xml:id="ts0" timeString="2025-05-27T12:35:19.578"/>
    </inkml:context>
    <inkml:brush xml:id="br0">
      <inkml:brushProperty name="width" value="0.05292" units="cm"/>
      <inkml:brushProperty name="height" value="0.05292" units="cm"/>
      <inkml:brushProperty name="color" value="#FF0000"/>
    </inkml:brush>
  </inkml:definitions>
  <inkml:trace contextRef="#ctx0" brushRef="#br0">7633 4762</inkml:trace>
  <inkml:trace contextRef="#ctx0" brushRef="#br0" timeOffset="1142.9526">7660 5093</inkml:trace>
</inkml:ink>
</file>

<file path=ppt/ink/ink6.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36.85221" units="1/cm"/>
          <inkml:channelProperty channel="Y" name="resolution" value="36.86007" units="1/cm"/>
        </inkml:channelProperties>
      </inkml:inkSource>
      <inkml:timestamp xml:id="ts0" timeString="2025-05-27T12:44:55.533"/>
    </inkml:context>
    <inkml:brush xml:id="br0">
      <inkml:brushProperty name="width" value="0.05292" units="cm"/>
      <inkml:brushProperty name="height" value="0.05292" units="cm"/>
      <inkml:brushProperty name="color" value="#FF0000"/>
    </inkml:brush>
  </inkml:definitions>
  <inkml:trace contextRef="#ctx0" brushRef="#br0">7580 11443,'0'0,"0"27,-26-1,26-13,-13-13,39-13,1-13,-27 12,26 1,-13-13,14-1,-14 1,0-14,14 0,-14-12,13-1,-12 0,12 0,0-13,1 13,-1-13,1 13,-14 0,0 13,1 0,-1 14,-13-1,13 1,-13 13,0 0,0-1,0 28,13 12,-13-13,13 14,-13-14,14 13,-14 1,13 13,-13-14,0 14,13-1,-13 1,13 0,-13-1,14 1,-14-13,13 12,0 1,0-14,0 1,-13-1,14-12,-1 12,-13-13,13 14,-13-14,13 0,-13 0,14 1,-14-1,0 0,13 0,-13 1,13-14,-13-14,-13-12</inkml:trace>
  <inkml:trace contextRef="#ctx0" brushRef="#br0" timeOffset="319.1141">7752 11112,'27'0,"-14"0,13 0,1 0,-14 0,14 0,-14-13,13 13,-12-26,12 26,-13-13,0 13,1-14,-1 14</inkml:trace>
  <inkml:trace contextRef="#ctx0" brushRef="#br0" timeOffset="1051.7498">8453 11179,'0'-14,"0"1,-13-13,13 12,0 1,-13-13,13 13,0-14,-13 1,13-1,0 1,0-1,0 1,0-1,0-12,13 12,-13-12,26 12,-26 1,27-1,-14 1,0 12,1-12,-1 13,0 13,0 0,0 0,1 26,-1-13,0 1,0 12,1-13,-1 14,0-1,0 1,1-14,-1 27,0-14,-13 1,13 12,-13-12,13 12,-13 1,0 0,0-14,0 14,0-14,-26 14,26-27,0 14,0-14,0 0,0 0</inkml:trace>
  <inkml:trace contextRef="#ctx0" brushRef="#br0" timeOffset="1687.101">9155 10570,'-14'0,"14"13,-13-13,13 27,0-14,0 0,0 14,-13-1,13 1,0-1,0 1,-13 12,13 1,0 0,0-1,0 14,0-13,0 0,26-1,-26 1,27 0,-27-14,13 1,0-14,0 13,1-13,-14 1,13-14,-13 13,13-13</inkml:trace>
  <inkml:trace contextRef="#ctx0" brushRef="#br0" timeOffset="2024.0632">9406 10702,'-13'-13,"13"0,0 0,0 26,0 13,0 1,0-14,0 14,0 12,0-12,0-1,0 1,13 12,-13-12,0 12,13-12,-13-1,0 1,0-1,0-13,13 1,-13-1,0 0,0 0</inkml:trace>
  <inkml:trace contextRef="#ctx0" brushRef="#br0" timeOffset="2511.7297">9379 10623,'0'0,"0"-13,0 0,27 13,-27-14,26 14,1 0,-14 0,14 0,-1 0,-13 0,14 0,-1 14,-13-14,1 26,-1-13,0 0,-13 14,0-14,0 0,0 14,0-14,-26 14,26-14,-27 13,27-13,-13 1,0-1,-1 13,1-12,0-14,13 13,-13-13,13 13,-13-13,39 0,-26-13,26 13,-12 0,12 0,-13 0,14-13,-14 13,14 0,-14 0,13 13,-13-13,1 26,-14-12,13-1,-13 13,0-13,0 14,0-14,-27 14,27-1,-26 0,0-12,12 12,-12-13,13 1,-14-1,14 0,-14 0,1-13,13 0,-14 0,14 0,-13 0,12-26,1 26,0-13,0 13,13-40,-14 27,14-1</inkml:trace>
  <inkml:trace contextRef="#ctx0" brushRef="#br0" timeOffset="3115.9627">10054 10676,'-13'-13,"13"26,0 0,-13 0,13 1,0-1,-14 0,14 14,0-14,-13 13,13 1,0-1,0 1,0-1,0 1,0-1,0 0,27 1,-27-1,13 1,-13-14,26 13,-12-12,-1-1,0 0,0 0,1 1,-1-14,0 13,0-13,0 0,1 0,-1 0,0-13,0 13,1-40,-1 13,0 1,-13 0,13-14,1 0,-1 1,-13-1,13 13,-13-12,0 12,13 1,-13 13,0-14,0 14,0 0,0-1,-26 1,26 0,0 0,-13 13,13-14,-14 14,1 0,0 0,13 27</inkml:trace>
  <inkml:trace contextRef="#ctx0" brushRef="#br0" timeOffset="3616.013">10821 10623,'-13'0,"0"0,13 13,-13-13,0 0,-1 0,1 0,0 0,0 0,-1 13,1-13,0 0,0 0,-1 14,1-14,-13 13,13 0,-1 0,1 1,0-1,0 0,-1 14,14-14,-13 0,0 13,13-12,0-1,0 13,-13-12,13-1,0 0,0 0,0 1,0-1,26 0,-26 0,27 0,-14 1,13-1,-12 0,12 0,-13 1,14-1,-1-13,-13 0,14 13,-14-13,14 0,-1-26,-13-1,14 14,-1-14,1-12,-1 12,1 1</inkml:trace>
  <inkml:trace contextRef="#ctx0" brushRef="#br0" timeOffset="4025.0447">10980 10398,'0'0,"0"-13,13 13,-13 13,14-13,-14 27,13-14,0 13,0-12,1 12,-1 0,0 14,0 0,0-14,-13 27,14-13,-1 13,0 0,-13-14,13 14,-13 0,0 0,0 0,0 0,0-13,0-14,-26 14,26-14,-13 1,13-14,-27 0,14-13</inkml:trace>
  <inkml:trace contextRef="#ctx0" brushRef="#br0" timeOffset="5615.4042">8480 10226,'0'0,"0"-13,-13 13,13-13,-14 13,14-14,27 1,-14 13,-13-13,27 13,-14 0,0 0,0 0,-13 13,0 0,0 14,-13-14,13 0,-13 1,0-1,-1-13,1 0,0 0,0 0,13-13,-14 13,14-14,-13 14,13-13,0 0,27 0,-14-1,13 1,1 13,-14 0,0 0,0 0,1 0,-14 13,0 1,-27-1,14 0,0 0,-14-13,14 0,0 0,13-13,-13 13,13-26,0-1,0 14,0 0,0 0,13-1</inkml:trace>
  <inkml:trace contextRef="#ctx0" brushRef="#br0" timeOffset="6487.4264">10253 10147,'0'0,"0"13,0 0,26 0,-26 1,0-1,0 0,0 0,0 1,0 12,0-13,0 1,13-1,-13 0,0 0,0 0,0 1,14-1,-14 0</inkml:trace>
  <inkml:trace contextRef="#ctx0" brushRef="#br0" timeOffset="6683.5362">10147 10292,'0'0,"-13"14,39-14,0-14,-12 14,12-13,1 0,-14 0,13-1,1 1,-1 0,1 0,-14 13,13-14,-12 14</inkml:trace>
  <inkml:trace contextRef="#ctx0" brushRef="#br0" timeOffset="7491.0964">11536 10769,'26'13,"1"-13,-14 0,13 13,1-13,-14 0,14 0,-1 0,1 0,-1 0,0-13,1 13,-14 0,0 0,1 0</inkml:trace>
  <inkml:trace contextRef="#ctx0" brushRef="#br0" timeOffset="7739.9283">11615 10874,'0'0,"-13"0,0 0,13 14,13-14,13 0,1 0,-1 0,-12 0,-1 0,13 0,-12 0,12 0,-13 0,14 0,-14 0,0 0,14 0,-14 0,0 0,0 0,0 0</inkml:trace>
  <inkml:trace contextRef="#ctx0" brushRef="#br0" timeOffset="9115.6462">12290 10319,'-13'0,"13"26,0 1,-14-1,1 1,13-1,-13 1,0 12,13 1,-13 0,13-1,0 1,0 0,0-1,0 1,0-14,0 14,26 0,-26-14,0 14,13-14,-13 1,13-1,-13-12,14-1,-14 0,13 0,-13 0,13-13,-13 14,13-14</inkml:trace>
  <inkml:trace contextRef="#ctx0" brushRef="#br0" timeOffset="9695.4094">12515 10954,'13'-13,"0"-27,-13 13,27 1,-14-1,-13 1,13-14,0 1,1 12,-14-13,13 14,-13-14,13 14,0-14,-13 14,14-14,-14 14,13-1,-13 1,13-1,-13 14,0 0,13 0,-13-1,0 28,0 12,0-13,0 14,0-1,0 14,0-14,0 14,0 0,0-14,0 14,0-14,13 14,-13-14,27 1,-27-14,13 14,-13-14,13 13,-13-13,14-13,-14 14,13-14,-13 13</inkml:trace>
  <inkml:trace contextRef="#ctx0" brushRef="#br0" timeOffset="9961.4768">12594 10742,'13'0,"-13"-13,14 13,-1 0,0-13,0 13,14 0,-14 0,0 0,14-14,-14 14,13-13</inkml:trace>
  <inkml:trace contextRef="#ctx0" brushRef="#br0" timeOffset="10539.0638">13084 10848,'0'-13,"0"-1,-14 1,14 0,0 0,0-14,0 14,0 0,0-14,0 1,0-1,0 1,0 0,14-1,-14 1,26-1,-26-12,13 12,1 1,-1 12,0-12,0-1,0 14,1 0,-1 0,0 0,0-1,1 14,12-13,-13 13,1 0,-1 0,0 0,0 13,0-13,-13 40,14-27,-14 14,13-1,-13 1,0-1,0 14,0-14,0 14,0-14,0 14,0-14,0 1,0 13,0-27,0 13,0 1,0-14,-13 0,13 0</inkml:trace>
  <inkml:trace contextRef="#ctx0" brushRef="#br0" timeOffset="11267.3007">13652 10332,'0'0,"0"-13,14 13,-14 26,0 1,0-14,0 13,0-12,0 12,0 1,0-1,0 0,13 1,-13-1,0 1,13-14,-13 13,0-12,0 12,13-13,-13 1,0-1,0 0,0 0</inkml:trace>
  <inkml:trace contextRef="#ctx0" brushRef="#br0" timeOffset="11740.3907">13705 10279,'0'0,"0"-13,0 0,0-1,0 1,14 13,12-13,-13 0,14-1,-1 14,1-13,-1 13,1 0,-1 0,-13 0,1 0,-1 27,0-27,-13 26,0-13,0 14,0-1,-13-12,13 12,-40 0,27 1,0-14,-14 14,14-14,0 0,-1 0,1 1,0-1,13 0,-13 0,13 0,26 1,1-14,-14 0,13 0,-12 0,-1 0,13 0,-12 0,12 0,-13 13,0-13,1 13,-14 0,13 1,-13-1,0 13,0-13,-27 14,27-1,-39-12,26 12,-1-13,-12 1,13-1,-14 0,1-13,12 13,-12-13,13 0,-14 0,14 0,0 0,0 0,-1-26,1 13,13-14,0 1,0 12</inkml:trace>
  <inkml:trace contextRef="#ctx0" brushRef="#br0" timeOffset="12091.2394">14063 10200,'0'13,"26"-13,-26 13,27 14,-27-14,13 0,-13 0,26 14,-26-14,13 13,-13-12,14 12,-1 1,-13-1,0 1,0-1,0 0,0 1,0-1,0 1,-27-1,27 1,0-1,-13-13,13 14,-26-14,26 0,-13 1,-1-1</inkml:trace>
  <inkml:trace contextRef="#ctx0" brushRef="#br0" timeOffset="13367.0942">14526 10186,'-14'0,"14"14,-13-14,13 13,-13 0,13 0,0 1,0-1,0 13,-13 1,13-1,0 1,-14 12,14-12,-13 13,13-14,0 14,0-14,0 14,0-14,27 1,-27-14,26 0,-13 0,14 1,-14-1,14-13,-1 0,-13 0,14 0,-1-13,1 13,-1-27,-13 1,14 12,-14-12,13 0,-12-1,12 1,-13-14,1 14,-1-14,0 0,0 0,-13 1,0-1,0 14,0-14,0 27,0-14,-26 14,26 0,-27 0,1 13,13 0,-14 0,14 0,13 13</inkml:trace>
  <inkml:trace contextRef="#ctx0" brushRef="#br0" timeOffset="13828.601">15280 10742,'-14'0,"14"-13,0 0,0-14,0 14,0 0,-13-1,13-12,0 13,0-27,-13 14,13-14,0-13,0 13,0-26,0 13,26-13,-26 13,27-13,-27 13,26 13,-12 1,-1 12,0 1,0 13,-13-1,14 1,-14 40</inkml:trace>
  <inkml:trace contextRef="#ctx0" brushRef="#br0" timeOffset="15440.0971">15544 10636,'0'-26,"0"13,27-14,-27 14,13-14,-13 1,26 0,-12-1,-1 1,0-1,-13 1,27-14,-27 14,13-1,0-13,0 14,-13-1,13-12,1 12,-14 14,13-13,-13 12,0 1,13 0,-13 0,0 39,-13-26,13 13,0 14,-13-14,13 0,0 14,0-1,0 1,0 12,0-12,0-1,13 1,-13-1,26-13,-26 14,14-1,-14-12,13-1,-13 13,26-12,-26-1,14 0,-14 0,13 0,-13 1,0-1,13 0,-13 0,0 1,13-1,-13 0,-26-13</inkml:trace>
  <inkml:trace contextRef="#ctx0" brushRef="#br0" timeOffset="15684.3221">15624 10464,'13'0,"-13"14,13-14,0 0,1 0,-1 0,0 0,13 0,-12 0,12-14,-13 14,14-13,-14 13,14-26</inkml:trace>
  <inkml:trace contextRef="#ctx0" brushRef="#br0" timeOffset="16147.2157">16140 10478,'0'-14,"0"-12,0 13,0-1,0 1,0 0,0-14,13 1,-13 13,0-14,13 1,0-1,0 1,1-1,-1 1,0 0,0-1,1 14,12-14,-13 14,1 13,-1-13,0 13,0 0,0 0,1 26,-1 1,-13-1,13 1,-13-1,0 14,0-14,0 14,0-13,0 12,0-12,0-1,-13 1,13-1,0-13,0 1,0-1,0 0,0 0</inkml:trace>
  <inkml:trace contextRef="#ctx0" brushRef="#br0" timeOffset="16540.2946">16907 10147,'0'-13,"13"13,-13-14,-26 14,12-13,1 13,0 0,0 0,0 0,-1 0,-12 0,13 0,-1 13,1-13,0 27,-14-14,14 13,0-12,0-1,13 13,-13-12,-1-1,14 13,0-12,-13-1,13 13,0-13,0 1,27-1,-27 0,13 0,-13 1,39-1,-25 0,-1-13,13 13,-12-13,12 0,1 0,-1 0,0 0,14-26,-13 26,-1-27,0 14</inkml:trace>
  <inkml:trace contextRef="#ctx0" brushRef="#br0" timeOffset="16919.4086">17145 9856,'0'26,"0"-13,0 1,0 12,0-13,13 1,-13-1,27 13,-27-13,13 14,-13-1,13 1,-13-1,13 14,-13 0,0-1,0 1,0 0,0-1,0 1,0 0,-26-14,26 1,0-1,-13-13,13 1,-14-1,14 0,-13-13,0 13,0-13</inkml:trace>
</inkml:ink>
</file>

<file path=ppt/ink/ink7.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36.85221" units="1/cm"/>
          <inkml:channelProperty channel="Y" name="resolution" value="36.86007" units="1/cm"/>
        </inkml:channelProperties>
      </inkml:inkSource>
      <inkml:timestamp xml:id="ts0" timeString="2025-05-26T22:25:01.843"/>
    </inkml:context>
    <inkml:brush xml:id="br0">
      <inkml:brushProperty name="width" value="0.05292" units="cm"/>
      <inkml:brushProperty name="height" value="0.05292" units="cm"/>
    </inkml:brush>
    <inkml:brush xml:id="br1">
      <inkml:brushProperty name="width" value="0.05292" units="cm"/>
      <inkml:brushProperty name="height" value="0.05292" units="cm"/>
      <inkml:brushProperty name="color" value="#FF0000"/>
    </inkml:brush>
  </inkml:definitions>
  <inkml:trace contextRef="#ctx0" brushRef="#br0">1786 2368,'-13'0,"13"13,-14-13,1 0,0 0,0 27,0-27,-1 13,1 0,0 0,0 1,-1-1,1 0,13 0,-13 1,13-1,-13 0,13 0,-13 0,13 1,0-1,-14 0,14 0,-13 1,13 12,0-13,-13 14,13-1,-13 1,13-1,-14 1,14-1,-13-13,13 14,0-1,0-13,0 1,-13 12,13-13,0 1,0-1,0 0,0 0,0 0,0 1,0-1,0 0,26 0,-26 1,0-1,14 0,-14 0,13 1,0-1,0-13,1 13,-1-13,0 0,0 0,-13 13,13-13,1 0,-1 0,0 0,0 0,1 0,-1 0,0 0,0 0,0 0,1 0,-1 0,-13-26,13 26,0-13,-13-1,14 14,-1 0,-13-13,13 0,0 13,-13-13,14 13,-14-14,0 1,13 13,-13-13,0 0,0-1,0 1,0 0,0 0,-27 13,27-13,0-1,0 1,-13 13,13-13,0 0,0-1,-13 14,13-13,-13 0,13 0,-14 13,14-13,-13 13,0 0,13-14,-13 14,-1 0,1 0,0 0,0 0,0 0,-1 0,1 0,0 0,0 0,13 14,-14-14,1 13,0-13,0 13,13 0,-13 0,-1 1,14-1,-13 0,13 0,-13 1,13-1,-13-13,13 13,0-39</inkml:trace>
  <inkml:trace contextRef="#ctx0" brushRef="#br0" timeOffset="1319.6251">2117 2778,'0'13,"0"1,0-1,0 0,0 0,13 1,-13 12,0-13,0 14,13-1,-13-13,0 14,0-14,13 13,-13-12,0 12,14-13,-14 1,0-1,0 13,0-12,13-1,-13 0,0 0,0 0,0 1,0-28,0-12,0 13,0-14,0 14,0 0,0 0,0-14,0 14,13 0,-13-1,0-12,13 13,-13 0,13-1,-13 1,14 0,-1 0,-13-1,13-12,-13 13,13 0,-13-1,14 1,-1 0,-13 0,13 13,-13-14,0 1,13 13,-13 13,0 1,14-1,12 0,-26 0,13 1,-13-1,13-13,-13 13,14 0,-14 0,13 1,-13-1,0 0,13 0,-13 1,0-1,0 0,0 0,0 0,0 1,0-1,0 0,-13 0,13 1,0-1,-13 0,13 0,0 1,-14-14,14 13,0 0,0 0,0-39,-13 13</inkml:trace>
  <inkml:trace contextRef="#ctx0" brushRef="#br0" timeOffset="2951.2359">2527 2487,'0'-13,"0"-14,0 14,26 13,-26-13,13 0,1-1,-1 14,0-13,0 13,1-13,12 0,-13 13,14-13,-1 13,1-14,-1 14,1-13,-1 13,-13 0,1 0,-1 0,0 0,-13 13,-13 14,13-14,-27 0,14 14,-13-14,12 13,-12 1,13-14,-14 14,1-14,13 13,-1-13,-12 1,13 12,-1-13,14 1,-13-14,13 13,-13 0,13 0,0 1,26-14,-12 0,-14 13,26-13,1 0,-14 0,13 0,-13 0,14 0,-14 0,14 0,-14 0,0 0,0 0,1 0,-1-13</inkml:trace>
  <inkml:trace contextRef="#ctx0" brushRef="#br0" timeOffset="3567.682">3281 2686,'0'0,"0"13,0 13,0-13,0 1,0 12,0-13,0 14,0-1,0 1,0-14,0 13,0 1,0-1,0 1,0-14,0 13,0-12,0-1,0 0,0 0,0 1,0-1,0 0</inkml:trace>
  <inkml:trace contextRef="#ctx0" brushRef="#br0" timeOffset="3819.9613">3175 2910,'-13'-13,"0"0,26 13,0 0,0 0,0 0,1 0,-1-13,13 13,1 0,-1-13,1 13,-1-14,1 14,-1-13,1 13,-1 0,0 0,-12 0,-1 0,0 0</inkml:trace>
  <inkml:trace contextRef="#ctx0" brushRef="#br0" timeOffset="4479.9302">3731 2540,'0'0,"-14"0,1 0,13-13,27 13,-1-13,-13 13,1 0,12 0,-13 0,14 0,-1 26,1-26,-14 13,13-13,1 27,-14-27,0 13,0 0,-13 0,0 1,0 12,0-13,0 1,0-1,-26 13,26-13,-26 1,12-1,-12 0,-1 0,14 1,-13-1,-1 0,14 0,-13-13,12 14,1-14,0 13,39-13,-12 0,12 0,-13 13,14-13,-14 13,13 0,-12-13,12 14,-13-1,1 13,-1-12,13-1,-13 13,-13-13,14 1,-1-1,-13 13,0-12,0-1,0 0,0 0,-27 1,1-14,13 13,-14-13,1 0,-1 0,1 0,-14 0,14 0,-1-13,1 13,-1-27,1 27,-1-26,14 12,0 1,0 13,13-13,-13 0,13-1,26 14,14 0</inkml:trace>
  <inkml:trace contextRef="#ctx0" brushRef="#br0" timeOffset="5107.5981">4260 2818,'-13'-13,"13"-1,0 41,13-14,-13 0,0 14,13-14,-13 13,13-12,-13 12,13-13,-13 14,0-14,0 13,14-12,-14-1,0 0,0 0,13-13,-13 14,0-28,0-12,0 13,0-14,0 1,0-1,13 1,-13-14,27 14,-14-1,0-12,0 12,14 1,-14-1,0 14,0-13,1 26,-1-14,0 14,0 0,1 0,-1 0,0 27,0-27,1 26,-14-13,13 14,0-14,-13 14,0-1,13 1,-13-14,0 13,0 1,0-1,0-13,0 14,0-14,0 0,0 14,-26-27,26 13,0 0,0 0,0 1</inkml:trace>
  <inkml:trace contextRef="#ctx0" brushRef="#br0" timeOffset="6871.6724">1416 3307,'0'14,"13"-14,0 0,0 0,0 0,1 0,-1 0,13 0,-12 0,-1 13,0-13,14 0,-14 0,0 13,13-13,1 13,-1-13,1 0,12 13,-12-13,13 0,-1 0,14 0,-13 14,0-14,-1 0,1 0,0 0,-1 0,1 0,-14 0,14 0,-13 0,-14 0,13 0,-12 0,12 0,-13 0,0 0,1 13,-1-13,0 0,-13 13,13-13,1 0,-1 0,0 0,0 0,1 0,-1 0,0 0,13 0,-12 0,-1 0,0 0,14 0,-1 0,-13 0,14 0,-1 0,-13 0,14 0,-1 0,1 0,-14 0,14 0,-1 0,0 0,1 0,-1 0,1 0,-1 0,1 0,-1 0,1 0,-1 0,-13 0,14 0,-14-13,13 13,-12 0,-1 0,13 0,-12 0,-1 0,0 0,0 0,1 0,-1 13,0-13,13 0,-12 0,-1 0,0 0,14 0,-14 0,13 0,-13 0,14 0,-14 0,14 0,-14 0,0 0,0 0,1 0,-1 0,13 0,-13 0,1 0,-1 0,0 0,0 0,1 0,-1 0,0 0,0 0,1 0,-1 0,0 0,13 0,-12 0,-1 0,0 0,0 0,14 0,-14 0,0 0,1 0,-1 0,13 0,-13 0,1 0,12 0,-13 0,1 0,12 0,-13 0,1 0,12 0,-13 0,0 0,1 0,-1 0,0 0,0 0,1 0,-1 0,0 0,0 0,0 0,1 0,-1 0,0 0,0 0,1 0,-1 0,0 0,0 0,1 0,-1 0,0 0,0 0,0 0,1 0,12 0,-13 0,14 0,-14 0,14 0,-1 0,-13 0,14 0,-1-13,1 13,-1 0,0 0,-12 0,12 0,1 0,-14 0,0 0,0 0,1 0,-1 0,0 0,0 0,0 0,1 0,-1 0,0 0,0 0,1 0,-1 0,0 0,0 0,1 0</inkml:trace>
  <inkml:trace contextRef="#ctx0" brushRef="#br0" timeOffset="7839.6482">1812 3453,'14'-13,"-28"26,1 0,0 13,0-26,-1 14,1 12,0-13,0 1,0 12,-1-13,1 14,13-1,0-13,-13 14,13-14,0 0,0 1,0-1,26 0,-26 0,14-13,-14 14,26-14,-13 13,0-13,1 13,-1-13,13 0,-12 13,-1-13,13 0,-12 0,12 0,-13 0,14 0,-14 0,0 0,0 0,1-13,-1 0</inkml:trace>
  <inkml:trace contextRef="#ctx0" brushRef="#br0" timeOffset="8122.9465">2103 3545,'0'0,"0"-13,14 13,-14-13,13 13,-13-13,0 39,-13 1,13-14,-14 13,14-12,-13 25,13-12,-26-1,26 14,-13-14,13 14,0-14,0 14,-14-13,14-1,0 1,0-1,0 0,0-12,0-1,27 0,-27 0,0 1,13-14</inkml:trace>
  <inkml:trace contextRef="#ctx0" brushRef="#br0" timeOffset="8754.9087">2342 3770,'13'0,"-13"27,0-14,0 0,0 0,0 1,0 12,0-13,0 1,0 12,0-13,0 1,0-1,0 0,0 0,0 0,0 1,0-1,0-26,0-1,0 1,13 0,-13 0,0 0,13-1,-13-12,13 13,1-14,-1 14,-13-14,13 14,0 0,1-13,-1 12,0 1,-13 0,13 0,1-1,-14 1,13 13,-13-13,13 13,0 26,-13 1,13-14,-13 14,14-14,-14 13,13-13,-13 14,0-14,13 14,-13-14,0 0,0 14,0-14,0 0,0 0,0 0,-13 1</inkml:trace>
  <inkml:trace contextRef="#ctx0" brushRef="#br0" timeOffset="9223.9615">2725 3598,'0'-13,"0"0,13 13,-13-13,14 13,12 0,-13-14,1 14,-1 0,13-13,-12 13,12 0,-13 0,0 0,14 0,-14 0,0 27,1-27,-14 13,0 0,0 0,0 1,0 12,-27-13,27 0,-40 14,27-14,-13 14,-1-14,1 0,13 14,-14-14,14 0,0 0,-1-13,1 13,13 1,27-1,-1-13,-13 0,14 0,-14 0,14 0,-1 0,0 0,1-27,-1 27,1 0,-14-13,13 13,-12 0,-1 0,0 0</inkml:trace>
  <inkml:trace contextRef="#ctx0" brushRef="#br0" timeOffset="9575.0785">3321 3744,'0'-13,"0"-1,0 1,0 0,13 13,-13 26,0-12,0 12,0-13,0 1,0 12,0 0,0-12,0 12,0 1,0-14,0 13,0-12,0-1,0 0,0 0,0 0,13-13</inkml:trace>
  <inkml:trace contextRef="#ctx0" brushRef="#br0" timeOffset="9779.728">3241 3903,'0'0,"0"-14,27 14,-1-13,-13 13,14-13,-14 13,13 0,1-13,-1 13,1-14,-14 14,13-13,-12 13,-1 0,0-13</inkml:trace>
  <inkml:trace contextRef="#ctx0" brushRef="#br0" timeOffset="14827.3923">4141 4048,'13'13,"-13"-39,0 13,0-1,0 1,13 0,-13-13,0-1,0 1,0-1,13-13,-13 1,14-1,-14 0,13 1,-13-1,13 0,0 14,-13-14,14 14,-14 12,13 1,-13 0,0 0,13 13,-13-13,0 39,-26-26,26 13,-27 14,14-14,0 0,-14 14,14-14,-13 13,12 1,-12-14,-1 13,14-12,-13 12,-1-13,1 1,13-1,-14 0,14 0,-14-13,14 14,0-14,0 0,13-14,0-12</inkml:trace>
  <inkml:trace contextRef="#ctx0" brushRef="#br0" timeOffset="17119.6898">5556 3215,'0'0,"0"13,13-13,1 0,-1 0,13 13,1-13,-1 0,1 0,12 0,-12 0,13 0,-14 0,14 0,-14 0,1 0,-1 0,-13 0,1 0,-14 13,13-13,-13 14</inkml:trace>
  <inkml:trace contextRef="#ctx0" brushRef="#br0" timeOffset="17491.6574">5583 3453,'-14'0,"14"13,27-13,-14 0,0 0,14 0,-14 0,14 0,-1 0,0 0,1 0,-1 0,14 0,-13 0,-1 0,-13 0,14 0,-14 0,0 0,14 0,-14 0,0 0,0 0,0 0,1-13</inkml:trace>
  <inkml:trace contextRef="#ctx0" brushRef="#br0" timeOffset="19259.6754">6628 2871,'0'13,"0"0,0 0,13 1,-13-1,0 0,0 14,0-14,0 0,0 13,0-12,0-1,0 0,13 14,-13-14,0 0,14 0,-14 1,0-1,13 0,-13 0,13 0,-13 1,13-1,-13 0,13 0,-13 1,14-14,-14 13,13-13,-13 13,0-39,0 12,0 1,0 0,0 0,0-14,26 14,-26-13,14 12,-14-12,26-1,-13 1,0-1,1 1,-1 0,0-1,0 14,1-14,-1 1,0 13,-13 0,13-1,-13 1,14 13,-14 13,13-13,-13 27,13-14,-13 13,13-12,-13 12,13 1,-13-14,14 13,-14 1,13-1,-13 1,0-1,0 1,0-1,0 0,0-12,0-1,0 13,0-12,-13-1,13 0</inkml:trace>
  <inkml:trace contextRef="#ctx0" brushRef="#br0" timeOffset="20051.945">7210 2553,'26'0,"-12"-13,12 13,-13-13,0 13,1 0,-1 0,0 0,14 0,-14 0,0 0,0 0,1 0,-1 0,-13 13,13-13,-13 13,0 0,0 1,-26-1,26 0,-27 0,14 1,0-1,-1 0,-12 0,13 14,-1-14,-12 0,13 0,0 1,-1-1,14 0,-13 0,0-13,13 14,0-1,26-13,-12 0,12 13,-13-13,0 0,1 0,-1 0,0 0,14 0,-14 0,0 0,0-26,1 26,-1 0,0 0</inkml:trace>
  <inkml:trace contextRef="#ctx0" brushRef="#br0" timeOffset="20539.9773">7739 2566,'0'0,"0"14,-13-14,13 26,-13 1,13-14,-27 13,14 1,13 12,-13-12,13 13,-14-1,14-12,0 12,0 1,-13 0,13-1,0 1,0-13,0 12,0-12,0-14,27 13,-27-12,26-1,-13 0,1 0,12 1,-13-14,1 13,12-13,-13 0,0 0,1 0</inkml:trace>
  <inkml:trace contextRef="#ctx0" brushRef="#br0" timeOffset="25091.8801">8255 2553,'-13'0,"13"13,-27-13,14 14,0-14,-14 26,14-13,0 1,0-1,-1 13,-12-12,13 12,0 0,-1 1,1-14,0 14,0-1,-1 1,1-1,0-13,0 14,13-1,-13 1,-1-1,14 0,0 1,-13-1,13 1,0-1,0 1,0-1,0 1,0-14,27 13,-27-12,13-1,-13 0,26 0,-13 1,14-14,-14 13,14-13,-14 0,13 0,1 0,-14 0,13-13,-12 13,12-27,-13 27,1-13,-1 0,0-14,-13 14,13 0,-13-1,0-12,0 13,0 0,0-1,-26 1,26 0,-27 0,1-1,13 14,-14-13,14 13,-14 0,1 0,13 0,-14 0,14 0,-13 0,12 0,1 0,0 0,13 13,0 1,26-14,-26 26</inkml:trace>
  <inkml:trace contextRef="#ctx0" brushRef="#br0" timeOffset="25551.6324">8639 2871,'0'-13,"0"39,-14-13,14 0,0 1,-13-1,13 0,0 14,-13-14,13 13,0-13,0 14,0-14,0 0,13 14,-13-14,0 0,27 1,-27-1,13 0,-13 0</inkml:trace>
  <inkml:trace contextRef="#ctx0" brushRef="#br0" timeOffset="25767.8423">8506 3043,'0'-14,"27"14,-14-13,0 13,-13-13,27 13,-14 0,0-13,0 13,1 0,12-13,1 13,-1-14,0 1,1 13,13-13,-1 13,-12-13,12-1,-12 14</inkml:trace>
  <inkml:trace contextRef="#ctx0" brushRef="#br0" timeOffset="26483.904">9300 2580,'0'-14,"13"1,1 13,-14-13,26 13,-13 0,0-13,14 13,-14 0,14-13,-14 13,0 0,14 0,-14 0,0 0,0 0,0 26,1-26,-14 13,0 14,0-14,0 0,0 0,0 1,-14-1,14 0,-26 0,0 1,26-1,-14 0,1-13,0 13,0-13,-1 0,14 13,14-13,12 14,-13-14,1 13,-1-13,13 13,-13-13,1 13,-1 1,13-14,-12 13,-1 0,-13 0,13 1,-13 12,0-13,0 0,0 1,0 12,0-13,-26 1,26-1,-14 0,-12 0,13-13,-14 0,14 0,0 0,0 0,-1-26,-12 26,13-27,-1 14,1-13,0 12,0 1,13-13,-14 13,14-1,-13 14,13-13,0 0,0 26</inkml:trace>
  <inkml:trace contextRef="#ctx0" brushRef="#br0" timeOffset="27771.5684">9300 3135,'-13'0,"0"0,-1 0,1 0,0 0,0 0,52-13,-25 13,12 0,1 0,12 0,-12 0,12-13,14 13,-13 0,0 0,-1 0,1 0,0 0,-1 0,1 0,0 0,-1 0,1 0,-13 0,12 0,-12 0,-1 0,1 0,-14 0,0 0,0 0</inkml:trace>
  <inkml:trace contextRef="#ctx0" brushRef="#br0" timeOffset="28396.2008">9379 3281,'14'0,"-14"13,13 0,-13 14,13-14,-13 0,13 0,-13 1,14-1,-14 0,0 0,13 1,-13-1,0 0,0 0,13 0,-13 1,0-28,13-25,-13 26,14-1,-14-12,26-1,-13 14,0-13,1 13,12-14,-13 14,1 0,-1-1,13 1,-12 13,-1-13,0 13,0 0,0 0,1 0,12 0,-13 26,1-26,-1 27,0-14,0 0,0 1,-13-1,0 0,0 13,0-12,0-1,0 13,-13-12,13-1,-26 0,26 0,-13 0,13 1,-14-14,14 13,-13-13</inkml:trace>
  <inkml:trace contextRef="#ctx0" brushRef="#br0" timeOffset="28955.5279">10358 2500,'14'0,"-14"14,0-1,0 0,0 0,0 14,0-1,0 1,0 12,0 1,0 0,0-1,0 1,0 0,0-1,0 1,26 0,-26-1,0 1,0 0,0 0,0-14,0 14,0-1,0 1,-26-13,26 12,-27-12,14 12,0-12,0-1,-1 1,1-1,0-13,13 1,-13-1,-1-13</inkml:trace>
  <inkml:trace contextRef="#ctx0" brushRef="#br0" timeOffset="31347.9471">6694 3466,'0'13,"0"0,13-13,0 0,-13 14,14-14,-1 0,0 0,0 0,1 0,-1 0,0 0,13 0,-12 0,12 0,-13 0,14 0,-1 0,1 0,-14 0,13 0,1 0,-1 0,-12 0,12 0,-13 13,1-13,-1 0,0 0,0 0,0 0,1 13,-1-13,0 0,0 13,1-13,-1 0,0 14,0-14,0 0,1 0,12 0,-13 0,1 0,-1 0,0 0,14 0,-14 0,0 0,0 0,0 0,1 0,-1 0,0 0,0 0,1 0,-1 0,0 13,0-13,1 0,-1 13,0-13,0 0,0 0,1 0,-1 0,0 0,0 0,14 0,-14 0,14 0,-14 0,13 0,-13 0,14 0,-14 0,0 0,14 0,-14 0,14 0,-14 0,0 0,13 13,-12-13,-1 0,0 0,14 0,-14 0,0 14,0-14,14 0,-14 0,0 0,14 0,-14 0,0 0,14 0,-14 0,13 0,-13 0,1 0,12 0,-13 0,1 0,12 0,-13 0,1 0,12 0,-13 0,0 0,14 0,-14 0,0 0,1 0,-1 0,0 0,0 13,0-13,1 0,-1 0,0 0,0 0,1 0,-1 0,13 0,-12 0,-1 0,0 0,0 0,14 0,-14 0,0 0,14 0,-14 0,0 13,0-13,1 0,-1 0,13 0,-13 13,1-13,-1 0,0 0,14 0,-14 0,13 0,-12 0,12 0,-13 0,14 0,-14 0,13 0,-12 0,-1 0,0 0,0 0,1-13,-1 13,0 0,0 0,0 0,1 0,-1 0,0 0,0 0,1 0,12 0,-13 0,0 0,14 0,-14 0,14 0,-14 0,13 0,-12 0,-1 0,0 0,0 0,0 0,1 0,-1 0,0 0,0 0,1 0,-1 0,0 0,0 0,1 0,-1 0,0 0,0 0,0 13,1-13,12 0,-13 0,14 0,-14 0,13 0,-12 0,12 0,-13 0,1 0,-1 0,0 0,0 0,1 0,-1 0,0 0,0 0,0 0,1 0,-1 0,0 0,0 0,1 0,-1 0,0 0,0 0,1 0,-1 0,0 0,0 0,0 0,1 0,-1 0,0 0,0 0,1 0,-1 0,0 0,0 0,1 0,-1 0,0 0,0 0,0 0,1 0,-1 0,0 0,0 0,1 0,-1 0,-13-13,13 13,0 0,1 0,-1 0,0 0,0 0,0 0,1 0,-1 0,0 0,0 0,1 0,-1 0,-26 0,-1 0,1 0,0 0</inkml:trace>
  <inkml:trace contextRef="#ctx0" brushRef="#br0" timeOffset="33799.9712">6919 3810,'0'0,"0"-13,0 39,0-13,13 1,-13-1,0 13,13-12,-13 12,14 1,-1-1,0-13,-13 14,13-1,-13 1,0-1,13-13,-13 14,0-14,0 0,0 0,0 1,0-1,0 0,0-26,0-14,0 14,0-13,14 13,-14-14,0 1,13-1,-13 1,13-1,0 1,1-1,-14 1,13-1,0 14,-13-13,13 12,1 1,-1 0,0 13,0-13,0 13,1 0,-1 39,0-12,-13-14,13 14,-13-14,14 13,-14 1,0-14,0 13,0-12,0 12,0-13,0 14,0-14,0 0,-27 1,27-1,0 0,-13-13,13 13,0 0,-13-13</inkml:trace>
  <inkml:trace contextRef="#ctx0" brushRef="#br0" timeOffset="34319.5812">7382 3770,'0'-13,"0"0,0 0,13 13,-13-14,27 1,-14 13,0-13,0 13,0 0,1 0,-1 26,-13-12,0 12,0-13,0 1,0-1,0 0,-13 0,13 0,0 1,-27-1,27 0,-13 0,13 1,-26-14,12 13,14 0,-13-13,0 13,0 1,26-14,0 0,14 0,-14 0,0 0,0 0,0-14,1 14,-1 0,0 0,0 0</inkml:trace>
  <inkml:trace contextRef="#ctx0" brushRef="#br0" timeOffset="34780.2512">7792 3731,'0'-14,"13"14,-13 14,-26-14,26 26,-13-13,13 1,-14 12,1 0,0 1,0-1,-1 1,1 13,13-14,-13 14,13-1,-13-12,13 13,0-1,0-12,0-1,0 1,0-14,26 13,-26-13,0 1,13-14,-13 13,14-13,-1 0</inkml:trace>
  <inkml:trace contextRef="#ctx0" brushRef="#br0" timeOffset="35522.889">8123 3757,'0'-13,"-14"13,14 26,-13-26,13 27,-26-14,13 0,-1 14,1-14,0 13,13-12,-13 12,-1 1,14-14,-13 13,13-13,0 1,0 12,0-13,0 1,0-1,13-13,-13 13,27-13,-27 13,26-13,-12 0,-1 0,0 0,13 0,-12 0,-1-13,13 13,-12-13,12 13,-13-27,1 27,-1-13,0 0,0 0,-13-1,13 1,1 0,-14 0,0 0,0 26,-14-13,14 26,0-13,-13 1,13-1,-13 13,13-12,0 12,0-13,-13 14,13-1,0-13,0 14,-13-1,13-12,0 12,0 0,0-12,0-1,0 0,0 0,0 1,-14-14,14 13</inkml:trace>
  <inkml:trace contextRef="#ctx0" brushRef="#br0" timeOffset="36911.4635">8705 3969,'-13'0,"13"13,0 0,-14 14,14-14,0 0,0 0,0 1,0-1,0 0,0 0,0 14,0-14,0 0,0 0,0 1,14-1,-14 0,0 0,13-13,-13 14,0-1,13-13</inkml:trace>
  <inkml:trace contextRef="#ctx0" brushRef="#br0" timeOffset="37155.6598">8586 4088,'0'0,"26"0,-13 0,-13 13,14-13,-1 0,0 0,0 0,1 0,-1-13,13 13,-13-13,27 13,-13-27,-1 27,1-13,12 0,-26 13,14-14</inkml:trace>
  <inkml:trace contextRef="#ctx0" brushRef="#br0" timeOffset="37700.2668">9459 4048,'0'0,"0"-13,0 0,13-1,-13 1,0-13,13 13,-13-14,14 1,-1-1,0 1,0-1,0 1,1-14,-1 14,0-1,0 1,-13-1,14 1,-1 13,-13-1,13 14,-39 14,-1 25,1-26,12 14,-12-1,0 1,-14-1,13 1,1-1,-1-13,1 14,0-14,-1 0,1 1,12-14,-12 13,13-13,0 0,13-13,26 13,-26-14</inkml:trace>
  <inkml:trace contextRef="#ctx0" brushRef="#br0" timeOffset="38039.8405">9168 4141,'0'0,"-13"0,13 13,13-13,0 0,0 0,1 0,-1 0,13 0,-13 0,14 0,-1 0,1 0,-1 0,1 0,12-13,1 13,0 0,-1-13,1 13,13 0,-13 0,-1 0,14 0,-13-14,0 14,-14 0</inkml:trace>
  <inkml:trace contextRef="#ctx0" brushRef="#br0" timeOffset="38619.4208">9353 4247,'-13'0,"13"13,0 0,0 0,0 0,0 1,0-1,0 0,0 0,0 1,0-1,0 13,0-12,0 12,0-13,0 14,0-14,0 13,0-12,0 12,0-13,0 1,0-1,13-13,-13-27,13 1,-13 13,0-1,13-12,-13-1,14 14,-14-13,13-1,0 14,0-13,1 12,-1-12,0 13,0-1,1 14,-1-13,0 13,0 0,0 27,-13-1,0-13,0 1,0 12,0-13,0 1,0 12,-26-13,26 0,0 1,0-1,-13 0,13 0,0 1,0-1</inkml:trace>
  <inkml:trace contextRef="#ctx0" brushRef="#br0" timeOffset="39043.8446">9697 4260,'13'0,"0"-13,1 13,-1 0,0 0,0 0,1 0,-1 0,0 0,0 0,-13 13,0 0,-13 13,-13-12,12-1,1 0,-13 0,12-13,1 14,0-1,0-13,0 13,-1 0,14 1,0-1,27-13,-1 13,-13-13,1 0,12 0,1 0,-1 0,0 0,1-26,-14 26,14 0,-14 0,0-14,0 14</inkml:trace>
  <inkml:trace contextRef="#ctx0" brushRef="#br0" timeOffset="39491.3612">10173 3823,'0'0,"13"0,-13 13,0 1,14 12,-14-13,0 1,0 12,13-13,-13 14,0-1,13-13,-13 14,0-1,13 1,-13-1,0 14,0-14,0 1,0-1,0 1,0 12,0-12,-26-1,26-12,0 12,-13 1,13-14,0 13,-14-13,14 1,0-1,-13 0,13 0</inkml:trace>
  <inkml:trace contextRef="#ctx0" brushRef="#br1" timeOffset="57419.4555">6601 3387,'27'0,"-27"-14,40 1,-27 0,26-13,-12 12,13-12,12-1,1 1,0-1,0-12,-13 12,13 1,0-1,-14-12,1 12,-13 1,12 13,-12-14,-1 1,1-1,-1 1,1-14,12 14,-12-14,-1 13,1 1,-1-14,1 14,-1 13,-13-14,14 14,-27 0,13 13,0 0,-39 13,-1 13</inkml:trace>
  <inkml:trace contextRef="#ctx0" brushRef="#br1" timeOffset="58488.0627">6747 4273,'0'-13,"26"13,-26-13,27 13,-1-14,1 1,12-13,1 12,0 1,-1-13,1-1,0 14,0-13,-1-1,1 14,0-14,-1 1,-12 13,12-14,1 14,-13-13,12 12,-12-12,-1 13,14-14,-14 14,1 0,-14-14,13 14,-12 0,-1 13,0-13,-13-1,-26 14,26 27</inkml:trace>
  <inkml:trace contextRef="#ctx0" brushRef="#br0" timeOffset="91054.9969">11139 3545,'13'0,"0"0,1 0,-1 0,0 0,0 0,1 0,-1 0,13 0,1 0,-14 0,13 0,14 0,-13 0,-1 0,14 0,-14 0,1 0,-1 0,1 0,-1 0,0 0,-12 0,-1 0,0 0,0 0,1 0,-1 0,0 14,0-14</inkml:trace>
  <inkml:trace contextRef="#ctx0" brushRef="#br0" timeOffset="91536.5345">11218 3744,'14'0,"12"0,-13 0,0 0,14 0,-14 0,14 0,-14 0,13 0,1 0,-1 0,-13 0,14 0,-1 13,-12-13,-1 0,0 0,14 0,-14 13,0-13,0 0,0 0,1 0,-1 0,0 0,0 0,1 0</inkml:trace>
  <inkml:trace contextRef="#ctx0" brushRef="#br0" timeOffset="93599.5739">12793 2752,'-14'0,"1"13,0 0,0-13,-1 13,1-13,0 14,0-1,0-13,13 13,-14 0,1-13,13 14,-13-14,0 13,-1-13,14 13,-13 0,0 0,0 1,-1-1,1 0,13 0,-13-13,0 14,13-1,-13 0,-1 0,14 0,-13 1,0-1,13 0,-13 0,-1 14,14-14,-13 0,0 1,13-1,-13 13,13-13,0 1,-14-1,14 13,0-12,0-1,0 0,0 0,0 1,0-1,0 0,0 0,14 0,-14 1,26-1,-13 0,1-13,-1 13,0-13,0 14,1-14,-1 13,0-13,0 0,0 0,1 0,-1 13,0-13,0 0,1 0,-14-13,13 13,0-27,-13 14,13 13,-13-13,14 13,-14-13,13-1,-13 1,0 0,0 0,0 0,0-1,-13 14,13-13,-14 13,14-13,-13 13,0-13,0 13,-1-14,1 14,0-13,0 0,-1 13,1 0,0 0,0 0,0 0,-1 0,1 13,0-13,0 0,13 13,-14-13,1 14</inkml:trace>
  <inkml:trace contextRef="#ctx0" brushRef="#br0" timeOffset="94227.5851">13176 3003,'13'13,"-13"0,0 1,0-1,0 0,14 0,-14 14,0-14,0 0,0 14,0-14,0 13,0-12,0 12,0-13,0 1,-27 12,27-13,0 1,0-1</inkml:trace>
  <inkml:trace contextRef="#ctx0" brushRef="#br0" timeOffset="94463.4093">13018 3201,'0'-13,"26"13,-13-13,0 13,1 0,-1-13,13 13,-12 0,-1 0,13 0,1-13,-14 13,13 0,1 0,-14-14,14 14,-1 0,-13-13,0 13,14-13,-14 0</inkml:trace>
  <inkml:trace contextRef="#ctx0" brushRef="#br0" timeOffset="95695.6383">13811 2725,'0'0,"0"-13,-13 13,39-13,-12 13,12 0,1-13,-14 13,0 0,14 0,-14 0,0 0,13 0,-12 0,-1 26,13-26,-12 13,-1 0,-13 1,13-1,-13 0,0 0,0 14,0-14,0 0,-26 1,26-1,-40 0,13 0,14 0,-26 1,12-1,1-13,-1 13,1-13,12 0,1 13,0-13,26 0,14 0,-14 0,13 14,-12-14,-1 0,13 13,1-13,-14 0,13 13,-12-13,12 13,-13-13,1 13,-1-13,0 0,-13 14,13-14,-13 13,0 0,-26-13,26 13,-40-13,14 14,12-14,-25 13,12-13,1 0,-14 13,14-13,-14 0,14 0,-1 0,14 0,-14 0,14 0,13-26,-13 26,26 0</inkml:trace>
  <inkml:trace contextRef="#ctx0" brushRef="#br0" timeOffset="96239.7961">13666 3228,'0'-13,"-14"13,28 0,12 0,-13 13,1-13,12 0,1 0,12 0,-12 0,12 0,1 0,0 0,-1 0,-12 0,13 0,-14 0,1 0,-14 0,13 0,-13 0,1 0</inkml:trace>
  <inkml:trace contextRef="#ctx0" brushRef="#br0" timeOffset="96827.1799">13745 3426,'0'-13,"13"13,1 0,-1 0,0 0,-13 27,13-27,0 13,1 0,-1-13,-13 13,13 0,-13 1,0-1,13-13,-13 13,0 0,0 1,0-1,0 0,0-39,0 12,14 14,-14-26,13 13,0-1,0-12,1 13,-1-14,0 14,13-13,-12 12,-1 1,13 0,-12 13,-1-13,13 13,-12 0,-1 0,0 0,0 13,0 27,-13-27,14 0,-14 14,0-14,0 13,0-13,0 14,0-14,-27 14,27-14,0 0,-13 0,13 1,-13-14,-14 13</inkml:trace>
  <inkml:trace contextRef="#ctx0" brushRef="#br0" timeOffset="98448.2361">12528 3651,'-13'0,"26"0,13 13,-12-13,-1 0,0 0,0 14,14-14,-14 0,14 0,-14 0,0 13,13-13,-12 0,12 0,-13 13,14-13,-14 0,14 0,-14 13,13-13,-13 0,1 0,12 14,-13-14,14 0,-14 0,14 0,-14 13,13-13,-13 0,14 0,-14 13,0-13,14 0,-14 0,13 0,-12 0,-1 0,13 13,-12-13,-1 0,13 0,-12 0,-1 0,0 0,0 0,0 14,1-14,-1 0,0 0,0 0,1 13,-1-13,0 0,0 0,1 0,-1 13,0-13,0 0,14 0,-14 0,0 0,0 0,1 0,12 0,-13 0,0 13,1-13,-1 0,0 0,0 0,1 0,-1 0,0 0,14 0,-14 0,13 0,-13 0,14 0,-1 0,1 0,-14 0,14 0,-14 0,13 0,-13 0,14 0,-14 0,0 0,1 0,-1 0,0 0,0 0,1 0,12 0,-13 0,0 0,14 0,-1 0,-12 0,12 0,1 0,-14 0,13 0,-13 0,14 0,-14 0,0 0,14 0,-14 0,0 0,0 0,1 0,-1 0,0 0,0 0,1 0,-1 0,0 0,14 0,-14 0,0-13,0 13,0 0,1 0,-1 0,0 0,-26 0,-27 0</inkml:trace>
  <inkml:trace contextRef="#ctx0" brushRef="#br0" timeOffset="99831.6949">12713 4022,'0'0,"-13"0,-13 0,26 13,-14-13,1 13,0 0,0 1,-1-1,1 0,13 0,-13 1,0-1,13 0,0 0,0 0,0 1,0-1,0 0,13 0,13 1,1-1,-14-13,0 13,1-13,-1 0,0 0,13 0,-12 0,-1 0,13 0,1 0,-14 0,0-26,1 26,-1 0,0-14,0 14,-13-13</inkml:trace>
  <inkml:trace contextRef="#ctx0" brushRef="#br0" timeOffset="100019.5552">12872 4114,'13'-13,"0"13,1 0,-14 27,0-14,0 0,0 13,0-12,-27-1,27 13,0-12,-13 12,13-13,-13 0,13 14,-13-14,13 0,0 14,-14-14,14 0,0 1,-13-1</inkml:trace>
  <inkml:trace contextRef="#ctx0" brushRef="#br0" timeOffset="100471.5618">13256 4154,'0'-13,"0"26,0 13,0-12,0-1,-14 0,14 14,0-14,-13 13,13 1,0-14,-13 0,13 14,0-14,0 0,0 0,0 1,0-1,26-13</inkml:trace>
  <inkml:trace contextRef="#ctx0" brushRef="#br0" timeOffset="100663.4397">13097 4299,'26'0,"1"0,-1 0,-13 0,14 0,-14-26,14 26,-1 0,-13 0,14 0,-1-13,-13 13,1-13,12 13,-13-14</inkml:trace>
  <inkml:trace contextRef="#ctx0" brushRef="#br0" timeOffset="101131.5548">13983 4247,'-13'0,"0"0,13-14,0 1,0 0,0 0,0-1,13 1,-13 0,26 0,-26-14,14 14,-1-13,0 12,0-12,1 13,-1-14,0 14,0 0,1 0,-41 26,1 0,-1-13,1 26,-14-12,14 12,-14-13,0 1,0-1,14 0,-14-13,14 13,13 1,-14-14,14 0,13 13,13-13</inkml:trace>
  <inkml:trace contextRef="#ctx0" brushRef="#br0" timeOffset="101471.5866">13758 4326,'-13'0,"0"0,39 0,1 0,-14 0,13 13,1-13,-1 0,14 0,-13 0,12 0,1 0,-14-26,14 26,-13 0,12-14,-12 14,-1 0,1-13,-1 13,1 0,-14 0,13 0,-13 0</inkml:trace>
  <inkml:trace contextRef="#ctx0" brushRef="#br0" timeOffset="102002.8374">13851 4405,'0'0,"0"14,0-1,0 0,13 0,-13 0,0 1,13 12,-13-13,0 1,14-1,-14 0,0 0,0 14,0-14,0 0,0 0,0 1,0-1,26-13,-26-27,13 27,-13-13,14 0,-1-13,0 12,13-12,-12-1,-1 14,0-13,14 12,-14 1,0 0,0 0,1 13,-1-13,0 13,0 0,0 26,-13 0,0-12,0 12,0-13,0 1,0 12,0 1,0-14,0 0,0 13,-13-12,13-1,0 0,-13 0,0-13</inkml:trace>
  <inkml:trace contextRef="#ctx0" brushRef="#br0" timeOffset="102794.8477">14327 4379,'0'0,"0"-13,13 13,14-14,-1 14,-12 0,-1 0,0-13,0 13,0 0,1 0,-1 0,-13 27,0-14,-13 0,-1 0,14 1,-26-1,13 0,0-13,-1 13,1 0,0 1,0-1,-1-13,14 13,-13-13,13 13,-13-13,39 0,-12 0,12 0,-13 0,1 0,-1 0,13 0,-13-13,1 13,-1 0,0 0,0 0,1 0,-1 0,-13-13</inkml:trace>
  <inkml:trace contextRef="#ctx0" brushRef="#br1" timeOffset="123411.9095">13666 4829,'0'-14,"13"14,0 0,-13-13,13 13,1-13,-1 0,0 13,0-14,1 1,12 0,-13 0,14 0,-1 13,-13-14,14 1,-14 0,0 0,14-1,-14 1,0 13,14-13,-14 0,0 0,0-1,1 14,-1-13,0 0,0 0,14 13,-14-14,0 1,0 0,1 0,-1-1,0 14,0-13,1 0,-1 13,0-13,0 13,-13-13,14 13,-1 0,0 0,-13-14,13 14,0-13,1 13,-1-13,0 13,-13-13,13 13,1-14,-1 1,0 0,0 0,0-1,1 14,-14-13,13 13,0-13,0 0,1 13,-14-13,13 13,0 0,-13-14,13 14,1-13,-1 13,0-13,0 0,0 13,1 0,-1-14,0 14,-13-13,13 13,1 0,-14-13,13 13,-13-13,-27 13,1 0</inkml:trace>
  <inkml:trace contextRef="#ctx0" brushRef="#br1" timeOffset="124202.7757">14658 4061,'-13'0,"26"0,0 0,0 0,1 0,-1 0,0 14,0-14,1 0,-1 13,13-13,-13 0,1 0,-1 13,13-13,-12 13,-1-13,0 0,0 0,0 14,-26-14,13 13,-13-13,0 13,0 0,-1 0,1 1,0-1,0 13,-1-12,1-1,13 0,-13 0,0 0,13 1,13-14</inkml:trace>
  <inkml:trace contextRef="#ctx0" brushRef="#br1" timeOffset="124735.5213">15161 4008,'-14'0,"1"0,0 27,13-14,-13-13,13 13,0 14,0-14,0 0,0 1,13-1,13 0,1 0,-14-13,14 13,-14-13,13 0,-13 0,1 14,12-14,-13 0,1 0,-1 0,0 0,14-27,-14 27,0-26,0 13,-13-14,13 1,1 12,-14-12,0-1,0 1,0 0,0 12,0-12,-27 13,27-14,-26 27,13-13,-14 13,14-13,-14 13,14 0,-13 0,12 0,1 26,0-26,13 27,-13-27,13 26,-13-13,-1 1</inkml:trace>
  <inkml:trace contextRef="#ctx0" brushRef="#br1" timeOffset="126247.6611">13547 3598,'13'0,"0"0,0-13,1 13,-14-13,13 13,0-13,0 13,0-14,1 1,12 0,-13 13,14-27,-1 14,1 0,12-13,-12 12,13-12,-1-1,1 1,0 0,-14 12,14-12,-14 13,1-14,-1 14,1-14,-1 14,-13 0,1 0,12 0,-13-1,1 1,-1 0,13 0,-13-14,1 14,-1 0,0 13,0-27,1 27,-1-13,0 0,0 0,0 13,1-14,-14 1,13 13,0-13,0 13,-13-13,14 13,-1-14,0 14,0-13,1 0,-1 13,0-13,13 0,-26-1,14 14,-41 0,14 0</inkml:trace>
  <inkml:trace contextRef="#ctx0" brushRef="#br1" timeOffset="126987.7495">14565 2712,'14'0,"-1"13,13 0,-13-13,1 0,-1 0,0 14,0-14,14 0,-14 0,14 13,-14-13,13 0,-13 0,1 13,-1-13,0 0,0 0,1 0,-1 0,-13 13,-13-13,13 14,0-1,-14-13,1 13,13 0,-13 1,0 12,-1-13,1 0,0 14,13-14,-13 14,0-14,13 0,-14 0,14 0,-13 1,13-1,0-40,0 14</inkml:trace>
  <inkml:trace contextRef="#ctx0" brushRef="#br1" timeOffset="127552.1358">15253 2500,'-13'0,"0"14,0-14,-1 26,1-13,0 0,0 1,13 12,-14-13,14 14,-13-1,13-12,0 12,0 0,0-12,27 12,-27-13,39 1,-25-1,12 0,0-13,1 0,-1 0,1 0,-1 0,1-13,-1 13,-13-27,14 1,-1 13,-12-14,12 1,-13-1,1 14,-1-13,0-1,-13 1,13 12,-13-12,0 0,0 12,0-12,-26 13,-1-1,14 14,-13 0,-1-13,-13 13,14 0,0 27,-1-27,14 26,-14-13,14-13,0 27,13-14,-13-13,13 13,0 0</inkml:trace>
  <inkml:trace contextRef="#ctx0" brushRef="#br1" timeOffset="128619.5295">15954 3717,'0'0,"27"0,-27-13,13 13,0 0,1 0,12 0,-13 0,14 0,-1-13,14 13,-14 0,14 0,0 0,-1 0,1 0,0 0,13 0,-14 0,14 0,-13 0,13 0,0 0,0 13,0-13,0 0,-1 0,15 0,-15 0,1 0,0 0,0 0,0 0,-13 0,13 0,-14 0,1 0,-13 0,12 0,-12 0,-14 0,13 0,-12 0,-1 0,0 0,0 0</inkml:trace>
  <inkml:trace contextRef="#ctx0" brushRef="#br1" timeOffset="129702.8019">17462 3506,'0'0,"27"0,-1 0,-12 0,-1 0,0 0,0 13,1-13,-1 13,0-13,13 27,-12-14,-1-13,13 13,-12 0,-1-13,0 14,0-1,1-13,-14 13,13-13,0 0,-13 13,13-13,-26 13,0 1,13-1,0 0,-13 0,-1 14,14-14,-13 0,0 1,13-1,-13 0,-1 0,1 0,0 1,13-1,-13-13,-1 13,14 0,-13-13,13 14,-13-1,13 0,-13 0,13 1,-13-14</inkml:trace>
  <inkml:trace contextRef="#ctx0" brushRef="#br1" timeOffset="132671.4241">16113 3201,'0'14,"0"-1,0 0,13-13,-13 13,14 1,-14-1,13 0,-13 0,13 1,-13-1,0 13,13-13,-13 1,0-1,13 0,-13 0,0 14,0-14,0 0,0 0,14-13,-14-13,0-13,13 13,-13-1,0 1,0-13,13 12,-13-12,0 13,13-14,-13 14,0 0,14 0,-14-1,13 14,-13-13,13 0,0 13,1 0,-1 0,0 13,0-13,0 0,-13 27,14-27,-1 13,0-13,-13 26,13-12,1-1,-14 0,0 0,0 0,0 1,0-1,0 0,0 0,0 1,-14-1,14 0,0 0</inkml:trace>
  <inkml:trace contextRef="#ctx0" brushRef="#br1" timeOffset="133023.7893">16563 3321,'13'0,"0"0,14 0,-14 0,0 0,1 0,-1 0,0 0,0 0,14 0,-14 0,0 0,0 0,1 0,-14-14,13 14,0 0</inkml:trace>
  <inkml:trace contextRef="#ctx0" brushRef="#br1" timeOffset="133414.9233">16748 3201,'-13'0,"39"0,1 0,-14 0,0 14,1-14,12 0,-13 13,14-13,-14 13,0-13,0 13,1-13,-1 0,-13 14,13-14,-13 13,0 0,0 0,-26-13,26 14,-27-1,1 0,12 0,1 0,0 1,0-1,0 0,-1-13,1 13,13 1</inkml:trace>
  <inkml:trace contextRef="#ctx0" brushRef="#br1" timeOffset="134339.5009">17119 3254,'13'-13,"0"13,0 0,0 0,1 0,-1 0,0 0,-13 13,13-13,-13 14,14-14,-14 13,13-13,-13 13,13 0,0 1,1-14,-1 13,0-13,0 0,-13 13,13-13,1 0,-1 0,0 0,0 0,1 0,-1 0,0 0,0-13,0 13,-13-13,14 13,-14-14,13 14,-13-13,13 0,0 0,-13-1,14 1,-14 0,0 0,0-1,0 1,0 0,-14 13,1 0,0 0,0 0,-1 0,1 0,0 0,0 0,0 0,-1 0,1 0,13 13,-13-13,0 13,-1-13,1 14,0-1,0 0,0 0,13 1,-14-14,14 13,-13-13,13 13,-13-13,13 13,-13-13,13 14,-14-14,14 13,-13-13,0 13,0 0,13 0,-14-13,1 14,0-14,0 0,0 0,-1 0,1 0,0-14,0 14,-1-26,1 13,13 0,0-1,0 1,0 0,13 0,1-1</inkml:trace>
  <inkml:trace contextRef="#ctx0" brushRef="#br0" timeOffset="140608.0896">18574 2910,'0'0,"-13"0,13 14,-14-14,1 0,13 13,-13-13,13 13,0 0,-13 1,-1-1,14 0,-26 0,26 0,-13 1,13-1,-14 0,1 14,13-14,-13 0,0 14,13-14,0 0,-13 13,13-12,-14 12,14-13,0 14,0-14,0 14,0-14,0 13,0-13,0 1,0-1,0 0,14 0,-14 1,13-1,-13 0,26-13,-26 13,13-13,1 13,-1-13,0 0,14 0,-14 14,0-14,14 0,-14 0,13 0,-13 0,14 0,-14 0,0 0,14-14,-14 14,0 0,-13-26,13 26,-13-13,14 13,-14-27,13 27,-13-13,0 0,0 0,0-1,0 1,0 0,0 0,-13 0,13-1,-27 1,14 0,0 13,0-13,-1 13,1 0,0 0,-14 0,14 0,0 0,-13 26,-1-26,14 0,0 13,-14-13,14 0,0 0,-1 0,41 0,-1 0</inkml:trace>
  <inkml:trace contextRef="#ctx0" brushRef="#br0" timeOffset="141183.875">18217 3678,'13'0,"13"0,-13 0,1 0,12 0,1 0,-1 0,1 0,12 0,1 0,-14 0,14 0,0 0,-1 0,1 0,-13 0,12 0,1 0,0 0,-14 0,1 0,-1 0,0 0,1 0,-1 0,-12 0,-1 0,13 0,-12 0,-1-14,0 14,0-26</inkml:trace>
  <inkml:trace contextRef="#ctx0" brushRef="#br0" timeOffset="141732.0371">18732 3744,'-13'0,"0"0,13 13,-13-13,13 13,-13 1,-1-1,14 0,-13 0,0 14,0-14,-1 0,1 14,0-1,13-13,-13 14,13-1,-13-13,13 1,0 12,0-13,0 1,0-1,0 0,26-13,-26 13,13-13,-13 14,40-14,-27 0,0 0,14 0,-1 0,1 0,-14 0,13 0,1-14,-1 14,-12 0,12-13,-13 13,0-26,1 12,-1 1</inkml:trace>
  <inkml:trace contextRef="#ctx0" brushRef="#br0" timeOffset="141979.5083">18997 3823,'0'0,"0"13,0 14,0-14,0 14,-13-14,13 13,0-12,-13 12,13 0,-14-12,14 12,-13 1,13-1,-13-13,13 14,-13-1,13 1,0-1,0-13,0 14,-14-14,14 13,0-12,0-1,0 0</inkml:trace>
  <inkml:trace contextRef="#ctx0" brushRef="#br0" timeOffset="142671.7056">19539 3598,'-13'0,"40"0,-14 0,0 0,0 0,1 0,-1 0,0 0,14 0,-14 0,13 0,-13 0,1 0,12-13,-13 13,14 0,-14 0,0 0,1 0,-1 0,0 0,0 0</inkml:trace>
  <inkml:trace contextRef="#ctx0" brushRef="#br0" timeOffset="142935.7708">19553 3757,'0'13,"13"-13,13 0,1 0,-14 0,14 0,-14 0,13 0,-13 0,14 0,-1-13,1 13,-14 0,14-13,-1 13,0 0,1-13,-14 13,0 0,1 0,-1 0,0 0</inkml:trace>
  <inkml:trace contextRef="#ctx0" brushRef="#br0" timeOffset="144227.3213">20439 3135,'0'-13,"13"13,1-13,-1 13,-13-13,13 13,0 0,0-14,1 14,12 0,-13 0,14 0,-14 0,0 0,14 0,-14 0,0 0,0 14,1-14,-1 13,0 13,-13-12,0-1,0 0,-26 0,-1 0,14 1,-13-1,12-13,1 13,-13 0,12-13,1 14,0-14,0 0,-1 13,41-13,-27 13,26-13,-12 0,12 0,1 13,-14-13,13 0,1 0,-1 14,-13-14,14 0,-14 13,0-13,0 13,1-13,-14 13,13-13,-13 13,0 1,-27-14,27 13,-26 0,0-13,12 13,-12-13,-1 0,1 14,0-14,-1 0,1 0,-1 0,14 0,-14 0,14 0,0-14,-13 14,12-13,1 13,13-13,0 0,27 13</inkml:trace>
  <inkml:trace contextRef="#ctx0" brushRef="#br0" timeOffset="144648.1179">20426 3638,'0'-13,"0"0,0-1,13 14,14 0,-1 0,0 0,1 0,13 0,-1-13,1 13,13 0,-13 0,12 0,1-13,0 13,-13-13,13 13,0-14,0 14,-14-13,14 13,-13-13</inkml:trace>
  <inkml:trace contextRef="#ctx0" brushRef="#br0" timeOffset="145267.4033">20796 3704,'0'0,"13"-13,1 13,-1 0,0 0,0-13,14 13,-1 0,1 0,-1 0,1 0,-1 0,-13 0,14 0,-14 0,0 13,1-13,-14 26,0-12,0 12,0-13,-14 14,14-14,-39 13,25 1,-12-1,-1-12,1 12,0-13,-1 1,-13 12,14-13,-1 0,1-13,13 14,0-1,-1-13,1 13,13 0,13-13,27 0,-14 0,14 0,0 0,0-13,-1 13,14 0,-13-26,13 26,-14-14,1 14,0 0,-1 0,-12 0,-1 0,-12 0,12-13,-13 13</inkml:trace>
  <inkml:trace contextRef="#ctx0" brushRef="#br0" timeOffset="172211.3929">1667 6085,'0'-13,"0"26,26-13,-26 27,14-14,12 14,-13-14,0 13,14 1,-1-1,-12 1,12-1,1 14,-1-14,0 14,1-14,-1 1,1-1,-14 1,14-1,-1 1,-13-1,0 1,1-14,-1 0,0 14,0-14,-13 0,14 0,-14 0,13-13</inkml:trace>
  <inkml:trace contextRef="#ctx0" brushRef="#br0" timeOffset="172607.4928">1733 6760,'13'0,"14"0,-14-13,13-14,-12 14,-1-13,0 13,0-27,1 13,12-12,-13-1,14 0,-1 1,1-14,-1 13,1 0,-1 1,0-1,1 0,-14 14,0-1,14 1,-27 13,13-1,0 1,-13 0,0 0,0-1,0 1</inkml:trace>
  <inkml:trace contextRef="#ctx0" brushRef="#br0" timeOffset="173171.8402">2500 5953,'0'0,"-13"0,13-13,0 0,0-1,27 1,-14 0,-13 0,26 0,-13 13,1-14,-1 14,0-13,0 13,1 0,-1 0,0 0,0 0,1 0,-14 13,13-13,-13 14,0 12,0-13,0 14,-27-14,27 0,-26 0,13 14,-14-14,14 0,-14 14,14-14,-13 0,13 0,-1 1,1-1,0 0,0 0,13 1,0-1,0 0,13-13,27 13,-27-13,0 0,13 0,1 0,-1 0,1-26,-1 26,1 0,-1-13,-13 13,14 0,-14 0,0-14</inkml:trace>
  <inkml:trace contextRef="#ctx0" brushRef="#br0" timeOffset="173880.0073">2884 6416,'13'0,"0"0,1 0,-1 0,0 0,0 0,1 0,-1 0,13 0,-13 0,14 0,-14-13,14 13,-1 0,-13-13,14 13,-14-14,13 14,-12 0</inkml:trace>
  <inkml:trace contextRef="#ctx0" brushRef="#br0" timeOffset="174459.4353">3810 5940,'-13'0,"-14"0,14 0,0 13,-14-13,14 27,0-14,-14 0,14 0,0 0,-13 14,12-14,1 14,0-14,0 13,-1-12,1 12,0 0,13 1,-13 13,-1-14,14 14,-13-1,13 1,0 0,0 0,0-14,0 14,0-14,27 1,-27-14,26 13,1-12,-14-1,13-13,1 0,-1 0,1 0,-14 0,13 0,1-27,-1 27,-12-26,12 13,-13-1,0-12,1 13,-1-14,0 1,-13-1,0 14,13-13,-13-1,0 14,0 0,-39-1,25 1,-12 13,0 0,-1 0,1 0,-1 0,-13 13,14-13,0 27,12-27,-12 13,13-13,13 13</inkml:trace>
  <inkml:trace contextRef="#ctx0" brushRef="#br0" timeOffset="175232.0293">4141 6244,'0'-13,"-13"13,13 26,13 1,-13-14,13 0,-13 14,26-14,-12 13,-1 1,0-14,0 14,1-1,-1-13,13 14,-13-14,1 13,-1-12,0-1,0 0,1-13,-1 13,0 1,0-14,-13 13</inkml:trace>
  <inkml:trace contextRef="#ctx0" brushRef="#br0" timeOffset="175483.6978">4101 6654,'13'0,"-13"-26,27 26,-27-13,13-1,0 1,-13-13,13 12,1-12,-1 13,0-14,14 1,-14-1,0-12,13 12,-12 1,12-1,-13 1,1-1,12 14,-13-13,1 12,-1 1,0 0,0 13,-13-13</inkml:trace>
  <inkml:trace contextRef="#ctx0" brushRef="#br0" timeOffset="175982.7516">4829 6231,'13'0,"-13"13,0 14,0-14,0 13,0-12,0 12,13 0,-13 1,0-1,0 1,0-14,0 14,13-1,-13 0,0-12,0-1,14 0,-14 0,13 1,-13-1,13-13</inkml:trace>
  <inkml:trace contextRef="#ctx0" brushRef="#br0" timeOffset="176207.8799">4683 6469,'27'0,"-14"0,-13-13,13 13,0 0,0 0,1-13,-1 13,0 0,0-14,14 14,-14-13,14 0,-1 13,0-13,1 13,-1-14,1 14,-1-13,1 13</inkml:trace>
  <inkml:trace contextRef="#ctx0" brushRef="#br0" timeOffset="176736.1646">5345 6152,'0'-14,"-14"1,14 0,27 0,-27-1,26 14,-12-13,12 0,0 0,1-1,-1 1,1 13,-1-13,1 13,-14-13,13 13,1 0,-14 0,14 0,-14 0,0 26,0-26,0 13,-13 14,0-14,0 14,0-14,-13 13,13-12,-39 12,25 0,-12 1,-1-1,1 1,-1-1,14 1,-13-1,-1 14,1-14,-1 1,14-1,0 1,-13-1,26 1,-14-14,1 0,13 14,0-14,0 0,27-13,-1 0,-13 0,14 0,-1 0,1-26,-1 26,0-14,1 14,-1-26,1 26,-1-13,-12-1,12 1,0 0,-12 13,-1-13</inkml:trace>
  <inkml:trace contextRef="#ctx0" brushRef="#br0" timeOffset="177470.543">6218 6271,'-14'0,"28"0,-14-14,26 14,-13 0,1 0,12 0,-13-13,14 13,-14 0,13 0,-12 0,12 0,1 0,-14 0,13 0,1 0,-14 0,0 13,0-13,1 0,-1 0,0 14,0-14,1 0</inkml:trace>
  <inkml:trace contextRef="#ctx0" brushRef="#br0" timeOffset="177762.7376">6204 6496,'0'0,"27"0,-14-14,0 14,1 0,-1 0,13 0,-12 0,12 0,0 0,1 0,-1 0,1 0,-1 0,1 0,-1 14,1-14,-14 0,13 0,-12 0,-1 0,0 0</inkml:trace>
  <inkml:trace contextRef="#ctx0" brushRef="#br0" timeOffset="179423.7342">7117 6085,'0'-13,"14"13,-1 27,0-27,0 26,0-13,1 1,-1-1,13 13,-12 1,-1-1,0 1,0-1,0 14,1-14,12 14,-13 0,1-14,-1 1,0-1,14 0,-14-12,13-1,-13-13,1 0,-1 13,0-13,0 0,1 0,-14-26</inkml:trace>
  <inkml:trace contextRef="#ctx0" brushRef="#br0" timeOffset="179763.7591">7091 6615,'26'0,"-26"-27,14 27,-1-26,13 12,-13-12,14 0,-1-1,1-13,-1 14,1-14,12 1,-12-1,13 0,-14 14,14-14,-14 14,1-1,-1 1,1 12,-1-12,-13 13,0-1,-13 1,-13 13</inkml:trace>
  <inkml:trace contextRef="#ctx0" brushRef="#br0" timeOffset="181983.8549">8109 6138,'0'-13,"0"40,0-14,0 13,-13-13,13 14,0-14,-26 14,26-1,-13 1,13-1,-14 0,14 1,0 13,-13-14,13 1,-13-1,13 0,0 1,0-1,0-12,0-1,0 0,0 0,0 1,13-14,14 0</inkml:trace>
  <inkml:trace contextRef="#ctx0" brushRef="#br0" timeOffset="182279.6424">7858 6443,'13'0,"14"0,-14 0,14 0,-14 0,13-14,14 14,-14 0,14-13,-14 13,14-13,-13 13,12 0,-12 0,-1-13</inkml:trace>
  <inkml:trace contextRef="#ctx0" brushRef="#br0" timeOffset="182855.4879">8493 6125,'0'-13,"0"0,27-1,-14 1,13 0,-13 0,1 13,-1-14,13 14,-12 0,12-13,1 13,-14 0,13 0,1 0,-14 0,13 0,-12 27,12-27,-13 26,1-13,-14 1,13 12,-13 1,0-14,0 13,-40 1,27-1,-14 14,1-14,-1 1,-12 12,12-12,-12-1,12 1,-13-1,14 1,0-1,-14-13,13 14,14-14,0 0,0-13,0 14,13-1,0 0,26-13,-13 13,14-13,-1 0,14 14,-14-14,14 0,13 0,-13 0,-1 0,1 0,0 0,-1 0,-12 0,-1 0,-13 0,1 0,-1 0</inkml:trace>
  <inkml:trace contextRef="#ctx0" brushRef="#br1" timeOffset="190831.545">5093 6919,'-13'0,"13"-27,26 14,-12 0,-1 0,13-1,-12 1,12 0,1-13,12-1,1-13,0 14,-1-14,1-13,13 14,0-1,-14-13,14 0,0 13,0 1,0-14,-13 13,13 0,-14 1,1 12,0 1,-1-14,-12 14,-1-1,1 14,-14-13,0 12,1 1,-1 0,0 13,-13-13,-26 13,12 0</inkml:trace>
  <inkml:trace contextRef="#ctx0" brushRef="#br1" timeOffset="191854.9499">8334 6959,'0'-14,"27"-12,-27 13,26-14,-12 14,-1-14,13 1,1 0,-1-14,1 13,-1-12,14-1,-1-13,-12 13,13 1,12-14,-12 13,0 0,0-12,-1 12,1 13,0-12,-1 12,-12 1,-1-1,1 1,-14 13,13-1,-26 1,14 0,-1 0,-13-1,-13 14</inkml:trace>
</inkml:ink>
</file>

<file path=ppt/ink/ink8.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36.85221" units="1/cm"/>
          <inkml:channelProperty channel="Y" name="resolution" value="36.86007" units="1/cm"/>
        </inkml:channelProperties>
      </inkml:inkSource>
      <inkml:timestamp xml:id="ts0" timeString="2025-05-27T12:53:13.423"/>
    </inkml:context>
    <inkml:brush xml:id="br0">
      <inkml:brushProperty name="width" value="0.05292" units="cm"/>
      <inkml:brushProperty name="height" value="0.05292" units="cm"/>
      <inkml:brushProperty name="color" value="#FF0000"/>
    </inkml:brush>
  </inkml:definitions>
  <inkml:trace contextRef="#ctx0" brushRef="#br0">6535 2355,'-26'-133,"-67"67,-13 66,-26 0,0-105,-1 78,-65 27,-27-106,-13 80,40 26,39 0,26 0,1 0,0 0,0 0,-1 0,1 0,0 0,-1 0,-65 0,26 0,-53 26,53 1,13-27,27 66,0-26,0-14,-1-26,67 66,-40-26,-26-14,0 40,-1 40,1-40,66 27,66 13,0 26,26 0,80-65,-79 25,79 14,-14 26,40 1,1-1,-1 0,0 0,1-65,-67 25,40-52,-14 53,40-54,-65 54,38-54,-12-12,39-27,1 0,-1 66,0-26,1-14,-1-26,0 0,-66 66,40-26,-13-13,39-27,0 0,1 0,65 0,40 0,-13 0,-27 0,-26-53,-39 53,-1 0,0 0,1 0,-1 0,0 0,0 0,1 0,-1 0,0-106,1 79,-1 27,0-106,1 80,-1 26,0 0,0 0,1-172,-1 40,0-1,-66 1,27 0,39 66,1-27,-1-39,0 0,0 65,-65-38,-28 12,-105-39,-26-1,-14 1,-27 66,1 66,66-106,-93 80,27 26,0 0,-1 0,1 0,0 0,0-106,-1 79,-65 27,26-105,13 78,-39-79,26 80,13 26,27 26,-1 1,1-27</inkml:trace>
  <inkml:trace contextRef="#ctx0" brushRef="#br0" timeOffset="1944.8983">12793 2421,'-133'0,"1"0,0 0,-1 0,1 0,0 0,0 0,-1 0,1 0,0 0,-1 0,1 0,-66 0,39 0,27 0,-1 0,1 0,0 0,-1 0,67 26,-40 1,40 39,-26-26,52 52,40 14,0 26,0 1,0-1,0 0,0 1,26-67,80 26,-79 14,79-40,-14-39,-26 39,40-26,-13-14,39-26,0 0,1 0,-1 0,66 66,41-26,-15-14,41-26,0 0,-67 0,-26 0,-40 0,1 0,-1 0,0 0,67 0,26 0,-27 0,40-53,-79 53,13 0,-40 0,0 0,1 0,-1 0,0 0,1 0,-1 0,0-105,0 12,1 27,-1 66,0 0,1-106,-1 80,0-80,0 79,-65-79,25 80,41-80,-67 14,-27-41,-39 1,-66 0,-26-1,-14 1,-27 66,67-40,-26 80,-14-80,-93 13,-25-39,-81 0,14-1,27 67,65 66,27 0,14 0,-41 27,-105 65,-186 14,-12 26,-28 1,67-67,106 26,119-52,106 53</inkml:trace>
  <inkml:trace contextRef="#ctx0" brushRef="#br0" timeOffset="4160.8323">23574 2289,'-132'0,"0"0,0 0,-133 0,-66-106,-39 79,-27 27,132 0,67 0,39 0,27 0,0 0,-1 0,1 0,0 0,-67 0,27-105,-53 78,53 27,14 0,25 0,1 0,0 0,-1 0,1 0,0 0,66 27,-40-1,-26 40,-1-26,1 52,66 14,-27-40,-13-39,40 39,-26-26,52 52,40 14,-93 26,54 1,39-1,26-66,14 27,-40 13,66 26,27-66,39 27,0-54,-66 54,40-53,-13-14,39-26,0 0,1 0,-1 0,0 0,67 0,39 0,-79 0,13 0,-40 0,0 0,0 0,67 0,26 0,-27 0,-26 0,-40 0,1-53,-1 53,0 0,1 0,-1 0,0 0,0 0,1-106,-1 80,0 26,1-106,-1 13,-66-39,27 66,-27-40,40 80,-80-80,14 13,26 27,-40-40,80 14,-79-41,79 67,-80-40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5A3A6F4-94D3-4678-8F93-02D620FBF6E0}" type="datetimeFigureOut">
              <a:rPr lang="de-DE" smtClean="0"/>
              <a:t>22.12.2025</a:t>
            </a:fld>
            <a:endParaRPr lang="de-DE"/>
          </a:p>
        </p:txBody>
      </p:sp>
      <p:sp>
        <p:nvSpPr>
          <p:cNvPr id="4" name="Folienbildplatzhalt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F7EBA23-AB8F-46BB-93FF-044D257F1C4D}" type="slidenum">
              <a:rPr lang="de-DE" smtClean="0"/>
              <a:t>‹Nr.›</a:t>
            </a:fld>
            <a:endParaRPr lang="de-DE"/>
          </a:p>
        </p:txBody>
      </p:sp>
    </p:spTree>
    <p:extLst>
      <p:ext uri="{BB962C8B-B14F-4D97-AF65-F5344CB8AC3E}">
        <p14:creationId xmlns:p14="http://schemas.microsoft.com/office/powerpoint/2010/main" val="6099008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0F7EBA23-AB8F-46BB-93FF-044D257F1C4D}" type="slidenum">
              <a:rPr lang="de-DE" smtClean="0"/>
              <a:t>5</a:t>
            </a:fld>
            <a:endParaRPr lang="de-DE"/>
          </a:p>
        </p:txBody>
      </p:sp>
    </p:spTree>
    <p:extLst>
      <p:ext uri="{BB962C8B-B14F-4D97-AF65-F5344CB8AC3E}">
        <p14:creationId xmlns:p14="http://schemas.microsoft.com/office/powerpoint/2010/main" val="18701201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dirty="0" smtClean="0"/>
              <a:t>„Wir denken nicht nur auf dem Papier; wir denken mit dem Papier.“</a:t>
            </a:r>
          </a:p>
          <a:p>
            <a:endParaRPr lang="de-DE" dirty="0"/>
          </a:p>
        </p:txBody>
      </p:sp>
      <p:sp>
        <p:nvSpPr>
          <p:cNvPr id="4" name="Foliennummernplatzhalter 3"/>
          <p:cNvSpPr>
            <a:spLocks noGrp="1"/>
          </p:cNvSpPr>
          <p:nvPr>
            <p:ph type="sldNum" sz="quarter" idx="10"/>
          </p:nvPr>
        </p:nvSpPr>
        <p:spPr/>
        <p:txBody>
          <a:bodyPr/>
          <a:lstStyle/>
          <a:p>
            <a:fld id="{0F7EBA23-AB8F-46BB-93FF-044D257F1C4D}" type="slidenum">
              <a:rPr lang="de-DE" smtClean="0"/>
              <a:t>6</a:t>
            </a:fld>
            <a:endParaRPr lang="de-DE"/>
          </a:p>
        </p:txBody>
      </p:sp>
    </p:spTree>
    <p:extLst>
      <p:ext uri="{BB962C8B-B14F-4D97-AF65-F5344CB8AC3E}">
        <p14:creationId xmlns:p14="http://schemas.microsoft.com/office/powerpoint/2010/main" val="11023853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0F7EBA23-AB8F-46BB-93FF-044D257F1C4D}" type="slidenum">
              <a:rPr lang="de-DE" smtClean="0"/>
              <a:t>16</a:t>
            </a:fld>
            <a:endParaRPr lang="de-DE"/>
          </a:p>
        </p:txBody>
      </p:sp>
    </p:spTree>
    <p:extLst>
      <p:ext uri="{BB962C8B-B14F-4D97-AF65-F5344CB8AC3E}">
        <p14:creationId xmlns:p14="http://schemas.microsoft.com/office/powerpoint/2010/main" val="6092058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66BE94E3-52A6-4315-97DE-6D56C086F46B}" type="slidenum">
              <a:rPr lang="de-DE" smtClean="0"/>
              <a:t>19</a:t>
            </a:fld>
            <a:endParaRPr lang="de-DE"/>
          </a:p>
        </p:txBody>
      </p:sp>
    </p:spTree>
    <p:extLst>
      <p:ext uri="{BB962C8B-B14F-4D97-AF65-F5344CB8AC3E}">
        <p14:creationId xmlns:p14="http://schemas.microsoft.com/office/powerpoint/2010/main" val="13889508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66BE94E3-52A6-4315-97DE-6D56C086F46B}" type="slidenum">
              <a:rPr lang="de-DE" smtClean="0"/>
              <a:t>20</a:t>
            </a:fld>
            <a:endParaRPr lang="de-DE"/>
          </a:p>
        </p:txBody>
      </p:sp>
    </p:spTree>
    <p:extLst>
      <p:ext uri="{BB962C8B-B14F-4D97-AF65-F5344CB8AC3E}">
        <p14:creationId xmlns:p14="http://schemas.microsoft.com/office/powerpoint/2010/main" val="13889508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0F7EBA23-AB8F-46BB-93FF-044D257F1C4D}" type="slidenum">
              <a:rPr lang="de-DE" smtClean="0"/>
              <a:t>29</a:t>
            </a:fld>
            <a:endParaRPr lang="de-DE"/>
          </a:p>
        </p:txBody>
      </p:sp>
    </p:spTree>
    <p:extLst>
      <p:ext uri="{BB962C8B-B14F-4D97-AF65-F5344CB8AC3E}">
        <p14:creationId xmlns:p14="http://schemas.microsoft.com/office/powerpoint/2010/main" val="25969583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66BE94E3-52A6-4315-97DE-6D56C086F46B}" type="slidenum">
              <a:rPr lang="de-DE" smtClean="0"/>
              <a:t>39</a:t>
            </a:fld>
            <a:endParaRPr lang="de-DE"/>
          </a:p>
        </p:txBody>
      </p:sp>
    </p:spTree>
    <p:extLst>
      <p:ext uri="{BB962C8B-B14F-4D97-AF65-F5344CB8AC3E}">
        <p14:creationId xmlns:p14="http://schemas.microsoft.com/office/powerpoint/2010/main" val="13889508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66BE94E3-52A6-4315-97DE-6D56C086F46B}" type="slidenum">
              <a:rPr lang="de-DE" smtClean="0"/>
              <a:t>40</a:t>
            </a:fld>
            <a:endParaRPr lang="de-DE"/>
          </a:p>
        </p:txBody>
      </p:sp>
    </p:spTree>
    <p:extLst>
      <p:ext uri="{BB962C8B-B14F-4D97-AF65-F5344CB8AC3E}">
        <p14:creationId xmlns:p14="http://schemas.microsoft.com/office/powerpoint/2010/main" val="13889508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66BE94E3-52A6-4315-97DE-6D56C086F46B}" type="slidenum">
              <a:rPr lang="de-DE" smtClean="0"/>
              <a:t>41</a:t>
            </a:fld>
            <a:endParaRPr lang="de-DE"/>
          </a:p>
        </p:txBody>
      </p:sp>
    </p:spTree>
    <p:extLst>
      <p:ext uri="{BB962C8B-B14F-4D97-AF65-F5344CB8AC3E}">
        <p14:creationId xmlns:p14="http://schemas.microsoft.com/office/powerpoint/2010/main" val="13889508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0F7EBA23-AB8F-46BB-93FF-044D257F1C4D}" type="slidenum">
              <a:rPr lang="de-DE" smtClean="0"/>
              <a:t>48</a:t>
            </a:fld>
            <a:endParaRPr lang="de-DE"/>
          </a:p>
        </p:txBody>
      </p:sp>
    </p:spTree>
    <p:extLst>
      <p:ext uri="{BB962C8B-B14F-4D97-AF65-F5344CB8AC3E}">
        <p14:creationId xmlns:p14="http://schemas.microsoft.com/office/powerpoint/2010/main" val="11484968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0F7EBA23-AB8F-46BB-93FF-044D257F1C4D}" type="slidenum">
              <a:rPr lang="de-DE" smtClean="0"/>
              <a:t>51</a:t>
            </a:fld>
            <a:endParaRPr lang="de-DE"/>
          </a:p>
        </p:txBody>
      </p:sp>
    </p:spTree>
    <p:extLst>
      <p:ext uri="{BB962C8B-B14F-4D97-AF65-F5344CB8AC3E}">
        <p14:creationId xmlns:p14="http://schemas.microsoft.com/office/powerpoint/2010/main" val="12917262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0F7EBA23-AB8F-46BB-93FF-044D257F1C4D}" type="slidenum">
              <a:rPr lang="de-DE" smtClean="0"/>
              <a:t>52</a:t>
            </a:fld>
            <a:endParaRPr lang="de-DE"/>
          </a:p>
        </p:txBody>
      </p:sp>
    </p:spTree>
    <p:extLst>
      <p:ext uri="{BB962C8B-B14F-4D97-AF65-F5344CB8AC3E}">
        <p14:creationId xmlns:p14="http://schemas.microsoft.com/office/powerpoint/2010/main" val="12917262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0F7EBA23-AB8F-46BB-93FF-044D257F1C4D}" type="slidenum">
              <a:rPr lang="de-DE" smtClean="0"/>
              <a:t>53</a:t>
            </a:fld>
            <a:endParaRPr lang="de-DE"/>
          </a:p>
        </p:txBody>
      </p:sp>
    </p:spTree>
    <p:extLst>
      <p:ext uri="{BB962C8B-B14F-4D97-AF65-F5344CB8AC3E}">
        <p14:creationId xmlns:p14="http://schemas.microsoft.com/office/powerpoint/2010/main" val="11484968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0F7EBA23-AB8F-46BB-93FF-044D257F1C4D}" type="slidenum">
              <a:rPr lang="de-DE" smtClean="0"/>
              <a:t>56</a:t>
            </a:fld>
            <a:endParaRPr lang="de-DE"/>
          </a:p>
        </p:txBody>
      </p:sp>
    </p:spTree>
    <p:extLst>
      <p:ext uri="{BB962C8B-B14F-4D97-AF65-F5344CB8AC3E}">
        <p14:creationId xmlns:p14="http://schemas.microsoft.com/office/powerpoint/2010/main" val="11484968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0F7EBA23-AB8F-46BB-93FF-044D257F1C4D}" type="slidenum">
              <a:rPr lang="de-DE" smtClean="0"/>
              <a:t>57</a:t>
            </a:fld>
            <a:endParaRPr lang="de-DE"/>
          </a:p>
        </p:txBody>
      </p:sp>
    </p:spTree>
    <p:extLst>
      <p:ext uri="{BB962C8B-B14F-4D97-AF65-F5344CB8AC3E}">
        <p14:creationId xmlns:p14="http://schemas.microsoft.com/office/powerpoint/2010/main" val="11484968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0F7EBA23-AB8F-46BB-93FF-044D257F1C4D}" type="slidenum">
              <a:rPr lang="de-DE" smtClean="0"/>
              <a:t>58</a:t>
            </a:fld>
            <a:endParaRPr lang="de-DE"/>
          </a:p>
        </p:txBody>
      </p:sp>
    </p:spTree>
    <p:extLst>
      <p:ext uri="{BB962C8B-B14F-4D97-AF65-F5344CB8AC3E}">
        <p14:creationId xmlns:p14="http://schemas.microsoft.com/office/powerpoint/2010/main" val="11484968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57201"/>
            <a:ext cx="7772400" cy="3200400"/>
          </a:xfrm>
        </p:spPr>
        <p:txBody>
          <a:bodyPr anchor="b">
            <a:noAutofit/>
          </a:bodyPr>
          <a:lstStyle>
            <a:lvl1pPr>
              <a:lnSpc>
                <a:spcPct val="100000"/>
              </a:lnSpc>
              <a:defRPr sz="8000"/>
            </a:lvl1pPr>
          </a:lstStyle>
          <a:p>
            <a:r>
              <a:rPr lang="de-DE" smtClean="0"/>
              <a:t>Titelmasterformat durch Klicken bearbeiten</a:t>
            </a:r>
            <a:endParaRPr lang="en-US" dirty="0"/>
          </a:p>
        </p:txBody>
      </p:sp>
      <p:sp>
        <p:nvSpPr>
          <p:cNvPr id="3" name="Subtitle 2"/>
          <p:cNvSpPr>
            <a:spLocks noGrp="1"/>
          </p:cNvSpPr>
          <p:nvPr>
            <p:ph type="subTitle" idx="1"/>
          </p:nvPr>
        </p:nvSpPr>
        <p:spPr>
          <a:xfrm>
            <a:off x="1371600" y="3714750"/>
            <a:ext cx="6400800" cy="9144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smtClean="0"/>
              <a:t>Formatvorlage des Untertitelmasters durch Klicken bearbeiten</a:t>
            </a:r>
            <a:endParaRPr lang="en-US" dirty="0"/>
          </a:p>
        </p:txBody>
      </p:sp>
      <p:sp>
        <p:nvSpPr>
          <p:cNvPr id="7" name="Date Placeholder 6"/>
          <p:cNvSpPr>
            <a:spLocks noGrp="1"/>
          </p:cNvSpPr>
          <p:nvPr>
            <p:ph type="dt" sz="half" idx="10"/>
          </p:nvPr>
        </p:nvSpPr>
        <p:spPr/>
        <p:txBody>
          <a:bodyPr/>
          <a:lstStyle/>
          <a:p>
            <a:fld id="{7D0065BE-0657-4A47-90AD-C21C55E16B19}" type="datetime4">
              <a:rPr lang="en-US" smtClean="0"/>
              <a:pPr/>
              <a:t>December 22, 2025</a:t>
            </a:fld>
            <a:endParaRPr lang="en-US"/>
          </a:p>
        </p:txBody>
      </p:sp>
      <p:sp>
        <p:nvSpPr>
          <p:cNvPr id="8" name="Slide Number Placeholder 7"/>
          <p:cNvSpPr>
            <a:spLocks noGrp="1"/>
          </p:cNvSpPr>
          <p:nvPr>
            <p:ph type="sldNum" sz="quarter" idx="11"/>
          </p:nvPr>
        </p:nvSpPr>
        <p:spPr/>
        <p:txBody>
          <a:bodyPr/>
          <a:lstStyle/>
          <a:p>
            <a:fld id="{2754ED01-E2A0-4C1E-8E21-014B99041579}" type="slidenum">
              <a:rPr lang="en-US" smtClean="0"/>
              <a:pPr/>
              <a:t>‹Nr.›</a:t>
            </a:fld>
            <a:endParaRPr lang="en-US"/>
          </a:p>
        </p:txBody>
      </p:sp>
      <p:sp>
        <p:nvSpPr>
          <p:cNvPr id="9" name="Footer Placeholder 8"/>
          <p:cNvSpPr>
            <a:spLocks noGrp="1"/>
          </p:cNvSpPr>
          <p:nvPr>
            <p:ph type="ftr" sz="quarter" idx="12"/>
          </p:nvPr>
        </p:nvSpPr>
        <p:spPr/>
        <p:txBody>
          <a:bodyP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smtClean="0"/>
              <a:t>Titelmasterformat durch Klicken bearbeiten</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smtClean="0"/>
          </a:p>
        </p:txBody>
      </p:sp>
      <p:sp>
        <p:nvSpPr>
          <p:cNvPr id="4" name="Date Placeholder 3"/>
          <p:cNvSpPr>
            <a:spLocks noGrp="1"/>
          </p:cNvSpPr>
          <p:nvPr>
            <p:ph type="dt" sz="half" idx="10"/>
          </p:nvPr>
        </p:nvSpPr>
        <p:spPr/>
        <p:txBody>
          <a:bodyPr/>
          <a:lstStyle/>
          <a:p>
            <a:fld id="{D47BB8AF-C16A-4836-A92D-61834B5F0BA5}" type="datetime4">
              <a:rPr lang="en-US" smtClean="0"/>
              <a:pPr/>
              <a:t>December 22, 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54ED01-E2A0-4C1E-8E21-014B99041579}" type="slidenum">
              <a:rPr lang="en-US" smtClean="0"/>
              <a:pPr/>
              <a:t>‹Nr.›</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722313" y="1028701"/>
            <a:ext cx="7772400" cy="1878806"/>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de-DE" smtClean="0"/>
              <a:t>Titelmasterformat durch Klicken bearbeiten</a:t>
            </a:r>
            <a:endParaRPr lang="en-US" dirty="0"/>
          </a:p>
        </p:txBody>
      </p:sp>
      <p:sp>
        <p:nvSpPr>
          <p:cNvPr id="3" name="Text Placeholder 2"/>
          <p:cNvSpPr>
            <a:spLocks noGrp="1"/>
          </p:cNvSpPr>
          <p:nvPr>
            <p:ph type="body" idx="1"/>
          </p:nvPr>
        </p:nvSpPr>
        <p:spPr>
          <a:xfrm>
            <a:off x="722313" y="3051573"/>
            <a:ext cx="7772400" cy="848915"/>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de-DE" smtClean="0"/>
              <a:t>Textmasterformat bearbeiten</a:t>
            </a:r>
          </a:p>
        </p:txBody>
      </p:sp>
      <p:sp>
        <p:nvSpPr>
          <p:cNvPr id="4" name="Date Placeholder 3"/>
          <p:cNvSpPr>
            <a:spLocks noGrp="1"/>
          </p:cNvSpPr>
          <p:nvPr>
            <p:ph type="dt" sz="half" idx="10"/>
          </p:nvPr>
        </p:nvSpPr>
        <p:spPr/>
        <p:txBody>
          <a:bodyPr/>
          <a:lstStyle/>
          <a:p>
            <a:fld id="{647D2193-4505-4A75-99BB-880C6989A757}" type="datetime4">
              <a:rPr lang="en-US" smtClean="0"/>
              <a:pPr/>
              <a:t>December 22, 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54ED01-E2A0-4C1E-8E21-014B99041579}" type="slidenum">
              <a:rPr lang="en-US" smtClean="0"/>
              <a:pPr/>
              <a:t>‹Nr.›</a:t>
            </a:fld>
            <a:endParaRPr lang="en-US"/>
          </a:p>
        </p:txBody>
      </p:sp>
      <p:sp>
        <p:nvSpPr>
          <p:cNvPr id="7" name="Oval 6"/>
          <p:cNvSpPr/>
          <p:nvPr/>
        </p:nvSpPr>
        <p:spPr>
          <a:xfrm>
            <a:off x="4495800" y="2943225"/>
            <a:ext cx="84772" cy="63579"/>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695825" y="2943225"/>
            <a:ext cx="84772" cy="63579"/>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4296728" y="2943225"/>
            <a:ext cx="84772" cy="63579"/>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smtClean="0"/>
              <a:t>Titelmasterformat durch Klicken bearbeiten</a:t>
            </a:r>
            <a:endParaRPr lang="en-US"/>
          </a:p>
        </p:txBody>
      </p:sp>
      <p:sp>
        <p:nvSpPr>
          <p:cNvPr id="4" name="Content Placeholder 3"/>
          <p:cNvSpPr>
            <a:spLocks noGrp="1"/>
          </p:cNvSpPr>
          <p:nvPr>
            <p:ph sz="half" idx="2"/>
          </p:nvPr>
        </p:nvSpPr>
        <p:spPr>
          <a:xfrm>
            <a:off x="4648200" y="1200151"/>
            <a:ext cx="4038600" cy="3394472"/>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smtClean="0"/>
          </a:p>
        </p:txBody>
      </p:sp>
      <p:sp>
        <p:nvSpPr>
          <p:cNvPr id="5" name="Date Placeholder 4"/>
          <p:cNvSpPr>
            <a:spLocks noGrp="1"/>
          </p:cNvSpPr>
          <p:nvPr>
            <p:ph type="dt" sz="half" idx="10"/>
          </p:nvPr>
        </p:nvSpPr>
        <p:spPr/>
        <p:txBody>
          <a:bodyPr/>
          <a:lstStyle/>
          <a:p>
            <a:fld id="{113A18F4-33C3-445B-924C-31108C51719C}" type="datetime4">
              <a:rPr lang="en-US" smtClean="0"/>
              <a:pPr/>
              <a:t>December 22, 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54ED01-E2A0-4C1E-8E21-014B99041579}" type="slidenum">
              <a:rPr lang="en-US" smtClean="0"/>
              <a:pPr/>
              <a:t>‹Nr.›</a:t>
            </a:fld>
            <a:endParaRPr lang="en-US"/>
          </a:p>
        </p:txBody>
      </p:sp>
      <p:sp>
        <p:nvSpPr>
          <p:cNvPr id="9" name="Content Placeholder 8"/>
          <p:cNvSpPr>
            <a:spLocks noGrp="1"/>
          </p:cNvSpPr>
          <p:nvPr>
            <p:ph sz="quarter" idx="13"/>
          </p:nvPr>
        </p:nvSpPr>
        <p:spPr>
          <a:xfrm>
            <a:off x="365760" y="1200150"/>
            <a:ext cx="4041648" cy="3394710"/>
          </a:xfrm>
        </p:spPr>
        <p:txBody>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de-DE" smtClean="0"/>
              <a:t>Titelmasterformat durch Klicken bearbeiten</a:t>
            </a:r>
            <a:endParaRPr lang="en-US"/>
          </a:p>
        </p:txBody>
      </p:sp>
      <p:sp>
        <p:nvSpPr>
          <p:cNvPr id="3" name="Text Placeholder 2"/>
          <p:cNvSpPr>
            <a:spLocks noGrp="1"/>
          </p:cNvSpPr>
          <p:nvPr>
            <p:ph type="body" idx="1"/>
          </p:nvPr>
        </p:nvSpPr>
        <p:spPr>
          <a:xfrm>
            <a:off x="457200" y="1200150"/>
            <a:ext cx="4040188" cy="4572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Textmasterformat bearbeiten</a:t>
            </a:r>
          </a:p>
        </p:txBody>
      </p:sp>
      <p:sp>
        <p:nvSpPr>
          <p:cNvPr id="5" name="Text Placeholder 4"/>
          <p:cNvSpPr>
            <a:spLocks noGrp="1"/>
          </p:cNvSpPr>
          <p:nvPr>
            <p:ph type="body" sz="quarter" idx="3"/>
          </p:nvPr>
        </p:nvSpPr>
        <p:spPr>
          <a:xfrm>
            <a:off x="4648201" y="1200150"/>
            <a:ext cx="4041775" cy="4572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Textmasterformat bearbeiten</a:t>
            </a:r>
          </a:p>
        </p:txBody>
      </p:sp>
      <p:sp>
        <p:nvSpPr>
          <p:cNvPr id="7" name="Date Placeholder 6"/>
          <p:cNvSpPr>
            <a:spLocks noGrp="1"/>
          </p:cNvSpPr>
          <p:nvPr>
            <p:ph type="dt" sz="half" idx="10"/>
          </p:nvPr>
        </p:nvSpPr>
        <p:spPr/>
        <p:txBody>
          <a:bodyPr/>
          <a:lstStyle/>
          <a:p>
            <a:fld id="{3AF7543A-E259-478F-9E0D-57BA40E442B7}" type="datetime4">
              <a:rPr lang="en-US" smtClean="0"/>
              <a:pPr/>
              <a:t>December 22, 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754ED01-E2A0-4C1E-8E21-014B99041579}" type="slidenum">
              <a:rPr lang="en-US" smtClean="0"/>
              <a:pPr/>
              <a:t>‹Nr.›</a:t>
            </a:fld>
            <a:endParaRPr lang="en-US"/>
          </a:p>
        </p:txBody>
      </p:sp>
      <p:sp>
        <p:nvSpPr>
          <p:cNvPr id="11" name="Content Placeholder 10"/>
          <p:cNvSpPr>
            <a:spLocks noGrp="1"/>
          </p:cNvSpPr>
          <p:nvPr>
            <p:ph sz="quarter" idx="13"/>
          </p:nvPr>
        </p:nvSpPr>
        <p:spPr>
          <a:xfrm>
            <a:off x="457200" y="1659636"/>
            <a:ext cx="4041648" cy="2935224"/>
          </a:xfrm>
        </p:spPr>
        <p:txBody>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a:p>
        </p:txBody>
      </p:sp>
      <p:sp>
        <p:nvSpPr>
          <p:cNvPr id="13" name="Content Placeholder 12"/>
          <p:cNvSpPr>
            <a:spLocks noGrp="1"/>
          </p:cNvSpPr>
          <p:nvPr>
            <p:ph sz="quarter" idx="14"/>
          </p:nvPr>
        </p:nvSpPr>
        <p:spPr>
          <a:xfrm>
            <a:off x="4672584" y="1659637"/>
            <a:ext cx="4041648" cy="2934890"/>
          </a:xfrm>
        </p:spPr>
        <p:txBody>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smtClean="0"/>
              <a:t>Titelmasterformat durch Klicken bearbeiten</a:t>
            </a:r>
            <a:endParaRPr lang="en-US" dirty="0"/>
          </a:p>
        </p:txBody>
      </p:sp>
      <p:sp>
        <p:nvSpPr>
          <p:cNvPr id="3" name="Date Placeholder 2"/>
          <p:cNvSpPr>
            <a:spLocks noGrp="1"/>
          </p:cNvSpPr>
          <p:nvPr>
            <p:ph type="dt" sz="half" idx="10"/>
          </p:nvPr>
        </p:nvSpPr>
        <p:spPr/>
        <p:txBody>
          <a:bodyPr/>
          <a:lstStyle/>
          <a:p>
            <a:fld id="{1EFB012D-77A1-44B0-BB26-329BA1EE55C9}" type="datetime4">
              <a:rPr lang="en-US" smtClean="0"/>
              <a:pPr/>
              <a:t>December 22, 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754ED01-E2A0-4C1E-8E21-014B99041579}" type="slidenum">
              <a:rPr lang="en-US" smtClean="0"/>
              <a:pPr/>
              <a:t>‹Nr.›</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4B7499E-3031-413E-B01E-B94970708CAA}" type="datetime4">
              <a:rPr lang="en-US" smtClean="0"/>
              <a:pPr/>
              <a:t>December 22, 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754ED01-E2A0-4C1E-8E21-014B99041579}" type="slidenum">
              <a:rPr lang="en-US" smtClean="0"/>
              <a:pPr/>
              <a:t>‹Nr.›</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5907088" y="200025"/>
            <a:ext cx="3008313" cy="1571625"/>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de-DE" smtClean="0"/>
              <a:t>Titelmasterformat durch Klicken bearbeiten</a:t>
            </a:r>
            <a:endParaRPr lang="en-US" dirty="0"/>
          </a:p>
        </p:txBody>
      </p:sp>
      <p:sp>
        <p:nvSpPr>
          <p:cNvPr id="3" name="Content Placeholder 2"/>
          <p:cNvSpPr>
            <a:spLocks noGrp="1"/>
          </p:cNvSpPr>
          <p:nvPr>
            <p:ph idx="1"/>
          </p:nvPr>
        </p:nvSpPr>
        <p:spPr>
          <a:xfrm>
            <a:off x="719138" y="204788"/>
            <a:ext cx="4995863"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a:p>
        </p:txBody>
      </p:sp>
      <p:sp>
        <p:nvSpPr>
          <p:cNvPr id="4" name="Text Placeholder 3"/>
          <p:cNvSpPr>
            <a:spLocks noGrp="1"/>
          </p:cNvSpPr>
          <p:nvPr>
            <p:ph type="body" sz="half" idx="2"/>
          </p:nvPr>
        </p:nvSpPr>
        <p:spPr>
          <a:xfrm>
            <a:off x="5907088" y="1828801"/>
            <a:ext cx="3008313" cy="2765822"/>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smtClean="0"/>
              <a:t>Textmasterformat bearbeiten</a:t>
            </a:r>
          </a:p>
        </p:txBody>
      </p:sp>
      <p:sp>
        <p:nvSpPr>
          <p:cNvPr id="5" name="Date Placeholder 4"/>
          <p:cNvSpPr>
            <a:spLocks noGrp="1"/>
          </p:cNvSpPr>
          <p:nvPr>
            <p:ph type="dt" sz="half" idx="10"/>
          </p:nvPr>
        </p:nvSpPr>
        <p:spPr/>
        <p:txBody>
          <a:bodyPr/>
          <a:lstStyle/>
          <a:p>
            <a:fld id="{DC7EAB0C-2220-4D0E-A0DD-DB7FA0F742F4}" type="datetime4">
              <a:rPr lang="en-US" smtClean="0"/>
              <a:pPr/>
              <a:t>December 22, 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754ED01-E2A0-4C1E-8E21-014B99041579}" type="slidenum">
              <a:rPr lang="en-US" smtClean="0"/>
              <a:pPr/>
              <a:t>‹Nr.›</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1679576" y="171450"/>
            <a:ext cx="5711824" cy="671513"/>
          </a:xfrm>
        </p:spPr>
        <p:txBody>
          <a:bodyPr anchor="b"/>
          <a:lstStyle>
            <a:lvl1pPr algn="ctr">
              <a:lnSpc>
                <a:spcPct val="100000"/>
              </a:lnSpc>
              <a:defRPr sz="2800" b="0"/>
            </a:lvl1pPr>
          </a:lstStyle>
          <a:p>
            <a:r>
              <a:rPr lang="de-DE" smtClean="0"/>
              <a:t>Titelmasterformat durch Klicken bearbeiten</a:t>
            </a:r>
            <a:endParaRPr lang="en-US" dirty="0"/>
          </a:p>
        </p:txBody>
      </p:sp>
      <p:sp>
        <p:nvSpPr>
          <p:cNvPr id="3" name="Picture Placeholder 2"/>
          <p:cNvSpPr>
            <a:spLocks noGrp="1"/>
          </p:cNvSpPr>
          <p:nvPr>
            <p:ph type="pic" idx="1"/>
          </p:nvPr>
        </p:nvSpPr>
        <p:spPr>
          <a:xfrm>
            <a:off x="1508126" y="857250"/>
            <a:ext cx="6054724" cy="3405783"/>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smtClean="0"/>
              <a:t>Bild durch Klicken auf Symbol hinzufügen</a:t>
            </a:r>
            <a:endParaRPr lang="en-US" dirty="0"/>
          </a:p>
        </p:txBody>
      </p:sp>
      <p:sp>
        <p:nvSpPr>
          <p:cNvPr id="4" name="Text Placeholder 3"/>
          <p:cNvSpPr>
            <a:spLocks noGrp="1"/>
          </p:cNvSpPr>
          <p:nvPr>
            <p:ph type="body" sz="half" idx="2"/>
          </p:nvPr>
        </p:nvSpPr>
        <p:spPr>
          <a:xfrm>
            <a:off x="1679576" y="4357688"/>
            <a:ext cx="5711824" cy="40005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smtClean="0"/>
              <a:t>Textmasterformat bearbeiten</a:t>
            </a:r>
          </a:p>
        </p:txBody>
      </p:sp>
      <p:sp>
        <p:nvSpPr>
          <p:cNvPr id="5" name="Date Placeholder 4"/>
          <p:cNvSpPr>
            <a:spLocks noGrp="1"/>
          </p:cNvSpPr>
          <p:nvPr>
            <p:ph type="dt" sz="half" idx="10"/>
          </p:nvPr>
        </p:nvSpPr>
        <p:spPr/>
        <p:txBody>
          <a:bodyPr/>
          <a:lstStyle/>
          <a:p>
            <a:fld id="{E3416D63-31BF-4B94-B6C5-E20B2C63F515}" type="datetime4">
              <a:rPr lang="en-US" smtClean="0"/>
              <a:pPr/>
              <a:t>December 22, 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54ED01-E2A0-4C1E-8E21-014B99041579}" type="slidenum">
              <a:rPr lang="en-US" smtClean="0"/>
              <a:pPr/>
              <a:t>‹Nr.›</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smtClean="0"/>
              <a:t>Titelmasterformat durch Klicken bearbeiten</a:t>
            </a:r>
            <a:endParaRPr lang="en-US" dirty="0"/>
          </a:p>
        </p:txBody>
      </p:sp>
      <p:sp>
        <p:nvSpPr>
          <p:cNvPr id="3" name="Vertical Text Placeholder 2"/>
          <p:cNvSpPr>
            <a:spLocks noGrp="1"/>
          </p:cNvSpPr>
          <p:nvPr>
            <p:ph type="body" orient="vert" idx="1"/>
          </p:nvPr>
        </p:nvSpPr>
        <p:spPr/>
        <p:txBody>
          <a:bodyPr vert="eaVert"/>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a:p>
        </p:txBody>
      </p:sp>
      <p:sp>
        <p:nvSpPr>
          <p:cNvPr id="4" name="Date Placeholder 3"/>
          <p:cNvSpPr>
            <a:spLocks noGrp="1"/>
          </p:cNvSpPr>
          <p:nvPr>
            <p:ph type="dt" sz="half" idx="10"/>
          </p:nvPr>
        </p:nvSpPr>
        <p:spPr/>
        <p:txBody>
          <a:bodyPr/>
          <a:lstStyle/>
          <a:p>
            <a:fld id="{A16C3AA4-67BE-44F7-809A-3582401494AF}" type="datetime4">
              <a:rPr lang="en-US" smtClean="0"/>
              <a:pPr/>
              <a:t>December 22, 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54ED01-E2A0-4C1E-8E21-014B99041579}" type="slidenum">
              <a:rPr lang="en-US" smtClean="0"/>
              <a:pPr/>
              <a:t>‹Nr.›</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de-DE" smtClean="0"/>
              <a:t>Titelmasterformat durch Klicken bearbeiten</a:t>
            </a:r>
            <a:endParaRPr lang="en-US" dirty="0"/>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a:p>
        </p:txBody>
      </p:sp>
      <p:sp>
        <p:nvSpPr>
          <p:cNvPr id="4" name="Date Placeholder 3"/>
          <p:cNvSpPr>
            <a:spLocks noGrp="1"/>
          </p:cNvSpPr>
          <p:nvPr>
            <p:ph type="dt" sz="half" idx="10"/>
          </p:nvPr>
        </p:nvSpPr>
        <p:spPr/>
        <p:txBody>
          <a:bodyPr/>
          <a:lstStyle/>
          <a:p>
            <a:fld id="{25172EEB-1769-4776-AD69-E7C1260563EB}" type="datetime4">
              <a:rPr lang="en-US" smtClean="0"/>
              <a:pPr/>
              <a:t>December 22, 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54ED01-E2A0-4C1E-8E21-014B99041579}" type="slidenum">
              <a:rPr lang="en-US" smtClean="0"/>
              <a:pPr/>
              <a:t>‹Nr.›</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685800" y="1597821"/>
            <a:ext cx="7772400" cy="1102519"/>
          </a:xfrm>
        </p:spPr>
        <p:txBody>
          <a:bodyPr/>
          <a:lstStyle/>
          <a:p>
            <a:r>
              <a:rPr lang="de-DE" smtClean="0"/>
              <a:t>Titelmasterformat durch Klicken bearbeiten</a:t>
            </a:r>
            <a:endParaRPr lang="de-DE"/>
          </a:p>
        </p:txBody>
      </p:sp>
      <p:sp>
        <p:nvSpPr>
          <p:cNvPr id="3" name="Untertitel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smtClean="0"/>
              <a:t>Formatvorlage des Untertitelmasters durch Klicken bearbeiten</a:t>
            </a:r>
            <a:endParaRPr lang="de-DE"/>
          </a:p>
        </p:txBody>
      </p:sp>
      <p:sp>
        <p:nvSpPr>
          <p:cNvPr id="4" name="Datumsplatzhalter 3"/>
          <p:cNvSpPr>
            <a:spLocks noGrp="1"/>
          </p:cNvSpPr>
          <p:nvPr>
            <p:ph type="dt" sz="half" idx="10"/>
          </p:nvPr>
        </p:nvSpPr>
        <p:spPr/>
        <p:txBody>
          <a:bodyPr/>
          <a:lstStyle/>
          <a:p>
            <a:fld id="{7D0065BE-0657-4A47-90AD-C21C55E16B19}" type="datetime4">
              <a:rPr lang="en-US" smtClean="0"/>
              <a:pPr/>
              <a:t>December 22, 2025</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19449514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Inhaltsplatzhalter 2"/>
          <p:cNvSpPr>
            <a:spLocks noGrp="1"/>
          </p:cNvSpPr>
          <p:nvPr>
            <p:ph idx="1"/>
          </p:nvPr>
        </p:nvSpPr>
        <p:spPr/>
        <p:txBody>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10"/>
          </p:nvPr>
        </p:nvSpPr>
        <p:spPr/>
        <p:txBody>
          <a:bodyPr/>
          <a:lstStyle/>
          <a:p>
            <a:fld id="{D47BB8AF-C16A-4836-A92D-61834B5F0BA5}" type="datetime4">
              <a:rPr lang="en-US" smtClean="0"/>
              <a:pPr/>
              <a:t>December 22, 2025</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37500024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22313" y="3305176"/>
            <a:ext cx="7772400" cy="1021556"/>
          </a:xfrm>
        </p:spPr>
        <p:txBody>
          <a:bodyPr anchor="t"/>
          <a:lstStyle>
            <a:lvl1pPr algn="l">
              <a:defRPr sz="4000" b="1" cap="all"/>
            </a:lvl1pPr>
          </a:lstStyle>
          <a:p>
            <a:r>
              <a:rPr lang="de-DE" smtClean="0"/>
              <a:t>Titelmasterformat durch Klicken bearbeiten</a:t>
            </a:r>
            <a:endParaRPr lang="de-DE"/>
          </a:p>
        </p:txBody>
      </p:sp>
      <p:sp>
        <p:nvSpPr>
          <p:cNvPr id="3" name="Textplatzhalt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de-DE" smtClean="0"/>
              <a:t>Textmasterformat bearbeiten</a:t>
            </a:r>
          </a:p>
        </p:txBody>
      </p:sp>
      <p:sp>
        <p:nvSpPr>
          <p:cNvPr id="4" name="Datumsplatzhalter 3"/>
          <p:cNvSpPr>
            <a:spLocks noGrp="1"/>
          </p:cNvSpPr>
          <p:nvPr>
            <p:ph type="dt" sz="half" idx="10"/>
          </p:nvPr>
        </p:nvSpPr>
        <p:spPr/>
        <p:txBody>
          <a:bodyPr/>
          <a:lstStyle/>
          <a:p>
            <a:fld id="{647D2193-4505-4A75-99BB-880C6989A757}" type="datetime4">
              <a:rPr lang="en-US" smtClean="0"/>
              <a:pPr/>
              <a:t>December 22, 2025</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20653613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Inhaltsplatzhalter 2"/>
          <p:cNvSpPr>
            <a:spLocks noGrp="1"/>
          </p:cNvSpPr>
          <p:nvPr>
            <p:ph sz="half" idx="1"/>
          </p:nvPr>
        </p:nvSpPr>
        <p:spPr>
          <a:xfrm>
            <a:off x="457200" y="900115"/>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Inhaltsplatzhalter 3"/>
          <p:cNvSpPr>
            <a:spLocks noGrp="1"/>
          </p:cNvSpPr>
          <p:nvPr>
            <p:ph sz="half" idx="2"/>
          </p:nvPr>
        </p:nvSpPr>
        <p:spPr>
          <a:xfrm>
            <a:off x="4648200" y="900115"/>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5" name="Datumsplatzhalter 4"/>
          <p:cNvSpPr>
            <a:spLocks noGrp="1"/>
          </p:cNvSpPr>
          <p:nvPr>
            <p:ph type="dt" sz="half" idx="10"/>
          </p:nvPr>
        </p:nvSpPr>
        <p:spPr/>
        <p:txBody>
          <a:bodyPr/>
          <a:lstStyle/>
          <a:p>
            <a:fld id="{113A18F4-33C3-445B-924C-31108C51719C}" type="datetime4">
              <a:rPr lang="en-US" smtClean="0"/>
              <a:pPr/>
              <a:t>December 22, 2025</a:t>
            </a:fld>
            <a:endParaRPr lang="en-US"/>
          </a:p>
        </p:txBody>
      </p:sp>
      <p:sp>
        <p:nvSpPr>
          <p:cNvPr id="6" name="Fußzeilenplatzhalter 5"/>
          <p:cNvSpPr>
            <a:spLocks noGrp="1"/>
          </p:cNvSpPr>
          <p:nvPr>
            <p:ph type="ftr" sz="quarter" idx="11"/>
          </p:nvPr>
        </p:nvSpPr>
        <p:spPr/>
        <p:txBody>
          <a:bodyPr/>
          <a:lstStyle/>
          <a:p>
            <a:endParaRPr lang="en-US"/>
          </a:p>
        </p:txBody>
      </p:sp>
      <p:sp>
        <p:nvSpPr>
          <p:cNvPr id="7" name="Foliennummernplatzhalter 6"/>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1701199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457200" y="205979"/>
            <a:ext cx="8229600" cy="857250"/>
          </a:xfrm>
        </p:spPr>
        <p:txBody>
          <a:bodyPr/>
          <a:lstStyle>
            <a:lvl1pPr>
              <a:defRPr/>
            </a:lvl1pPr>
          </a:lstStyle>
          <a:p>
            <a:r>
              <a:rPr lang="de-DE" smtClean="0"/>
              <a:t>Titelmasterformat durch Klicken bearbeiten</a:t>
            </a:r>
            <a:endParaRPr lang="de-DE"/>
          </a:p>
        </p:txBody>
      </p:sp>
      <p:sp>
        <p:nvSpPr>
          <p:cNvPr id="3" name="Textplatzhalt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Textmasterformat bearbeiten</a:t>
            </a:r>
          </a:p>
        </p:txBody>
      </p:sp>
      <p:sp>
        <p:nvSpPr>
          <p:cNvPr id="4" name="Inhaltsplatzhalt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5" name="Textplatzhalter 4"/>
          <p:cNvSpPr>
            <a:spLocks noGrp="1"/>
          </p:cNvSpPr>
          <p:nvPr>
            <p:ph type="body" sz="quarter" idx="3"/>
          </p:nvPr>
        </p:nvSpPr>
        <p:spPr>
          <a:xfrm>
            <a:off x="4645030"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Textmasterformat bearbeiten</a:t>
            </a:r>
          </a:p>
        </p:txBody>
      </p:sp>
      <p:sp>
        <p:nvSpPr>
          <p:cNvPr id="6" name="Inhaltsplatzhalter 5"/>
          <p:cNvSpPr>
            <a:spLocks noGrp="1"/>
          </p:cNvSpPr>
          <p:nvPr>
            <p:ph sz="quarter" idx="4"/>
          </p:nvPr>
        </p:nvSpPr>
        <p:spPr>
          <a:xfrm>
            <a:off x="4645030"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7" name="Datumsplatzhalter 6"/>
          <p:cNvSpPr>
            <a:spLocks noGrp="1"/>
          </p:cNvSpPr>
          <p:nvPr>
            <p:ph type="dt" sz="half" idx="10"/>
          </p:nvPr>
        </p:nvSpPr>
        <p:spPr/>
        <p:txBody>
          <a:bodyPr/>
          <a:lstStyle/>
          <a:p>
            <a:fld id="{3AF7543A-E259-478F-9E0D-57BA40E442B7}" type="datetime4">
              <a:rPr lang="en-US" smtClean="0"/>
              <a:pPr/>
              <a:t>December 22, 2025</a:t>
            </a:fld>
            <a:endParaRPr lang="en-US"/>
          </a:p>
        </p:txBody>
      </p:sp>
      <p:sp>
        <p:nvSpPr>
          <p:cNvPr id="8" name="Fußzeilenplatzhalter 7"/>
          <p:cNvSpPr>
            <a:spLocks noGrp="1"/>
          </p:cNvSpPr>
          <p:nvPr>
            <p:ph type="ftr" sz="quarter" idx="11"/>
          </p:nvPr>
        </p:nvSpPr>
        <p:spPr/>
        <p:txBody>
          <a:bodyPr/>
          <a:lstStyle/>
          <a:p>
            <a:endParaRPr lang="en-US"/>
          </a:p>
        </p:txBody>
      </p:sp>
      <p:sp>
        <p:nvSpPr>
          <p:cNvPr id="9" name="Foliennummernplatzhalter 8"/>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11932573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Datumsplatzhalter 2"/>
          <p:cNvSpPr>
            <a:spLocks noGrp="1"/>
          </p:cNvSpPr>
          <p:nvPr>
            <p:ph type="dt" sz="half" idx="10"/>
          </p:nvPr>
        </p:nvSpPr>
        <p:spPr/>
        <p:txBody>
          <a:bodyPr/>
          <a:lstStyle/>
          <a:p>
            <a:fld id="{1EFB012D-77A1-44B0-BB26-329BA1EE55C9}" type="datetime4">
              <a:rPr lang="en-US" smtClean="0"/>
              <a:pPr/>
              <a:t>December 22, 2025</a:t>
            </a:fld>
            <a:endParaRPr lang="en-US"/>
          </a:p>
        </p:txBody>
      </p:sp>
      <p:sp>
        <p:nvSpPr>
          <p:cNvPr id="4" name="Fußzeilenplatzhalter 3"/>
          <p:cNvSpPr>
            <a:spLocks noGrp="1"/>
          </p:cNvSpPr>
          <p:nvPr>
            <p:ph type="ftr" sz="quarter" idx="11"/>
          </p:nvPr>
        </p:nvSpPr>
        <p:spPr/>
        <p:txBody>
          <a:bodyPr/>
          <a:lstStyle/>
          <a:p>
            <a:endParaRPr lang="en-US"/>
          </a:p>
        </p:txBody>
      </p:sp>
      <p:sp>
        <p:nvSpPr>
          <p:cNvPr id="5" name="Foliennummernplatzhalter 4"/>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11364532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94B7499E-3031-413E-B01E-B94970708CAA}" type="datetime4">
              <a:rPr lang="en-US" smtClean="0"/>
              <a:pPr/>
              <a:t>December 22, 2025</a:t>
            </a:fld>
            <a:endParaRPr lang="en-US"/>
          </a:p>
        </p:txBody>
      </p:sp>
      <p:sp>
        <p:nvSpPr>
          <p:cNvPr id="3" name="Fußzeilenplatzhalter 2"/>
          <p:cNvSpPr>
            <a:spLocks noGrp="1"/>
          </p:cNvSpPr>
          <p:nvPr>
            <p:ph type="ftr" sz="quarter" idx="11"/>
          </p:nvPr>
        </p:nvSpPr>
        <p:spPr/>
        <p:txBody>
          <a:bodyPr/>
          <a:lstStyle/>
          <a:p>
            <a:endParaRPr lang="en-US"/>
          </a:p>
        </p:txBody>
      </p:sp>
      <p:sp>
        <p:nvSpPr>
          <p:cNvPr id="4" name="Foliennummernplatzhalter 3"/>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32682146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457205" y="204787"/>
            <a:ext cx="3008313" cy="871538"/>
          </a:xfrm>
        </p:spPr>
        <p:txBody>
          <a:bodyPr anchor="b"/>
          <a:lstStyle>
            <a:lvl1pPr algn="l">
              <a:defRPr sz="2000" b="1"/>
            </a:lvl1pPr>
          </a:lstStyle>
          <a:p>
            <a:r>
              <a:rPr lang="de-DE" smtClean="0"/>
              <a:t>Titelmasterformat durch Klicken bearbeiten</a:t>
            </a:r>
            <a:endParaRPr lang="de-DE"/>
          </a:p>
        </p:txBody>
      </p:sp>
      <p:sp>
        <p:nvSpPr>
          <p:cNvPr id="3" name="Inhaltsplatzhalter 2"/>
          <p:cNvSpPr>
            <a:spLocks noGrp="1"/>
          </p:cNvSpPr>
          <p:nvPr>
            <p:ph idx="1"/>
          </p:nvPr>
        </p:nvSpPr>
        <p:spPr>
          <a:xfrm>
            <a:off x="3575050" y="204790"/>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Textplatzhalter 3"/>
          <p:cNvSpPr>
            <a:spLocks noGrp="1"/>
          </p:cNvSpPr>
          <p:nvPr>
            <p:ph type="body" sz="half" idx="2"/>
          </p:nvPr>
        </p:nvSpPr>
        <p:spPr>
          <a:xfrm>
            <a:off x="457205" y="1076328"/>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smtClean="0"/>
              <a:t>Textmasterformat bearbeiten</a:t>
            </a:r>
          </a:p>
        </p:txBody>
      </p:sp>
      <p:sp>
        <p:nvSpPr>
          <p:cNvPr id="5" name="Datumsplatzhalter 4"/>
          <p:cNvSpPr>
            <a:spLocks noGrp="1"/>
          </p:cNvSpPr>
          <p:nvPr>
            <p:ph type="dt" sz="half" idx="10"/>
          </p:nvPr>
        </p:nvSpPr>
        <p:spPr/>
        <p:txBody>
          <a:bodyPr/>
          <a:lstStyle/>
          <a:p>
            <a:fld id="{DC7EAB0C-2220-4D0E-A0DD-DB7FA0F742F4}" type="datetime4">
              <a:rPr lang="en-US" smtClean="0"/>
              <a:pPr/>
              <a:t>December 22, 2025</a:t>
            </a:fld>
            <a:endParaRPr lang="en-US"/>
          </a:p>
        </p:txBody>
      </p:sp>
      <p:sp>
        <p:nvSpPr>
          <p:cNvPr id="6" name="Fußzeilenplatzhalter 5"/>
          <p:cNvSpPr>
            <a:spLocks noGrp="1"/>
          </p:cNvSpPr>
          <p:nvPr>
            <p:ph type="ftr" sz="quarter" idx="11"/>
          </p:nvPr>
        </p:nvSpPr>
        <p:spPr/>
        <p:txBody>
          <a:bodyPr/>
          <a:lstStyle/>
          <a:p>
            <a:endParaRPr lang="en-US" dirty="0"/>
          </a:p>
        </p:txBody>
      </p:sp>
      <p:sp>
        <p:nvSpPr>
          <p:cNvPr id="7" name="Foliennummernplatzhalter 6"/>
          <p:cNvSpPr>
            <a:spLocks noGrp="1"/>
          </p:cNvSpPr>
          <p:nvPr>
            <p:ph type="sldNum" sz="quarter" idx="12"/>
          </p:nvPr>
        </p:nvSpPr>
        <p:spPr/>
        <p:txBody>
          <a:bodyPr/>
          <a:lstStyle/>
          <a:p>
            <a:fld id="{2754ED01-E2A0-4C1E-8E21-014B99041579}" type="slidenum">
              <a:rPr lang="en-US" smtClean="0"/>
              <a:pPr/>
              <a:t>‹Nr.›</a:t>
            </a:fld>
            <a:endParaRPr lang="en-US" dirty="0"/>
          </a:p>
        </p:txBody>
      </p:sp>
    </p:spTree>
    <p:extLst>
      <p:ext uri="{BB962C8B-B14F-4D97-AF65-F5344CB8AC3E}">
        <p14:creationId xmlns:p14="http://schemas.microsoft.com/office/powerpoint/2010/main" val="37481872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1792288" y="3600451"/>
            <a:ext cx="5486400" cy="425054"/>
          </a:xfrm>
        </p:spPr>
        <p:txBody>
          <a:bodyPr anchor="b"/>
          <a:lstStyle>
            <a:lvl1pPr algn="l">
              <a:defRPr sz="2000" b="1"/>
            </a:lvl1pPr>
          </a:lstStyle>
          <a:p>
            <a:r>
              <a:rPr lang="de-DE" smtClean="0"/>
              <a:t>Titelmasterformat durch Klicken bearbeiten</a:t>
            </a:r>
            <a:endParaRPr lang="de-DE"/>
          </a:p>
        </p:txBody>
      </p:sp>
      <p:sp>
        <p:nvSpPr>
          <p:cNvPr id="3" name="Bildplatzhalt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p:cNvSpPr>
            <a:spLocks noGrp="1"/>
          </p:cNvSpPr>
          <p:nvPr>
            <p:ph type="body" sz="half" idx="2"/>
          </p:nvPr>
        </p:nvSpPr>
        <p:spPr>
          <a:xfrm>
            <a:off x="1792288" y="4025505"/>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smtClean="0"/>
              <a:t>Textmasterformat bearbeiten</a:t>
            </a:r>
          </a:p>
        </p:txBody>
      </p:sp>
      <p:sp>
        <p:nvSpPr>
          <p:cNvPr id="5" name="Datumsplatzhalter 4"/>
          <p:cNvSpPr>
            <a:spLocks noGrp="1"/>
          </p:cNvSpPr>
          <p:nvPr>
            <p:ph type="dt" sz="half" idx="10"/>
          </p:nvPr>
        </p:nvSpPr>
        <p:spPr/>
        <p:txBody>
          <a:bodyPr/>
          <a:lstStyle/>
          <a:p>
            <a:fld id="{E3416D63-31BF-4B94-B6C5-E20B2C63F515}" type="datetime4">
              <a:rPr lang="en-US" smtClean="0"/>
              <a:pPr/>
              <a:t>December 22, 2025</a:t>
            </a:fld>
            <a:endParaRPr lang="en-US"/>
          </a:p>
        </p:txBody>
      </p:sp>
      <p:sp>
        <p:nvSpPr>
          <p:cNvPr id="6" name="Fußzeilenplatzhalter 5"/>
          <p:cNvSpPr>
            <a:spLocks noGrp="1"/>
          </p:cNvSpPr>
          <p:nvPr>
            <p:ph type="ftr" sz="quarter" idx="11"/>
          </p:nvPr>
        </p:nvSpPr>
        <p:spPr/>
        <p:txBody>
          <a:bodyPr/>
          <a:lstStyle/>
          <a:p>
            <a:endParaRPr lang="en-US"/>
          </a:p>
        </p:txBody>
      </p:sp>
      <p:sp>
        <p:nvSpPr>
          <p:cNvPr id="7" name="Foliennummernplatzhalter 6"/>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11421565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Vertikaler Textplatzhalter 2"/>
          <p:cNvSpPr>
            <a:spLocks noGrp="1"/>
          </p:cNvSpPr>
          <p:nvPr>
            <p:ph type="body" orient="vert" idx="1"/>
          </p:nvPr>
        </p:nvSpPr>
        <p:spPr/>
        <p:txBody>
          <a:bodyPr vert="eaVert"/>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10"/>
          </p:nvPr>
        </p:nvSpPr>
        <p:spPr/>
        <p:txBody>
          <a:bodyPr/>
          <a:lstStyle/>
          <a:p>
            <a:fld id="{A16C3AA4-67BE-44F7-809A-3582401494AF}" type="datetime4">
              <a:rPr lang="en-US" smtClean="0"/>
              <a:pPr/>
              <a:t>December 22, 2025</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83687969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6629400" y="154783"/>
            <a:ext cx="2057400" cy="3290888"/>
          </a:xfrm>
        </p:spPr>
        <p:txBody>
          <a:bodyPr vert="eaVert"/>
          <a:lstStyle/>
          <a:p>
            <a:r>
              <a:rPr lang="de-DE" smtClean="0"/>
              <a:t>Titelmasterformat durch Klicken bearbeiten</a:t>
            </a:r>
            <a:endParaRPr lang="de-DE"/>
          </a:p>
        </p:txBody>
      </p:sp>
      <p:sp>
        <p:nvSpPr>
          <p:cNvPr id="3" name="Vertikaler Textplatzhalter 2"/>
          <p:cNvSpPr>
            <a:spLocks noGrp="1"/>
          </p:cNvSpPr>
          <p:nvPr>
            <p:ph type="body" orient="vert" idx="1"/>
          </p:nvPr>
        </p:nvSpPr>
        <p:spPr>
          <a:xfrm>
            <a:off x="457200" y="154783"/>
            <a:ext cx="6019800" cy="3290888"/>
          </a:xfrm>
        </p:spPr>
        <p:txBody>
          <a:bodyPr vert="eaVert"/>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10"/>
          </p:nvPr>
        </p:nvSpPr>
        <p:spPr/>
        <p:txBody>
          <a:bodyPr/>
          <a:lstStyle/>
          <a:p>
            <a:fld id="{25172EEB-1769-4776-AD69-E7C1260563EB}" type="datetime4">
              <a:rPr lang="en-US" smtClean="0"/>
              <a:pPr/>
              <a:t>December 22, 2025</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19727874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200150"/>
          </a:xfrm>
          <a:prstGeom prst="rect">
            <a:avLst/>
          </a:prstGeom>
        </p:spPr>
        <p:txBody>
          <a:bodyPr vert="horz" lIns="91440" tIns="45720" rIns="91440" bIns="45720" rtlCol="0" anchor="b">
            <a:noAutofit/>
          </a:bodyPr>
          <a:lstStyle/>
          <a:p>
            <a:r>
              <a:rPr lang="de-DE" smtClean="0"/>
              <a:t>Titelmasterformat durch Klicken bearbeiten</a:t>
            </a:r>
            <a:endParaRPr lang="en-US" dirty="0"/>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smtClean="0"/>
          </a:p>
        </p:txBody>
      </p:sp>
      <p:sp>
        <p:nvSpPr>
          <p:cNvPr id="4" name="Date Placeholder 3"/>
          <p:cNvSpPr>
            <a:spLocks noGrp="1"/>
          </p:cNvSpPr>
          <p:nvPr>
            <p:ph type="dt" sz="half" idx="2"/>
          </p:nvPr>
        </p:nvSpPr>
        <p:spPr>
          <a:xfrm>
            <a:off x="6363348" y="4767263"/>
            <a:ext cx="2085975" cy="273844"/>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fld id="{62B1B13E-D5AF-485E-81A1-82A140076526}" type="datetime4">
              <a:rPr lang="en-US" smtClean="0"/>
              <a:pPr/>
              <a:t>December 22, 2025</a:t>
            </a:fld>
            <a:endParaRPr lang="en-US" dirty="0"/>
          </a:p>
        </p:txBody>
      </p:sp>
      <p:sp>
        <p:nvSpPr>
          <p:cNvPr id="5" name="Footer Placeholder 4"/>
          <p:cNvSpPr>
            <a:spLocks noGrp="1"/>
          </p:cNvSpPr>
          <p:nvPr>
            <p:ph type="ftr" sz="quarter" idx="3"/>
          </p:nvPr>
        </p:nvSpPr>
        <p:spPr>
          <a:xfrm>
            <a:off x="659166" y="4767263"/>
            <a:ext cx="2847975" cy="273844"/>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endParaRPr lang="en-US" dirty="0"/>
          </a:p>
        </p:txBody>
      </p:sp>
      <p:sp>
        <p:nvSpPr>
          <p:cNvPr id="6" name="Slide Number Placeholder 5"/>
          <p:cNvSpPr>
            <a:spLocks noGrp="1"/>
          </p:cNvSpPr>
          <p:nvPr>
            <p:ph type="sldNum" sz="quarter" idx="4"/>
          </p:nvPr>
        </p:nvSpPr>
        <p:spPr>
          <a:xfrm>
            <a:off x="8543279" y="4767263"/>
            <a:ext cx="561975" cy="273844"/>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fld id="{2754ED01-E2A0-4C1E-8E21-014B99041579}" type="slidenum">
              <a:rPr lang="en-US" smtClean="0"/>
              <a:pPr/>
              <a:t>‹Nr.›</a:t>
            </a:fld>
            <a:endParaRPr lang="en-US" dirty="0"/>
          </a:p>
        </p:txBody>
      </p:sp>
      <p:sp>
        <p:nvSpPr>
          <p:cNvPr id="7" name="Oval 6"/>
          <p:cNvSpPr/>
          <p:nvPr/>
        </p:nvSpPr>
        <p:spPr>
          <a:xfrm>
            <a:off x="8457760" y="4874538"/>
            <a:ext cx="84772" cy="63579"/>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569119" y="4874538"/>
            <a:ext cx="84772" cy="63579"/>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de-DE" smtClean="0"/>
              <a:t>Titelmasterformat durch Klicken bearbeiten</a:t>
            </a:r>
            <a:endParaRPr lang="de-DE"/>
          </a:p>
        </p:txBody>
      </p:sp>
      <p:sp>
        <p:nvSpPr>
          <p:cNvPr id="3" name="Textplatzhalt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62B1B13E-D5AF-485E-81A1-82A140076526}" type="datetime4">
              <a:rPr lang="en-US" smtClean="0"/>
              <a:pPr/>
              <a:t>December 22, 2025</a:t>
            </a:fld>
            <a:endParaRPr lang="en-US" dirty="0"/>
          </a:p>
        </p:txBody>
      </p:sp>
      <p:sp>
        <p:nvSpPr>
          <p:cNvPr id="5" name="Fußzeilenplatzhalt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Foliennummernplatzhalt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2754ED01-E2A0-4C1E-8E21-014B99041579}" type="slidenum">
              <a:rPr lang="en-US" smtClean="0"/>
              <a:pPr/>
              <a:t>‹Nr.›</a:t>
            </a:fld>
            <a:endParaRPr lang="en-US" dirty="0"/>
          </a:p>
        </p:txBody>
      </p:sp>
    </p:spTree>
    <p:extLst>
      <p:ext uri="{BB962C8B-B14F-4D97-AF65-F5344CB8AC3E}">
        <p14:creationId xmlns:p14="http://schemas.microsoft.com/office/powerpoint/2010/main" val="270359641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microsoft.com/office/2007/relationships/hdphoto" Target="../media/hdphoto1.wdp"/><Relationship Id="rId7"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2.xml"/><Relationship Id="rId5" Type="http://schemas.openxmlformats.org/officeDocument/2006/relationships/image" Target="../media/image12.png"/><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xml"/><Relationship Id="rId1" Type="http://schemas.openxmlformats.org/officeDocument/2006/relationships/slideLayout" Target="../slideLayouts/slideLayout12.xml"/><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2.xml"/><Relationship Id="rId5" Type="http://schemas.openxmlformats.org/officeDocument/2006/relationships/image" Target="../media/image25.emf"/><Relationship Id="rId4" Type="http://schemas.openxmlformats.org/officeDocument/2006/relationships/customXml" Target="../ink/ink1.xml"/></Relationships>
</file>

<file path=ppt/slides/_rels/slide1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29.emf"/><Relationship Id="rId4" Type="http://schemas.openxmlformats.org/officeDocument/2006/relationships/customXml" Target="../ink/ink2.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jpe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32.jpeg"/><Relationship Id="rId5" Type="http://schemas.openxmlformats.org/officeDocument/2006/relationships/image" Target="../media/image31.jpeg"/><Relationship Id="rId4" Type="http://schemas.microsoft.com/office/2007/relationships/hdphoto" Target="../media/hdphoto3.wdp"/></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microsoft.com/office/2007/relationships/hdphoto" Target="../media/hdphoto4.wdp"/></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2.xml"/><Relationship Id="rId5" Type="http://schemas.openxmlformats.org/officeDocument/2006/relationships/image" Target="../media/image36.emf"/><Relationship Id="rId4" Type="http://schemas.openxmlformats.org/officeDocument/2006/relationships/customXml" Target="../ink/ink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jpe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40.png"/><Relationship Id="rId1" Type="http://schemas.openxmlformats.org/officeDocument/2006/relationships/slideLayout" Target="../slideLayouts/slideLayout12.xml"/><Relationship Id="rId4" Type="http://schemas.openxmlformats.org/officeDocument/2006/relationships/image" Target="../media/image44.emf"/></Relationships>
</file>

<file path=ppt/slides/_rels/slide29.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42.png"/></Relationships>
</file>

<file path=ppt/slides/_rels/slide3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2.xml"/><Relationship Id="rId5" Type="http://schemas.openxmlformats.org/officeDocument/2006/relationships/image" Target="../media/image49.emf"/><Relationship Id="rId4" Type="http://schemas.openxmlformats.org/officeDocument/2006/relationships/customXml" Target="../ink/ink5.xml"/></Relationships>
</file>

<file path=ppt/slides/_rels/slide3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customXml" Target="../ink/ink6.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image" Target="../media/image49.png"/><Relationship Id="rId4" Type="http://schemas.openxmlformats.org/officeDocument/2006/relationships/image" Target="../media/image48.emf"/></Relationships>
</file>

<file path=ppt/slides/_rels/slide4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image" Target="../media/image51.gif"/><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12.xml"/><Relationship Id="rId5" Type="http://schemas.openxmlformats.org/officeDocument/2006/relationships/image" Target="../media/image61.emf"/><Relationship Id="rId4" Type="http://schemas.openxmlformats.org/officeDocument/2006/relationships/customXml" Target="../ink/ink8.xml"/></Relationships>
</file>

<file path=ppt/slides/_rels/slide4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12.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3" Type="http://schemas.openxmlformats.org/officeDocument/2006/relationships/image" Target="../media/image61.png"/><Relationship Id="rId7" Type="http://schemas.openxmlformats.org/officeDocument/2006/relationships/image" Target="../media/image65.pn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68.jpeg"/></Relationships>
</file>

<file path=ppt/slides/_rels/slide53.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12.xml"/><Relationship Id="rId5" Type="http://schemas.openxmlformats.org/officeDocument/2006/relationships/image" Target="../media/image73.png"/><Relationship Id="rId4" Type="http://schemas.openxmlformats.org/officeDocument/2006/relationships/image" Target="../media/image72.png"/></Relationships>
</file>

<file path=ppt/slides/_rels/slide55.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78.png"/><Relationship Id="rId5" Type="http://schemas.openxmlformats.org/officeDocument/2006/relationships/image" Target="../media/image77.png"/><Relationship Id="rId4" Type="http://schemas.openxmlformats.org/officeDocument/2006/relationships/image" Target="../media/image76.png"/></Relationships>
</file>

<file path=ppt/slides/_rels/slide57.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79.png"/></Relationships>
</file>

<file path=ppt/slides/_rels/slide58.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hristine Ladd-Franklin '1869 - Vassar Encyclopedia - Vassar ..."/>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0" b="100000" l="0" r="100000">
                        <a14:foregroundMark x1="31752" y1="39702" x2="32117" y2="42680"/>
                        <a14:foregroundMark x1="36131" y1="44913" x2="40146" y2="49628"/>
                        <a14:foregroundMark x1="53285" y1="43921" x2="57299" y2="39454"/>
                        <a14:foregroundMark x1="66423" y1="41191" x2="57664" y2="47146"/>
                        <a14:foregroundMark x1="57299" y1="50620" x2="60219" y2="52605"/>
                        <a14:foregroundMark x1="61679" y1="49628" x2="62044" y2="54342"/>
                        <a14:foregroundMark x1="64599" y1="55335" x2="81752" y2="63275"/>
                        <a14:foregroundMark x1="70803" y1="56824" x2="81752" y2="61042"/>
                        <a14:foregroundMark x1="48175" y1="59305" x2="23723" y2="78660"/>
                        <a14:foregroundMark x1="12774" y1="59553" x2="365" y2="69231"/>
                        <a14:foregroundMark x1="12774" y1="59305" x2="34307" y2="54342"/>
                        <a14:foregroundMark x1="34307" y1="54342" x2="37591" y2="51861"/>
                        <a14:foregroundMark x1="35401" y1="46898" x2="38321" y2="51365"/>
                        <a14:foregroundMark x1="89051" y1="64516" x2="95255" y2="74938"/>
                        <a14:foregroundMark x1="80657" y1="60546" x2="88686" y2="65012"/>
                        <a14:foregroundMark x1="91971" y1="70968" x2="96715" y2="76923"/>
                        <a14:foregroundMark x1="96715" y1="76923" x2="94161" y2="84864"/>
                        <a14:foregroundMark x1="96350" y1="85856" x2="89416" y2="90323"/>
                        <a14:foregroundMark x1="19343" y1="23325" x2="27007" y2="27543"/>
                        <a14:foregroundMark x1="21168" y1="22084" x2="20073" y2="16377"/>
                        <a14:foregroundMark x1="31387" y1="16377" x2="58029" y2="12159"/>
                        <a14:foregroundMark x1="63504" y1="11166" x2="72263" y2="17866"/>
                        <a14:foregroundMark x1="72263" y1="17866" x2="70073" y2="22829"/>
                        <a14:foregroundMark x1="74818" y1="13896" x2="79562" y2="27792"/>
                        <a14:foregroundMark x1="49270" y1="7692" x2="49270" y2="1489"/>
                        <a14:foregroundMark x1="44891" y1="10174" x2="29197" y2="8685"/>
                        <a14:foregroundMark x1="29562" y1="8933" x2="35036" y2="13400"/>
                        <a14:foregroundMark x1="33577" y1="13896" x2="27372" y2="18859"/>
                        <a14:foregroundMark x1="27372" y1="15136" x2="31022" y2="12159"/>
                        <a14:foregroundMark x1="54380" y1="10918" x2="67153" y2="11414"/>
                        <a14:foregroundMark x1="59489" y1="5955" x2="65693" y2="5211"/>
                        <a14:foregroundMark x1="54015" y1="7196" x2="59854" y2="7196"/>
                        <a14:foregroundMark x1="65328" y1="7196" x2="76642" y2="13648"/>
                        <a14:foregroundMark x1="76642" y1="13648" x2="78467" y2="22333"/>
                        <a14:foregroundMark x1="80292" y1="23573" x2="81387" y2="27792"/>
                        <a14:foregroundMark x1="81387" y1="29032" x2="71168" y2="26055"/>
                        <a14:foregroundMark x1="72263" y1="11414" x2="79927" y2="10918"/>
                        <a14:foregroundMark x1="76642" y1="8437" x2="78467" y2="14888"/>
                        <a14:foregroundMark x1="72993" y1="7692" x2="70073" y2="5955"/>
                        <a14:foregroundMark x1="96715" y1="86104" x2="95255" y2="99256"/>
                        <a14:foregroundMark x1="52190" y1="8189" x2="50730" y2="1985"/>
                        <a14:foregroundMark x1="53285" y1="2233" x2="54745" y2="8437"/>
                        <a14:foregroundMark x1="59854" y1="10918" x2="49270" y2="20099"/>
                        <a14:foregroundMark x1="36496" y1="5955" x2="49270" y2="3474"/>
                        <a14:foregroundMark x1="25912" y1="29280" x2="30292" y2="38462"/>
                        <a14:foregroundMark x1="20438" y1="15881" x2="27372" y2="11911"/>
                        <a14:backgroundMark x1="8394" y1="27543" x2="8394" y2="48635"/>
                        <a14:backgroundMark x1="17153" y1="31017" x2="24088" y2="46898"/>
                        <a14:backgroundMark x1="81387" y1="52109" x2="89051" y2="44665"/>
                        <a14:backgroundMark x1="95255" y1="65509" x2="96715" y2="75682"/>
                        <a14:backgroundMark x1="97445" y1="78412" x2="98540" y2="83623"/>
                        <a14:backgroundMark x1="98540" y1="83375" x2="98540" y2="89330"/>
                        <a14:backgroundMark x1="98540" y1="89330" x2="98540" y2="99007"/>
                        <a14:backgroundMark x1="9124" y1="5707" x2="10219" y2="20099"/>
                        <a14:backgroundMark x1="19343" y1="52357" x2="8394" y2="57816"/>
                        <a14:backgroundMark x1="17883" y1="11166" x2="21898" y2="5707"/>
                        <a14:backgroundMark x1="28832" y1="4715" x2="39781" y2="2233"/>
                        <a14:backgroundMark x1="41606" y1="1985" x2="43431" y2="1985"/>
                        <a14:backgroundMark x1="58394" y1="1985" x2="68978" y2="2233"/>
                        <a14:backgroundMark x1="66788" y1="3722" x2="57664" y2="3722"/>
                        <a14:backgroundMark x1="57664" y1="3722" x2="55839" y2="1241"/>
                        <a14:backgroundMark x1="52920" y1="993" x2="54745" y2="744"/>
                        <a14:backgroundMark x1="44891" y1="744" x2="54015" y2="993"/>
                      </a14:backgroundRemoval>
                    </a14:imgEffect>
                  </a14:imgLayer>
                </a14:imgProps>
              </a:ext>
              <a:ext uri="{28A0092B-C50C-407E-A947-70E740481C1C}">
                <a14:useLocalDpi xmlns:a14="http://schemas.microsoft.com/office/drawing/2010/main" val="0"/>
              </a:ext>
            </a:extLst>
          </a:blip>
          <a:srcRect/>
          <a:stretch>
            <a:fillRect/>
          </a:stretch>
        </p:blipFill>
        <p:spPr bwMode="auto">
          <a:xfrm flipH="1">
            <a:off x="-180528" y="943597"/>
            <a:ext cx="2885628" cy="4244192"/>
          </a:xfrm>
          <a:prstGeom prst="rect">
            <a:avLst/>
          </a:prstGeom>
          <a:noFill/>
          <a:effectLst>
            <a:glow rad="63500">
              <a:schemeClr val="accent6">
                <a:satMod val="175000"/>
                <a:alpha val="40000"/>
              </a:schemeClr>
            </a:glow>
            <a:softEdge rad="31750"/>
          </a:effectLst>
          <a:extLst>
            <a:ext uri="{909E8E84-426E-40DD-AFC4-6F175D3DCCD1}">
              <a14:hiddenFill xmlns:a14="http://schemas.microsoft.com/office/drawing/2010/main">
                <a:solidFill>
                  <a:srgbClr val="FFFFFF"/>
                </a:solidFill>
              </a14:hiddenFill>
            </a:ext>
          </a:extLst>
        </p:spPr>
      </p:pic>
      <p:sp>
        <p:nvSpPr>
          <p:cNvPr id="5" name="Rechteck 4"/>
          <p:cNvSpPr/>
          <p:nvPr/>
        </p:nvSpPr>
        <p:spPr>
          <a:xfrm>
            <a:off x="179512" y="51470"/>
            <a:ext cx="8856984" cy="1015663"/>
          </a:xfrm>
          <a:prstGeom prst="rect">
            <a:avLst/>
          </a:prstGeom>
        </p:spPr>
        <p:txBody>
          <a:bodyPr wrap="square">
            <a:spAutoFit/>
          </a:bodyPr>
          <a:lstStyle/>
          <a:p>
            <a:pPr algn="ctr"/>
            <a:r>
              <a:rPr lang="de-DE" sz="6000" b="1" dirty="0" smtClean="0"/>
              <a:t>Mathematische Notation</a:t>
            </a:r>
          </a:p>
        </p:txBody>
      </p:sp>
      <p:sp>
        <p:nvSpPr>
          <p:cNvPr id="3" name="Textfeld 2"/>
          <p:cNvSpPr txBox="1"/>
          <p:nvPr/>
        </p:nvSpPr>
        <p:spPr>
          <a:xfrm>
            <a:off x="2411760" y="915566"/>
            <a:ext cx="6408712" cy="723275"/>
          </a:xfrm>
          <a:prstGeom prst="rect">
            <a:avLst/>
          </a:prstGeom>
          <a:noFill/>
        </p:spPr>
        <p:txBody>
          <a:bodyPr wrap="square" rtlCol="0">
            <a:spAutoFit/>
          </a:bodyPr>
          <a:lstStyle/>
          <a:p>
            <a:r>
              <a:rPr lang="de-DE" sz="4100" dirty="0" smtClean="0">
                <a:solidFill>
                  <a:srgbClr val="FF0000"/>
                </a:solidFill>
              </a:rPr>
              <a:t>Philosophie &amp; Psychologie</a:t>
            </a:r>
            <a:endParaRPr lang="de-DE" sz="4100" dirty="0">
              <a:solidFill>
                <a:srgbClr val="FF0000"/>
              </a:solidFill>
            </a:endParaRPr>
          </a:p>
        </p:txBody>
      </p:sp>
      <p:pic>
        <p:nvPicPr>
          <p:cNvPr id="3082" name="Picture 10" descr="Figure 5 from Commutative Diagrams with X Y -pic II. Frames and Matrices |  Semantic Schola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211960" y="1835314"/>
            <a:ext cx="3312368" cy="3040692"/>
          </a:xfrm>
          <a:prstGeom prst="rect">
            <a:avLst/>
          </a:prstGeom>
          <a:noFill/>
          <a:extLst>
            <a:ext uri="{909E8E84-426E-40DD-AFC4-6F175D3DCCD1}">
              <a14:hiddenFill xmlns:a14="http://schemas.microsoft.com/office/drawing/2010/main">
                <a:solidFill>
                  <a:srgbClr val="FFFFFF"/>
                </a:solidFill>
              </a14:hiddenFill>
            </a:ext>
          </a:extLst>
        </p:spPr>
      </p:pic>
      <p:pic>
        <p:nvPicPr>
          <p:cNvPr id="3083" name="Picture 11"/>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705156" y="1851670"/>
            <a:ext cx="1259332" cy="1876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84" name="Picture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43808" y="1923678"/>
            <a:ext cx="1075675" cy="28738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85" name="Picture 13"/>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569865" y="1869951"/>
            <a:ext cx="561975"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86" name="Picture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29966" y="2715766"/>
            <a:ext cx="369826" cy="4507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87" name="Picture 15"/>
          <p:cNvPicPr>
            <a:picLocks noChangeAspect="1" noChangeArrowheads="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648897" y="3939902"/>
            <a:ext cx="1171575" cy="1019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577419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484" y="51470"/>
            <a:ext cx="3028468" cy="24329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0119" y="51470"/>
            <a:ext cx="3234249" cy="2448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512" y="2571750"/>
            <a:ext cx="5908788" cy="24467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92688" y="2643758"/>
            <a:ext cx="2915816" cy="2239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038465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hteck 5"/>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7" name="Textfeld 6"/>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Drei</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Phasen</a:t>
            </a:r>
            <a:r>
              <a:rPr lang="en-CA" sz="3200" dirty="0" smtClean="0">
                <a:solidFill>
                  <a:schemeClr val="bg1"/>
                </a:solidFill>
                <a:effectLst>
                  <a:outerShdw blurRad="38100" dist="38100" dir="2700000" algn="tl">
                    <a:srgbClr val="000000">
                      <a:alpha val="43137"/>
                    </a:srgbClr>
                  </a:outerShdw>
                </a:effectLst>
              </a:rPr>
              <a:t> der Notation</a:t>
            </a:r>
            <a:endParaRPr lang="en-CA" sz="3200" dirty="0">
              <a:solidFill>
                <a:schemeClr val="bg1"/>
              </a:solidFill>
              <a:effectLst>
                <a:outerShdw blurRad="38100" dist="38100" dir="2700000" algn="tl">
                  <a:srgbClr val="000000">
                    <a:alpha val="43137"/>
                  </a:srgbClr>
                </a:outerShdw>
              </a:effectLst>
            </a:endParaRPr>
          </a:p>
        </p:txBody>
      </p:sp>
      <p:sp>
        <p:nvSpPr>
          <p:cNvPr id="2" name="Textfeld 1"/>
          <p:cNvSpPr txBox="1"/>
          <p:nvPr/>
        </p:nvSpPr>
        <p:spPr>
          <a:xfrm>
            <a:off x="179512" y="628689"/>
            <a:ext cx="8856984" cy="4247317"/>
          </a:xfrm>
          <a:prstGeom prst="rect">
            <a:avLst/>
          </a:prstGeom>
          <a:noFill/>
        </p:spPr>
        <p:txBody>
          <a:bodyPr wrap="square" rtlCol="0">
            <a:spAutoFit/>
          </a:bodyPr>
          <a:lstStyle/>
          <a:p>
            <a:r>
              <a:rPr lang="de-DE" b="1" dirty="0" smtClean="0">
                <a:solidFill>
                  <a:srgbClr val="0070C0"/>
                </a:solidFill>
              </a:rPr>
              <a:t>1) Rhetorische Phase: </a:t>
            </a:r>
            <a:r>
              <a:rPr lang="de-DE" dirty="0" smtClean="0"/>
              <a:t>hier </a:t>
            </a:r>
            <a:r>
              <a:rPr lang="de-DE" dirty="0"/>
              <a:t>werden Berechnungen mit Worten und Zahlen durchgeführt, und es werden keine Symbole verwendet</a:t>
            </a:r>
            <a:r>
              <a:rPr lang="de-DE" dirty="0" smtClean="0"/>
              <a:t>.</a:t>
            </a:r>
          </a:p>
          <a:p>
            <a:pPr marL="342900" indent="-342900">
              <a:buAutoNum type="arabicParenR"/>
            </a:pPr>
            <a:endParaRPr lang="de-DE" dirty="0"/>
          </a:p>
          <a:p>
            <a:pPr algn="ctr"/>
            <a:r>
              <a:rPr lang="de-DE" i="1" dirty="0"/>
              <a:t>„Ein Haufen und sein Siebtel ergeben 19. Was ist der Haufen</a:t>
            </a:r>
            <a:r>
              <a:rPr lang="de-DE" i="1" dirty="0" smtClean="0"/>
              <a:t>?“</a:t>
            </a:r>
          </a:p>
          <a:p>
            <a:pPr algn="ctr"/>
            <a:r>
              <a:rPr lang="de-DE" dirty="0" smtClean="0"/>
              <a:t>(x+(1/7)x=19 </a:t>
            </a:r>
            <a:r>
              <a:rPr lang="de-DE" dirty="0" smtClean="0">
                <a:sym typeface="Wingdings" panose="05000000000000000000" pitchFamily="2" charset="2"/>
              </a:rPr>
              <a:t> Gesucht x.)</a:t>
            </a:r>
            <a:endParaRPr lang="de-DE" dirty="0"/>
          </a:p>
          <a:p>
            <a:endParaRPr lang="de-DE" dirty="0" smtClean="0"/>
          </a:p>
          <a:p>
            <a:r>
              <a:rPr lang="de-DE" b="1" dirty="0" smtClean="0">
                <a:solidFill>
                  <a:srgbClr val="0070C0"/>
                </a:solidFill>
              </a:rPr>
              <a:t>2) Synkopierte Phase: </a:t>
            </a:r>
            <a:r>
              <a:rPr lang="de-DE" dirty="0" smtClean="0"/>
              <a:t>häufig </a:t>
            </a:r>
            <a:r>
              <a:rPr lang="de-DE" dirty="0"/>
              <a:t>verwendete Operationen und Größen werden durch symbolische syntaktische Abkürzungen wie Buchstaben oder Ziffern </a:t>
            </a:r>
            <a:r>
              <a:rPr lang="de-DE" dirty="0" smtClean="0"/>
              <a:t>dargestellt.</a:t>
            </a:r>
          </a:p>
          <a:p>
            <a:endParaRPr lang="de-DE" dirty="0"/>
          </a:p>
          <a:p>
            <a:endParaRPr lang="de-DE" dirty="0" smtClean="0"/>
          </a:p>
          <a:p>
            <a:endParaRPr lang="de-DE" dirty="0" smtClean="0"/>
          </a:p>
          <a:p>
            <a:endParaRPr lang="de-DE" dirty="0" smtClean="0"/>
          </a:p>
          <a:p>
            <a:pPr marL="342900" indent="-342900">
              <a:buAutoNum type="arabicParenR"/>
            </a:pPr>
            <a:endParaRPr lang="de-DE" dirty="0" smtClean="0"/>
          </a:p>
          <a:p>
            <a:pPr marL="342900" indent="-342900">
              <a:buAutoNum type="arabicParenR"/>
            </a:pPr>
            <a:endParaRPr lang="de-DE" dirty="0"/>
          </a:p>
          <a:p>
            <a:r>
              <a:rPr lang="de-DE" b="1" dirty="0" smtClean="0">
                <a:solidFill>
                  <a:srgbClr val="0070C0"/>
                </a:solidFill>
              </a:rPr>
              <a:t>3) Symbolische Phase:</a:t>
            </a:r>
            <a:r>
              <a:rPr lang="de-DE" dirty="0" smtClean="0"/>
              <a:t> </a:t>
            </a:r>
            <a:r>
              <a:rPr lang="de-DE" dirty="0"/>
              <a:t>hier treten umfassende Notationssysteme an die Stelle der Rhetorik. </a:t>
            </a:r>
          </a:p>
        </p:txBody>
      </p:sp>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19672" y="3435846"/>
            <a:ext cx="5544616" cy="3232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feld 2"/>
          <p:cNvSpPr txBox="1"/>
          <p:nvPr/>
        </p:nvSpPr>
        <p:spPr>
          <a:xfrm>
            <a:off x="251520" y="3003798"/>
            <a:ext cx="4896544" cy="338554"/>
          </a:xfrm>
          <a:prstGeom prst="rect">
            <a:avLst/>
          </a:prstGeom>
          <a:noFill/>
        </p:spPr>
        <p:txBody>
          <a:bodyPr wrap="square" rtlCol="0">
            <a:spAutoFit/>
          </a:bodyPr>
          <a:lstStyle/>
          <a:p>
            <a:r>
              <a:rPr lang="de-DE" sz="1600" dirty="0" err="1" smtClean="0"/>
              <a:t>Cardano</a:t>
            </a:r>
            <a:r>
              <a:rPr lang="de-DE" sz="1600" dirty="0" smtClean="0"/>
              <a:t> notiert die Lösung von x³+6x=20 als </a:t>
            </a:r>
            <a:endParaRPr lang="de-DE" sz="1600" dirty="0"/>
          </a:p>
        </p:txBody>
      </p:sp>
      <p:pic>
        <p:nvPicPr>
          <p:cNvPr id="3075"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59832" y="3939784"/>
            <a:ext cx="2883768" cy="389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80956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07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07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feld 3"/>
          <p:cNvSpPr txBox="1"/>
          <p:nvPr/>
        </p:nvSpPr>
        <p:spPr>
          <a:xfrm>
            <a:off x="827584" y="915566"/>
            <a:ext cx="7416824" cy="3046988"/>
          </a:xfrm>
          <a:prstGeom prst="rect">
            <a:avLst/>
          </a:prstGeom>
          <a:noFill/>
        </p:spPr>
        <p:txBody>
          <a:bodyPr wrap="square" rtlCol="0">
            <a:spAutoFit/>
          </a:bodyPr>
          <a:lstStyle/>
          <a:p>
            <a:pPr algn="ctr"/>
            <a:r>
              <a:rPr lang="de-DE" sz="9600" dirty="0" smtClean="0"/>
              <a:t>Kognitive Erweiterung</a:t>
            </a:r>
            <a:endParaRPr lang="de-DE" sz="9600" dirty="0"/>
          </a:p>
        </p:txBody>
      </p:sp>
    </p:spTree>
    <p:extLst>
      <p:ext uri="{BB962C8B-B14F-4D97-AF65-F5344CB8AC3E}">
        <p14:creationId xmlns:p14="http://schemas.microsoft.com/office/powerpoint/2010/main" val="279114472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hteck 5"/>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7" name="Textfeld 6"/>
          <p:cNvSpPr txBox="1"/>
          <p:nvPr/>
        </p:nvSpPr>
        <p:spPr>
          <a:xfrm>
            <a:off x="0" y="-29240"/>
            <a:ext cx="9144000" cy="584775"/>
          </a:xfrm>
          <a:prstGeom prst="rect">
            <a:avLst/>
          </a:prstGeom>
          <a:noFill/>
        </p:spPr>
        <p:txBody>
          <a:bodyPr wrap="square" rtlCol="0">
            <a:spAutoFit/>
          </a:bodyPr>
          <a:lstStyle/>
          <a:p>
            <a:pPr algn="ctr"/>
            <a:r>
              <a:rPr lang="en-CA" sz="3200" dirty="0" smtClean="0">
                <a:solidFill>
                  <a:schemeClr val="bg1"/>
                </a:solidFill>
                <a:effectLst>
                  <a:outerShdw blurRad="38100" dist="38100" dir="2700000" algn="tl">
                    <a:srgbClr val="000000">
                      <a:alpha val="43137"/>
                    </a:srgbClr>
                  </a:outerShdw>
                </a:effectLst>
              </a:rPr>
              <a:t>Extended Mind</a:t>
            </a:r>
            <a:endParaRPr lang="en-CA" sz="3200" dirty="0">
              <a:solidFill>
                <a:schemeClr val="bg1"/>
              </a:solidFill>
              <a:effectLst>
                <a:outerShdw blurRad="38100" dist="38100" dir="2700000" algn="tl">
                  <a:srgbClr val="000000">
                    <a:alpha val="43137"/>
                  </a:srgbClr>
                </a:outerShdw>
              </a:effectLst>
            </a:endParaRPr>
          </a:p>
        </p:txBody>
      </p:sp>
      <p:sp>
        <p:nvSpPr>
          <p:cNvPr id="2" name="Textfeld 1"/>
          <p:cNvSpPr txBox="1"/>
          <p:nvPr/>
        </p:nvSpPr>
        <p:spPr>
          <a:xfrm>
            <a:off x="107504" y="627534"/>
            <a:ext cx="8928992" cy="4431983"/>
          </a:xfrm>
          <a:prstGeom prst="rect">
            <a:avLst/>
          </a:prstGeom>
          <a:noFill/>
        </p:spPr>
        <p:txBody>
          <a:bodyPr wrap="square" rtlCol="0">
            <a:spAutoFit/>
          </a:bodyPr>
          <a:lstStyle/>
          <a:p>
            <a:r>
              <a:rPr lang="de-DE" sz="2000" b="1" dirty="0"/>
              <a:t>Externalisierung: </a:t>
            </a:r>
            <a:r>
              <a:rPr lang="de-DE" sz="2000" dirty="0"/>
              <a:t>Informationen in die Umwelt </a:t>
            </a:r>
            <a:r>
              <a:rPr lang="de-DE" sz="2000" dirty="0" smtClean="0"/>
              <a:t>ablagern</a:t>
            </a:r>
          </a:p>
          <a:p>
            <a:r>
              <a:rPr lang="de-DE" dirty="0"/>
              <a:t>Die kognitive Architektur endet nicht an </a:t>
            </a:r>
            <a:r>
              <a:rPr lang="de-DE" dirty="0" smtClean="0"/>
              <a:t>Körpergrenzen, </a:t>
            </a:r>
            <a:r>
              <a:rPr lang="de-DE" dirty="0"/>
              <a:t>sondern kann sich in die Umwelt hinein erstrecken.</a:t>
            </a:r>
          </a:p>
          <a:p>
            <a:endParaRPr lang="de-DE" dirty="0">
              <a:sym typeface="Wingdings" panose="05000000000000000000" pitchFamily="2" charset="2"/>
            </a:endParaRPr>
          </a:p>
          <a:p>
            <a:pPr algn="ctr"/>
            <a:r>
              <a:rPr lang="de-DE" sz="1600" b="1" dirty="0"/>
              <a:t>Otto</a:t>
            </a:r>
            <a:r>
              <a:rPr lang="de-DE" sz="1600" dirty="0"/>
              <a:t>: hat Alzheimer, benutzt ein Notizbuch.</a:t>
            </a:r>
          </a:p>
          <a:p>
            <a:pPr algn="ctr"/>
            <a:r>
              <a:rPr lang="de-DE" sz="1600" b="1" dirty="0"/>
              <a:t>Inga</a:t>
            </a:r>
            <a:r>
              <a:rPr lang="de-DE" sz="1600" dirty="0"/>
              <a:t>: erinnert sich </a:t>
            </a:r>
            <a:r>
              <a:rPr lang="de-DE" sz="1600" dirty="0" smtClean="0"/>
              <a:t>„intern“.</a:t>
            </a:r>
          </a:p>
          <a:p>
            <a:endParaRPr lang="de-DE" sz="1600" dirty="0"/>
          </a:p>
          <a:p>
            <a:r>
              <a:rPr lang="de-DE" sz="1600" b="1" dirty="0"/>
              <a:t>These:</a:t>
            </a:r>
            <a:r>
              <a:rPr lang="de-DE" sz="1600" dirty="0"/>
              <a:t> Das Notizbuch erfüllt dieselbe kognitive Funktion wie biologisches Gedächtnis.</a:t>
            </a:r>
          </a:p>
          <a:p>
            <a:r>
              <a:rPr lang="de-DE" sz="1600" b="1" dirty="0"/>
              <a:t>Kriterium:</a:t>
            </a:r>
            <a:r>
              <a:rPr lang="de-DE" sz="1600" dirty="0"/>
              <a:t> </a:t>
            </a:r>
            <a:r>
              <a:rPr lang="de-DE" sz="1600" i="1" dirty="0"/>
              <a:t>Verfügbarkeit</a:t>
            </a:r>
            <a:r>
              <a:rPr lang="de-DE" sz="1600" dirty="0"/>
              <a:t>, </a:t>
            </a:r>
            <a:r>
              <a:rPr lang="de-DE" sz="1600" i="1" dirty="0"/>
              <a:t>Zuverlässigkeit</a:t>
            </a:r>
            <a:r>
              <a:rPr lang="de-DE" sz="1600" dirty="0"/>
              <a:t>, </a:t>
            </a:r>
            <a:r>
              <a:rPr lang="de-DE" sz="1600" i="1" dirty="0"/>
              <a:t>automatische Konsultation</a:t>
            </a:r>
            <a:r>
              <a:rPr lang="de-DE" sz="1600" dirty="0"/>
              <a:t>.</a:t>
            </a:r>
          </a:p>
          <a:p>
            <a:r>
              <a:rPr lang="de-DE" sz="1600" b="1" dirty="0" smtClean="0"/>
              <a:t>Idee:</a:t>
            </a:r>
            <a:r>
              <a:rPr lang="de-DE" sz="1600" dirty="0" smtClean="0"/>
              <a:t> </a:t>
            </a:r>
            <a:r>
              <a:rPr lang="de-DE" sz="1600" dirty="0"/>
              <a:t>Das Notizbuch als „fragiles biologisches Organ“.</a:t>
            </a:r>
          </a:p>
          <a:p>
            <a:endParaRPr lang="de-DE" dirty="0"/>
          </a:p>
          <a:p>
            <a:r>
              <a:rPr lang="de-DE" sz="1600" b="1" dirty="0" smtClean="0"/>
              <a:t>Beispiel 2:</a:t>
            </a:r>
            <a:endParaRPr lang="de-DE" sz="1600" b="1" dirty="0"/>
          </a:p>
          <a:p>
            <a:r>
              <a:rPr lang="de-DE" sz="1600" dirty="0" smtClean="0"/>
              <a:t>Das </a:t>
            </a:r>
            <a:r>
              <a:rPr lang="de-DE" sz="1600" dirty="0"/>
              <a:t>Smartphone scheint heute mit der Person „verwachsen“ zu </a:t>
            </a:r>
            <a:r>
              <a:rPr lang="de-DE" sz="1600" dirty="0" smtClean="0"/>
              <a:t>sein. Es </a:t>
            </a:r>
            <a:r>
              <a:rPr lang="de-DE" sz="1600" dirty="0"/>
              <a:t>ist wie eine Prothese, die wir überall mittragen</a:t>
            </a:r>
            <a:r>
              <a:rPr lang="de-DE" sz="1600" dirty="0" smtClean="0"/>
              <a:t>.</a:t>
            </a:r>
            <a:endParaRPr lang="de-DE" dirty="0" smtClean="0"/>
          </a:p>
          <a:p>
            <a:r>
              <a:rPr lang="de-DE" sz="1600" i="1" dirty="0" smtClean="0"/>
              <a:t>Angenommen, ich weiß, dass ich bloß Seite A aufrufen muss, um Information B abzurufen. Ist </a:t>
            </a:r>
            <a:r>
              <a:rPr lang="de-DE" sz="1600" i="1" dirty="0"/>
              <a:t>das nicht funktional äquivalent zu dem Vorgang, bei dem ein bestimmtes neuronales Aktivierungsmuster reaktiviert wird, das mit der Information B assoziiert ist, sodass diese intern bewusst verfügbar wird?</a:t>
            </a:r>
          </a:p>
        </p:txBody>
      </p:sp>
    </p:spTree>
    <p:extLst>
      <p:ext uri="{BB962C8B-B14F-4D97-AF65-F5344CB8AC3E}">
        <p14:creationId xmlns:p14="http://schemas.microsoft.com/office/powerpoint/2010/main" val="3764714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hteck 5"/>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7" name="Textfeld 6"/>
          <p:cNvSpPr txBox="1"/>
          <p:nvPr/>
        </p:nvSpPr>
        <p:spPr>
          <a:xfrm>
            <a:off x="0" y="-29240"/>
            <a:ext cx="9144000" cy="584775"/>
          </a:xfrm>
          <a:prstGeom prst="rect">
            <a:avLst/>
          </a:prstGeom>
          <a:noFill/>
        </p:spPr>
        <p:txBody>
          <a:bodyPr wrap="square" rtlCol="0">
            <a:spAutoFit/>
          </a:bodyPr>
          <a:lstStyle/>
          <a:p>
            <a:pPr algn="ctr"/>
            <a:r>
              <a:rPr lang="en-US" sz="3200" dirty="0">
                <a:solidFill>
                  <a:schemeClr val="bg1"/>
                </a:solidFill>
                <a:effectLst>
                  <a:outerShdw blurRad="38100" dist="38100" dir="2700000" algn="tl">
                    <a:srgbClr val="000000">
                      <a:alpha val="43137"/>
                    </a:srgbClr>
                  </a:outerShdw>
                </a:effectLst>
              </a:rPr>
              <a:t>„My brain is localized in my inkstand“</a:t>
            </a:r>
            <a:endParaRPr lang="en-CA" sz="3200" dirty="0">
              <a:solidFill>
                <a:schemeClr val="bg1"/>
              </a:solidFill>
              <a:effectLst>
                <a:outerShdw blurRad="38100" dist="38100" dir="2700000" algn="tl">
                  <a:srgbClr val="000000">
                    <a:alpha val="43137"/>
                  </a:srgbClr>
                </a:outerShdw>
              </a:effectLst>
            </a:endParaRPr>
          </a:p>
        </p:txBody>
      </p:sp>
      <p:pic>
        <p:nvPicPr>
          <p:cNvPr id="1028" name="Picture 4" descr="Charles Sanders Peirce - Wikipedi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830432"/>
            <a:ext cx="2483768" cy="3330769"/>
          </a:xfrm>
          <a:prstGeom prst="rect">
            <a:avLst/>
          </a:prstGeom>
          <a:noFill/>
          <a:extLst>
            <a:ext uri="{909E8E84-426E-40DD-AFC4-6F175D3DCCD1}">
              <a14:hiddenFill xmlns:a14="http://schemas.microsoft.com/office/drawing/2010/main">
                <a:solidFill>
                  <a:srgbClr val="FFFFFF"/>
                </a:solidFill>
              </a14:hiddenFill>
            </a:ext>
          </a:extLst>
        </p:spPr>
      </p:pic>
      <p:sp>
        <p:nvSpPr>
          <p:cNvPr id="2" name="Textfeld 1"/>
          <p:cNvSpPr txBox="1"/>
          <p:nvPr/>
        </p:nvSpPr>
        <p:spPr>
          <a:xfrm>
            <a:off x="251520" y="699542"/>
            <a:ext cx="8712968" cy="1200329"/>
          </a:xfrm>
          <a:prstGeom prst="rect">
            <a:avLst/>
          </a:prstGeom>
          <a:noFill/>
        </p:spPr>
        <p:txBody>
          <a:bodyPr wrap="square" rtlCol="0">
            <a:spAutoFit/>
          </a:bodyPr>
          <a:lstStyle/>
          <a:p>
            <a:pPr algn="just"/>
            <a:r>
              <a:rPr lang="en-US" dirty="0"/>
              <a:t>„A psychologist cuts a lobe of my brain and then, when I cannot express myself, he says ‘You have damaged my brain.’ But if he had smashed my inkstand, I should not have been able to continue my discussion until I had got another. Yea, the very thoughts would not come to me. So my faculty of discussion is equally located in my inkstand.“ (CP 7.366)</a:t>
            </a:r>
            <a:endParaRPr lang="de-DE" dirty="0"/>
          </a:p>
        </p:txBody>
      </p:sp>
      <p:pic>
        <p:nvPicPr>
          <p:cNvPr id="102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20988" y="2139702"/>
            <a:ext cx="2271092" cy="2826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796136" y="2139702"/>
            <a:ext cx="2736304" cy="27937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52491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hteck 5"/>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7" name="Textfeld 6"/>
          <p:cNvSpPr txBox="1"/>
          <p:nvPr/>
        </p:nvSpPr>
        <p:spPr>
          <a:xfrm>
            <a:off x="0" y="-29240"/>
            <a:ext cx="9144000" cy="584775"/>
          </a:xfrm>
          <a:prstGeom prst="rect">
            <a:avLst/>
          </a:prstGeom>
          <a:noFill/>
        </p:spPr>
        <p:txBody>
          <a:bodyPr wrap="square" rtlCol="0">
            <a:spAutoFit/>
          </a:bodyPr>
          <a:lstStyle/>
          <a:p>
            <a:pPr algn="ctr"/>
            <a:r>
              <a:rPr lang="en-CA" sz="3200" dirty="0" smtClean="0">
                <a:solidFill>
                  <a:schemeClr val="bg1"/>
                </a:solidFill>
                <a:effectLst>
                  <a:outerShdw blurRad="38100" dist="38100" dir="2700000" algn="tl">
                    <a:srgbClr val="000000">
                      <a:alpha val="43137"/>
                    </a:srgbClr>
                  </a:outerShdw>
                </a:effectLst>
              </a:rPr>
              <a:t>Extended Mind</a:t>
            </a:r>
            <a:endParaRPr lang="en-CA" sz="3200" dirty="0">
              <a:solidFill>
                <a:schemeClr val="bg1"/>
              </a:solidFill>
              <a:effectLst>
                <a:outerShdw blurRad="38100" dist="38100" dir="2700000" algn="tl">
                  <a:srgbClr val="000000">
                    <a:alpha val="43137"/>
                  </a:srgbClr>
                </a:outerShdw>
              </a:effectLst>
            </a:endParaRPr>
          </a:p>
        </p:txBody>
      </p:sp>
      <p:sp>
        <p:nvSpPr>
          <p:cNvPr id="2" name="Textfeld 1"/>
          <p:cNvSpPr txBox="1"/>
          <p:nvPr/>
        </p:nvSpPr>
        <p:spPr>
          <a:xfrm>
            <a:off x="107504" y="627534"/>
            <a:ext cx="8928992" cy="369332"/>
          </a:xfrm>
          <a:prstGeom prst="rect">
            <a:avLst/>
          </a:prstGeom>
          <a:noFill/>
        </p:spPr>
        <p:txBody>
          <a:bodyPr wrap="square" rtlCol="0">
            <a:spAutoFit/>
          </a:bodyPr>
          <a:lstStyle/>
          <a:p>
            <a:r>
              <a:rPr lang="de-DE" b="1" dirty="0"/>
              <a:t>Externalisierung: </a:t>
            </a:r>
            <a:r>
              <a:rPr lang="de-DE" dirty="0"/>
              <a:t>Informationen in die Umwelt </a:t>
            </a:r>
            <a:r>
              <a:rPr lang="de-DE" dirty="0" smtClean="0"/>
              <a:t>ablagern</a:t>
            </a:r>
            <a:endParaRPr lang="de-DE" dirty="0"/>
          </a:p>
        </p:txBody>
      </p:sp>
      <p:pic>
        <p:nvPicPr>
          <p:cNvPr id="2052" name="Picture 4" descr="undefine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11960" y="1203598"/>
            <a:ext cx="4752528" cy="3556971"/>
          </a:xfrm>
          <a:prstGeom prst="rect">
            <a:avLst/>
          </a:prstGeom>
          <a:noFill/>
          <a:ln w="28575">
            <a:solidFill>
              <a:schemeClr val="accent1"/>
            </a:solidFill>
          </a:ln>
          <a:extLst>
            <a:ext uri="{909E8E84-426E-40DD-AFC4-6F175D3DCCD1}">
              <a14:hiddenFill xmlns:a14="http://schemas.microsoft.com/office/drawing/2010/main">
                <a:solidFill>
                  <a:srgbClr val="FFFFFF"/>
                </a:solidFill>
              </a14:hiddenFill>
            </a:ext>
          </a:extLst>
        </p:spPr>
      </p:pic>
      <p:sp>
        <p:nvSpPr>
          <p:cNvPr id="3" name="Textfeld 2"/>
          <p:cNvSpPr txBox="1"/>
          <p:nvPr/>
        </p:nvSpPr>
        <p:spPr>
          <a:xfrm>
            <a:off x="251520" y="1131590"/>
            <a:ext cx="3888432" cy="3631763"/>
          </a:xfrm>
          <a:prstGeom prst="rect">
            <a:avLst/>
          </a:prstGeom>
          <a:noFill/>
        </p:spPr>
        <p:txBody>
          <a:bodyPr wrap="square" rtlCol="0">
            <a:spAutoFit/>
          </a:bodyPr>
          <a:lstStyle/>
          <a:p>
            <a:r>
              <a:rPr lang="de-DE" sz="1600" b="1" dirty="0"/>
              <a:t>These (</a:t>
            </a:r>
            <a:r>
              <a:rPr lang="de-DE" sz="1600" b="1" dirty="0" err="1"/>
              <a:t>Japyassú</a:t>
            </a:r>
            <a:r>
              <a:rPr lang="de-DE" sz="1600" b="1" dirty="0"/>
              <a:t> &amp; </a:t>
            </a:r>
            <a:r>
              <a:rPr lang="de-DE" sz="1600" b="1" dirty="0" err="1"/>
              <a:t>Laland</a:t>
            </a:r>
            <a:r>
              <a:rPr lang="de-DE" sz="1600" b="1" dirty="0"/>
              <a:t>, 2017):</a:t>
            </a:r>
            <a:r>
              <a:rPr lang="de-DE" sz="1600" dirty="0"/>
              <a:t> </a:t>
            </a:r>
            <a:endParaRPr lang="de-DE" sz="1600" dirty="0" smtClean="0"/>
          </a:p>
          <a:p>
            <a:r>
              <a:rPr lang="de-DE" sz="1600" dirty="0" smtClean="0"/>
              <a:t>Das </a:t>
            </a:r>
            <a:r>
              <a:rPr lang="de-DE" sz="1600" dirty="0"/>
              <a:t>Netz ist Teil des </a:t>
            </a:r>
            <a:r>
              <a:rPr lang="de-DE" sz="1600" i="1" dirty="0"/>
              <a:t>sensorischen und kognitiven Systems</a:t>
            </a:r>
            <a:r>
              <a:rPr lang="de-DE" sz="1600" dirty="0"/>
              <a:t> der Spinne</a:t>
            </a:r>
            <a:r>
              <a:rPr lang="de-DE" sz="1600" dirty="0" smtClean="0"/>
              <a:t>.</a:t>
            </a:r>
          </a:p>
          <a:p>
            <a:endParaRPr lang="de-DE" sz="1600" dirty="0"/>
          </a:p>
          <a:p>
            <a:r>
              <a:rPr lang="de-DE" sz="1600" b="1" dirty="0"/>
              <a:t>Begründung:</a:t>
            </a:r>
            <a:r>
              <a:rPr lang="de-DE" sz="1600" dirty="0"/>
              <a:t> </a:t>
            </a:r>
            <a:endParaRPr lang="de-DE" sz="1600" dirty="0" smtClean="0"/>
          </a:p>
          <a:p>
            <a:r>
              <a:rPr lang="de-DE" sz="1600" dirty="0" smtClean="0"/>
              <a:t>Das </a:t>
            </a:r>
            <a:r>
              <a:rPr lang="de-DE" sz="1600" dirty="0"/>
              <a:t>Netz verändert Wahrnehmung und Handlungskoordination – also kognitive Zustände</a:t>
            </a:r>
            <a:r>
              <a:rPr lang="de-DE" sz="1600" dirty="0" smtClean="0"/>
              <a:t>.</a:t>
            </a:r>
          </a:p>
          <a:p>
            <a:endParaRPr lang="de-DE" sz="1600" dirty="0"/>
          </a:p>
          <a:p>
            <a:r>
              <a:rPr lang="de-DE" sz="1600" u="sng" dirty="0"/>
              <a:t>Schlussfolgerung: </a:t>
            </a:r>
            <a:r>
              <a:rPr lang="de-DE" sz="1600" dirty="0"/>
              <a:t>Auch Tiere können „</a:t>
            </a:r>
            <a:r>
              <a:rPr lang="de-DE" sz="1600" dirty="0" err="1"/>
              <a:t>extended</a:t>
            </a:r>
            <a:r>
              <a:rPr lang="de-DE" sz="1600" dirty="0"/>
              <a:t> </a:t>
            </a:r>
            <a:r>
              <a:rPr lang="de-DE" sz="1600" dirty="0" err="1"/>
              <a:t>cognition</a:t>
            </a:r>
            <a:r>
              <a:rPr lang="de-DE" sz="1600" dirty="0"/>
              <a:t>“ zeigen</a:t>
            </a:r>
            <a:r>
              <a:rPr lang="de-DE" sz="1600" dirty="0" smtClean="0"/>
              <a:t>.</a:t>
            </a:r>
          </a:p>
          <a:p>
            <a:endParaRPr lang="de-DE" dirty="0"/>
          </a:p>
          <a:p>
            <a:r>
              <a:rPr lang="de-DE" sz="1400" b="1" dirty="0"/>
              <a:t>Quelle:</a:t>
            </a:r>
            <a:r>
              <a:rPr lang="de-DE" sz="1400" dirty="0"/>
              <a:t> </a:t>
            </a:r>
            <a:r>
              <a:rPr lang="de-DE" sz="1400" i="1" dirty="0" err="1"/>
              <a:t>Animal</a:t>
            </a:r>
            <a:r>
              <a:rPr lang="de-DE" sz="1400" i="1" dirty="0"/>
              <a:t> </a:t>
            </a:r>
            <a:r>
              <a:rPr lang="de-DE" sz="1400" i="1" dirty="0" err="1"/>
              <a:t>Cognition</a:t>
            </a:r>
            <a:r>
              <a:rPr lang="de-DE" sz="1400" dirty="0"/>
              <a:t>, 2017</a:t>
            </a:r>
          </a:p>
          <a:p>
            <a:endParaRPr lang="de-DE" dirty="0"/>
          </a:p>
        </p:txBody>
      </p:sp>
    </p:spTree>
    <p:extLst>
      <p:ext uri="{BB962C8B-B14F-4D97-AF65-F5344CB8AC3E}">
        <p14:creationId xmlns:p14="http://schemas.microsoft.com/office/powerpoint/2010/main" val="2191299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hteck 5"/>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7" name="Textfeld 6"/>
          <p:cNvSpPr txBox="1"/>
          <p:nvPr/>
        </p:nvSpPr>
        <p:spPr>
          <a:xfrm>
            <a:off x="0" y="-29240"/>
            <a:ext cx="9144000" cy="584775"/>
          </a:xfrm>
          <a:prstGeom prst="rect">
            <a:avLst/>
          </a:prstGeom>
          <a:noFill/>
        </p:spPr>
        <p:txBody>
          <a:bodyPr wrap="square" rtlCol="0">
            <a:spAutoFit/>
          </a:bodyPr>
          <a:lstStyle/>
          <a:p>
            <a:pPr algn="ctr"/>
            <a:r>
              <a:rPr lang="en-CA" sz="3200" dirty="0" smtClean="0">
                <a:solidFill>
                  <a:schemeClr val="bg1"/>
                </a:solidFill>
                <a:effectLst>
                  <a:outerShdw blurRad="38100" dist="38100" dir="2700000" algn="tl">
                    <a:srgbClr val="000000">
                      <a:alpha val="43137"/>
                    </a:srgbClr>
                  </a:outerShdw>
                </a:effectLst>
              </a:rPr>
              <a:t>Extended Mind</a:t>
            </a:r>
            <a:endParaRPr lang="en-CA" sz="3200" dirty="0">
              <a:solidFill>
                <a:schemeClr val="bg1"/>
              </a:solidFill>
              <a:effectLst>
                <a:outerShdw blurRad="38100" dist="38100" dir="2700000" algn="tl">
                  <a:srgbClr val="000000">
                    <a:alpha val="43137"/>
                  </a:srgbClr>
                </a:outerShdw>
              </a:effectLst>
            </a:endParaRPr>
          </a:p>
        </p:txBody>
      </p:sp>
      <p:sp>
        <p:nvSpPr>
          <p:cNvPr id="2" name="Textfeld 1"/>
          <p:cNvSpPr txBox="1"/>
          <p:nvPr/>
        </p:nvSpPr>
        <p:spPr>
          <a:xfrm>
            <a:off x="107504" y="627534"/>
            <a:ext cx="8928992" cy="369332"/>
          </a:xfrm>
          <a:prstGeom prst="rect">
            <a:avLst/>
          </a:prstGeom>
          <a:noFill/>
        </p:spPr>
        <p:txBody>
          <a:bodyPr wrap="square" rtlCol="0">
            <a:spAutoFit/>
          </a:bodyPr>
          <a:lstStyle/>
          <a:p>
            <a:r>
              <a:rPr lang="de-DE" b="1" dirty="0" smtClean="0"/>
              <a:t>Evolutionäres Argument </a:t>
            </a:r>
            <a:r>
              <a:rPr lang="de-DE" dirty="0" smtClean="0"/>
              <a:t>(</a:t>
            </a:r>
            <a:r>
              <a:rPr lang="de-DE" dirty="0" err="1" smtClean="0"/>
              <a:t>Rowlands</a:t>
            </a:r>
            <a:r>
              <a:rPr lang="de-DE" dirty="0" smtClean="0"/>
              <a:t>)</a:t>
            </a:r>
            <a:endParaRPr lang="de-DE" dirty="0"/>
          </a:p>
        </p:txBody>
      </p:sp>
      <p:sp>
        <p:nvSpPr>
          <p:cNvPr id="4" name="Textfeld 3"/>
          <p:cNvSpPr txBox="1"/>
          <p:nvPr/>
        </p:nvSpPr>
        <p:spPr>
          <a:xfrm>
            <a:off x="107504" y="987574"/>
            <a:ext cx="8640960" cy="1200329"/>
          </a:xfrm>
          <a:prstGeom prst="rect">
            <a:avLst/>
          </a:prstGeom>
          <a:noFill/>
        </p:spPr>
        <p:txBody>
          <a:bodyPr wrap="square" rtlCol="0">
            <a:spAutoFit/>
          </a:bodyPr>
          <a:lstStyle/>
          <a:p>
            <a:pPr algn="just"/>
            <a:r>
              <a:rPr lang="de-DE" dirty="0"/>
              <a:t>Wenn ein Organismus die Fähigkeit haben muss, eine adaptive Aufgabe T zu leisten, dann ist es selektiv unvorteilhaft für den Organismus, interne Mechanismen für das Bewältigen von T zu entwickeln, wenn es für den Organismus möglich ist, T durch eine Kombination von internen Mechanismen und Manipulation der externen Umwelt zu leisten.</a:t>
            </a:r>
          </a:p>
        </p:txBody>
      </p:sp>
      <p:sp>
        <p:nvSpPr>
          <p:cNvPr id="11" name="AutoShape 5" descr="The Ant Colony: Structure &amp; Roles | Western Exterminato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a:p>
        </p:txBody>
      </p:sp>
      <p:sp>
        <p:nvSpPr>
          <p:cNvPr id="12" name="AutoShape 7" descr="The Ant Colony: Structure &amp; Roles | Western Exterminato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a:p>
        </p:txBody>
      </p:sp>
    </p:spTree>
    <p:extLst>
      <p:ext uri="{BB962C8B-B14F-4D97-AF65-F5344CB8AC3E}">
        <p14:creationId xmlns:p14="http://schemas.microsoft.com/office/powerpoint/2010/main" val="87255198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hteck 5"/>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7" name="Textfeld 6"/>
          <p:cNvSpPr txBox="1"/>
          <p:nvPr/>
        </p:nvSpPr>
        <p:spPr>
          <a:xfrm>
            <a:off x="0" y="-29240"/>
            <a:ext cx="9144000" cy="584775"/>
          </a:xfrm>
          <a:prstGeom prst="rect">
            <a:avLst/>
          </a:prstGeom>
          <a:noFill/>
        </p:spPr>
        <p:txBody>
          <a:bodyPr wrap="square" rtlCol="0">
            <a:spAutoFit/>
          </a:bodyPr>
          <a:lstStyle/>
          <a:p>
            <a:pPr algn="ctr"/>
            <a:r>
              <a:rPr lang="en-CA" sz="3200" dirty="0" smtClean="0">
                <a:solidFill>
                  <a:schemeClr val="bg1"/>
                </a:solidFill>
                <a:effectLst>
                  <a:outerShdw blurRad="38100" dist="38100" dir="2700000" algn="tl">
                    <a:srgbClr val="000000">
                      <a:alpha val="43137"/>
                    </a:srgbClr>
                  </a:outerShdw>
                </a:effectLst>
              </a:rPr>
              <a:t>Kraft der Notation</a:t>
            </a:r>
            <a:endParaRPr lang="en-CA" sz="3200" dirty="0">
              <a:solidFill>
                <a:schemeClr val="bg1"/>
              </a:solidFill>
              <a:effectLst>
                <a:outerShdw blurRad="38100" dist="38100" dir="2700000" algn="tl">
                  <a:srgbClr val="000000">
                    <a:alpha val="43137"/>
                  </a:srgbClr>
                </a:outerShdw>
              </a:effectLst>
            </a:endParaRPr>
          </a:p>
        </p:txBody>
      </p:sp>
      <p:pic>
        <p:nvPicPr>
          <p:cNvPr id="1026" name="Picture 2" descr="Hulton Archive/Getty Images"/>
          <p:cNvPicPr>
            <a:picLocks noChangeAspect="1" noChangeArrowheads="1"/>
          </p:cNvPicPr>
          <p:nvPr/>
        </p:nvPicPr>
        <p:blipFill>
          <a:blip r:embed="rId2" cstate="print">
            <a:extLst>
              <a:ext uri="{BEBA8EAE-BF5A-486C-A8C5-ECC9F3942E4B}">
                <a14:imgProps xmlns:a14="http://schemas.microsoft.com/office/drawing/2010/main">
                  <a14:imgLayer r:embed="rId3">
                    <a14:imgEffect>
                      <a14:backgroundRemoval t="0" b="100000" l="0" r="100000">
                        <a14:foregroundMark x1="25000" y1="21143" x2="33406" y2="13672"/>
                        <a14:foregroundMark x1="69956" y1="15283" x2="73904" y2="22510"/>
                        <a14:foregroundMark x1="71711" y1="15527" x2="75804" y2="23633"/>
                        <a14:foregroundMark x1="71126" y1="16162" x2="74342" y2="22656"/>
                        <a14:backgroundMark x1="72003" y1="15527" x2="72003" y2="15527"/>
                        <a14:backgroundMark x1="72953" y1="16260" x2="72953" y2="16260"/>
                      </a14:backgroundRemoval>
                    </a14:imgEffect>
                  </a14:imgLayer>
                </a14:imgProps>
              </a:ext>
              <a:ext uri="{28A0092B-C50C-407E-A947-70E740481C1C}">
                <a14:useLocalDpi xmlns:a14="http://schemas.microsoft.com/office/drawing/2010/main" val="0"/>
              </a:ext>
            </a:extLst>
          </a:blip>
          <a:srcRect/>
          <a:stretch>
            <a:fillRect/>
          </a:stretch>
        </p:blipFill>
        <p:spPr bwMode="auto">
          <a:xfrm>
            <a:off x="-36512" y="1175385"/>
            <a:ext cx="2664296" cy="3988653"/>
          </a:xfrm>
          <a:prstGeom prst="rect">
            <a:avLst/>
          </a:prstGeom>
          <a:noFill/>
          <a:effectLst>
            <a:glow rad="101600">
              <a:schemeClr val="bg1">
                <a:lumMod val="75000"/>
                <a:alpha val="60000"/>
              </a:schemeClr>
            </a:glow>
          </a:effectLst>
          <a:extLst>
            <a:ext uri="{909E8E84-426E-40DD-AFC4-6F175D3DCCD1}">
              <a14:hiddenFill xmlns:a14="http://schemas.microsoft.com/office/drawing/2010/main">
                <a:solidFill>
                  <a:srgbClr val="FFFFFF"/>
                </a:solidFill>
              </a14:hiddenFill>
            </a:ext>
          </a:extLst>
        </p:spPr>
      </p:pic>
      <p:sp>
        <p:nvSpPr>
          <p:cNvPr id="4" name="Textfeld 3"/>
          <p:cNvSpPr txBox="1"/>
          <p:nvPr/>
        </p:nvSpPr>
        <p:spPr>
          <a:xfrm>
            <a:off x="35496" y="773291"/>
            <a:ext cx="2736304" cy="646331"/>
          </a:xfrm>
          <a:prstGeom prst="rect">
            <a:avLst/>
          </a:prstGeom>
          <a:noFill/>
        </p:spPr>
        <p:txBody>
          <a:bodyPr wrap="square" rtlCol="0">
            <a:spAutoFit/>
          </a:bodyPr>
          <a:lstStyle/>
          <a:p>
            <a:pPr algn="ctr"/>
            <a:r>
              <a:rPr lang="de-DE" b="1" dirty="0" smtClean="0"/>
              <a:t>Alfred North Whitehead</a:t>
            </a:r>
          </a:p>
          <a:p>
            <a:pPr algn="ctr"/>
            <a:r>
              <a:rPr lang="de-DE" dirty="0" smtClean="0"/>
              <a:t>(1861-1947)</a:t>
            </a:r>
            <a:endParaRPr lang="de-DE" dirty="0"/>
          </a:p>
        </p:txBody>
      </p:sp>
      <p:sp>
        <p:nvSpPr>
          <p:cNvPr id="5" name="Textfeld 4"/>
          <p:cNvSpPr txBox="1"/>
          <p:nvPr/>
        </p:nvSpPr>
        <p:spPr>
          <a:xfrm>
            <a:off x="2987824" y="795357"/>
            <a:ext cx="5832648" cy="3462486"/>
          </a:xfrm>
          <a:prstGeom prst="rect">
            <a:avLst/>
          </a:prstGeom>
          <a:noFill/>
        </p:spPr>
        <p:txBody>
          <a:bodyPr wrap="square" rtlCol="0">
            <a:spAutoFit/>
          </a:bodyPr>
          <a:lstStyle/>
          <a:p>
            <a:pPr algn="just"/>
            <a:r>
              <a:rPr lang="en-US" sz="1600" dirty="0" smtClean="0"/>
              <a:t>„</a:t>
            </a:r>
            <a:r>
              <a:rPr lang="en-US" sz="1700" b="1" dirty="0" smtClean="0"/>
              <a:t>By </a:t>
            </a:r>
            <a:r>
              <a:rPr lang="en-US" sz="1700" b="1" dirty="0"/>
              <a:t>relieving the brain of all unnecessary work, a good notation sets it free to concentrate on more advanced problems, and in effect increases the mental power of the race.</a:t>
            </a:r>
            <a:r>
              <a:rPr lang="en-US" sz="1700" dirty="0"/>
              <a:t> Before the introduction of the Arabic notation, multiplication was difficult, and the division even of integers called into play the highest mathematical faculties. Probably nothing in the modern world would have more astonished a Greek mathematician than to learn that, under the influence of compulsory education, the whole population of Western Europe, from the highest to the lowest, could perform the operation of division for the largest numbers</a:t>
            </a:r>
            <a:r>
              <a:rPr lang="en-US" sz="1700" dirty="0" smtClean="0"/>
              <a:t>.”</a:t>
            </a:r>
          </a:p>
          <a:p>
            <a:pPr algn="just"/>
            <a:endParaRPr lang="en-US" dirty="0"/>
          </a:p>
          <a:p>
            <a:pPr algn="just"/>
            <a:r>
              <a:rPr lang="en-US" sz="1400" dirty="0" smtClean="0"/>
              <a:t>(Whitehead, A. N – An </a:t>
            </a:r>
            <a:r>
              <a:rPr lang="en-US" sz="1400" dirty="0"/>
              <a:t>Introduction to Mathematics (1911</a:t>
            </a:r>
            <a:r>
              <a:rPr lang="en-US" sz="1400" dirty="0" smtClean="0"/>
              <a:t>), Ch. 5)</a:t>
            </a:r>
            <a:endParaRPr lang="de-DE" sz="1400" dirty="0"/>
          </a:p>
        </p:txBody>
      </p:sp>
    </p:spTree>
    <p:extLst>
      <p:ext uri="{BB962C8B-B14F-4D97-AF65-F5344CB8AC3E}">
        <p14:creationId xmlns:p14="http://schemas.microsoft.com/office/powerpoint/2010/main" val="314123640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hteck 5"/>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7" name="Textfeld 6"/>
          <p:cNvSpPr txBox="1"/>
          <p:nvPr/>
        </p:nvSpPr>
        <p:spPr>
          <a:xfrm>
            <a:off x="0" y="-29240"/>
            <a:ext cx="9144000" cy="584775"/>
          </a:xfrm>
          <a:prstGeom prst="rect">
            <a:avLst/>
          </a:prstGeom>
          <a:noFill/>
        </p:spPr>
        <p:txBody>
          <a:bodyPr wrap="square" rtlCol="0">
            <a:spAutoFit/>
          </a:bodyPr>
          <a:lstStyle/>
          <a:p>
            <a:pPr algn="ctr"/>
            <a:r>
              <a:rPr lang="en-US" sz="3200" dirty="0" err="1" smtClean="0">
                <a:solidFill>
                  <a:schemeClr val="bg1"/>
                </a:solidFill>
                <a:effectLst>
                  <a:outerShdw blurRad="38100" dist="38100" dir="2700000" algn="tl">
                    <a:srgbClr val="000000">
                      <a:alpha val="43137"/>
                    </a:srgbClr>
                  </a:outerShdw>
                </a:effectLst>
              </a:rPr>
              <a:t>Rechnen</a:t>
            </a:r>
            <a:r>
              <a:rPr lang="en-US" sz="3200" dirty="0" smtClean="0">
                <a:solidFill>
                  <a:schemeClr val="bg1"/>
                </a:solidFill>
                <a:effectLst>
                  <a:outerShdw blurRad="38100" dist="38100" dir="2700000" algn="tl">
                    <a:srgbClr val="000000">
                      <a:alpha val="43137"/>
                    </a:srgbClr>
                  </a:outerShdw>
                </a:effectLst>
              </a:rPr>
              <a:t> </a:t>
            </a:r>
            <a:r>
              <a:rPr lang="en-US" sz="3200" dirty="0" err="1" smtClean="0">
                <a:solidFill>
                  <a:schemeClr val="bg1"/>
                </a:solidFill>
                <a:effectLst>
                  <a:outerShdw blurRad="38100" dist="38100" dir="2700000" algn="tl">
                    <a:srgbClr val="000000">
                      <a:alpha val="43137"/>
                    </a:srgbClr>
                  </a:outerShdw>
                </a:effectLst>
              </a:rPr>
              <a:t>heißt</a:t>
            </a:r>
            <a:r>
              <a:rPr lang="en-US" sz="3200" dirty="0" smtClean="0">
                <a:solidFill>
                  <a:schemeClr val="bg1"/>
                </a:solidFill>
                <a:effectLst>
                  <a:outerShdw blurRad="38100" dist="38100" dir="2700000" algn="tl">
                    <a:srgbClr val="000000">
                      <a:alpha val="43137"/>
                    </a:srgbClr>
                  </a:outerShdw>
                </a:effectLst>
              </a:rPr>
              <a:t>: </a:t>
            </a:r>
            <a:r>
              <a:rPr lang="en-US" sz="3200" i="1" dirty="0" err="1" smtClean="0">
                <a:solidFill>
                  <a:schemeClr val="bg1"/>
                </a:solidFill>
                <a:effectLst>
                  <a:outerShdw blurRad="38100" dist="38100" dir="2700000" algn="tl">
                    <a:srgbClr val="000000">
                      <a:alpha val="43137"/>
                    </a:srgbClr>
                  </a:outerShdw>
                </a:effectLst>
              </a:rPr>
              <a:t>Sich</a:t>
            </a:r>
            <a:r>
              <a:rPr lang="en-US" sz="3200" i="1" dirty="0" smtClean="0">
                <a:solidFill>
                  <a:schemeClr val="bg1"/>
                </a:solidFill>
                <a:effectLst>
                  <a:outerShdw blurRad="38100" dist="38100" dir="2700000" algn="tl">
                    <a:srgbClr val="000000">
                      <a:alpha val="43137"/>
                    </a:srgbClr>
                  </a:outerShdw>
                </a:effectLst>
              </a:rPr>
              <a:t> in den </a:t>
            </a:r>
            <a:r>
              <a:rPr lang="en-US" sz="3200" i="1" dirty="0" err="1" smtClean="0">
                <a:solidFill>
                  <a:schemeClr val="bg1"/>
                </a:solidFill>
                <a:effectLst>
                  <a:outerShdw blurRad="38100" dist="38100" dir="2700000" algn="tl">
                    <a:srgbClr val="000000">
                      <a:alpha val="43137"/>
                    </a:srgbClr>
                  </a:outerShdw>
                </a:effectLst>
              </a:rPr>
              <a:t>Ziffern</a:t>
            </a:r>
            <a:r>
              <a:rPr lang="en-US" sz="3200" i="1" dirty="0" smtClean="0">
                <a:solidFill>
                  <a:schemeClr val="bg1"/>
                </a:solidFill>
                <a:effectLst>
                  <a:outerShdw blurRad="38100" dist="38100" dir="2700000" algn="tl">
                    <a:srgbClr val="000000">
                      <a:alpha val="43137"/>
                    </a:srgbClr>
                  </a:outerShdw>
                </a:effectLst>
              </a:rPr>
              <a:t> </a:t>
            </a:r>
            <a:r>
              <a:rPr lang="en-US" sz="3200" i="1" dirty="0" err="1" smtClean="0">
                <a:solidFill>
                  <a:schemeClr val="bg1"/>
                </a:solidFill>
                <a:effectLst>
                  <a:outerShdw blurRad="38100" dist="38100" dir="2700000" algn="tl">
                    <a:srgbClr val="000000">
                      <a:alpha val="43137"/>
                    </a:srgbClr>
                  </a:outerShdw>
                </a:effectLst>
              </a:rPr>
              <a:t>auskennen</a:t>
            </a:r>
            <a:endParaRPr lang="en-CA" sz="3200" i="1" dirty="0">
              <a:solidFill>
                <a:schemeClr val="bg1"/>
              </a:solidFill>
              <a:effectLst>
                <a:outerShdw blurRad="38100" dist="38100" dir="2700000" algn="tl">
                  <a:srgbClr val="000000">
                    <a:alpha val="43137"/>
                  </a:srgbClr>
                </a:outerShdw>
              </a:effectLst>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8418" y="699542"/>
            <a:ext cx="6179926" cy="43568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537398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hteck 5"/>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7" name="Textfeld 6"/>
          <p:cNvSpPr txBox="1"/>
          <p:nvPr/>
        </p:nvSpPr>
        <p:spPr>
          <a:xfrm>
            <a:off x="0" y="-29240"/>
            <a:ext cx="9144000" cy="584775"/>
          </a:xfrm>
          <a:prstGeom prst="rect">
            <a:avLst/>
          </a:prstGeom>
          <a:noFill/>
        </p:spPr>
        <p:txBody>
          <a:bodyPr wrap="square" rtlCol="0">
            <a:spAutoFit/>
          </a:bodyPr>
          <a:lstStyle/>
          <a:p>
            <a:pPr algn="ctr"/>
            <a:r>
              <a:rPr lang="en-US" sz="3200" dirty="0" err="1" smtClean="0">
                <a:solidFill>
                  <a:schemeClr val="bg1"/>
                </a:solidFill>
                <a:effectLst>
                  <a:outerShdw blurRad="38100" dist="38100" dir="2700000" algn="tl">
                    <a:srgbClr val="000000">
                      <a:alpha val="43137"/>
                    </a:srgbClr>
                  </a:outerShdw>
                </a:effectLst>
              </a:rPr>
              <a:t>Rechnen</a:t>
            </a:r>
            <a:r>
              <a:rPr lang="en-US" sz="3200" dirty="0" smtClean="0">
                <a:solidFill>
                  <a:schemeClr val="bg1"/>
                </a:solidFill>
                <a:effectLst>
                  <a:outerShdw blurRad="38100" dist="38100" dir="2700000" algn="tl">
                    <a:srgbClr val="000000">
                      <a:alpha val="43137"/>
                    </a:srgbClr>
                  </a:outerShdw>
                </a:effectLst>
              </a:rPr>
              <a:t> </a:t>
            </a:r>
            <a:r>
              <a:rPr lang="en-US" sz="3200" dirty="0" err="1" smtClean="0">
                <a:solidFill>
                  <a:schemeClr val="bg1"/>
                </a:solidFill>
                <a:effectLst>
                  <a:outerShdw blurRad="38100" dist="38100" dir="2700000" algn="tl">
                    <a:srgbClr val="000000">
                      <a:alpha val="43137"/>
                    </a:srgbClr>
                  </a:outerShdw>
                </a:effectLst>
              </a:rPr>
              <a:t>heißt</a:t>
            </a:r>
            <a:r>
              <a:rPr lang="en-US" sz="3200" dirty="0" smtClean="0">
                <a:solidFill>
                  <a:schemeClr val="bg1"/>
                </a:solidFill>
                <a:effectLst>
                  <a:outerShdw blurRad="38100" dist="38100" dir="2700000" algn="tl">
                    <a:srgbClr val="000000">
                      <a:alpha val="43137"/>
                    </a:srgbClr>
                  </a:outerShdw>
                </a:effectLst>
              </a:rPr>
              <a:t>: </a:t>
            </a:r>
            <a:r>
              <a:rPr lang="en-US" sz="3200" i="1" dirty="0" err="1" smtClean="0">
                <a:solidFill>
                  <a:schemeClr val="bg1"/>
                </a:solidFill>
                <a:effectLst>
                  <a:outerShdw blurRad="38100" dist="38100" dir="2700000" algn="tl">
                    <a:srgbClr val="000000">
                      <a:alpha val="43137"/>
                    </a:srgbClr>
                  </a:outerShdw>
                </a:effectLst>
              </a:rPr>
              <a:t>Sich</a:t>
            </a:r>
            <a:r>
              <a:rPr lang="en-US" sz="3200" i="1" dirty="0" smtClean="0">
                <a:solidFill>
                  <a:schemeClr val="bg1"/>
                </a:solidFill>
                <a:effectLst>
                  <a:outerShdw blurRad="38100" dist="38100" dir="2700000" algn="tl">
                    <a:srgbClr val="000000">
                      <a:alpha val="43137"/>
                    </a:srgbClr>
                  </a:outerShdw>
                </a:effectLst>
              </a:rPr>
              <a:t> in den </a:t>
            </a:r>
            <a:r>
              <a:rPr lang="en-US" sz="3200" i="1" dirty="0" err="1" smtClean="0">
                <a:solidFill>
                  <a:schemeClr val="bg1"/>
                </a:solidFill>
                <a:effectLst>
                  <a:outerShdw blurRad="38100" dist="38100" dir="2700000" algn="tl">
                    <a:srgbClr val="000000">
                      <a:alpha val="43137"/>
                    </a:srgbClr>
                  </a:outerShdw>
                </a:effectLst>
              </a:rPr>
              <a:t>Ziffern</a:t>
            </a:r>
            <a:r>
              <a:rPr lang="en-US" sz="3200" i="1" dirty="0" smtClean="0">
                <a:solidFill>
                  <a:schemeClr val="bg1"/>
                </a:solidFill>
                <a:effectLst>
                  <a:outerShdw blurRad="38100" dist="38100" dir="2700000" algn="tl">
                    <a:srgbClr val="000000">
                      <a:alpha val="43137"/>
                    </a:srgbClr>
                  </a:outerShdw>
                </a:effectLst>
              </a:rPr>
              <a:t> </a:t>
            </a:r>
            <a:r>
              <a:rPr lang="en-US" sz="3200" i="1" dirty="0" err="1" smtClean="0">
                <a:solidFill>
                  <a:schemeClr val="bg1"/>
                </a:solidFill>
                <a:effectLst>
                  <a:outerShdw blurRad="38100" dist="38100" dir="2700000" algn="tl">
                    <a:srgbClr val="000000">
                      <a:alpha val="43137"/>
                    </a:srgbClr>
                  </a:outerShdw>
                </a:effectLst>
              </a:rPr>
              <a:t>auskennen</a:t>
            </a:r>
            <a:endParaRPr lang="en-CA" sz="3200" i="1" dirty="0">
              <a:solidFill>
                <a:schemeClr val="bg1"/>
              </a:solidFill>
              <a:effectLst>
                <a:outerShdw blurRad="38100" dist="38100" dir="2700000" algn="tl">
                  <a:srgbClr val="000000">
                    <a:alpha val="43137"/>
                  </a:srgbClr>
                </a:outerShdw>
              </a:effectLst>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672" y="699542"/>
            <a:ext cx="5472608" cy="2452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t="3300"/>
          <a:stretch/>
        </p:blipFill>
        <p:spPr bwMode="auto">
          <a:xfrm>
            <a:off x="1613232" y="3102741"/>
            <a:ext cx="5515225" cy="1762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3783607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hteck 5"/>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7" name="Textfeld 6"/>
          <p:cNvSpPr txBox="1"/>
          <p:nvPr/>
        </p:nvSpPr>
        <p:spPr>
          <a:xfrm>
            <a:off x="0" y="-29240"/>
            <a:ext cx="9144000" cy="584775"/>
          </a:xfrm>
          <a:prstGeom prst="rect">
            <a:avLst/>
          </a:prstGeom>
          <a:noFill/>
        </p:spPr>
        <p:txBody>
          <a:bodyPr wrap="square" rtlCol="0">
            <a:spAutoFit/>
          </a:bodyPr>
          <a:lstStyle/>
          <a:p>
            <a:pPr algn="ctr"/>
            <a:r>
              <a:rPr lang="en-US" sz="3200" dirty="0" err="1" smtClean="0">
                <a:solidFill>
                  <a:schemeClr val="bg1"/>
                </a:solidFill>
                <a:effectLst>
                  <a:outerShdw blurRad="38100" dist="38100" dir="2700000" algn="tl">
                    <a:srgbClr val="000000">
                      <a:alpha val="43137"/>
                    </a:srgbClr>
                  </a:outerShdw>
                </a:effectLst>
              </a:rPr>
              <a:t>Rechnen</a:t>
            </a:r>
            <a:r>
              <a:rPr lang="en-US" sz="3200" dirty="0" smtClean="0">
                <a:solidFill>
                  <a:schemeClr val="bg1"/>
                </a:solidFill>
                <a:effectLst>
                  <a:outerShdw blurRad="38100" dist="38100" dir="2700000" algn="tl">
                    <a:srgbClr val="000000">
                      <a:alpha val="43137"/>
                    </a:srgbClr>
                  </a:outerShdw>
                </a:effectLst>
              </a:rPr>
              <a:t> </a:t>
            </a:r>
            <a:r>
              <a:rPr lang="en-US" sz="3200" dirty="0" err="1" smtClean="0">
                <a:solidFill>
                  <a:schemeClr val="bg1"/>
                </a:solidFill>
                <a:effectLst>
                  <a:outerShdw blurRad="38100" dist="38100" dir="2700000" algn="tl">
                    <a:srgbClr val="000000">
                      <a:alpha val="43137"/>
                    </a:srgbClr>
                  </a:outerShdw>
                </a:effectLst>
              </a:rPr>
              <a:t>heißt</a:t>
            </a:r>
            <a:r>
              <a:rPr lang="en-US" sz="3200" dirty="0" smtClean="0">
                <a:solidFill>
                  <a:schemeClr val="bg1"/>
                </a:solidFill>
                <a:effectLst>
                  <a:outerShdw blurRad="38100" dist="38100" dir="2700000" algn="tl">
                    <a:srgbClr val="000000">
                      <a:alpha val="43137"/>
                    </a:srgbClr>
                  </a:outerShdw>
                </a:effectLst>
              </a:rPr>
              <a:t>: </a:t>
            </a:r>
            <a:r>
              <a:rPr lang="en-US" sz="3200" i="1" dirty="0" err="1" smtClean="0">
                <a:solidFill>
                  <a:schemeClr val="bg1"/>
                </a:solidFill>
                <a:effectLst>
                  <a:outerShdw blurRad="38100" dist="38100" dir="2700000" algn="tl">
                    <a:srgbClr val="000000">
                      <a:alpha val="43137"/>
                    </a:srgbClr>
                  </a:outerShdw>
                </a:effectLst>
              </a:rPr>
              <a:t>Sich</a:t>
            </a:r>
            <a:r>
              <a:rPr lang="en-US" sz="3200" i="1" dirty="0" smtClean="0">
                <a:solidFill>
                  <a:schemeClr val="bg1"/>
                </a:solidFill>
                <a:effectLst>
                  <a:outerShdw blurRad="38100" dist="38100" dir="2700000" algn="tl">
                    <a:srgbClr val="000000">
                      <a:alpha val="43137"/>
                    </a:srgbClr>
                  </a:outerShdw>
                </a:effectLst>
              </a:rPr>
              <a:t> in den </a:t>
            </a:r>
            <a:r>
              <a:rPr lang="en-US" sz="3200" i="1" dirty="0" err="1" smtClean="0">
                <a:solidFill>
                  <a:schemeClr val="bg1"/>
                </a:solidFill>
                <a:effectLst>
                  <a:outerShdw blurRad="38100" dist="38100" dir="2700000" algn="tl">
                    <a:srgbClr val="000000">
                      <a:alpha val="43137"/>
                    </a:srgbClr>
                  </a:outerShdw>
                </a:effectLst>
              </a:rPr>
              <a:t>Ziffern</a:t>
            </a:r>
            <a:r>
              <a:rPr lang="en-US" sz="3200" i="1" dirty="0" smtClean="0">
                <a:solidFill>
                  <a:schemeClr val="bg1"/>
                </a:solidFill>
                <a:effectLst>
                  <a:outerShdw blurRad="38100" dist="38100" dir="2700000" algn="tl">
                    <a:srgbClr val="000000">
                      <a:alpha val="43137"/>
                    </a:srgbClr>
                  </a:outerShdw>
                </a:effectLst>
              </a:rPr>
              <a:t> </a:t>
            </a:r>
            <a:r>
              <a:rPr lang="en-US" sz="3200" i="1" dirty="0" err="1" smtClean="0">
                <a:solidFill>
                  <a:schemeClr val="bg1"/>
                </a:solidFill>
                <a:effectLst>
                  <a:outerShdw blurRad="38100" dist="38100" dir="2700000" algn="tl">
                    <a:srgbClr val="000000">
                      <a:alpha val="43137"/>
                    </a:srgbClr>
                  </a:outerShdw>
                </a:effectLst>
              </a:rPr>
              <a:t>auskennen</a:t>
            </a:r>
            <a:endParaRPr lang="en-CA" sz="3200" i="1" dirty="0">
              <a:solidFill>
                <a:schemeClr val="bg1"/>
              </a:solidFill>
              <a:effectLst>
                <a:outerShdw blurRad="38100" dist="38100" dir="2700000" algn="tl">
                  <a:srgbClr val="000000">
                    <a:alpha val="43137"/>
                  </a:srgbClr>
                </a:outerShdw>
              </a:effectLst>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699542"/>
            <a:ext cx="5112568" cy="1284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520" y="1923679"/>
            <a:ext cx="5107880" cy="1199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feld 2"/>
          <p:cNvSpPr txBox="1"/>
          <p:nvPr/>
        </p:nvSpPr>
        <p:spPr>
          <a:xfrm>
            <a:off x="213420" y="3315637"/>
            <a:ext cx="4862636" cy="1200329"/>
          </a:xfrm>
          <a:prstGeom prst="rect">
            <a:avLst/>
          </a:prstGeom>
          <a:noFill/>
        </p:spPr>
        <p:txBody>
          <a:bodyPr wrap="square" rtlCol="0">
            <a:spAutoFit/>
          </a:bodyPr>
          <a:lstStyle/>
          <a:p>
            <a:r>
              <a:rPr lang="de-DE" u="sng" dirty="0" smtClean="0"/>
              <a:t>Beispiel</a:t>
            </a:r>
            <a:r>
              <a:rPr lang="de-DE" dirty="0" smtClean="0"/>
              <a:t>: Was ist </a:t>
            </a:r>
            <a:r>
              <a:rPr lang="de-DE" b="1" dirty="0" smtClean="0"/>
              <a:t>MCCXXXIV </a:t>
            </a:r>
            <a:r>
              <a:rPr lang="de-DE" dirty="0" smtClean="0"/>
              <a:t>plus </a:t>
            </a:r>
            <a:r>
              <a:rPr lang="de-DE" b="1" dirty="0" smtClean="0"/>
              <a:t>DLXVIII</a:t>
            </a:r>
            <a:r>
              <a:rPr lang="de-DE" dirty="0" smtClean="0"/>
              <a:t>?</a:t>
            </a:r>
          </a:p>
          <a:p>
            <a:endParaRPr lang="de-DE" dirty="0" smtClean="0"/>
          </a:p>
          <a:p>
            <a:pPr marL="285750" indent="-285750">
              <a:buFont typeface="Arial" panose="020B0604020202020204" pitchFamily="34" charset="0"/>
              <a:buChar char="•"/>
            </a:pPr>
            <a:r>
              <a:rPr lang="de-DE" dirty="0"/>
              <a:t>(M = 1000, CC = 200, XXX = 30, IV = 4) </a:t>
            </a:r>
            <a:endParaRPr lang="de-DE" dirty="0" smtClean="0"/>
          </a:p>
          <a:p>
            <a:pPr marL="285750" indent="-285750">
              <a:buFont typeface="Arial" panose="020B0604020202020204" pitchFamily="34" charset="0"/>
              <a:buChar char="•"/>
            </a:pPr>
            <a:r>
              <a:rPr lang="de-DE" dirty="0"/>
              <a:t>(D = 500, L = 50, X = 10, V = 5, III = 3) </a:t>
            </a:r>
            <a:endParaRPr lang="de-DE" dirty="0" smtClean="0"/>
          </a:p>
        </p:txBody>
      </p:sp>
      <p:sp>
        <p:nvSpPr>
          <p:cNvPr id="4" name="Textfeld 3"/>
          <p:cNvSpPr txBox="1"/>
          <p:nvPr/>
        </p:nvSpPr>
        <p:spPr>
          <a:xfrm>
            <a:off x="5508104" y="652150"/>
            <a:ext cx="3384376" cy="369332"/>
          </a:xfrm>
          <a:prstGeom prst="rect">
            <a:avLst/>
          </a:prstGeom>
          <a:noFill/>
        </p:spPr>
        <p:txBody>
          <a:bodyPr wrap="square" rtlCol="0">
            <a:spAutoFit/>
          </a:bodyPr>
          <a:lstStyle/>
          <a:p>
            <a:r>
              <a:rPr lang="de-DE" b="1" dirty="0" smtClean="0"/>
              <a:t>Positionssystem</a:t>
            </a:r>
            <a:endParaRPr lang="de-DE" b="1" dirty="0"/>
          </a:p>
        </p:txBody>
      </p:sp>
      <p:sp>
        <p:nvSpPr>
          <p:cNvPr id="8" name="Textfeld 7"/>
          <p:cNvSpPr txBox="1"/>
          <p:nvPr/>
        </p:nvSpPr>
        <p:spPr>
          <a:xfrm>
            <a:off x="5508104" y="928340"/>
            <a:ext cx="3600400" cy="369332"/>
          </a:xfrm>
          <a:prstGeom prst="rect">
            <a:avLst/>
          </a:prstGeom>
          <a:noFill/>
        </p:spPr>
        <p:txBody>
          <a:bodyPr wrap="square" rtlCol="0">
            <a:spAutoFit/>
          </a:bodyPr>
          <a:lstStyle/>
          <a:p>
            <a:r>
              <a:rPr lang="de-DE" dirty="0" smtClean="0"/>
              <a:t>Beispiel: 1234 + 5678</a:t>
            </a:r>
          </a:p>
        </p:txBody>
      </p:sp>
      <mc:AlternateContent xmlns:mc="http://schemas.openxmlformats.org/markup-compatibility/2006" xmlns:p14="http://schemas.microsoft.com/office/powerpoint/2010/main">
        <mc:Choice Requires="p14">
          <p:contentPart p14:bwMode="auto" r:id="rId4">
            <p14:nvContentPartPr>
              <p14:cNvPr id="2" name="Freihand 1"/>
              <p14:cNvContentPartPr/>
              <p14:nvPr/>
            </p14:nvContentPartPr>
            <p14:xfrm>
              <a:off x="5548320" y="1371600"/>
              <a:ext cx="933840" cy="671760"/>
            </p14:xfrm>
          </p:contentPart>
        </mc:Choice>
        <mc:Fallback xmlns="">
          <p:pic>
            <p:nvPicPr>
              <p:cNvPr id="2" name="Freihand 1"/>
              <p:cNvPicPr/>
              <p:nvPr/>
            </p:nvPicPr>
            <p:blipFill>
              <a:blip r:embed="rId5"/>
              <a:stretch>
                <a:fillRect/>
              </a:stretch>
            </p:blipFill>
            <p:spPr>
              <a:xfrm>
                <a:off x="5538960" y="1362240"/>
                <a:ext cx="952560" cy="690480"/>
              </a:xfrm>
              <a:prstGeom prst="rect">
                <a:avLst/>
              </a:prstGeom>
            </p:spPr>
          </p:pic>
        </mc:Fallback>
      </mc:AlternateContent>
    </p:spTree>
    <p:extLst>
      <p:ext uri="{BB962C8B-B14F-4D97-AF65-F5344CB8AC3E}">
        <p14:creationId xmlns:p14="http://schemas.microsoft.com/office/powerpoint/2010/main" val="297875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hteck 5"/>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7" name="Textfeld 6"/>
          <p:cNvSpPr txBox="1"/>
          <p:nvPr/>
        </p:nvSpPr>
        <p:spPr>
          <a:xfrm>
            <a:off x="0" y="-29240"/>
            <a:ext cx="9144000" cy="584775"/>
          </a:xfrm>
          <a:prstGeom prst="rect">
            <a:avLst/>
          </a:prstGeom>
          <a:noFill/>
        </p:spPr>
        <p:txBody>
          <a:bodyPr wrap="square" rtlCol="0">
            <a:spAutoFit/>
          </a:bodyPr>
          <a:lstStyle/>
          <a:p>
            <a:pPr algn="ctr"/>
            <a:r>
              <a:rPr lang="en-US" sz="3200" dirty="0" err="1" smtClean="0">
                <a:solidFill>
                  <a:schemeClr val="bg1"/>
                </a:solidFill>
                <a:effectLst>
                  <a:outerShdw blurRad="38100" dist="38100" dir="2700000" algn="tl">
                    <a:srgbClr val="000000">
                      <a:alpha val="43137"/>
                    </a:srgbClr>
                  </a:outerShdw>
                </a:effectLst>
              </a:rPr>
              <a:t>Wie</a:t>
            </a:r>
            <a:r>
              <a:rPr lang="en-US" sz="3200" dirty="0" smtClean="0">
                <a:solidFill>
                  <a:schemeClr val="bg1"/>
                </a:solidFill>
                <a:effectLst>
                  <a:outerShdw blurRad="38100" dist="38100" dir="2700000" algn="tl">
                    <a:srgbClr val="000000">
                      <a:alpha val="43137"/>
                    </a:srgbClr>
                  </a:outerShdw>
                </a:effectLst>
              </a:rPr>
              <a:t> </a:t>
            </a:r>
            <a:r>
              <a:rPr lang="en-US" sz="3200" dirty="0" err="1" smtClean="0">
                <a:solidFill>
                  <a:schemeClr val="bg1"/>
                </a:solidFill>
                <a:effectLst>
                  <a:outerShdw blurRad="38100" dist="38100" dir="2700000" algn="tl">
                    <a:srgbClr val="000000">
                      <a:alpha val="43137"/>
                    </a:srgbClr>
                  </a:outerShdw>
                </a:effectLst>
              </a:rPr>
              <a:t>kann</a:t>
            </a:r>
            <a:r>
              <a:rPr lang="en-US" sz="3200" dirty="0" smtClean="0">
                <a:solidFill>
                  <a:schemeClr val="bg1"/>
                </a:solidFill>
                <a:effectLst>
                  <a:outerShdw blurRad="38100" dist="38100" dir="2700000" algn="tl">
                    <a:srgbClr val="000000">
                      <a:alpha val="43137"/>
                    </a:srgbClr>
                  </a:outerShdw>
                </a:effectLst>
              </a:rPr>
              <a:t> man </a:t>
            </a:r>
            <a:r>
              <a:rPr lang="en-US" sz="3200" dirty="0" err="1" smtClean="0">
                <a:solidFill>
                  <a:schemeClr val="bg1"/>
                </a:solidFill>
                <a:effectLst>
                  <a:outerShdw blurRad="38100" dist="38100" dir="2700000" algn="tl">
                    <a:srgbClr val="000000">
                      <a:alpha val="43137"/>
                    </a:srgbClr>
                  </a:outerShdw>
                </a:effectLst>
              </a:rPr>
              <a:t>sehr</a:t>
            </a:r>
            <a:r>
              <a:rPr lang="en-US" sz="3200" dirty="0" smtClean="0">
                <a:solidFill>
                  <a:schemeClr val="bg1"/>
                </a:solidFill>
                <a:effectLst>
                  <a:outerShdw blurRad="38100" dist="38100" dir="2700000" algn="tl">
                    <a:srgbClr val="000000">
                      <a:alpha val="43137"/>
                    </a:srgbClr>
                  </a:outerShdw>
                </a:effectLst>
              </a:rPr>
              <a:t> </a:t>
            </a:r>
            <a:r>
              <a:rPr lang="en-US" sz="3200" dirty="0" err="1" smtClean="0">
                <a:solidFill>
                  <a:schemeClr val="bg1"/>
                </a:solidFill>
                <a:effectLst>
                  <a:outerShdw blurRad="38100" dist="38100" dir="2700000" algn="tl">
                    <a:srgbClr val="000000">
                      <a:alpha val="43137"/>
                    </a:srgbClr>
                  </a:outerShdw>
                </a:effectLst>
              </a:rPr>
              <a:t>große</a:t>
            </a:r>
            <a:r>
              <a:rPr lang="en-US" sz="3200" dirty="0" smtClean="0">
                <a:solidFill>
                  <a:schemeClr val="bg1"/>
                </a:solidFill>
                <a:effectLst>
                  <a:outerShdw blurRad="38100" dist="38100" dir="2700000" algn="tl">
                    <a:srgbClr val="000000">
                      <a:alpha val="43137"/>
                    </a:srgbClr>
                  </a:outerShdw>
                </a:effectLst>
              </a:rPr>
              <a:t> </a:t>
            </a:r>
            <a:r>
              <a:rPr lang="en-US" sz="3200" dirty="0" err="1" smtClean="0">
                <a:solidFill>
                  <a:schemeClr val="bg1"/>
                </a:solidFill>
                <a:effectLst>
                  <a:outerShdw blurRad="38100" dist="38100" dir="2700000" algn="tl">
                    <a:srgbClr val="000000">
                      <a:alpha val="43137"/>
                    </a:srgbClr>
                  </a:outerShdw>
                </a:effectLst>
              </a:rPr>
              <a:t>Zahlen</a:t>
            </a:r>
            <a:r>
              <a:rPr lang="en-US" sz="3200" dirty="0" smtClean="0">
                <a:solidFill>
                  <a:schemeClr val="bg1"/>
                </a:solidFill>
                <a:effectLst>
                  <a:outerShdw blurRad="38100" dist="38100" dir="2700000" algn="tl">
                    <a:srgbClr val="000000">
                      <a:alpha val="43137"/>
                    </a:srgbClr>
                  </a:outerShdw>
                </a:effectLst>
              </a:rPr>
              <a:t> </a:t>
            </a:r>
            <a:r>
              <a:rPr lang="en-US" sz="3200" dirty="0" err="1" smtClean="0">
                <a:solidFill>
                  <a:schemeClr val="bg1"/>
                </a:solidFill>
                <a:effectLst>
                  <a:outerShdw blurRad="38100" dist="38100" dir="2700000" algn="tl">
                    <a:srgbClr val="000000">
                      <a:alpha val="43137"/>
                    </a:srgbClr>
                  </a:outerShdw>
                </a:effectLst>
              </a:rPr>
              <a:t>benennen</a:t>
            </a:r>
            <a:r>
              <a:rPr lang="en-US" sz="3200" dirty="0" smtClean="0">
                <a:solidFill>
                  <a:schemeClr val="bg1"/>
                </a:solidFill>
                <a:effectLst>
                  <a:outerShdw blurRad="38100" dist="38100" dir="2700000" algn="tl">
                    <a:srgbClr val="000000">
                      <a:alpha val="43137"/>
                    </a:srgbClr>
                  </a:outerShdw>
                </a:effectLst>
              </a:rPr>
              <a:t>?</a:t>
            </a:r>
            <a:endParaRPr lang="en-CA" sz="3200" i="1" dirty="0">
              <a:solidFill>
                <a:schemeClr val="bg1"/>
              </a:solidFill>
              <a:effectLst>
                <a:outerShdw blurRad="38100" dist="38100" dir="2700000" algn="tl">
                  <a:srgbClr val="000000">
                    <a:alpha val="43137"/>
                  </a:srgbClr>
                </a:outerShdw>
              </a:effectLst>
            </a:endParaRPr>
          </a:p>
        </p:txBody>
      </p:sp>
      <p:sp>
        <p:nvSpPr>
          <p:cNvPr id="2" name="Textfeld 1"/>
          <p:cNvSpPr txBox="1"/>
          <p:nvPr/>
        </p:nvSpPr>
        <p:spPr>
          <a:xfrm>
            <a:off x="107504" y="699542"/>
            <a:ext cx="8928992" cy="369332"/>
          </a:xfrm>
          <a:prstGeom prst="rect">
            <a:avLst/>
          </a:prstGeom>
          <a:noFill/>
        </p:spPr>
        <p:txBody>
          <a:bodyPr wrap="square" rtlCol="0">
            <a:spAutoFit/>
          </a:bodyPr>
          <a:lstStyle/>
          <a:p>
            <a:r>
              <a:rPr lang="de-DE" u="sng" dirty="0" smtClean="0"/>
              <a:t>Naiv</a:t>
            </a:r>
            <a:r>
              <a:rPr lang="de-DE" dirty="0" smtClean="0"/>
              <a:t>: 999999999999999999999999999999999999999999999999999999999999999999999…</a:t>
            </a:r>
            <a:endParaRPr lang="de-DE" dirty="0"/>
          </a:p>
        </p:txBody>
      </p:sp>
      <p:sp>
        <p:nvSpPr>
          <p:cNvPr id="5" name="Textfeld 4"/>
          <p:cNvSpPr txBox="1"/>
          <p:nvPr/>
        </p:nvSpPr>
        <p:spPr>
          <a:xfrm>
            <a:off x="107504" y="1059582"/>
            <a:ext cx="3888432" cy="307777"/>
          </a:xfrm>
          <a:prstGeom prst="rect">
            <a:avLst/>
          </a:prstGeom>
          <a:noFill/>
        </p:spPr>
        <p:txBody>
          <a:bodyPr wrap="square" rtlCol="0">
            <a:spAutoFit/>
          </a:bodyPr>
          <a:lstStyle/>
          <a:p>
            <a:r>
              <a:rPr lang="de-DE" sz="1400" b="1" dirty="0" smtClean="0"/>
              <a:t>Problem: Platz geht aus!</a:t>
            </a:r>
            <a:endParaRPr lang="de-DE" sz="1400" b="1" dirty="0"/>
          </a:p>
        </p:txBody>
      </p:sp>
      <p:sp>
        <p:nvSpPr>
          <p:cNvPr id="11" name="Textfeld 10"/>
          <p:cNvSpPr txBox="1"/>
          <p:nvPr/>
        </p:nvSpPr>
        <p:spPr>
          <a:xfrm>
            <a:off x="179512" y="1626354"/>
            <a:ext cx="1559049" cy="369332"/>
          </a:xfrm>
          <a:prstGeom prst="rect">
            <a:avLst/>
          </a:prstGeom>
          <a:noFill/>
        </p:spPr>
        <p:txBody>
          <a:bodyPr wrap="square" rtlCol="0">
            <a:spAutoFit/>
          </a:bodyPr>
          <a:lstStyle/>
          <a:p>
            <a:r>
              <a:rPr lang="de-DE" u="sng" dirty="0" smtClean="0"/>
              <a:t>Potenzturm</a:t>
            </a:r>
            <a:r>
              <a:rPr lang="de-DE" dirty="0" smtClean="0"/>
              <a:t>:</a:t>
            </a:r>
            <a:endParaRPr lang="de-DE" dirty="0"/>
          </a:p>
        </p:txBody>
      </p:sp>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2071489"/>
            <a:ext cx="1343025" cy="1076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feld 8"/>
          <p:cNvSpPr txBox="1"/>
          <p:nvPr/>
        </p:nvSpPr>
        <p:spPr>
          <a:xfrm>
            <a:off x="1691680" y="1635646"/>
            <a:ext cx="3384376" cy="523220"/>
          </a:xfrm>
          <a:prstGeom prst="rect">
            <a:avLst/>
          </a:prstGeom>
          <a:noFill/>
        </p:spPr>
        <p:txBody>
          <a:bodyPr wrap="square" rtlCol="0">
            <a:spAutoFit/>
          </a:bodyPr>
          <a:lstStyle/>
          <a:p>
            <a:r>
              <a:rPr lang="de-DE" sz="2800" dirty="0" smtClean="0"/>
              <a:t>Geht es noch besser?</a:t>
            </a:r>
            <a:endParaRPr lang="de-DE" sz="2800" dirty="0"/>
          </a:p>
        </p:txBody>
      </p:sp>
      <p:sp>
        <p:nvSpPr>
          <p:cNvPr id="10" name="Textfeld 9"/>
          <p:cNvSpPr txBox="1"/>
          <p:nvPr/>
        </p:nvSpPr>
        <p:spPr>
          <a:xfrm>
            <a:off x="1763688" y="2211710"/>
            <a:ext cx="3456384" cy="646331"/>
          </a:xfrm>
          <a:prstGeom prst="rect">
            <a:avLst/>
          </a:prstGeom>
          <a:noFill/>
        </p:spPr>
        <p:txBody>
          <a:bodyPr wrap="square" rtlCol="0">
            <a:spAutoFit/>
          </a:bodyPr>
          <a:lstStyle/>
          <a:p>
            <a:r>
              <a:rPr lang="de-DE" dirty="0" smtClean="0"/>
              <a:t>Ja: </a:t>
            </a:r>
            <a:r>
              <a:rPr lang="de-DE" dirty="0" err="1" smtClean="0"/>
              <a:t>Knuthsche</a:t>
            </a:r>
            <a:r>
              <a:rPr lang="de-DE" dirty="0" smtClean="0"/>
              <a:t> Pfeilschreibweise oder Steinhaus-Moser-Notation</a:t>
            </a:r>
          </a:p>
        </p:txBody>
      </p:sp>
      <p:sp>
        <p:nvSpPr>
          <p:cNvPr id="12" name="Textfeld 11"/>
          <p:cNvSpPr txBox="1"/>
          <p:nvPr/>
        </p:nvSpPr>
        <p:spPr>
          <a:xfrm>
            <a:off x="5436096" y="1707654"/>
            <a:ext cx="3528392" cy="1107996"/>
          </a:xfrm>
          <a:prstGeom prst="rect">
            <a:avLst/>
          </a:prstGeom>
          <a:noFill/>
        </p:spPr>
        <p:txBody>
          <a:bodyPr wrap="square" rtlCol="0">
            <a:spAutoFit/>
          </a:bodyPr>
          <a:lstStyle/>
          <a:p>
            <a:r>
              <a:rPr lang="de-DE" b="1" dirty="0" smtClean="0"/>
              <a:t>Knutsche Pfeilschreibweise</a:t>
            </a:r>
          </a:p>
          <a:p>
            <a:pPr algn="ctr"/>
            <a:r>
              <a:rPr lang="de-DE" dirty="0" smtClean="0"/>
              <a:t>3</a:t>
            </a:r>
            <a:r>
              <a:rPr lang="de-DE" dirty="0"/>
              <a:t>↑↑↑</a:t>
            </a:r>
            <a:r>
              <a:rPr lang="de-DE" dirty="0" smtClean="0"/>
              <a:t>3</a:t>
            </a:r>
          </a:p>
          <a:p>
            <a:pPr algn="ctr"/>
            <a:endParaRPr lang="de-DE" sz="1600" dirty="0" smtClean="0"/>
          </a:p>
          <a:p>
            <a:r>
              <a:rPr lang="de-DE" sz="1400" dirty="0" smtClean="0"/>
              <a:t>(</a:t>
            </a:r>
            <a:r>
              <a:rPr lang="de-DE" sz="1400" dirty="0"/>
              <a:t>Potenzturm 7.625.597.484.986 </a:t>
            </a:r>
            <a:r>
              <a:rPr lang="de-DE" sz="1400" dirty="0" smtClean="0"/>
              <a:t>Exponenten) </a:t>
            </a:r>
            <a:endParaRPr lang="de-DE" sz="1400" dirty="0"/>
          </a:p>
        </p:txBody>
      </p:sp>
      <p:sp>
        <p:nvSpPr>
          <p:cNvPr id="14" name="Textfeld 13"/>
          <p:cNvSpPr txBox="1"/>
          <p:nvPr/>
        </p:nvSpPr>
        <p:spPr>
          <a:xfrm>
            <a:off x="3131840" y="3723878"/>
            <a:ext cx="2952328" cy="646331"/>
          </a:xfrm>
          <a:prstGeom prst="rect">
            <a:avLst/>
          </a:prstGeom>
          <a:noFill/>
        </p:spPr>
        <p:txBody>
          <a:bodyPr wrap="square" rtlCol="0">
            <a:spAutoFit/>
          </a:bodyPr>
          <a:lstStyle/>
          <a:p>
            <a:r>
              <a:rPr lang="de-DE" sz="3600" dirty="0" smtClean="0"/>
              <a:t>NOCH besser?</a:t>
            </a:r>
            <a:endParaRPr lang="de-DE" sz="3600" dirty="0"/>
          </a:p>
        </p:txBody>
      </p:sp>
      <p:sp>
        <p:nvSpPr>
          <p:cNvPr id="3" name="Textfeld 2"/>
          <p:cNvSpPr txBox="1"/>
          <p:nvPr/>
        </p:nvSpPr>
        <p:spPr>
          <a:xfrm>
            <a:off x="107504" y="3210530"/>
            <a:ext cx="1368152" cy="307777"/>
          </a:xfrm>
          <a:prstGeom prst="rect">
            <a:avLst/>
          </a:prstGeom>
          <a:noFill/>
        </p:spPr>
        <p:txBody>
          <a:bodyPr wrap="square" rtlCol="0">
            <a:spAutoFit/>
          </a:bodyPr>
          <a:lstStyle/>
          <a:p>
            <a:r>
              <a:rPr lang="de-DE" sz="1400" b="1" dirty="0" smtClean="0"/>
              <a:t>Platz geht aus!</a:t>
            </a:r>
            <a:endParaRPr lang="de-DE" sz="1400" b="1" dirty="0"/>
          </a:p>
        </p:txBody>
      </p:sp>
    </p:spTree>
    <p:extLst>
      <p:ext uri="{BB962C8B-B14F-4D97-AF65-F5344CB8AC3E}">
        <p14:creationId xmlns:p14="http://schemas.microsoft.com/office/powerpoint/2010/main" val="386469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45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2">
                                            <p:txEl>
                                              <p:pRg st="0" end="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
                                            <p:txEl>
                                              <p:pRg st="1" end="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11" grpId="0"/>
      <p:bldP spid="9" grpId="0"/>
      <p:bldP spid="10" grpId="0"/>
      <p:bldP spid="14" grpId="0"/>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hteck 5"/>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7" name="Textfeld 6"/>
          <p:cNvSpPr txBox="1"/>
          <p:nvPr/>
        </p:nvSpPr>
        <p:spPr>
          <a:xfrm>
            <a:off x="0" y="-29240"/>
            <a:ext cx="9144000" cy="584775"/>
          </a:xfrm>
          <a:prstGeom prst="rect">
            <a:avLst/>
          </a:prstGeom>
          <a:noFill/>
        </p:spPr>
        <p:txBody>
          <a:bodyPr wrap="square" rtlCol="0">
            <a:spAutoFit/>
          </a:bodyPr>
          <a:lstStyle/>
          <a:p>
            <a:pPr algn="ctr"/>
            <a:r>
              <a:rPr lang="en-US" sz="3200" dirty="0" err="1" smtClean="0">
                <a:solidFill>
                  <a:schemeClr val="bg1"/>
                </a:solidFill>
                <a:effectLst>
                  <a:outerShdw blurRad="38100" dist="38100" dir="2700000" algn="tl">
                    <a:srgbClr val="000000">
                      <a:alpha val="43137"/>
                    </a:srgbClr>
                  </a:outerShdw>
                </a:effectLst>
              </a:rPr>
              <a:t>Rayos</a:t>
            </a:r>
            <a:r>
              <a:rPr lang="en-US" sz="3200" dirty="0" smtClean="0">
                <a:solidFill>
                  <a:schemeClr val="bg1"/>
                </a:solidFill>
                <a:effectLst>
                  <a:outerShdw blurRad="38100" dist="38100" dir="2700000" algn="tl">
                    <a:srgbClr val="000000">
                      <a:alpha val="43137"/>
                    </a:srgbClr>
                  </a:outerShdw>
                </a:effectLst>
              </a:rPr>
              <a:t> </a:t>
            </a:r>
            <a:r>
              <a:rPr lang="en-US" sz="3200" dirty="0" err="1" smtClean="0">
                <a:solidFill>
                  <a:schemeClr val="bg1"/>
                </a:solidFill>
                <a:effectLst>
                  <a:outerShdw blurRad="38100" dist="38100" dir="2700000" algn="tl">
                    <a:srgbClr val="000000">
                      <a:alpha val="43137"/>
                    </a:srgbClr>
                  </a:outerShdw>
                </a:effectLst>
              </a:rPr>
              <a:t>Zahl</a:t>
            </a:r>
            <a:endParaRPr lang="en-CA" sz="3200" i="1" dirty="0">
              <a:solidFill>
                <a:schemeClr val="bg1"/>
              </a:solidFill>
              <a:effectLst>
                <a:outerShdw blurRad="38100" dist="38100" dir="2700000" algn="tl">
                  <a:srgbClr val="000000">
                    <a:alpha val="43137"/>
                  </a:srgbClr>
                </a:outerShdw>
              </a:effectLst>
            </a:endParaRPr>
          </a:p>
        </p:txBody>
      </p:sp>
      <p:pic>
        <p:nvPicPr>
          <p:cNvPr id="204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6958" y="1347614"/>
            <a:ext cx="7416824" cy="2209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feld 3"/>
          <p:cNvSpPr txBox="1"/>
          <p:nvPr/>
        </p:nvSpPr>
        <p:spPr>
          <a:xfrm>
            <a:off x="179512" y="762258"/>
            <a:ext cx="3672408" cy="369332"/>
          </a:xfrm>
          <a:prstGeom prst="rect">
            <a:avLst/>
          </a:prstGeom>
          <a:noFill/>
        </p:spPr>
        <p:txBody>
          <a:bodyPr wrap="square" rtlCol="0">
            <a:spAutoFit/>
          </a:bodyPr>
          <a:lstStyle/>
          <a:p>
            <a:r>
              <a:rPr lang="de-DE" b="1" dirty="0" smtClean="0"/>
              <a:t>MIT Big </a:t>
            </a:r>
            <a:r>
              <a:rPr lang="de-DE" b="1" dirty="0" err="1" smtClean="0"/>
              <a:t>number</a:t>
            </a:r>
            <a:r>
              <a:rPr lang="de-DE" b="1" dirty="0" smtClean="0"/>
              <a:t> </a:t>
            </a:r>
            <a:r>
              <a:rPr lang="de-DE" b="1" dirty="0" err="1" smtClean="0"/>
              <a:t>duel</a:t>
            </a:r>
            <a:r>
              <a:rPr lang="de-DE" b="1" dirty="0" smtClean="0"/>
              <a:t> in 2007</a:t>
            </a:r>
            <a:endParaRPr lang="de-DE" b="1" dirty="0"/>
          </a:p>
        </p:txBody>
      </p:sp>
    </p:spTree>
    <p:extLst>
      <p:ext uri="{BB962C8B-B14F-4D97-AF65-F5344CB8AC3E}">
        <p14:creationId xmlns:p14="http://schemas.microsoft.com/office/powerpoint/2010/main" val="82935368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hteck 5"/>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7" name="Textfeld 6"/>
          <p:cNvSpPr txBox="1"/>
          <p:nvPr/>
        </p:nvSpPr>
        <p:spPr>
          <a:xfrm>
            <a:off x="0" y="-29240"/>
            <a:ext cx="9144000" cy="584775"/>
          </a:xfrm>
          <a:prstGeom prst="rect">
            <a:avLst/>
          </a:prstGeom>
          <a:noFill/>
        </p:spPr>
        <p:txBody>
          <a:bodyPr wrap="square" rtlCol="0">
            <a:spAutoFit/>
          </a:bodyPr>
          <a:lstStyle/>
          <a:p>
            <a:pPr algn="ctr"/>
            <a:r>
              <a:rPr lang="en-US" sz="3200" dirty="0" err="1" smtClean="0">
                <a:solidFill>
                  <a:schemeClr val="bg1"/>
                </a:solidFill>
                <a:effectLst>
                  <a:outerShdw blurRad="38100" dist="38100" dir="2700000" algn="tl">
                    <a:srgbClr val="000000">
                      <a:alpha val="43137"/>
                    </a:srgbClr>
                  </a:outerShdw>
                </a:effectLst>
              </a:rPr>
              <a:t>Rayos</a:t>
            </a:r>
            <a:r>
              <a:rPr lang="en-US" sz="3200" dirty="0" smtClean="0">
                <a:solidFill>
                  <a:schemeClr val="bg1"/>
                </a:solidFill>
                <a:effectLst>
                  <a:outerShdw blurRad="38100" dist="38100" dir="2700000" algn="tl">
                    <a:srgbClr val="000000">
                      <a:alpha val="43137"/>
                    </a:srgbClr>
                  </a:outerShdw>
                </a:effectLst>
              </a:rPr>
              <a:t> </a:t>
            </a:r>
            <a:r>
              <a:rPr lang="en-US" sz="3200" dirty="0" err="1" smtClean="0">
                <a:solidFill>
                  <a:schemeClr val="bg1"/>
                </a:solidFill>
                <a:effectLst>
                  <a:outerShdw blurRad="38100" dist="38100" dir="2700000" algn="tl">
                    <a:srgbClr val="000000">
                      <a:alpha val="43137"/>
                    </a:srgbClr>
                  </a:outerShdw>
                </a:effectLst>
              </a:rPr>
              <a:t>Zahl</a:t>
            </a:r>
            <a:endParaRPr lang="en-CA" sz="3200" i="1" dirty="0">
              <a:solidFill>
                <a:schemeClr val="bg1"/>
              </a:solidFill>
              <a:effectLst>
                <a:outerShdw blurRad="38100" dist="38100" dir="2700000" algn="tl">
                  <a:srgbClr val="000000">
                    <a:alpha val="43137"/>
                  </a:srgbClr>
                </a:outerShdw>
              </a:effectLst>
            </a:endParaRPr>
          </a:p>
        </p:txBody>
      </p:sp>
      <p:pic>
        <p:nvPicPr>
          <p:cNvPr id="215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745871"/>
            <a:ext cx="7488832" cy="40581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6343524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hteck 5"/>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7" name="Textfeld 6"/>
          <p:cNvSpPr txBox="1"/>
          <p:nvPr/>
        </p:nvSpPr>
        <p:spPr>
          <a:xfrm>
            <a:off x="0" y="-29240"/>
            <a:ext cx="9144000" cy="584775"/>
          </a:xfrm>
          <a:prstGeom prst="rect">
            <a:avLst/>
          </a:prstGeom>
          <a:noFill/>
        </p:spPr>
        <p:txBody>
          <a:bodyPr wrap="square" rtlCol="0">
            <a:spAutoFit/>
          </a:bodyPr>
          <a:lstStyle/>
          <a:p>
            <a:pPr algn="ctr"/>
            <a:r>
              <a:rPr lang="en-US" sz="3200" dirty="0" smtClean="0">
                <a:solidFill>
                  <a:schemeClr val="bg1"/>
                </a:solidFill>
                <a:effectLst>
                  <a:outerShdw blurRad="38100" dist="38100" dir="2700000" algn="tl">
                    <a:srgbClr val="000000">
                      <a:alpha val="43137"/>
                    </a:srgbClr>
                  </a:outerShdw>
                </a:effectLst>
              </a:rPr>
              <a:t>Die </a:t>
            </a:r>
            <a:r>
              <a:rPr lang="en-US" sz="3200" dirty="0" err="1" smtClean="0">
                <a:solidFill>
                  <a:schemeClr val="bg1"/>
                </a:solidFill>
                <a:effectLst>
                  <a:outerShdw blurRad="38100" dist="38100" dir="2700000" algn="tl">
                    <a:srgbClr val="000000">
                      <a:alpha val="43137"/>
                    </a:srgbClr>
                  </a:outerShdw>
                </a:effectLst>
              </a:rPr>
              <a:t>Macht</a:t>
            </a:r>
            <a:r>
              <a:rPr lang="en-US" sz="3200" dirty="0" smtClean="0">
                <a:solidFill>
                  <a:schemeClr val="bg1"/>
                </a:solidFill>
                <a:effectLst>
                  <a:outerShdw blurRad="38100" dist="38100" dir="2700000" algn="tl">
                    <a:srgbClr val="000000">
                      <a:alpha val="43137"/>
                    </a:srgbClr>
                  </a:outerShdw>
                </a:effectLst>
              </a:rPr>
              <a:t> der Notation</a:t>
            </a:r>
            <a:endParaRPr lang="en-CA" sz="3200" dirty="0">
              <a:solidFill>
                <a:schemeClr val="bg1"/>
              </a:solidFill>
              <a:effectLst>
                <a:outerShdw blurRad="38100" dist="38100" dir="2700000" algn="tl">
                  <a:srgbClr val="000000">
                    <a:alpha val="43137"/>
                  </a:srgbClr>
                </a:outerShdw>
              </a:effectLst>
            </a:endParaRPr>
          </a:p>
        </p:txBody>
      </p:sp>
      <mc:AlternateContent xmlns:mc="http://schemas.openxmlformats.org/markup-compatibility/2006" xmlns:a14="http://schemas.microsoft.com/office/drawing/2010/main">
        <mc:Choice Requires="a14">
          <p:sp>
            <p:nvSpPr>
              <p:cNvPr id="4" name="Textfeld 3"/>
              <p:cNvSpPr txBox="1"/>
              <p:nvPr/>
            </p:nvSpPr>
            <p:spPr>
              <a:xfrm>
                <a:off x="107504" y="2067694"/>
                <a:ext cx="8856984" cy="1650645"/>
              </a:xfrm>
              <a:prstGeom prst="rect">
                <a:avLst/>
              </a:prstGeom>
              <a:noFill/>
            </p:spPr>
            <p:txBody>
              <a:bodyPr wrap="square" rtlCol="0">
                <a:spAutoFit/>
              </a:bodyPr>
              <a:lstStyle/>
              <a:p>
                <a:r>
                  <a:rPr lang="de-DE" b="1" dirty="0" smtClean="0"/>
                  <a:t>Beispiel: Oberflächenintegral</a:t>
                </a:r>
              </a:p>
              <a:p>
                <a:pPr marL="285750" indent="-285750">
                  <a:buFont typeface="Arial" panose="020B0604020202020204" pitchFamily="34" charset="0"/>
                  <a:buChar char="•"/>
                </a:pPr>
                <a:endParaRPr lang="de-DE" sz="1400" dirty="0"/>
              </a:p>
              <a:p>
                <a:pPr algn="ctr"/>
                <a14:m>
                  <m:oMath xmlns:m="http://schemas.openxmlformats.org/officeDocument/2006/math">
                    <m:nary>
                      <m:naryPr>
                        <m:chr m:val="∯"/>
                        <m:limLoc m:val="subSup"/>
                        <m:ctrlPr>
                          <a:rPr lang="de-DE" sz="6000" i="1">
                            <a:latin typeface="Cambria Math"/>
                          </a:rPr>
                        </m:ctrlPr>
                      </m:naryPr>
                      <m:sub>
                        <m:r>
                          <a:rPr lang="de-DE" sz="6000" i="1">
                            <a:latin typeface="Cambria Math"/>
                          </a:rPr>
                          <m:t>𝐴</m:t>
                        </m:r>
                      </m:sub>
                      <m:sup>
                        <m:r>
                          <a:rPr lang="de-DE" sz="6000" i="1">
                            <a:latin typeface="Cambria Math"/>
                          </a:rPr>
                          <m:t>‎ </m:t>
                        </m:r>
                      </m:sup>
                      <m:e>
                        <m:acc>
                          <m:accPr>
                            <m:chr m:val="⃗"/>
                            <m:ctrlPr>
                              <a:rPr lang="de-DE" sz="6000" i="1">
                                <a:latin typeface="Cambria Math"/>
                              </a:rPr>
                            </m:ctrlPr>
                          </m:accPr>
                          <m:e>
                            <m:r>
                              <a:rPr lang="de-DE" sz="6000" i="1">
                                <a:latin typeface="Cambria Math"/>
                              </a:rPr>
                              <m:t>𝜑</m:t>
                            </m:r>
                          </m:e>
                        </m:acc>
                      </m:e>
                    </m:nary>
                    <m:d>
                      <m:dPr>
                        <m:ctrlPr>
                          <a:rPr lang="de-DE" sz="6000" i="1">
                            <a:latin typeface="Cambria Math"/>
                          </a:rPr>
                        </m:ctrlPr>
                      </m:dPr>
                      <m:e>
                        <m:r>
                          <a:rPr lang="de-DE" sz="6000" i="1">
                            <a:latin typeface="Cambria Math"/>
                          </a:rPr>
                          <m:t>𝑥</m:t>
                        </m:r>
                        <m:r>
                          <a:rPr lang="de-DE" sz="6000" i="1">
                            <a:latin typeface="Cambria Math"/>
                          </a:rPr>
                          <m:t>,</m:t>
                        </m:r>
                        <m:r>
                          <a:rPr lang="de-DE" sz="6000" i="1">
                            <a:latin typeface="Cambria Math"/>
                          </a:rPr>
                          <m:t>𝑦</m:t>
                        </m:r>
                      </m:e>
                    </m:d>
                    <m:r>
                      <a:rPr lang="de-DE" sz="6000" i="1">
                        <a:latin typeface="Cambria Math"/>
                      </a:rPr>
                      <m:t>𝑑</m:t>
                    </m:r>
                    <m:r>
                      <a:rPr lang="de-DE" sz="6000" i="1">
                        <a:latin typeface="Cambria Math"/>
                      </a:rPr>
                      <m:t>𝜎</m:t>
                    </m:r>
                  </m:oMath>
                </a14:m>
                <a:r>
                  <a:rPr lang="de-DE" sz="6000" dirty="0" smtClean="0"/>
                  <a:t> </a:t>
                </a:r>
              </a:p>
            </p:txBody>
          </p:sp>
        </mc:Choice>
        <mc:Fallback xmlns="">
          <p:sp>
            <p:nvSpPr>
              <p:cNvPr id="4" name="Textfeld 3"/>
              <p:cNvSpPr txBox="1">
                <a:spLocks noRot="1" noChangeAspect="1" noMove="1" noResize="1" noEditPoints="1" noAdjustHandles="1" noChangeArrowheads="1" noChangeShapeType="1" noTextEdit="1"/>
              </p:cNvSpPr>
              <p:nvPr/>
            </p:nvSpPr>
            <p:spPr>
              <a:xfrm>
                <a:off x="107504" y="2067694"/>
                <a:ext cx="8856984" cy="1650645"/>
              </a:xfrm>
              <a:prstGeom prst="rect">
                <a:avLst/>
              </a:prstGeom>
              <a:blipFill rotWithShape="1">
                <a:blip r:embed="rId3"/>
                <a:stretch>
                  <a:fillRect l="-619" t="-1845"/>
                </a:stretch>
              </a:blipFill>
            </p:spPr>
            <p:txBody>
              <a:bodyPr/>
              <a:lstStyle/>
              <a:p>
                <a:r>
                  <a:rPr lang="de-DE">
                    <a:noFill/>
                  </a:rPr>
                  <a:t> </a:t>
                </a:r>
              </a:p>
            </p:txBody>
          </p:sp>
        </mc:Fallback>
      </mc:AlternateContent>
      <p:cxnSp>
        <p:nvCxnSpPr>
          <p:cNvPr id="8" name="Gerade Verbindung mit Pfeil 7"/>
          <p:cNvCxnSpPr/>
          <p:nvPr/>
        </p:nvCxnSpPr>
        <p:spPr>
          <a:xfrm>
            <a:off x="1835696" y="2927234"/>
            <a:ext cx="576064" cy="72008"/>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10" name="Textfeld 9"/>
          <p:cNvSpPr txBox="1"/>
          <p:nvPr/>
        </p:nvSpPr>
        <p:spPr>
          <a:xfrm>
            <a:off x="1030730" y="2752184"/>
            <a:ext cx="1224136" cy="430887"/>
          </a:xfrm>
          <a:prstGeom prst="rect">
            <a:avLst/>
          </a:prstGeom>
          <a:noFill/>
        </p:spPr>
        <p:txBody>
          <a:bodyPr wrap="square" rtlCol="0">
            <a:spAutoFit/>
          </a:bodyPr>
          <a:lstStyle/>
          <a:p>
            <a:r>
              <a:rPr lang="de-DE" sz="1100" b="1" dirty="0" smtClean="0">
                <a:solidFill>
                  <a:srgbClr val="0070C0"/>
                </a:solidFill>
              </a:rPr>
              <a:t>Ring </a:t>
            </a:r>
            <a:r>
              <a:rPr lang="de-DE" sz="1100" dirty="0" smtClean="0"/>
              <a:t>= A ist abgeschlossen.</a:t>
            </a:r>
            <a:endParaRPr lang="de-DE" sz="1100" dirty="0"/>
          </a:p>
        </p:txBody>
      </p:sp>
      <p:sp>
        <p:nvSpPr>
          <p:cNvPr id="11" name="Ellipse 10"/>
          <p:cNvSpPr/>
          <p:nvPr/>
        </p:nvSpPr>
        <p:spPr>
          <a:xfrm>
            <a:off x="2859112" y="3247890"/>
            <a:ext cx="463639" cy="51515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13" name="Gerade Verbindung mit Pfeil 12"/>
          <p:cNvCxnSpPr/>
          <p:nvPr/>
        </p:nvCxnSpPr>
        <p:spPr>
          <a:xfrm>
            <a:off x="3342599" y="3661367"/>
            <a:ext cx="720080" cy="144016"/>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4" name="Textfeld 13"/>
          <p:cNvSpPr txBox="1"/>
          <p:nvPr/>
        </p:nvSpPr>
        <p:spPr>
          <a:xfrm>
            <a:off x="3995936" y="3658347"/>
            <a:ext cx="2592288" cy="276999"/>
          </a:xfrm>
          <a:prstGeom prst="rect">
            <a:avLst/>
          </a:prstGeom>
          <a:noFill/>
        </p:spPr>
        <p:txBody>
          <a:bodyPr wrap="square" rtlCol="0">
            <a:spAutoFit/>
          </a:bodyPr>
          <a:lstStyle/>
          <a:p>
            <a:r>
              <a:rPr lang="de-DE" sz="1200" dirty="0" smtClean="0"/>
              <a:t>Integration „über A“</a:t>
            </a:r>
            <a:endParaRPr lang="de-DE" sz="1200" dirty="0"/>
          </a:p>
        </p:txBody>
      </p:sp>
      <p:sp>
        <p:nvSpPr>
          <p:cNvPr id="15" name="Rechteck 14"/>
          <p:cNvSpPr/>
          <p:nvPr/>
        </p:nvSpPr>
        <p:spPr>
          <a:xfrm>
            <a:off x="3383756" y="2705704"/>
            <a:ext cx="600075" cy="245268"/>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17" name="Gerade Verbindung mit Pfeil 16"/>
          <p:cNvCxnSpPr/>
          <p:nvPr/>
        </p:nvCxnSpPr>
        <p:spPr>
          <a:xfrm flipV="1">
            <a:off x="3659709" y="2456516"/>
            <a:ext cx="216024" cy="216024"/>
          </a:xfrm>
          <a:prstGeom prst="straightConnector1">
            <a:avLst/>
          </a:prstGeom>
          <a:ln w="12700">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18" name="Textfeld 17"/>
          <p:cNvSpPr txBox="1"/>
          <p:nvPr/>
        </p:nvSpPr>
        <p:spPr>
          <a:xfrm>
            <a:off x="3635896" y="2233576"/>
            <a:ext cx="2784499" cy="261610"/>
          </a:xfrm>
          <a:prstGeom prst="rect">
            <a:avLst/>
          </a:prstGeom>
          <a:noFill/>
        </p:spPr>
        <p:txBody>
          <a:bodyPr wrap="square" rtlCol="0">
            <a:spAutoFit/>
          </a:bodyPr>
          <a:lstStyle/>
          <a:p>
            <a:r>
              <a:rPr lang="de-DE" sz="1100" dirty="0" smtClean="0"/>
              <a:t>Vektorwertiger Integrand</a:t>
            </a:r>
            <a:endParaRPr lang="de-DE" sz="1100" dirty="0"/>
          </a:p>
        </p:txBody>
      </p:sp>
      <p:sp>
        <p:nvSpPr>
          <p:cNvPr id="19" name="Rechteck 18"/>
          <p:cNvSpPr/>
          <p:nvPr/>
        </p:nvSpPr>
        <p:spPr>
          <a:xfrm>
            <a:off x="5801933" y="2752053"/>
            <a:ext cx="919374" cy="643213"/>
          </a:xfrm>
          <a:prstGeom prst="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21" name="Gerade Verbindung mit Pfeil 20"/>
          <p:cNvCxnSpPr/>
          <p:nvPr/>
        </p:nvCxnSpPr>
        <p:spPr>
          <a:xfrm flipV="1">
            <a:off x="6156176" y="2364381"/>
            <a:ext cx="360040" cy="341323"/>
          </a:xfrm>
          <a:prstGeom prst="straightConnector1">
            <a:avLst/>
          </a:prstGeom>
          <a:ln w="28575">
            <a:solidFill>
              <a:srgbClr val="FFC000"/>
            </a:solidFill>
            <a:tailEnd type="arrow"/>
          </a:ln>
        </p:spPr>
        <p:style>
          <a:lnRef idx="1">
            <a:schemeClr val="accent1"/>
          </a:lnRef>
          <a:fillRef idx="0">
            <a:schemeClr val="accent1"/>
          </a:fillRef>
          <a:effectRef idx="0">
            <a:schemeClr val="accent1"/>
          </a:effectRef>
          <a:fontRef idx="minor">
            <a:schemeClr val="tx1"/>
          </a:fontRef>
        </p:style>
      </p:cxnSp>
      <p:sp>
        <p:nvSpPr>
          <p:cNvPr id="22" name="Textfeld 21"/>
          <p:cNvSpPr txBox="1"/>
          <p:nvPr/>
        </p:nvSpPr>
        <p:spPr>
          <a:xfrm>
            <a:off x="6516216" y="2135146"/>
            <a:ext cx="2304256" cy="461665"/>
          </a:xfrm>
          <a:prstGeom prst="rect">
            <a:avLst/>
          </a:prstGeom>
          <a:noFill/>
        </p:spPr>
        <p:txBody>
          <a:bodyPr wrap="square" rtlCol="0">
            <a:spAutoFit/>
          </a:bodyPr>
          <a:lstStyle/>
          <a:p>
            <a:r>
              <a:rPr lang="de-DE" sz="1200" dirty="0" err="1"/>
              <a:t>skalarwertiges</a:t>
            </a:r>
            <a:r>
              <a:rPr lang="de-DE" sz="1200" dirty="0"/>
              <a:t> </a:t>
            </a:r>
            <a:endParaRPr lang="de-DE" sz="1200" dirty="0" smtClean="0"/>
          </a:p>
          <a:p>
            <a:r>
              <a:rPr lang="de-DE" sz="1200" dirty="0" smtClean="0"/>
              <a:t>Flächenelement</a:t>
            </a:r>
            <a:endParaRPr lang="de-DE" sz="1200" dirty="0"/>
          </a:p>
        </p:txBody>
      </p:sp>
      <p:sp>
        <p:nvSpPr>
          <p:cNvPr id="23" name="Textfeld 22"/>
          <p:cNvSpPr txBox="1"/>
          <p:nvPr/>
        </p:nvSpPr>
        <p:spPr>
          <a:xfrm>
            <a:off x="251520" y="4024684"/>
            <a:ext cx="8568952" cy="923330"/>
          </a:xfrm>
          <a:prstGeom prst="rect">
            <a:avLst/>
          </a:prstGeom>
          <a:noFill/>
        </p:spPr>
        <p:txBody>
          <a:bodyPr wrap="square" rtlCol="0">
            <a:spAutoFit/>
          </a:bodyPr>
          <a:lstStyle/>
          <a:p>
            <a:r>
              <a:rPr lang="de-DE" sz="1300" b="1" dirty="0" smtClean="0"/>
              <a:t>Weitere Beispiele:</a:t>
            </a:r>
          </a:p>
          <a:p>
            <a:endParaRPr lang="de-DE" sz="1300" dirty="0"/>
          </a:p>
          <a:p>
            <a:pPr marL="285750" indent="-285750">
              <a:buFont typeface="Arial" panose="020B0604020202020204" pitchFamily="34" charset="0"/>
              <a:buChar char="•"/>
            </a:pPr>
            <a:r>
              <a:rPr lang="de-DE" sz="1400" dirty="0" smtClean="0"/>
              <a:t>Satz des Pythagoras</a:t>
            </a:r>
            <a:r>
              <a:rPr lang="de-DE" sz="1400" dirty="0"/>
              <a:t>: lautlich leicht memorierbar („a² + b² = c²“)</a:t>
            </a:r>
          </a:p>
          <a:p>
            <a:pPr marL="285750" indent="-285750">
              <a:buFont typeface="Arial" panose="020B0604020202020204" pitchFamily="34" charset="0"/>
              <a:buChar char="•"/>
            </a:pPr>
            <a:r>
              <a:rPr lang="de-DE" sz="1400" dirty="0"/>
              <a:t>Fixpunkt-</a:t>
            </a:r>
            <a:r>
              <a:rPr lang="de-DE" sz="1400" dirty="0" err="1"/>
              <a:t>Kombinator</a:t>
            </a:r>
            <a:r>
              <a:rPr lang="de-DE" sz="1400" dirty="0" smtClean="0"/>
              <a:t>:. </a:t>
            </a:r>
            <a:r>
              <a:rPr lang="de-DE" sz="1400" dirty="0"/>
              <a:t>𝝀𝒇(𝝀𝒙𝒇(𝒙𝒙))(𝝀𝒙.𝒇(𝒙)) → lautlich kaum memorierbar</a:t>
            </a:r>
          </a:p>
        </p:txBody>
      </p:sp>
      <p:sp>
        <p:nvSpPr>
          <p:cNvPr id="2" name="Textfeld 1"/>
          <p:cNvSpPr txBox="1"/>
          <p:nvPr/>
        </p:nvSpPr>
        <p:spPr>
          <a:xfrm>
            <a:off x="107504" y="627534"/>
            <a:ext cx="8856984" cy="1569660"/>
          </a:xfrm>
          <a:prstGeom prst="rect">
            <a:avLst/>
          </a:prstGeom>
          <a:noFill/>
        </p:spPr>
        <p:txBody>
          <a:bodyPr wrap="square" rtlCol="0">
            <a:spAutoFit/>
          </a:bodyPr>
          <a:lstStyle/>
          <a:p>
            <a:pPr algn="just"/>
            <a:r>
              <a:rPr lang="de-DE" sz="1200" dirty="0"/>
              <a:t>Den Satz „Das Quadrat einer Summe zweier Größen ist gleich der Summe der Quadrate der beiden Größen und des Zweifachen ihres Produkts“ </a:t>
            </a:r>
            <a:r>
              <a:rPr lang="de-DE" sz="1200" dirty="0" err="1"/>
              <a:t>muß</a:t>
            </a:r>
            <a:r>
              <a:rPr lang="de-DE" sz="1200" dirty="0"/>
              <a:t> man zweimal lesen, um ihn in die Formel (a + b)² = a² + 2ab + b² zu übersetzen, die man mit </a:t>
            </a:r>
            <a:r>
              <a:rPr lang="de-DE" sz="1200" i="1" dirty="0"/>
              <a:t>einem</a:t>
            </a:r>
            <a:r>
              <a:rPr lang="de-DE" sz="1200" dirty="0"/>
              <a:t> Blick </a:t>
            </a:r>
            <a:r>
              <a:rPr lang="de-DE" sz="1200" dirty="0" err="1"/>
              <a:t>erfaßt</a:t>
            </a:r>
            <a:r>
              <a:rPr lang="de-DE" sz="1200" dirty="0"/>
              <a:t>. Und das ist ein harmloser Fall; bei komplizierteren Ausdrücken rückt eine nicht-symbolische Wiedergabe ins Absurde, ja man kann zweifeln, ob sie auch nur theoretisch möglich ist. (Hier sind wir wirklich in einem „Grenzraum der Schrift“, nämlich einem solchen, den wir ohne Schrift gar nicht betreten könnten.) Das Auge „denkt mit“, es entspringt ein Synergie-Effekt von Sehen und Denken, ohne den alle „höheren“ Entwicklungen undenkbar sind.</a:t>
            </a:r>
          </a:p>
          <a:p>
            <a:r>
              <a:rPr lang="de-DE" sz="1200" dirty="0"/>
              <a:t>(Kleinert (2007), S. 5)</a:t>
            </a:r>
          </a:p>
          <a:p>
            <a:endParaRPr lang="de-DE" sz="1200" dirty="0"/>
          </a:p>
        </p:txBody>
      </p:sp>
      <mc:AlternateContent xmlns:mc="http://schemas.openxmlformats.org/markup-compatibility/2006" xmlns:p14="http://schemas.microsoft.com/office/powerpoint/2010/main">
        <mc:Choice Requires="p14">
          <p:contentPart p14:bwMode="auto" r:id="rId4">
            <p14:nvContentPartPr>
              <p14:cNvPr id="3" name="Freihand 2"/>
              <p14:cNvContentPartPr/>
              <p14:nvPr/>
            </p14:nvContentPartPr>
            <p14:xfrm>
              <a:off x="2262240" y="4857840"/>
              <a:ext cx="1590840" cy="47880"/>
            </p14:xfrm>
          </p:contentPart>
        </mc:Choice>
        <mc:Fallback xmlns="">
          <p:pic>
            <p:nvPicPr>
              <p:cNvPr id="3" name="Freihand 2"/>
              <p:cNvPicPr/>
              <p:nvPr/>
            </p:nvPicPr>
            <p:blipFill>
              <a:blip r:embed="rId5"/>
              <a:stretch>
                <a:fillRect/>
              </a:stretch>
            </p:blipFill>
            <p:spPr>
              <a:xfrm>
                <a:off x="2252880" y="4848480"/>
                <a:ext cx="1609560" cy="66600"/>
              </a:xfrm>
              <a:prstGeom prst="rect">
                <a:avLst/>
              </a:prstGeom>
            </p:spPr>
          </p:pic>
        </mc:Fallback>
      </mc:AlternateContent>
    </p:spTree>
    <p:extLst>
      <p:ext uri="{BB962C8B-B14F-4D97-AF65-F5344CB8AC3E}">
        <p14:creationId xmlns:p14="http://schemas.microsoft.com/office/powerpoint/2010/main" val="823071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3">
                                            <p:txEl>
                                              <p:pRg st="0" end="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3">
                                            <p:txEl>
                                              <p:pRg st="2" end="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animBg="1"/>
      <p:bldP spid="14" grpId="0"/>
      <p:bldP spid="15" grpId="0" animBg="1"/>
      <p:bldP spid="18" grpId="0"/>
      <p:bldP spid="19" grpId="0" animBg="1"/>
      <p:bldP spid="2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hteck 5"/>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7" name="Textfeld 6"/>
          <p:cNvSpPr txBox="1"/>
          <p:nvPr/>
        </p:nvSpPr>
        <p:spPr>
          <a:xfrm>
            <a:off x="0" y="-29240"/>
            <a:ext cx="9144000" cy="584775"/>
          </a:xfrm>
          <a:prstGeom prst="rect">
            <a:avLst/>
          </a:prstGeom>
          <a:noFill/>
        </p:spPr>
        <p:txBody>
          <a:bodyPr wrap="square" rtlCol="0">
            <a:spAutoFit/>
          </a:bodyPr>
          <a:lstStyle/>
          <a:p>
            <a:pPr algn="ctr"/>
            <a:r>
              <a:rPr lang="en-CA" sz="3200" dirty="0">
                <a:solidFill>
                  <a:schemeClr val="bg1"/>
                </a:solidFill>
                <a:effectLst>
                  <a:outerShdw blurRad="38100" dist="38100" dir="2700000" algn="tl">
                    <a:srgbClr val="000000">
                      <a:alpha val="43137"/>
                    </a:srgbClr>
                  </a:outerShdw>
                </a:effectLst>
              </a:rPr>
              <a:t>George </a:t>
            </a:r>
            <a:r>
              <a:rPr lang="en-CA" sz="3200" dirty="0" err="1" smtClean="0">
                <a:solidFill>
                  <a:schemeClr val="bg1"/>
                </a:solidFill>
                <a:effectLst>
                  <a:outerShdw blurRad="38100" dist="38100" dir="2700000" algn="tl">
                    <a:srgbClr val="000000">
                      <a:alpha val="43137"/>
                    </a:srgbClr>
                  </a:outerShdw>
                </a:effectLst>
              </a:rPr>
              <a:t>Pólya</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Anforderungen</a:t>
            </a:r>
            <a:r>
              <a:rPr lang="en-CA" sz="3200" dirty="0" smtClean="0">
                <a:solidFill>
                  <a:schemeClr val="bg1"/>
                </a:solidFill>
                <a:effectLst>
                  <a:outerShdw blurRad="38100" dist="38100" dir="2700000" algn="tl">
                    <a:srgbClr val="000000">
                      <a:alpha val="43137"/>
                    </a:srgbClr>
                  </a:outerShdw>
                </a:effectLst>
              </a:rPr>
              <a:t> an Notation</a:t>
            </a:r>
            <a:endParaRPr lang="en-CA" sz="3200" dirty="0">
              <a:solidFill>
                <a:schemeClr val="bg1"/>
              </a:solidFill>
              <a:effectLst>
                <a:outerShdw blurRad="38100" dist="38100" dir="2700000" algn="tl">
                  <a:srgbClr val="000000">
                    <a:alpha val="43137"/>
                  </a:srgbClr>
                </a:outerShdw>
              </a:effectLst>
            </a:endParaRPr>
          </a:p>
        </p:txBody>
      </p:sp>
      <p:sp>
        <p:nvSpPr>
          <p:cNvPr id="3" name="Textfeld 2"/>
          <p:cNvSpPr txBox="1"/>
          <p:nvPr/>
        </p:nvSpPr>
        <p:spPr>
          <a:xfrm>
            <a:off x="107504" y="627534"/>
            <a:ext cx="4104456" cy="461665"/>
          </a:xfrm>
          <a:prstGeom prst="rect">
            <a:avLst/>
          </a:prstGeom>
          <a:noFill/>
        </p:spPr>
        <p:txBody>
          <a:bodyPr wrap="square" rtlCol="0">
            <a:spAutoFit/>
          </a:bodyPr>
          <a:lstStyle/>
          <a:p>
            <a:r>
              <a:rPr lang="de-DE" sz="2400" b="1" dirty="0" smtClean="0"/>
              <a:t>Produktive Ambiguität</a:t>
            </a:r>
            <a:endParaRPr lang="de-DE" sz="2400" b="1" dirty="0"/>
          </a:p>
        </p:txBody>
      </p:sp>
      <p:sp>
        <p:nvSpPr>
          <p:cNvPr id="8" name="Rechteck 7"/>
          <p:cNvSpPr/>
          <p:nvPr/>
        </p:nvSpPr>
        <p:spPr>
          <a:xfrm>
            <a:off x="251520" y="1059582"/>
            <a:ext cx="8640960" cy="923330"/>
          </a:xfrm>
          <a:prstGeom prst="rect">
            <a:avLst/>
          </a:prstGeom>
        </p:spPr>
        <p:txBody>
          <a:bodyPr wrap="square">
            <a:spAutoFit/>
          </a:bodyPr>
          <a:lstStyle/>
          <a:p>
            <a:pPr algn="just"/>
            <a:r>
              <a:rPr lang="en-US" dirty="0" smtClean="0"/>
              <a:t>“A good notation should be </a:t>
            </a:r>
            <a:r>
              <a:rPr lang="en-US" dirty="0" err="1" smtClean="0"/>
              <a:t>unamibguous</a:t>
            </a:r>
            <a:r>
              <a:rPr lang="en-US" dirty="0" smtClean="0"/>
              <a:t>, pregnant, easy to remember; it should </a:t>
            </a:r>
            <a:r>
              <a:rPr lang="en-US" b="1" dirty="0" smtClean="0"/>
              <a:t>avoid harmful second meanings</a:t>
            </a:r>
            <a:r>
              <a:rPr lang="en-US" dirty="0" smtClean="0"/>
              <a:t>, and </a:t>
            </a:r>
            <a:r>
              <a:rPr lang="en-US" b="1" dirty="0" smtClean="0"/>
              <a:t>take advantage of useful second meanings</a:t>
            </a:r>
            <a:r>
              <a:rPr lang="en-US" dirty="0" smtClean="0"/>
              <a:t>; the order and connections of signs should suggest the order and connection of things.”</a:t>
            </a:r>
            <a:endParaRPr lang="de-DE" dirty="0"/>
          </a:p>
        </p:txBody>
      </p:sp>
      <p:pic>
        <p:nvPicPr>
          <p:cNvPr id="1026" name="Picture 2" descr="undefine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7324" y="2086119"/>
            <a:ext cx="1870420" cy="2908503"/>
          </a:xfrm>
          <a:prstGeom prst="rect">
            <a:avLst/>
          </a:prstGeom>
          <a:noFill/>
          <a:ln w="28575">
            <a:solidFill>
              <a:schemeClr val="accent1"/>
            </a:solidFill>
          </a:ln>
          <a:extLst>
            <a:ext uri="{909E8E84-426E-40DD-AFC4-6F175D3DCCD1}">
              <a14:hiddenFill xmlns:a14="http://schemas.microsoft.com/office/drawing/2010/main">
                <a:solidFill>
                  <a:srgbClr val="FFFFFF"/>
                </a:solidFill>
              </a14:hiddenFill>
            </a:ext>
          </a:extLst>
        </p:spPr>
      </p:pic>
      <p:sp>
        <p:nvSpPr>
          <p:cNvPr id="2" name="Textfeld 1"/>
          <p:cNvSpPr txBox="1"/>
          <p:nvPr/>
        </p:nvSpPr>
        <p:spPr>
          <a:xfrm>
            <a:off x="2555776" y="2111519"/>
            <a:ext cx="5976664" cy="2677656"/>
          </a:xfrm>
          <a:prstGeom prst="rect">
            <a:avLst/>
          </a:prstGeom>
          <a:noFill/>
        </p:spPr>
        <p:txBody>
          <a:bodyPr wrap="square" rtlCol="0">
            <a:spAutoFit/>
          </a:bodyPr>
          <a:lstStyle/>
          <a:p>
            <a:r>
              <a:rPr lang="de-DE" sz="2400" b="1" dirty="0" smtClean="0"/>
              <a:t>Beispiele:</a:t>
            </a:r>
            <a:endParaRPr lang="de-DE" sz="2400" b="1" dirty="0"/>
          </a:p>
          <a:p>
            <a:pPr marL="285750" indent="-285750">
              <a:buFont typeface="Arial" panose="020B0604020202020204" pitchFamily="34" charset="0"/>
              <a:buChar char="•"/>
            </a:pPr>
            <a:r>
              <a:rPr lang="de-DE" dirty="0" smtClean="0"/>
              <a:t>Behandeln von dx/</a:t>
            </a:r>
            <a:r>
              <a:rPr lang="de-DE" dirty="0" err="1" smtClean="0"/>
              <a:t>dy</a:t>
            </a:r>
            <a:r>
              <a:rPr lang="de-DE" dirty="0" smtClean="0"/>
              <a:t> als Bruch (z. B. bei Trennung der Variablen oder Integralsubstitutionen)</a:t>
            </a:r>
          </a:p>
          <a:p>
            <a:endParaRPr lang="de-DE" dirty="0"/>
          </a:p>
          <a:p>
            <a:endParaRPr lang="de-DE" dirty="0" smtClean="0"/>
          </a:p>
          <a:p>
            <a:endParaRPr lang="de-DE" dirty="0"/>
          </a:p>
          <a:p>
            <a:endParaRPr lang="de-DE" dirty="0"/>
          </a:p>
          <a:p>
            <a:endParaRPr lang="de-DE" dirty="0" smtClean="0"/>
          </a:p>
          <a:p>
            <a:pPr marL="285750" indent="-285750">
              <a:buFont typeface="Arial" panose="020B0604020202020204" pitchFamily="34" charset="0"/>
              <a:buChar char="•"/>
            </a:pPr>
            <a:r>
              <a:rPr lang="de-DE" dirty="0" smtClean="0"/>
              <a:t> </a:t>
            </a:r>
            <a:r>
              <a:rPr lang="de-DE" u="sng" dirty="0" smtClean="0"/>
              <a:t>Schädlich</a:t>
            </a:r>
            <a:r>
              <a:rPr lang="de-DE" dirty="0" smtClean="0"/>
              <a:t>: sin²(x) kann (sin(x))² oder sin(sin(x)) bedeuten.</a:t>
            </a:r>
            <a:endParaRPr lang="de-DE" dirty="0"/>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5816" y="3263647"/>
            <a:ext cx="5328592" cy="874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43262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2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feld 3"/>
          <p:cNvSpPr txBox="1"/>
          <p:nvPr/>
        </p:nvSpPr>
        <p:spPr>
          <a:xfrm>
            <a:off x="323528" y="1419622"/>
            <a:ext cx="8280920" cy="1323439"/>
          </a:xfrm>
          <a:prstGeom prst="rect">
            <a:avLst/>
          </a:prstGeom>
          <a:noFill/>
        </p:spPr>
        <p:txBody>
          <a:bodyPr wrap="square" rtlCol="0">
            <a:spAutoFit/>
          </a:bodyPr>
          <a:lstStyle/>
          <a:p>
            <a:pPr algn="ctr"/>
            <a:r>
              <a:rPr lang="de-DE" sz="8000" dirty="0" err="1" smtClean="0"/>
              <a:t>Ikonizität</a:t>
            </a:r>
            <a:r>
              <a:rPr lang="de-DE" sz="8000" dirty="0" smtClean="0"/>
              <a:t> </a:t>
            </a:r>
            <a:endParaRPr lang="de-DE" sz="8000" dirty="0"/>
          </a:p>
        </p:txBody>
      </p:sp>
      <p:sp>
        <p:nvSpPr>
          <p:cNvPr id="2" name="Textfeld 1"/>
          <p:cNvSpPr txBox="1"/>
          <p:nvPr/>
        </p:nvSpPr>
        <p:spPr>
          <a:xfrm>
            <a:off x="107504" y="2571750"/>
            <a:ext cx="9001000" cy="461665"/>
          </a:xfrm>
          <a:prstGeom prst="rect">
            <a:avLst/>
          </a:prstGeom>
          <a:noFill/>
        </p:spPr>
        <p:txBody>
          <a:bodyPr wrap="square" rtlCol="0">
            <a:spAutoFit/>
          </a:bodyPr>
          <a:lstStyle/>
          <a:p>
            <a:pPr algn="ctr"/>
            <a:r>
              <a:rPr lang="de-DE" sz="2400" dirty="0" smtClean="0"/>
              <a:t>Ähnlichkeit  zwischen Zeichenform und Bedeutungsinhalt</a:t>
            </a:r>
            <a:endParaRPr lang="de-DE" sz="2400" dirty="0"/>
          </a:p>
        </p:txBody>
      </p:sp>
    </p:spTree>
    <p:extLst>
      <p:ext uri="{BB962C8B-B14F-4D97-AF65-F5344CB8AC3E}">
        <p14:creationId xmlns:p14="http://schemas.microsoft.com/office/powerpoint/2010/main" val="294318160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hteck 1"/>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 name="Textfeld 2"/>
          <p:cNvSpPr txBox="1"/>
          <p:nvPr/>
        </p:nvSpPr>
        <p:spPr>
          <a:xfrm>
            <a:off x="0" y="-29246"/>
            <a:ext cx="9144000" cy="5847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CA" sz="3200" dirty="0" smtClean="0">
                <a:solidFill>
                  <a:schemeClr val="bg1"/>
                </a:solidFill>
                <a:effectLst>
                  <a:outerShdw blurRad="38100" dist="38100" dir="2700000" algn="tl">
                    <a:srgbClr val="000000">
                      <a:alpha val="43137"/>
                    </a:srgbClr>
                  </a:outerShdw>
                </a:effectLst>
              </a:rPr>
              <a:t>Das </a:t>
            </a:r>
            <a:r>
              <a:rPr lang="en-CA" sz="3200" dirty="0" err="1" smtClean="0">
                <a:solidFill>
                  <a:schemeClr val="bg1"/>
                </a:solidFill>
                <a:effectLst>
                  <a:outerShdw blurRad="38100" dist="38100" dir="2700000" algn="tl">
                    <a:srgbClr val="000000">
                      <a:alpha val="43137"/>
                    </a:srgbClr>
                  </a:outerShdw>
                </a:effectLst>
              </a:rPr>
              <a:t>Laut</a:t>
            </a:r>
            <a:r>
              <a:rPr lang="en-CA" sz="3200" dirty="0" smtClean="0">
                <a:solidFill>
                  <a:schemeClr val="bg1"/>
                </a:solidFill>
                <a:effectLst>
                  <a:outerShdw blurRad="38100" dist="38100" dir="2700000" algn="tl">
                    <a:srgbClr val="000000">
                      <a:alpha val="43137"/>
                    </a:srgbClr>
                  </a:outerShdw>
                </a:effectLst>
              </a:rPr>
              <a:t>- und </a:t>
            </a:r>
            <a:r>
              <a:rPr lang="en-CA" sz="3200" dirty="0" err="1" smtClean="0">
                <a:solidFill>
                  <a:schemeClr val="bg1"/>
                </a:solidFill>
                <a:effectLst>
                  <a:outerShdw blurRad="38100" dist="38100" dir="2700000" algn="tl">
                    <a:srgbClr val="000000">
                      <a:alpha val="43137"/>
                    </a:srgbClr>
                  </a:outerShdw>
                </a:effectLst>
              </a:rPr>
              <a:t>Formikonische</a:t>
            </a:r>
            <a:endParaRPr lang="en-CA" sz="3200" dirty="0">
              <a:solidFill>
                <a:schemeClr val="bg1"/>
              </a:solidFill>
              <a:effectLst>
                <a:outerShdw blurRad="38100" dist="38100" dir="2700000" algn="tl">
                  <a:srgbClr val="000000">
                    <a:alpha val="43137"/>
                  </a:srgbClr>
                </a:outerShdw>
              </a:effectLst>
            </a:endParaRPr>
          </a:p>
        </p:txBody>
      </p:sp>
      <p:pic>
        <p:nvPicPr>
          <p:cNvPr id="7170" name="Picture 2" descr="10 Luftballons rot Luftballon | Kaufland.de"/>
          <p:cNvPicPr>
            <a:picLocks noChangeAspect="1" noChangeArrowheads="1"/>
          </p:cNvPicPr>
          <p:nvPr/>
        </p:nvPicPr>
        <p:blipFill>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backgroundRemoval t="8203" b="93099" l="9473" r="81055"/>
                    </a14:imgEffect>
                  </a14:imgLayer>
                </a14:imgProps>
              </a:ext>
              <a:ext uri="{28A0092B-C50C-407E-A947-70E740481C1C}">
                <a14:useLocalDpi xmlns:a14="http://schemas.microsoft.com/office/drawing/2010/main" val="0"/>
              </a:ext>
            </a:extLst>
          </a:blip>
          <a:srcRect/>
          <a:stretch>
            <a:fillRect/>
          </a:stretch>
        </p:blipFill>
        <p:spPr bwMode="auto">
          <a:xfrm>
            <a:off x="-288032" y="546906"/>
            <a:ext cx="2699792" cy="2024844"/>
          </a:xfrm>
          <a:prstGeom prst="rect">
            <a:avLst/>
          </a:prstGeom>
          <a:noFill/>
          <a:extLst>
            <a:ext uri="{909E8E84-426E-40DD-AFC4-6F175D3DCCD1}">
              <a14:hiddenFill xmlns:a14="http://schemas.microsoft.com/office/drawing/2010/main">
                <a:solidFill>
                  <a:srgbClr val="FFFFFF"/>
                </a:solidFill>
              </a14:hiddenFill>
            </a:ext>
          </a:extLst>
        </p:spPr>
      </p:pic>
      <p:sp>
        <p:nvSpPr>
          <p:cNvPr id="9" name="Textfeld 8"/>
          <p:cNvSpPr txBox="1"/>
          <p:nvPr/>
        </p:nvSpPr>
        <p:spPr>
          <a:xfrm>
            <a:off x="179512" y="2490450"/>
            <a:ext cx="1800200" cy="369332"/>
          </a:xfrm>
          <a:prstGeom prst="rect">
            <a:avLst/>
          </a:prstGeom>
          <a:noFill/>
        </p:spPr>
        <p:txBody>
          <a:bodyPr wrap="square" rtlCol="0">
            <a:spAutoFit/>
          </a:bodyPr>
          <a:lstStyle/>
          <a:p>
            <a:pPr algn="ctr"/>
            <a:r>
              <a:rPr lang="de-DE" dirty="0" err="1" smtClean="0"/>
              <a:t>Plat·zen</a:t>
            </a:r>
            <a:r>
              <a:rPr lang="de-DE" dirty="0" smtClean="0"/>
              <a:t> </a:t>
            </a:r>
            <a:r>
              <a:rPr lang="de-DE" dirty="0"/>
              <a:t>(Plosiv</a:t>
            </a:r>
            <a:r>
              <a:rPr lang="de-DE" dirty="0" smtClean="0"/>
              <a:t>)</a:t>
            </a:r>
            <a:endParaRPr lang="de-DE" dirty="0"/>
          </a:p>
        </p:txBody>
      </p:sp>
      <p:pic>
        <p:nvPicPr>
          <p:cNvPr id="7172" name="Picture 4" descr="Schleifen - DAS HAUS"/>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283978" y="699542"/>
            <a:ext cx="1783966" cy="1783966"/>
          </a:xfrm>
          <a:prstGeom prst="rect">
            <a:avLst/>
          </a:prstGeom>
          <a:noFill/>
          <a:extLst>
            <a:ext uri="{909E8E84-426E-40DD-AFC4-6F175D3DCCD1}">
              <a14:hiddenFill xmlns:a14="http://schemas.microsoft.com/office/drawing/2010/main">
                <a:solidFill>
                  <a:srgbClr val="FFFFFF"/>
                </a:solidFill>
              </a14:hiddenFill>
            </a:ext>
          </a:extLst>
        </p:spPr>
      </p:pic>
      <p:sp>
        <p:nvSpPr>
          <p:cNvPr id="10" name="Textfeld 9"/>
          <p:cNvSpPr txBox="1"/>
          <p:nvPr/>
        </p:nvSpPr>
        <p:spPr>
          <a:xfrm>
            <a:off x="2195736" y="2499742"/>
            <a:ext cx="1944216" cy="369332"/>
          </a:xfrm>
          <a:prstGeom prst="rect">
            <a:avLst/>
          </a:prstGeom>
          <a:noFill/>
        </p:spPr>
        <p:txBody>
          <a:bodyPr wrap="square" rtlCol="0">
            <a:spAutoFit/>
          </a:bodyPr>
          <a:lstStyle/>
          <a:p>
            <a:pPr algn="ctr"/>
            <a:r>
              <a:rPr lang="de-DE" dirty="0" err="1" smtClean="0"/>
              <a:t>schlei·fen</a:t>
            </a:r>
            <a:r>
              <a:rPr lang="de-DE" dirty="0" smtClean="0"/>
              <a:t> (Frikativ)</a:t>
            </a:r>
            <a:endParaRPr lang="de-DE" dirty="0"/>
          </a:p>
        </p:txBody>
      </p:sp>
      <p:sp>
        <p:nvSpPr>
          <p:cNvPr id="6" name="Textfeld 5"/>
          <p:cNvSpPr txBox="1"/>
          <p:nvPr/>
        </p:nvSpPr>
        <p:spPr>
          <a:xfrm>
            <a:off x="251520" y="2978824"/>
            <a:ext cx="3312368" cy="400110"/>
          </a:xfrm>
          <a:prstGeom prst="rect">
            <a:avLst/>
          </a:prstGeom>
          <a:noFill/>
        </p:spPr>
        <p:txBody>
          <a:bodyPr wrap="square" rtlCol="0">
            <a:spAutoFit/>
          </a:bodyPr>
          <a:lstStyle/>
          <a:p>
            <a:r>
              <a:rPr lang="de-DE" sz="2000" b="1" dirty="0" err="1" smtClean="0"/>
              <a:t>Ideophone</a:t>
            </a:r>
            <a:r>
              <a:rPr lang="de-DE" sz="2000" b="1" dirty="0" smtClean="0"/>
              <a:t>:</a:t>
            </a:r>
            <a:endParaRPr lang="de-DE" sz="2000" b="1" dirty="0"/>
          </a:p>
        </p:txBody>
      </p:sp>
      <p:sp>
        <p:nvSpPr>
          <p:cNvPr id="8" name="Textfeld 7"/>
          <p:cNvSpPr txBox="1"/>
          <p:nvPr/>
        </p:nvSpPr>
        <p:spPr>
          <a:xfrm>
            <a:off x="323528" y="3435846"/>
            <a:ext cx="3456384" cy="1569660"/>
          </a:xfrm>
          <a:prstGeom prst="rect">
            <a:avLst/>
          </a:prstGeom>
          <a:noFill/>
        </p:spPr>
        <p:txBody>
          <a:bodyPr wrap="square" rtlCol="0">
            <a:spAutoFit/>
          </a:bodyPr>
          <a:lstStyle/>
          <a:p>
            <a:pPr marL="285750" indent="-285750">
              <a:buFont typeface="Arial" panose="020B0604020202020204" pitchFamily="34" charset="0"/>
              <a:buChar char="•"/>
            </a:pPr>
            <a:r>
              <a:rPr lang="de-DE" sz="1600" dirty="0"/>
              <a:t>zickzack, </a:t>
            </a:r>
            <a:endParaRPr lang="de-DE" sz="1600" dirty="0" smtClean="0"/>
          </a:p>
          <a:p>
            <a:pPr marL="285750" indent="-285750">
              <a:buFont typeface="Arial" panose="020B0604020202020204" pitchFamily="34" charset="0"/>
              <a:buChar char="•"/>
            </a:pPr>
            <a:r>
              <a:rPr lang="de-DE" sz="1600" dirty="0" smtClean="0"/>
              <a:t>holterdiepolter</a:t>
            </a:r>
            <a:r>
              <a:rPr lang="de-DE" sz="1600" dirty="0"/>
              <a:t>, </a:t>
            </a:r>
            <a:endParaRPr lang="de-DE" sz="1600" dirty="0" smtClean="0"/>
          </a:p>
          <a:p>
            <a:pPr marL="285750" indent="-285750">
              <a:buFont typeface="Arial" panose="020B0604020202020204" pitchFamily="34" charset="0"/>
              <a:buChar char="•"/>
            </a:pPr>
            <a:r>
              <a:rPr lang="de-DE" sz="1600" dirty="0" err="1" smtClean="0"/>
              <a:t>ratzfatz</a:t>
            </a:r>
            <a:r>
              <a:rPr lang="de-DE" sz="1600" dirty="0"/>
              <a:t>, </a:t>
            </a:r>
            <a:endParaRPr lang="de-DE" sz="1600" dirty="0" smtClean="0"/>
          </a:p>
          <a:p>
            <a:pPr marL="285750" indent="-285750">
              <a:buFont typeface="Arial" panose="020B0604020202020204" pitchFamily="34" charset="0"/>
              <a:buChar char="•"/>
            </a:pPr>
            <a:r>
              <a:rPr lang="de-DE" sz="1600" dirty="0" err="1" smtClean="0"/>
              <a:t>pille-palle</a:t>
            </a:r>
            <a:r>
              <a:rPr lang="de-DE" sz="1600" dirty="0"/>
              <a:t>, </a:t>
            </a:r>
            <a:endParaRPr lang="de-DE" sz="1600" dirty="0" smtClean="0"/>
          </a:p>
          <a:p>
            <a:pPr marL="285750" indent="-285750">
              <a:buFont typeface="Arial" panose="020B0604020202020204" pitchFamily="34" charset="0"/>
              <a:buChar char="•"/>
            </a:pPr>
            <a:r>
              <a:rPr lang="de-DE" sz="1600" dirty="0" smtClean="0"/>
              <a:t>plemplem</a:t>
            </a:r>
            <a:r>
              <a:rPr lang="de-DE" sz="1600" dirty="0"/>
              <a:t>, </a:t>
            </a:r>
            <a:endParaRPr lang="de-DE" sz="1600" dirty="0" smtClean="0"/>
          </a:p>
          <a:p>
            <a:pPr marL="285750" indent="-285750">
              <a:buFont typeface="Arial" panose="020B0604020202020204" pitchFamily="34" charset="0"/>
              <a:buChar char="•"/>
            </a:pPr>
            <a:r>
              <a:rPr lang="de-DE" sz="1600" dirty="0" err="1" smtClean="0"/>
              <a:t>plitschplatsch</a:t>
            </a:r>
            <a:r>
              <a:rPr lang="de-DE" sz="1600" dirty="0"/>
              <a:t>, </a:t>
            </a:r>
            <a:r>
              <a:rPr lang="de-DE" sz="1600" dirty="0" err="1" smtClean="0"/>
              <a:t>pitschepatsche</a:t>
            </a:r>
            <a:endParaRPr lang="de-DE" sz="1600" dirty="0"/>
          </a:p>
        </p:txBody>
      </p:sp>
      <p:sp>
        <p:nvSpPr>
          <p:cNvPr id="13" name="Textfeld 12"/>
          <p:cNvSpPr txBox="1"/>
          <p:nvPr/>
        </p:nvSpPr>
        <p:spPr>
          <a:xfrm>
            <a:off x="4283968" y="618242"/>
            <a:ext cx="4392488" cy="369332"/>
          </a:xfrm>
          <a:prstGeom prst="rect">
            <a:avLst/>
          </a:prstGeom>
          <a:noFill/>
        </p:spPr>
        <p:txBody>
          <a:bodyPr wrap="square" rtlCol="0">
            <a:spAutoFit/>
          </a:bodyPr>
          <a:lstStyle/>
          <a:p>
            <a:r>
              <a:rPr lang="de-DE" b="1" dirty="0" smtClean="0"/>
              <a:t>Buchstabenanzahl und Pluralform</a:t>
            </a:r>
            <a:endParaRPr lang="de-DE" b="1" dirty="0"/>
          </a:p>
        </p:txBody>
      </p:sp>
      <p:pic>
        <p:nvPicPr>
          <p:cNvPr id="9218" name="Picture 2" descr="D:\Downloads\May 26, 2025, 10_38_25 PM.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860032" y="1923679"/>
            <a:ext cx="3456384" cy="2304256"/>
          </a:xfrm>
          <a:prstGeom prst="rect">
            <a:avLst/>
          </a:prstGeom>
          <a:noFill/>
          <a:extLst>
            <a:ext uri="{909E8E84-426E-40DD-AFC4-6F175D3DCCD1}">
              <a14:hiddenFill xmlns:a14="http://schemas.microsoft.com/office/drawing/2010/main">
                <a:solidFill>
                  <a:srgbClr val="FFFFFF"/>
                </a:solidFill>
              </a14:hiddenFill>
            </a:ext>
          </a:extLst>
        </p:spPr>
      </p:pic>
      <p:sp>
        <p:nvSpPr>
          <p:cNvPr id="15" name="Textfeld 14"/>
          <p:cNvSpPr txBox="1"/>
          <p:nvPr/>
        </p:nvSpPr>
        <p:spPr>
          <a:xfrm>
            <a:off x="4283968" y="915566"/>
            <a:ext cx="4608512" cy="1169551"/>
          </a:xfrm>
          <a:prstGeom prst="rect">
            <a:avLst/>
          </a:prstGeom>
          <a:noFill/>
        </p:spPr>
        <p:txBody>
          <a:bodyPr wrap="square" rtlCol="0">
            <a:spAutoFit/>
          </a:bodyPr>
          <a:lstStyle/>
          <a:p>
            <a:r>
              <a:rPr lang="de-DE" sz="1400" dirty="0" err="1" smtClean="0"/>
              <a:t>Ikonizität</a:t>
            </a:r>
            <a:r>
              <a:rPr lang="de-DE" sz="1400" dirty="0" smtClean="0"/>
              <a:t> zwischen Menge und </a:t>
            </a:r>
            <a:r>
              <a:rPr lang="de-DE" sz="1400" dirty="0" err="1" smtClean="0"/>
              <a:t>Numerusform</a:t>
            </a:r>
            <a:r>
              <a:rPr lang="de-DE" sz="1400" dirty="0" smtClean="0"/>
              <a:t>: </a:t>
            </a:r>
          </a:p>
          <a:p>
            <a:pPr algn="ctr"/>
            <a:r>
              <a:rPr lang="de-DE" sz="1400" dirty="0" smtClean="0"/>
              <a:t>Der Plural ist länger als der Singular.</a:t>
            </a:r>
          </a:p>
          <a:p>
            <a:pPr algn="ctr"/>
            <a:r>
              <a:rPr lang="de-DE" sz="1400" dirty="0"/>
              <a:t/>
            </a:r>
            <a:br>
              <a:rPr lang="de-DE" sz="1400" dirty="0"/>
            </a:br>
            <a:r>
              <a:rPr lang="de-DE" sz="1400" dirty="0" smtClean="0"/>
              <a:t>Gans (4 Buchstaben) und Gänse (5 Buchstaben)</a:t>
            </a:r>
          </a:p>
          <a:p>
            <a:pPr algn="ctr"/>
            <a:endParaRPr lang="de-DE" sz="1400" dirty="0"/>
          </a:p>
        </p:txBody>
      </p:sp>
      <p:sp>
        <p:nvSpPr>
          <p:cNvPr id="18" name="Textfeld 17"/>
          <p:cNvSpPr txBox="1"/>
          <p:nvPr/>
        </p:nvSpPr>
        <p:spPr>
          <a:xfrm>
            <a:off x="4572000" y="4424794"/>
            <a:ext cx="4752528" cy="523220"/>
          </a:xfrm>
          <a:prstGeom prst="rect">
            <a:avLst/>
          </a:prstGeom>
          <a:noFill/>
        </p:spPr>
        <p:txBody>
          <a:bodyPr wrap="square" rtlCol="0">
            <a:spAutoFit/>
          </a:bodyPr>
          <a:lstStyle/>
          <a:p>
            <a:pPr marL="285750" indent="-285750">
              <a:buFont typeface="Arial" panose="020B0604020202020204" pitchFamily="34" charset="0"/>
              <a:buChar char="•"/>
            </a:pPr>
            <a:r>
              <a:rPr lang="de-DE" sz="1400" dirty="0"/>
              <a:t>≪ heißt auch „viel größer“ (Steigerung von &lt;) </a:t>
            </a:r>
          </a:p>
          <a:p>
            <a:pPr marL="285750" indent="-285750">
              <a:buFont typeface="Arial" panose="020B0604020202020204" pitchFamily="34" charset="0"/>
              <a:buChar char="•"/>
            </a:pPr>
            <a:r>
              <a:rPr lang="de-DE" sz="1400" dirty="0" smtClean="0"/>
              <a:t>Ruhe … Ruhe! … Ruhe!!!!!</a:t>
            </a:r>
            <a:endParaRPr lang="de-DE" sz="1400" dirty="0"/>
          </a:p>
        </p:txBody>
      </p:sp>
    </p:spTree>
    <p:extLst>
      <p:ext uri="{BB962C8B-B14F-4D97-AF65-F5344CB8AC3E}">
        <p14:creationId xmlns:p14="http://schemas.microsoft.com/office/powerpoint/2010/main" val="2693342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17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921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6" grpId="0"/>
      <p:bldP spid="8" grpId="0"/>
      <p:bldP spid="1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hteck 1"/>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 name="Textfeld 2"/>
          <p:cNvSpPr txBox="1"/>
          <p:nvPr/>
        </p:nvSpPr>
        <p:spPr>
          <a:xfrm>
            <a:off x="0" y="-29246"/>
            <a:ext cx="9144000" cy="5847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Ikonizitätstrias</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beim</a:t>
            </a:r>
            <a:r>
              <a:rPr lang="en-CA" sz="3200" dirty="0" smtClean="0">
                <a:solidFill>
                  <a:schemeClr val="bg1"/>
                </a:solidFill>
                <a:effectLst>
                  <a:outerShdw blurRad="38100" dist="38100" dir="2700000" algn="tl">
                    <a:srgbClr val="000000">
                      <a:alpha val="43137"/>
                    </a:srgbClr>
                  </a:outerShdw>
                </a:effectLst>
              </a:rPr>
              <a:t> Kiki-</a:t>
            </a:r>
            <a:r>
              <a:rPr lang="en-CA" sz="3200" dirty="0" err="1" smtClean="0">
                <a:solidFill>
                  <a:schemeClr val="bg1"/>
                </a:solidFill>
                <a:effectLst>
                  <a:outerShdw blurRad="38100" dist="38100" dir="2700000" algn="tl">
                    <a:srgbClr val="000000">
                      <a:alpha val="43137"/>
                    </a:srgbClr>
                  </a:outerShdw>
                </a:effectLst>
              </a:rPr>
              <a:t>Bouba</a:t>
            </a:r>
            <a:r>
              <a:rPr lang="en-CA" sz="3200" dirty="0" smtClean="0">
                <a:solidFill>
                  <a:schemeClr val="bg1"/>
                </a:solidFill>
                <a:effectLst>
                  <a:outerShdw blurRad="38100" dist="38100" dir="2700000" algn="tl">
                    <a:srgbClr val="000000">
                      <a:alpha val="43137"/>
                    </a:srgbClr>
                  </a:outerShdw>
                </a:effectLst>
              </a:rPr>
              <a:t>-</a:t>
            </a:r>
            <a:r>
              <a:rPr lang="en-CA" sz="3200" dirty="0" err="1" smtClean="0">
                <a:solidFill>
                  <a:schemeClr val="bg1"/>
                </a:solidFill>
                <a:effectLst>
                  <a:outerShdw blurRad="38100" dist="38100" dir="2700000" algn="tl">
                    <a:srgbClr val="000000">
                      <a:alpha val="43137"/>
                    </a:srgbClr>
                  </a:outerShdw>
                </a:effectLst>
              </a:rPr>
              <a:t>Effekt</a:t>
            </a:r>
            <a:endParaRPr lang="en-CA" sz="3200" dirty="0">
              <a:solidFill>
                <a:schemeClr val="bg1"/>
              </a:solidFill>
              <a:effectLst>
                <a:outerShdw blurRad="38100" dist="38100" dir="2700000" algn="tl">
                  <a:srgbClr val="000000">
                    <a:alpha val="43137"/>
                  </a:srgbClr>
                </a:outerShdw>
              </a:effectLst>
            </a:endParaRPr>
          </a:p>
        </p:txBody>
      </p:sp>
      <p:pic>
        <p:nvPicPr>
          <p:cNvPr id="7" name="Picture 2" descr="https://i.gyazo.com/8b7d241f2ef3d658cd08a26605b4e87b.png"/>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0" b="100000" l="0" r="100000">
                        <a14:foregroundMark x1="25760" y1="52096" x2="25760" y2="52096"/>
                        <a14:foregroundMark x1="24168" y1="37425" x2="24168" y2="37425"/>
                        <a14:foregroundMark x1="20260" y1="23653" x2="23300" y2="59880"/>
                        <a14:foregroundMark x1="20550" y1="42216" x2="16787" y2="71557"/>
                        <a14:foregroundMark x1="26918" y1="43114" x2="42402" y2="81138"/>
                        <a14:foregroundMark x1="26194" y1="64970" x2="25760" y2="91916"/>
                        <a14:foregroundMark x1="30825" y1="43413" x2="37771" y2="4192"/>
                        <a14:foregroundMark x1="25036" y1="54192" x2="9986" y2="91317"/>
                        <a14:foregroundMark x1="43705" y1="82335" x2="43705" y2="82335"/>
                        <a14:foregroundMark x1="21708" y1="52994" x2="1013" y2="55689"/>
                        <a14:foregroundMark x1="20550" y1="45509" x2="3473" y2="24551"/>
                        <a14:foregroundMark x1="29378" y1="49102" x2="45876" y2="51796"/>
                        <a14:foregroundMark x1="26049" y1="93713" x2="26049" y2="93713"/>
                      </a14:backgroundRemoval>
                    </a14:imgEffect>
                  </a14:imgLayer>
                </a14:imgProps>
              </a:ext>
              <a:ext uri="{28A0092B-C50C-407E-A947-70E740481C1C}">
                <a14:useLocalDpi xmlns:a14="http://schemas.microsoft.com/office/drawing/2010/main" val="0"/>
              </a:ext>
            </a:extLst>
          </a:blip>
          <a:srcRect/>
          <a:stretch>
            <a:fillRect/>
          </a:stretch>
        </p:blipFill>
        <p:spPr bwMode="auto">
          <a:xfrm>
            <a:off x="179512" y="699542"/>
            <a:ext cx="4320480" cy="2088336"/>
          </a:xfrm>
          <a:prstGeom prst="rect">
            <a:avLst/>
          </a:prstGeom>
          <a:noFill/>
          <a:extLst>
            <a:ext uri="{909E8E84-426E-40DD-AFC4-6F175D3DCCD1}">
              <a14:hiddenFill xmlns:a14="http://schemas.microsoft.com/office/drawing/2010/main">
                <a:solidFill>
                  <a:srgbClr val="FFFFFF"/>
                </a:solidFill>
              </a14:hiddenFill>
            </a:ext>
          </a:extLst>
        </p:spPr>
      </p:pic>
      <p:sp>
        <p:nvSpPr>
          <p:cNvPr id="4" name="Textfeld 3"/>
          <p:cNvSpPr txBox="1"/>
          <p:nvPr/>
        </p:nvSpPr>
        <p:spPr>
          <a:xfrm>
            <a:off x="4932040" y="1441108"/>
            <a:ext cx="3888432" cy="338554"/>
          </a:xfrm>
          <a:prstGeom prst="rect">
            <a:avLst/>
          </a:prstGeom>
          <a:noFill/>
        </p:spPr>
        <p:txBody>
          <a:bodyPr wrap="square" rtlCol="0">
            <a:spAutoFit/>
          </a:bodyPr>
          <a:lstStyle/>
          <a:p>
            <a:r>
              <a:rPr lang="de-DE" sz="1600" dirty="0" smtClean="0"/>
              <a:t>Welches Gebilde heißt </a:t>
            </a:r>
            <a:r>
              <a:rPr lang="de-DE" sz="1600" i="1" dirty="0" smtClean="0"/>
              <a:t>Kiki</a:t>
            </a:r>
            <a:r>
              <a:rPr lang="de-DE" sz="1600" dirty="0" smtClean="0"/>
              <a:t>, welches </a:t>
            </a:r>
            <a:r>
              <a:rPr lang="de-DE" sz="1600" i="1" dirty="0" err="1" smtClean="0"/>
              <a:t>Bouba</a:t>
            </a:r>
            <a:r>
              <a:rPr lang="de-DE" sz="1600" dirty="0" smtClean="0"/>
              <a:t>?</a:t>
            </a:r>
            <a:endParaRPr lang="de-DE" sz="1600" dirty="0"/>
          </a:p>
        </p:txBody>
      </p:sp>
      <p:sp>
        <p:nvSpPr>
          <p:cNvPr id="8" name="Textfeld 7"/>
          <p:cNvSpPr txBox="1"/>
          <p:nvPr/>
        </p:nvSpPr>
        <p:spPr>
          <a:xfrm>
            <a:off x="251520" y="3003798"/>
            <a:ext cx="6589817" cy="1815882"/>
          </a:xfrm>
          <a:prstGeom prst="rect">
            <a:avLst/>
          </a:prstGeom>
          <a:noFill/>
        </p:spPr>
        <p:txBody>
          <a:bodyPr wrap="none" rtlCol="0">
            <a:spAutoFit/>
          </a:bodyPr>
          <a:lstStyle/>
          <a:p>
            <a:pPr marL="342900" indent="-342900">
              <a:buAutoNum type="arabicParenR"/>
            </a:pPr>
            <a:r>
              <a:rPr lang="de-DE" sz="1400" dirty="0" err="1" smtClean="0"/>
              <a:t>Lautikonizität</a:t>
            </a:r>
            <a:r>
              <a:rPr lang="de-DE" sz="1400" dirty="0" smtClean="0"/>
              <a:t>: Kiki (abgehakter), </a:t>
            </a:r>
            <a:r>
              <a:rPr lang="de-DE" sz="1400" dirty="0" err="1" smtClean="0"/>
              <a:t>Bouba</a:t>
            </a:r>
            <a:r>
              <a:rPr lang="de-DE" sz="1400" dirty="0" smtClean="0"/>
              <a:t> (rundlicher Ton)</a:t>
            </a:r>
          </a:p>
          <a:p>
            <a:pPr marL="342900" indent="-342900">
              <a:buAutoNum type="arabicParenR"/>
            </a:pPr>
            <a:r>
              <a:rPr lang="de-DE" sz="1400" dirty="0" err="1" smtClean="0"/>
              <a:t>Formikonizität</a:t>
            </a:r>
            <a:r>
              <a:rPr lang="de-DE" sz="1400" dirty="0" smtClean="0"/>
              <a:t>: K ist zackig; </a:t>
            </a:r>
            <a:r>
              <a:rPr lang="de-DE" sz="1400" dirty="0" err="1" smtClean="0"/>
              <a:t>B,o,u,b,a</a:t>
            </a:r>
            <a:r>
              <a:rPr lang="de-DE" sz="1400" dirty="0" smtClean="0"/>
              <a:t> rundliche Buchstaben</a:t>
            </a:r>
          </a:p>
          <a:p>
            <a:pPr marL="342900" indent="-342900">
              <a:buAutoNum type="arabicParenR"/>
            </a:pPr>
            <a:r>
              <a:rPr lang="de-DE" sz="1400" dirty="0"/>
              <a:t>Sensorik: </a:t>
            </a:r>
            <a:r>
              <a:rPr lang="de-DE" sz="1400" dirty="0" smtClean="0"/>
              <a:t>Weiche </a:t>
            </a:r>
            <a:r>
              <a:rPr lang="de-DE" sz="1400" dirty="0"/>
              <a:t>durch den Bilabial </a:t>
            </a:r>
            <a:r>
              <a:rPr lang="de-DE" sz="1400" dirty="0" smtClean="0"/>
              <a:t>(Doppellippenlaut) „</a:t>
            </a:r>
            <a:r>
              <a:rPr lang="de-DE" sz="1400" dirty="0" err="1" smtClean="0"/>
              <a:t>Bouba</a:t>
            </a:r>
            <a:r>
              <a:rPr lang="de-DE" sz="1400" dirty="0" smtClean="0"/>
              <a:t>“ </a:t>
            </a:r>
            <a:r>
              <a:rPr lang="de-DE" sz="1400" dirty="0"/>
              <a:t>beim </a:t>
            </a:r>
            <a:r>
              <a:rPr lang="de-DE" sz="1400" dirty="0" smtClean="0"/>
              <a:t>Aussprechen</a:t>
            </a:r>
          </a:p>
          <a:p>
            <a:pPr marL="342900" indent="-342900">
              <a:buAutoNum type="arabicParenR"/>
            </a:pPr>
            <a:r>
              <a:rPr lang="de-DE" sz="1400" dirty="0" smtClean="0"/>
              <a:t>Assoziativ: </a:t>
            </a:r>
            <a:r>
              <a:rPr lang="de-DE" sz="1400" dirty="0" err="1" smtClean="0"/>
              <a:t>Bouba</a:t>
            </a:r>
            <a:r>
              <a:rPr lang="de-DE" sz="1400" dirty="0" smtClean="0"/>
              <a:t> erinnert an „Ball“.</a:t>
            </a:r>
          </a:p>
          <a:p>
            <a:pPr marL="342900" indent="-342900">
              <a:buAutoNum type="arabicParenR"/>
            </a:pPr>
            <a:endParaRPr lang="de-DE" sz="1400" dirty="0" smtClean="0"/>
          </a:p>
          <a:p>
            <a:r>
              <a:rPr lang="de-DE" sz="1400" b="1" dirty="0" smtClean="0"/>
              <a:t>In der speziellen Darstellung:</a:t>
            </a:r>
            <a:endParaRPr lang="de-DE" sz="1400" b="1" dirty="0"/>
          </a:p>
          <a:p>
            <a:r>
              <a:rPr lang="de-DE" sz="1400" dirty="0" smtClean="0"/>
              <a:t>„Kiki“ = weiblich = rot</a:t>
            </a:r>
          </a:p>
          <a:p>
            <a:r>
              <a:rPr lang="de-DE" sz="1400" dirty="0" smtClean="0"/>
              <a:t>„</a:t>
            </a:r>
            <a:r>
              <a:rPr lang="de-DE" sz="1400" dirty="0" err="1" smtClean="0"/>
              <a:t>Bouba</a:t>
            </a:r>
            <a:r>
              <a:rPr lang="de-DE" sz="1400" dirty="0" smtClean="0"/>
              <a:t>“ = männlich = blau</a:t>
            </a:r>
            <a:endParaRPr lang="de-DE" sz="1400" dirty="0"/>
          </a:p>
        </p:txBody>
      </p:sp>
    </p:spTree>
    <p:extLst>
      <p:ext uri="{BB962C8B-B14F-4D97-AF65-F5344CB8AC3E}">
        <p14:creationId xmlns:p14="http://schemas.microsoft.com/office/powerpoint/2010/main" val="3595361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xEl>
                                              <p:pRg st="5" end="5"/>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8">
                                            <p:txEl>
                                              <p:pRg st="6" end="6"/>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hteck 5"/>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7" name="Textfeld 6"/>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Ikonizitätsgrad</a:t>
            </a:r>
            <a:endParaRPr lang="en-CA" sz="3200" dirty="0">
              <a:solidFill>
                <a:schemeClr val="bg1"/>
              </a:solidFill>
              <a:effectLst>
                <a:outerShdw blurRad="38100" dist="38100" dir="2700000" algn="tl">
                  <a:srgbClr val="000000">
                    <a:alpha val="43137"/>
                  </a:srgbClr>
                </a:outerShdw>
              </a:effectLst>
            </a:endParaRPr>
          </a:p>
        </p:txBody>
      </p:sp>
      <p:sp>
        <p:nvSpPr>
          <p:cNvPr id="4" name="Textfeld 3"/>
          <p:cNvSpPr txBox="1"/>
          <p:nvPr/>
        </p:nvSpPr>
        <p:spPr>
          <a:xfrm>
            <a:off x="35496" y="3075806"/>
            <a:ext cx="8568952" cy="584775"/>
          </a:xfrm>
          <a:prstGeom prst="rect">
            <a:avLst/>
          </a:prstGeom>
          <a:noFill/>
        </p:spPr>
        <p:txBody>
          <a:bodyPr wrap="square" rtlCol="0">
            <a:spAutoFit/>
          </a:bodyPr>
          <a:lstStyle/>
          <a:p>
            <a:pPr algn="ctr"/>
            <a:r>
              <a:rPr lang="de-DE" sz="3200" dirty="0" smtClean="0"/>
              <a:t>‚III‘ hat einen höheren </a:t>
            </a:r>
            <a:r>
              <a:rPr lang="de-DE" sz="3200" dirty="0" err="1" smtClean="0"/>
              <a:t>Ikonizitätsgrad</a:t>
            </a:r>
            <a:r>
              <a:rPr lang="de-DE" sz="3200" dirty="0" smtClean="0"/>
              <a:t> als ‚3‘</a:t>
            </a:r>
            <a:endParaRPr lang="de-DE" sz="3200" dirty="0"/>
          </a:p>
        </p:txBody>
      </p:sp>
      <p:sp>
        <p:nvSpPr>
          <p:cNvPr id="3" name="Textfeld 2"/>
          <p:cNvSpPr txBox="1"/>
          <p:nvPr/>
        </p:nvSpPr>
        <p:spPr>
          <a:xfrm>
            <a:off x="2051720" y="771550"/>
            <a:ext cx="5040560" cy="2215991"/>
          </a:xfrm>
          <a:prstGeom prst="rect">
            <a:avLst/>
          </a:prstGeom>
          <a:noFill/>
        </p:spPr>
        <p:txBody>
          <a:bodyPr wrap="square" rtlCol="0">
            <a:spAutoFit/>
          </a:bodyPr>
          <a:lstStyle/>
          <a:p>
            <a:r>
              <a:rPr lang="de-DE" sz="4000" dirty="0"/>
              <a:t>木 (</a:t>
            </a:r>
            <a:r>
              <a:rPr lang="de-DE" sz="4000" dirty="0" err="1"/>
              <a:t>mù</a:t>
            </a:r>
            <a:r>
              <a:rPr lang="de-DE" sz="4000" dirty="0"/>
              <a:t>) – „</a:t>
            </a:r>
            <a:r>
              <a:rPr lang="de-DE" sz="4000" dirty="0" smtClean="0"/>
              <a:t>Baum/Holz“</a:t>
            </a:r>
          </a:p>
          <a:p>
            <a:endParaRPr lang="de-DE" sz="4000" dirty="0"/>
          </a:p>
          <a:p>
            <a:pPr algn="ctr"/>
            <a:r>
              <a:rPr lang="ja-JP" altLang="de-DE" sz="4000" b="1" dirty="0"/>
              <a:t>人</a:t>
            </a:r>
            <a:r>
              <a:rPr lang="ja-JP" altLang="de-DE" sz="4000" dirty="0"/>
              <a:t> </a:t>
            </a:r>
            <a:r>
              <a:rPr lang="de-DE" altLang="ja-JP" sz="4000" dirty="0"/>
              <a:t>(</a:t>
            </a:r>
            <a:r>
              <a:rPr lang="de-DE" sz="4000" dirty="0" err="1"/>
              <a:t>rén</a:t>
            </a:r>
            <a:r>
              <a:rPr lang="de-DE" sz="4000" dirty="0"/>
              <a:t>) – „Mensch</a:t>
            </a:r>
            <a:r>
              <a:rPr lang="de-DE" sz="4000" dirty="0" smtClean="0"/>
              <a:t>“</a:t>
            </a:r>
            <a:endParaRPr lang="de-DE" sz="4000" dirty="0"/>
          </a:p>
          <a:p>
            <a:pPr algn="ctr"/>
            <a:endParaRPr lang="de-DE" dirty="0"/>
          </a:p>
        </p:txBody>
      </p:sp>
    </p:spTree>
    <p:extLst>
      <p:ext uri="{BB962C8B-B14F-4D97-AF65-F5344CB8AC3E}">
        <p14:creationId xmlns:p14="http://schemas.microsoft.com/office/powerpoint/2010/main" val="2108392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hteck 5"/>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7" name="Textfeld 6"/>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Ikonizität</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mathematischer</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Zeichen</a:t>
            </a:r>
            <a:endParaRPr lang="en-CA" sz="3200" dirty="0">
              <a:solidFill>
                <a:schemeClr val="bg1"/>
              </a:solidFill>
              <a:effectLst>
                <a:outerShdw blurRad="38100" dist="38100" dir="2700000" algn="tl">
                  <a:srgbClr val="000000">
                    <a:alpha val="43137"/>
                  </a:srgbClr>
                </a:outerShdw>
              </a:effectLst>
            </a:endParaRPr>
          </a:p>
        </p:txBody>
      </p:sp>
      <p:pic>
        <p:nvPicPr>
          <p:cNvPr id="25" name="Picture 2" descr="Christine Ladd-Franklin '1869 - Vassar Encyclopedia - Vassar ..."/>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0" b="100000" l="0" r="100000">
                        <a14:foregroundMark x1="31752" y1="39702" x2="32117" y2="42680"/>
                        <a14:foregroundMark x1="36131" y1="44913" x2="40146" y2="49628"/>
                        <a14:foregroundMark x1="53285" y1="43921" x2="57299" y2="39454"/>
                        <a14:foregroundMark x1="66423" y1="41191" x2="57664" y2="47146"/>
                        <a14:foregroundMark x1="57299" y1="50620" x2="60219" y2="52605"/>
                        <a14:foregroundMark x1="61679" y1="49628" x2="62044" y2="54342"/>
                        <a14:foregroundMark x1="64599" y1="55335" x2="81752" y2="63275"/>
                        <a14:foregroundMark x1="70803" y1="56824" x2="81752" y2="61042"/>
                        <a14:foregroundMark x1="48175" y1="59305" x2="23723" y2="78660"/>
                        <a14:foregroundMark x1="12774" y1="59553" x2="365" y2="69231"/>
                        <a14:foregroundMark x1="12774" y1="59305" x2="34307" y2="54342"/>
                        <a14:foregroundMark x1="34307" y1="54342" x2="37591" y2="51861"/>
                        <a14:foregroundMark x1="35401" y1="46898" x2="38321" y2="51365"/>
                        <a14:foregroundMark x1="89051" y1="64516" x2="95255" y2="74938"/>
                        <a14:foregroundMark x1="80657" y1="60546" x2="88686" y2="65012"/>
                        <a14:foregroundMark x1="91971" y1="70968" x2="96715" y2="76923"/>
                        <a14:foregroundMark x1="96715" y1="76923" x2="94161" y2="84864"/>
                        <a14:foregroundMark x1="96350" y1="85856" x2="89416" y2="90323"/>
                        <a14:foregroundMark x1="19343" y1="23325" x2="27007" y2="27543"/>
                        <a14:foregroundMark x1="21168" y1="22084" x2="20073" y2="16377"/>
                        <a14:foregroundMark x1="31387" y1="16377" x2="58029" y2="12159"/>
                        <a14:foregroundMark x1="63504" y1="11166" x2="72263" y2="17866"/>
                        <a14:foregroundMark x1="72263" y1="17866" x2="70073" y2="22829"/>
                        <a14:foregroundMark x1="74818" y1="13896" x2="79562" y2="27792"/>
                        <a14:foregroundMark x1="49270" y1="7692" x2="49270" y2="1489"/>
                        <a14:foregroundMark x1="44891" y1="10174" x2="29197" y2="8685"/>
                        <a14:foregroundMark x1="29562" y1="8933" x2="35036" y2="13400"/>
                        <a14:foregroundMark x1="33577" y1="13896" x2="27372" y2="18859"/>
                        <a14:foregroundMark x1="27372" y1="15136" x2="31022" y2="12159"/>
                        <a14:foregroundMark x1="54380" y1="10918" x2="67153" y2="11414"/>
                        <a14:foregroundMark x1="59489" y1="5955" x2="65693" y2="5211"/>
                        <a14:foregroundMark x1="54015" y1="7196" x2="59854" y2="7196"/>
                        <a14:foregroundMark x1="65328" y1="7196" x2="76642" y2="13648"/>
                        <a14:foregroundMark x1="76642" y1="13648" x2="78467" y2="22333"/>
                        <a14:foregroundMark x1="80292" y1="23573" x2="81387" y2="27792"/>
                        <a14:foregroundMark x1="81387" y1="29032" x2="71168" y2="26055"/>
                        <a14:foregroundMark x1="72263" y1="11414" x2="79927" y2="10918"/>
                        <a14:foregroundMark x1="76642" y1="8437" x2="78467" y2="14888"/>
                        <a14:foregroundMark x1="72993" y1="7692" x2="70073" y2="5955"/>
                        <a14:foregroundMark x1="96715" y1="86104" x2="95255" y2="99256"/>
                        <a14:foregroundMark x1="52190" y1="8189" x2="50730" y2="1985"/>
                        <a14:foregroundMark x1="53285" y1="2233" x2="54745" y2="8437"/>
                        <a14:foregroundMark x1="59854" y1="10918" x2="49270" y2="20099"/>
                        <a14:foregroundMark x1="36496" y1="5955" x2="49270" y2="3474"/>
                        <a14:foregroundMark x1="25912" y1="29280" x2="30292" y2="38462"/>
                        <a14:foregroundMark x1="20438" y1="15881" x2="27372" y2="11911"/>
                        <a14:backgroundMark x1="8394" y1="27543" x2="8394" y2="48635"/>
                        <a14:backgroundMark x1="17153" y1="31017" x2="24088" y2="46898"/>
                        <a14:backgroundMark x1="81387" y1="52109" x2="89051" y2="44665"/>
                        <a14:backgroundMark x1="95255" y1="65509" x2="96715" y2="75682"/>
                        <a14:backgroundMark x1="97445" y1="78412" x2="98540" y2="83623"/>
                        <a14:backgroundMark x1="98540" y1="83375" x2="98540" y2="89330"/>
                        <a14:backgroundMark x1="98540" y1="89330" x2="98540" y2="99007"/>
                        <a14:backgroundMark x1="9124" y1="5707" x2="10219" y2="20099"/>
                        <a14:backgroundMark x1="19343" y1="52357" x2="8394" y2="57816"/>
                        <a14:backgroundMark x1="17883" y1="11166" x2="21898" y2="5707"/>
                        <a14:backgroundMark x1="28832" y1="4715" x2="39781" y2="2233"/>
                        <a14:backgroundMark x1="41606" y1="1985" x2="43431" y2="1985"/>
                        <a14:backgroundMark x1="58394" y1="1985" x2="68978" y2="2233"/>
                        <a14:backgroundMark x1="66788" y1="3722" x2="57664" y2="3722"/>
                        <a14:backgroundMark x1="57664" y1="3722" x2="55839" y2="1241"/>
                        <a14:backgroundMark x1="52920" y1="993" x2="54745" y2="744"/>
                        <a14:backgroundMark x1="44891" y1="744" x2="54015" y2="993"/>
                      </a14:backgroundRemoval>
                    </a14:imgEffect>
                  </a14:imgLayer>
                </a14:imgProps>
              </a:ext>
              <a:ext uri="{28A0092B-C50C-407E-A947-70E740481C1C}">
                <a14:useLocalDpi xmlns:a14="http://schemas.microsoft.com/office/drawing/2010/main" val="0"/>
              </a:ext>
            </a:extLst>
          </a:blip>
          <a:srcRect/>
          <a:stretch>
            <a:fillRect/>
          </a:stretch>
        </p:blipFill>
        <p:spPr bwMode="auto">
          <a:xfrm flipH="1">
            <a:off x="-180529" y="1442599"/>
            <a:ext cx="2546357" cy="3745190"/>
          </a:xfrm>
          <a:prstGeom prst="rect">
            <a:avLst/>
          </a:prstGeom>
          <a:noFill/>
          <a:effectLst>
            <a:glow rad="63500">
              <a:schemeClr val="bg1">
                <a:lumMod val="50000"/>
                <a:alpha val="40000"/>
              </a:schemeClr>
            </a:glow>
            <a:softEdge rad="31750"/>
          </a:effectLst>
          <a:extLst>
            <a:ext uri="{909E8E84-426E-40DD-AFC4-6F175D3DCCD1}">
              <a14:hiddenFill xmlns:a14="http://schemas.microsoft.com/office/drawing/2010/main">
                <a:solidFill>
                  <a:srgbClr val="FFFFFF"/>
                </a:solidFill>
              </a14:hiddenFill>
            </a:ext>
          </a:extLst>
        </p:spPr>
      </p:pic>
      <p:sp>
        <p:nvSpPr>
          <p:cNvPr id="2" name="Textfeld 1"/>
          <p:cNvSpPr txBox="1"/>
          <p:nvPr/>
        </p:nvSpPr>
        <p:spPr>
          <a:xfrm>
            <a:off x="-684584" y="762839"/>
            <a:ext cx="3456384" cy="584775"/>
          </a:xfrm>
          <a:prstGeom prst="rect">
            <a:avLst/>
          </a:prstGeom>
          <a:noFill/>
        </p:spPr>
        <p:txBody>
          <a:bodyPr wrap="square" rtlCol="0">
            <a:spAutoFit/>
          </a:bodyPr>
          <a:lstStyle/>
          <a:p>
            <a:pPr algn="ctr"/>
            <a:r>
              <a:rPr lang="de-DE" sz="1600" dirty="0" smtClean="0"/>
              <a:t>Christine Ladd-Franklin</a:t>
            </a:r>
          </a:p>
          <a:p>
            <a:pPr algn="ctr"/>
            <a:r>
              <a:rPr lang="de-DE" sz="1600" b="1" dirty="0" smtClean="0"/>
              <a:t>(1847-1930)</a:t>
            </a:r>
            <a:endParaRPr lang="de-DE" sz="1600" b="1" dirty="0"/>
          </a:p>
        </p:txBody>
      </p:sp>
      <p:sp>
        <p:nvSpPr>
          <p:cNvPr id="3" name="Textfeld 2"/>
          <p:cNvSpPr txBox="1"/>
          <p:nvPr/>
        </p:nvSpPr>
        <p:spPr>
          <a:xfrm>
            <a:off x="2339752" y="671320"/>
            <a:ext cx="6526652" cy="400110"/>
          </a:xfrm>
          <a:prstGeom prst="rect">
            <a:avLst/>
          </a:prstGeom>
          <a:noFill/>
        </p:spPr>
        <p:txBody>
          <a:bodyPr wrap="square" rtlCol="0">
            <a:spAutoFit/>
          </a:bodyPr>
          <a:lstStyle/>
          <a:p>
            <a:r>
              <a:rPr lang="de-DE" sz="2000" b="1" dirty="0" smtClean="0"/>
              <a:t>Welches Zeichen sollte man für die Implikation verwenden?</a:t>
            </a:r>
            <a:endParaRPr lang="de-DE" sz="2000" b="1" dirty="0"/>
          </a:p>
        </p:txBody>
      </p:sp>
      <p:sp>
        <p:nvSpPr>
          <p:cNvPr id="26" name="Textfeld 25"/>
          <p:cNvSpPr txBox="1"/>
          <p:nvPr/>
        </p:nvSpPr>
        <p:spPr>
          <a:xfrm>
            <a:off x="2555776" y="1083462"/>
            <a:ext cx="6192688" cy="461665"/>
          </a:xfrm>
          <a:prstGeom prst="rect">
            <a:avLst/>
          </a:prstGeom>
          <a:noFill/>
        </p:spPr>
        <p:txBody>
          <a:bodyPr wrap="square" rtlCol="0">
            <a:spAutoFit/>
          </a:bodyPr>
          <a:lstStyle/>
          <a:p>
            <a:pPr algn="ctr"/>
            <a:r>
              <a:rPr lang="de-DE" sz="2400" dirty="0" smtClean="0"/>
              <a:t>⤙ (</a:t>
            </a:r>
            <a:r>
              <a:rPr lang="de-DE" sz="2400" dirty="0"/>
              <a:t>Peirce) oder </a:t>
            </a:r>
            <a:r>
              <a:rPr lang="de-DE" sz="2400" dirty="0" smtClean="0"/>
              <a:t>: (</a:t>
            </a:r>
            <a:r>
              <a:rPr lang="de-DE" sz="2400" dirty="0" err="1"/>
              <a:t>MacColl</a:t>
            </a:r>
            <a:r>
              <a:rPr lang="de-DE" sz="2400" dirty="0" smtClean="0"/>
              <a:t>)?</a:t>
            </a:r>
            <a:endParaRPr lang="de-DE" sz="2400" dirty="0"/>
          </a:p>
        </p:txBody>
      </p:sp>
      <p:sp>
        <p:nvSpPr>
          <p:cNvPr id="27" name="Textfeld 26"/>
          <p:cNvSpPr txBox="1"/>
          <p:nvPr/>
        </p:nvSpPr>
        <p:spPr>
          <a:xfrm>
            <a:off x="2411760" y="1635462"/>
            <a:ext cx="6336704" cy="3385542"/>
          </a:xfrm>
          <a:prstGeom prst="rect">
            <a:avLst/>
          </a:prstGeom>
          <a:noFill/>
        </p:spPr>
        <p:txBody>
          <a:bodyPr wrap="square" rtlCol="0">
            <a:spAutoFit/>
          </a:bodyPr>
          <a:lstStyle/>
          <a:p>
            <a:pPr algn="just"/>
            <a:r>
              <a:rPr lang="en-US" sz="1600" dirty="0" smtClean="0"/>
              <a:t>"</a:t>
            </a:r>
            <a:r>
              <a:rPr lang="en-US" sz="1600" dirty="0"/>
              <a:t>The copula ‘⤙’ has an advantage over the colon ‘:’ in that it expresses an unsymmetrical relation by an unsymmetrical symbol" </a:t>
            </a:r>
            <a:endParaRPr lang="en-US" sz="1600" dirty="0" smtClean="0"/>
          </a:p>
          <a:p>
            <a:pPr algn="just"/>
            <a:r>
              <a:rPr lang="en-US" sz="1400" dirty="0" smtClean="0"/>
              <a:t>(</a:t>
            </a:r>
            <a:r>
              <a:rPr lang="en-US" sz="1400" dirty="0"/>
              <a:t>Ladd, 1883, pp. 24–25</a:t>
            </a:r>
            <a:r>
              <a:rPr lang="en-US" sz="1400" dirty="0" smtClean="0"/>
              <a:t>).</a:t>
            </a:r>
          </a:p>
          <a:p>
            <a:pPr algn="just"/>
            <a:endParaRPr lang="en-US" sz="1400" dirty="0"/>
          </a:p>
          <a:p>
            <a:pPr algn="just"/>
            <a:r>
              <a:rPr lang="en-US" sz="2000" b="1" dirty="0" err="1" smtClean="0"/>
              <a:t>Ladds</a:t>
            </a:r>
            <a:r>
              <a:rPr lang="en-US" sz="2000" b="1" dirty="0" smtClean="0"/>
              <a:t> </a:t>
            </a:r>
            <a:r>
              <a:rPr lang="en-US" sz="2000" b="1" dirty="0" err="1" smtClean="0"/>
              <a:t>Prinzip</a:t>
            </a:r>
            <a:endParaRPr lang="en-US" sz="2000" b="1" dirty="0" smtClean="0"/>
          </a:p>
          <a:p>
            <a:pPr algn="just"/>
            <a:r>
              <a:rPr lang="de-DE" dirty="0"/>
              <a:t>Kommutative Operationen sollten durch symmetrische Symbole dargestellt </a:t>
            </a:r>
            <a:r>
              <a:rPr lang="de-DE" dirty="0" smtClean="0"/>
              <a:t>werden. </a:t>
            </a:r>
          </a:p>
          <a:p>
            <a:pPr algn="just"/>
            <a:endParaRPr lang="de-DE" dirty="0"/>
          </a:p>
          <a:p>
            <a:pPr marL="285750" indent="-285750" algn="just">
              <a:buFont typeface="Arial" panose="020B0604020202020204" pitchFamily="34" charset="0"/>
              <a:buChar char="•"/>
            </a:pPr>
            <a:r>
              <a:rPr lang="de-DE" sz="1600" b="1" dirty="0"/>
              <a:t>Beispiel 1:</a:t>
            </a:r>
            <a:r>
              <a:rPr lang="de-DE" sz="1600" dirty="0"/>
              <a:t> Addition (a + b) ist kommutativ und das Symbol ‘+’ ist vertikal symmetrisch</a:t>
            </a:r>
            <a:r>
              <a:rPr lang="de-DE" sz="1600" dirty="0" smtClean="0"/>
              <a:t>.</a:t>
            </a:r>
            <a:endParaRPr lang="de-DE" sz="1600" dirty="0"/>
          </a:p>
          <a:p>
            <a:pPr marL="285750" indent="-285750" algn="just">
              <a:buFont typeface="Arial" panose="020B0604020202020204" pitchFamily="34" charset="0"/>
              <a:buChar char="•"/>
            </a:pPr>
            <a:r>
              <a:rPr lang="de-DE" sz="1600" b="1" dirty="0"/>
              <a:t>Beispiel 2:</a:t>
            </a:r>
            <a:r>
              <a:rPr lang="de-DE" sz="1600" dirty="0"/>
              <a:t> Subtraktion (a − b) ist nicht kommutativ, aber das Symbol ‘−’ ist ebenfalls symmetrisch. Kinder neigen dazu, fälschlich anzunehmen, dass Subtraktion kommutativ sei (Mitchell 1983</a:t>
            </a:r>
            <a:r>
              <a:rPr lang="de-DE" sz="1600" dirty="0" smtClean="0"/>
              <a:t>).</a:t>
            </a:r>
            <a:endParaRPr lang="de-DE" sz="1600" dirty="0"/>
          </a:p>
        </p:txBody>
      </p:sp>
      <mc:AlternateContent xmlns:mc="http://schemas.openxmlformats.org/markup-compatibility/2006" xmlns:p14="http://schemas.microsoft.com/office/powerpoint/2010/main">
        <mc:Choice Requires="p14">
          <p:contentPart p14:bwMode="auto" r:id="rId4">
            <p14:nvContentPartPr>
              <p14:cNvPr id="4" name="Freihand 3"/>
              <p14:cNvContentPartPr/>
              <p14:nvPr/>
            </p14:nvContentPartPr>
            <p14:xfrm>
              <a:off x="5877000" y="1143000"/>
              <a:ext cx="167040" cy="309960"/>
            </p14:xfrm>
          </p:contentPart>
        </mc:Choice>
        <mc:Fallback xmlns="">
          <p:pic>
            <p:nvPicPr>
              <p:cNvPr id="4" name="Freihand 3"/>
              <p:cNvPicPr/>
              <p:nvPr/>
            </p:nvPicPr>
            <p:blipFill>
              <a:blip r:embed="rId5"/>
              <a:stretch>
                <a:fillRect/>
              </a:stretch>
            </p:blipFill>
            <p:spPr>
              <a:xfrm>
                <a:off x="5867640" y="1133640"/>
                <a:ext cx="185760" cy="328680"/>
              </a:xfrm>
              <a:prstGeom prst="rect">
                <a:avLst/>
              </a:prstGeom>
            </p:spPr>
          </p:pic>
        </mc:Fallback>
      </mc:AlternateContent>
    </p:spTree>
    <p:extLst>
      <p:ext uri="{BB962C8B-B14F-4D97-AF65-F5344CB8AC3E}">
        <p14:creationId xmlns:p14="http://schemas.microsoft.com/office/powerpoint/2010/main" val="1437362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7">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7">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7">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hteck 5"/>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7" name="Textfeld 6"/>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Ikonizität</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mathematischer</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Zeichen</a:t>
            </a:r>
            <a:endParaRPr lang="en-CA" sz="3200" dirty="0">
              <a:solidFill>
                <a:schemeClr val="bg1"/>
              </a:solidFill>
              <a:effectLst>
                <a:outerShdw blurRad="38100" dist="38100" dir="2700000" algn="tl">
                  <a:srgbClr val="000000">
                    <a:alpha val="43137"/>
                  </a:srgbClr>
                </a:outerShdw>
              </a:effectLst>
            </a:endParaRPr>
          </a:p>
        </p:txBody>
      </p:sp>
      <p:sp>
        <p:nvSpPr>
          <p:cNvPr id="4" name="Textfeld 3"/>
          <p:cNvSpPr txBox="1"/>
          <p:nvPr/>
        </p:nvSpPr>
        <p:spPr>
          <a:xfrm>
            <a:off x="179512" y="627534"/>
            <a:ext cx="3456384" cy="461665"/>
          </a:xfrm>
          <a:prstGeom prst="rect">
            <a:avLst/>
          </a:prstGeom>
          <a:noFill/>
        </p:spPr>
        <p:txBody>
          <a:bodyPr wrap="square" rtlCol="0">
            <a:spAutoFit/>
          </a:bodyPr>
          <a:lstStyle/>
          <a:p>
            <a:r>
              <a:rPr lang="de-DE" sz="2400" b="1" dirty="0" smtClean="0"/>
              <a:t>In der Geometrie</a:t>
            </a:r>
            <a:endParaRPr lang="de-DE" sz="2400" b="1" dirty="0"/>
          </a:p>
        </p:txBody>
      </p:sp>
      <p:sp>
        <p:nvSpPr>
          <p:cNvPr id="8" name="Textfeld 7"/>
          <p:cNvSpPr txBox="1"/>
          <p:nvPr/>
        </p:nvSpPr>
        <p:spPr>
          <a:xfrm>
            <a:off x="184944" y="1089199"/>
            <a:ext cx="8203480" cy="2523768"/>
          </a:xfrm>
          <a:prstGeom prst="rect">
            <a:avLst/>
          </a:prstGeom>
          <a:noFill/>
        </p:spPr>
        <p:txBody>
          <a:bodyPr wrap="square" rtlCol="0">
            <a:spAutoFit/>
          </a:bodyPr>
          <a:lstStyle/>
          <a:p>
            <a:pPr marL="285750" indent="-285750">
              <a:buFont typeface="Arial" panose="020B0604020202020204" pitchFamily="34" charset="0"/>
              <a:buChar char="•"/>
            </a:pPr>
            <a:r>
              <a:rPr lang="de-DE" sz="2000" b="1" dirty="0" smtClean="0"/>
              <a:t>⊙</a:t>
            </a:r>
            <a:r>
              <a:rPr lang="de-DE" sz="2000" dirty="0" smtClean="0"/>
              <a:t> -</a:t>
            </a:r>
            <a:r>
              <a:rPr lang="de-DE" sz="2000" dirty="0"/>
              <a:t> </a:t>
            </a:r>
            <a:r>
              <a:rPr lang="de-DE" sz="2000" dirty="0" smtClean="0"/>
              <a:t>Kreis mit Mittelpunkt, verwendet von Heron. Von Pappus ohne Punkt.</a:t>
            </a:r>
          </a:p>
          <a:p>
            <a:pPr marL="285750" indent="-285750">
              <a:buFont typeface="Arial" panose="020B0604020202020204" pitchFamily="34" charset="0"/>
              <a:buChar char="•"/>
            </a:pPr>
            <a:r>
              <a:rPr lang="de-DE" sz="2000" b="1" dirty="0" smtClean="0"/>
              <a:t>△</a:t>
            </a:r>
            <a:r>
              <a:rPr lang="de-DE" sz="2000" dirty="0" smtClean="0"/>
              <a:t> - Dreieck, verwendet von Heron.</a:t>
            </a:r>
          </a:p>
          <a:p>
            <a:pPr marL="285750" indent="-285750">
              <a:buFont typeface="Arial" panose="020B0604020202020204" pitchFamily="34" charset="0"/>
              <a:buChar char="•"/>
            </a:pPr>
            <a:r>
              <a:rPr lang="de-DE" sz="2000" b="1" dirty="0" smtClean="0"/>
              <a:t>⌒</a:t>
            </a:r>
            <a:r>
              <a:rPr lang="de-DE" sz="2000" dirty="0" smtClean="0"/>
              <a:t> - Kreisbogen, findet </a:t>
            </a:r>
            <a:r>
              <a:rPr lang="de-DE" sz="2000" dirty="0"/>
              <a:t>sich bei  Platon von </a:t>
            </a:r>
            <a:r>
              <a:rPr lang="de-DE" sz="2000" dirty="0" smtClean="0"/>
              <a:t>Tivolis .</a:t>
            </a:r>
          </a:p>
          <a:p>
            <a:pPr marL="285750" indent="-285750">
              <a:buFont typeface="Arial" panose="020B0604020202020204" pitchFamily="34" charset="0"/>
              <a:buChar char="•"/>
            </a:pPr>
            <a:r>
              <a:rPr lang="de-DE" sz="2000" b="1" dirty="0"/>
              <a:t>∟</a:t>
            </a:r>
            <a:r>
              <a:rPr lang="de-DE" sz="2000" dirty="0"/>
              <a:t> - rechter Winkel, verwendet von </a:t>
            </a:r>
            <a:r>
              <a:rPr lang="de-DE" sz="2000" dirty="0" smtClean="0"/>
              <a:t>Pappus</a:t>
            </a:r>
          </a:p>
          <a:p>
            <a:pPr marL="285750" indent="-285750">
              <a:buFont typeface="Arial" panose="020B0604020202020204" pitchFamily="34" charset="0"/>
              <a:buChar char="•"/>
            </a:pPr>
            <a:r>
              <a:rPr lang="de-DE" sz="2000" b="1" dirty="0" smtClean="0"/>
              <a:t>∠</a:t>
            </a:r>
            <a:r>
              <a:rPr lang="de-DE" sz="2000" dirty="0" smtClean="0"/>
              <a:t> - als Winkelzeichen, verwendet von Pierre </a:t>
            </a:r>
            <a:r>
              <a:rPr lang="de-DE" sz="2000" dirty="0" err="1" smtClean="0"/>
              <a:t>Hérigone</a:t>
            </a:r>
            <a:r>
              <a:rPr lang="de-DE" sz="2000" dirty="0" smtClean="0"/>
              <a:t> (1580-1643).</a:t>
            </a:r>
          </a:p>
          <a:p>
            <a:pPr marL="285750" indent="-285750">
              <a:buFont typeface="Arial" panose="020B0604020202020204" pitchFamily="34" charset="0"/>
              <a:buChar char="•"/>
            </a:pPr>
            <a:r>
              <a:rPr lang="de-DE" sz="2000" b="1" dirty="0" smtClean="0"/>
              <a:t>||</a:t>
            </a:r>
            <a:r>
              <a:rPr lang="de-DE" sz="2000" dirty="0" smtClean="0"/>
              <a:t> - als Zeichen für Parallelität, verwendet von Heron.</a:t>
            </a:r>
          </a:p>
          <a:p>
            <a:pPr marL="285750" indent="-285750">
              <a:buFont typeface="Arial" panose="020B0604020202020204" pitchFamily="34" charset="0"/>
              <a:buChar char="•"/>
            </a:pPr>
            <a:r>
              <a:rPr lang="de-DE" sz="2000" b="1" dirty="0" smtClean="0"/>
              <a:t>⟂</a:t>
            </a:r>
            <a:r>
              <a:rPr lang="de-DE" sz="2000" dirty="0" smtClean="0"/>
              <a:t> - als Zeichen für </a:t>
            </a:r>
            <a:r>
              <a:rPr lang="de-DE" sz="2000" dirty="0" err="1" smtClean="0"/>
              <a:t>Orthogonalität</a:t>
            </a:r>
            <a:r>
              <a:rPr lang="de-DE" sz="2000" dirty="0" smtClean="0"/>
              <a:t>, verwendet von Pierre </a:t>
            </a:r>
            <a:r>
              <a:rPr lang="de-DE" sz="2000" dirty="0" err="1" smtClean="0"/>
              <a:t>Hérigone</a:t>
            </a:r>
            <a:r>
              <a:rPr lang="de-DE" sz="2000" dirty="0" smtClean="0"/>
              <a:t>.</a:t>
            </a:r>
          </a:p>
          <a:p>
            <a:pPr marL="285750" indent="-285750">
              <a:buFont typeface="Arial" panose="020B0604020202020204" pitchFamily="34" charset="0"/>
              <a:buChar char="•"/>
            </a:pPr>
            <a:endParaRPr lang="de-DE" dirty="0" smtClean="0"/>
          </a:p>
        </p:txBody>
      </p:sp>
      <p:sp>
        <p:nvSpPr>
          <p:cNvPr id="9" name="Textfeld 8"/>
          <p:cNvSpPr txBox="1"/>
          <p:nvPr/>
        </p:nvSpPr>
        <p:spPr>
          <a:xfrm>
            <a:off x="184944" y="3363838"/>
            <a:ext cx="7339384" cy="1477328"/>
          </a:xfrm>
          <a:prstGeom prst="rect">
            <a:avLst/>
          </a:prstGeom>
          <a:noFill/>
        </p:spPr>
        <p:txBody>
          <a:bodyPr wrap="square" rtlCol="0">
            <a:spAutoFit/>
          </a:bodyPr>
          <a:lstStyle/>
          <a:p>
            <a:r>
              <a:rPr lang="de-DE" b="1" dirty="0" smtClean="0"/>
              <a:t>Niedrigerer </a:t>
            </a:r>
            <a:r>
              <a:rPr lang="de-DE" b="1" dirty="0" err="1" smtClean="0"/>
              <a:t>Ikonizitätsgrad</a:t>
            </a:r>
            <a:r>
              <a:rPr lang="de-DE" b="1" dirty="0" smtClean="0"/>
              <a:t>:</a:t>
            </a:r>
          </a:p>
          <a:p>
            <a:pPr marL="285750" indent="-285750">
              <a:buFont typeface="Arial" panose="020B0604020202020204" pitchFamily="34" charset="0"/>
              <a:buChar char="•"/>
            </a:pPr>
            <a:r>
              <a:rPr lang="de-DE" dirty="0" smtClean="0"/>
              <a:t>R für </a:t>
            </a:r>
            <a:r>
              <a:rPr lang="de-DE" b="1" dirty="0" smtClean="0"/>
              <a:t>R</a:t>
            </a:r>
            <a:r>
              <a:rPr lang="de-DE" dirty="0" smtClean="0"/>
              <a:t>adius</a:t>
            </a:r>
          </a:p>
          <a:p>
            <a:pPr marL="285750" indent="-285750">
              <a:buFont typeface="Arial" panose="020B0604020202020204" pitchFamily="34" charset="0"/>
              <a:buChar char="•"/>
            </a:pPr>
            <a:r>
              <a:rPr lang="el-GR" dirty="0" smtClean="0"/>
              <a:t>π</a:t>
            </a:r>
            <a:r>
              <a:rPr lang="en-CA" dirty="0" smtClean="0"/>
              <a:t> </a:t>
            </a:r>
            <a:r>
              <a:rPr lang="en-CA" dirty="0" err="1" smtClean="0"/>
              <a:t>für</a:t>
            </a:r>
            <a:r>
              <a:rPr lang="en-CA" dirty="0" smtClean="0"/>
              <a:t> </a:t>
            </a:r>
            <a:r>
              <a:rPr lang="el-GR" b="1" dirty="0"/>
              <a:t>π</a:t>
            </a:r>
            <a:r>
              <a:rPr lang="el-GR" dirty="0"/>
              <a:t>εριφέρεια</a:t>
            </a:r>
            <a:r>
              <a:rPr lang="en-CA" dirty="0" smtClean="0"/>
              <a:t> (</a:t>
            </a:r>
            <a:r>
              <a:rPr lang="en-CA" b="1" dirty="0" err="1" smtClean="0"/>
              <a:t>p</a:t>
            </a:r>
            <a:r>
              <a:rPr lang="en-CA" dirty="0" err="1" smtClean="0"/>
              <a:t>erímetros</a:t>
            </a:r>
            <a:r>
              <a:rPr lang="en-CA" dirty="0" smtClean="0"/>
              <a:t>, </a:t>
            </a:r>
            <a:r>
              <a:rPr lang="en-CA" dirty="0" err="1" smtClean="0"/>
              <a:t>Umfang</a:t>
            </a:r>
            <a:r>
              <a:rPr lang="en-CA" dirty="0" smtClean="0"/>
              <a:t>)</a:t>
            </a:r>
          </a:p>
          <a:p>
            <a:pPr marL="285750" indent="-285750">
              <a:buFont typeface="Arial" panose="020B0604020202020204" pitchFamily="34" charset="0"/>
              <a:buChar char="•"/>
            </a:pPr>
            <a:r>
              <a:rPr lang="el-GR" dirty="0" smtClean="0"/>
              <a:t>ε</a:t>
            </a:r>
            <a:r>
              <a:rPr lang="en-CA" dirty="0" smtClean="0"/>
              <a:t> </a:t>
            </a:r>
            <a:r>
              <a:rPr lang="en-CA" dirty="0" err="1" smtClean="0"/>
              <a:t>für</a:t>
            </a:r>
            <a:r>
              <a:rPr lang="en-CA" dirty="0" smtClean="0"/>
              <a:t> </a:t>
            </a:r>
            <a:r>
              <a:rPr lang="en-CA" b="1" dirty="0" err="1" smtClean="0"/>
              <a:t>e</a:t>
            </a:r>
            <a:r>
              <a:rPr lang="en-CA" dirty="0" err="1" smtClean="0"/>
              <a:t>rreur</a:t>
            </a:r>
            <a:r>
              <a:rPr lang="en-CA" dirty="0" smtClean="0"/>
              <a:t> (</a:t>
            </a:r>
            <a:r>
              <a:rPr lang="en-CA" dirty="0" err="1" smtClean="0"/>
              <a:t>Fehlerterm</a:t>
            </a:r>
            <a:r>
              <a:rPr lang="en-CA" dirty="0" smtClean="0"/>
              <a:t>)</a:t>
            </a:r>
          </a:p>
          <a:p>
            <a:pPr marL="285750" indent="-285750">
              <a:buFont typeface="Arial" panose="020B0604020202020204" pitchFamily="34" charset="0"/>
              <a:buChar char="•"/>
            </a:pPr>
            <a:r>
              <a:rPr lang="el-GR" dirty="0" smtClean="0"/>
              <a:t>δ</a:t>
            </a:r>
            <a:r>
              <a:rPr lang="en-CA" dirty="0" smtClean="0"/>
              <a:t> </a:t>
            </a:r>
            <a:r>
              <a:rPr lang="en-CA" dirty="0" err="1" smtClean="0"/>
              <a:t>für</a:t>
            </a:r>
            <a:r>
              <a:rPr lang="en-CA" dirty="0"/>
              <a:t> </a:t>
            </a:r>
            <a:r>
              <a:rPr lang="en-CA" b="1" dirty="0" err="1" smtClean="0"/>
              <a:t>d</a:t>
            </a:r>
            <a:r>
              <a:rPr lang="en-CA" dirty="0" err="1" smtClean="0"/>
              <a:t>ifférence</a:t>
            </a:r>
            <a:r>
              <a:rPr lang="en-CA" dirty="0" smtClean="0"/>
              <a:t> (</a:t>
            </a:r>
            <a:r>
              <a:rPr lang="en-CA" dirty="0" err="1" smtClean="0"/>
              <a:t>Differenz</a:t>
            </a:r>
            <a:r>
              <a:rPr lang="en-CA" dirty="0" smtClean="0"/>
              <a:t>)</a:t>
            </a:r>
            <a:endParaRPr lang="de-DE" dirty="0" smtClean="0"/>
          </a:p>
        </p:txBody>
      </p:sp>
    </p:spTree>
    <p:extLst>
      <p:ext uri="{BB962C8B-B14F-4D97-AF65-F5344CB8AC3E}">
        <p14:creationId xmlns:p14="http://schemas.microsoft.com/office/powerpoint/2010/main" val="2227040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hteck 5"/>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7" name="Textfeld 6"/>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Ikonizität</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mathematischer</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Zeichen</a:t>
            </a:r>
            <a:endParaRPr lang="en-CA" sz="3200" dirty="0">
              <a:solidFill>
                <a:schemeClr val="bg1"/>
              </a:solidFill>
              <a:effectLst>
                <a:outerShdw blurRad="38100" dist="38100" dir="2700000" algn="tl">
                  <a:srgbClr val="000000">
                    <a:alpha val="43137"/>
                  </a:srgbClr>
                </a:outerShdw>
              </a:effectLst>
            </a:endParaRPr>
          </a:p>
        </p:txBody>
      </p:sp>
      <p:sp>
        <p:nvSpPr>
          <p:cNvPr id="8" name="Textfeld 7"/>
          <p:cNvSpPr txBox="1"/>
          <p:nvPr/>
        </p:nvSpPr>
        <p:spPr>
          <a:xfrm>
            <a:off x="2541" y="618823"/>
            <a:ext cx="8928992" cy="584775"/>
          </a:xfrm>
          <a:prstGeom prst="rect">
            <a:avLst/>
          </a:prstGeom>
          <a:noFill/>
        </p:spPr>
        <p:txBody>
          <a:bodyPr wrap="square" rtlCol="0">
            <a:spAutoFit/>
          </a:bodyPr>
          <a:lstStyle/>
          <a:p>
            <a:pPr algn="ctr"/>
            <a:r>
              <a:rPr lang="de-DE" sz="3200" dirty="0" err="1"/>
              <a:t>Quantoren</a:t>
            </a:r>
            <a:r>
              <a:rPr lang="de-DE" sz="3200" dirty="0"/>
              <a:t>: “∀” und “∃”</a:t>
            </a:r>
          </a:p>
        </p:txBody>
      </p:sp>
      <p:sp>
        <p:nvSpPr>
          <p:cNvPr id="9" name="Textfeld 8"/>
          <p:cNvSpPr txBox="1"/>
          <p:nvPr/>
        </p:nvSpPr>
        <p:spPr>
          <a:xfrm>
            <a:off x="251520" y="1419622"/>
            <a:ext cx="8568952" cy="1323439"/>
          </a:xfrm>
          <a:prstGeom prst="rect">
            <a:avLst/>
          </a:prstGeom>
          <a:noFill/>
        </p:spPr>
        <p:txBody>
          <a:bodyPr wrap="square" rtlCol="0">
            <a:spAutoFit/>
          </a:bodyPr>
          <a:lstStyle/>
          <a:p>
            <a:pPr marL="285750" indent="-285750">
              <a:buFont typeface="Arial" panose="020B0604020202020204" pitchFamily="34" charset="0"/>
              <a:buChar char="•"/>
            </a:pPr>
            <a:r>
              <a:rPr lang="de-DE" sz="2000" dirty="0"/>
              <a:t>“∀” ist ein umgekehrtes </a:t>
            </a:r>
            <a:r>
              <a:rPr lang="de-DE" sz="2000" b="1" dirty="0"/>
              <a:t>A</a:t>
            </a:r>
            <a:r>
              <a:rPr lang="de-DE" sz="2000" dirty="0"/>
              <a:t> (</a:t>
            </a:r>
            <a:r>
              <a:rPr lang="de-DE" sz="2000" dirty="0" err="1"/>
              <a:t>for</a:t>
            </a:r>
            <a:r>
              <a:rPr lang="de-DE" sz="2000" dirty="0"/>
              <a:t> All), das universelle Quantifizierung signalisiert.</a:t>
            </a:r>
          </a:p>
          <a:p>
            <a:pPr marL="285750" indent="-285750">
              <a:buFont typeface="Arial" panose="020B0604020202020204" pitchFamily="34" charset="0"/>
              <a:buChar char="•"/>
            </a:pPr>
            <a:r>
              <a:rPr lang="de-DE" sz="2000" dirty="0"/>
              <a:t>“∃” ist ein gedrehtes </a:t>
            </a:r>
            <a:r>
              <a:rPr lang="de-DE" sz="2000" b="1" dirty="0"/>
              <a:t>E</a:t>
            </a:r>
            <a:r>
              <a:rPr lang="de-DE" sz="2000" dirty="0"/>
              <a:t> (</a:t>
            </a:r>
            <a:r>
              <a:rPr lang="de-DE" sz="2000" dirty="0" err="1"/>
              <a:t>Exists</a:t>
            </a:r>
            <a:r>
              <a:rPr lang="de-DE" sz="2000" dirty="0"/>
              <a:t>), um die </a:t>
            </a:r>
            <a:r>
              <a:rPr lang="de-DE" sz="2000" b="1" dirty="0"/>
              <a:t>Existenz</a:t>
            </a:r>
            <a:r>
              <a:rPr lang="de-DE" sz="2000" dirty="0"/>
              <a:t> mindestens eines Elements zu kennzeichnen.</a:t>
            </a:r>
          </a:p>
          <a:p>
            <a:endParaRPr lang="de-DE" sz="2000" dirty="0"/>
          </a:p>
        </p:txBody>
      </p:sp>
      <p:pic>
        <p:nvPicPr>
          <p:cNvPr id="4098" name="Picture 2" descr="undefine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55776" y="2283718"/>
            <a:ext cx="2160240" cy="2733821"/>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undefin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60032" y="2283718"/>
            <a:ext cx="1872208" cy="26938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4818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hteck 5"/>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7" name="Textfeld 6"/>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Ikonizität</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mathematischer</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Zeichen</a:t>
            </a:r>
            <a:endParaRPr lang="en-CA" sz="3200" dirty="0">
              <a:solidFill>
                <a:schemeClr val="bg1"/>
              </a:solidFill>
              <a:effectLst>
                <a:outerShdw blurRad="38100" dist="38100" dir="2700000" algn="tl">
                  <a:srgbClr val="000000">
                    <a:alpha val="43137"/>
                  </a:srgbClr>
                </a:outerShdw>
              </a:effectLst>
            </a:endParaRPr>
          </a:p>
        </p:txBody>
      </p:sp>
      <p:sp>
        <p:nvSpPr>
          <p:cNvPr id="8" name="Textfeld 7"/>
          <p:cNvSpPr txBox="1"/>
          <p:nvPr/>
        </p:nvSpPr>
        <p:spPr>
          <a:xfrm>
            <a:off x="2541" y="618823"/>
            <a:ext cx="8928992" cy="584775"/>
          </a:xfrm>
          <a:prstGeom prst="rect">
            <a:avLst/>
          </a:prstGeom>
          <a:noFill/>
        </p:spPr>
        <p:txBody>
          <a:bodyPr wrap="square" rtlCol="0">
            <a:spAutoFit/>
          </a:bodyPr>
          <a:lstStyle/>
          <a:p>
            <a:pPr algn="ctr"/>
            <a:r>
              <a:rPr lang="de-DE" sz="3200" dirty="0" smtClean="0"/>
              <a:t>Vereinigung und Schnitt: </a:t>
            </a:r>
            <a:r>
              <a:rPr lang="de-DE" sz="3200" dirty="0"/>
              <a:t>∪ und </a:t>
            </a:r>
            <a:r>
              <a:rPr lang="de-DE" sz="3200" b="1" dirty="0"/>
              <a:t>∩</a:t>
            </a:r>
          </a:p>
        </p:txBody>
      </p:sp>
      <p:sp>
        <p:nvSpPr>
          <p:cNvPr id="2" name="Textfeld 1"/>
          <p:cNvSpPr txBox="1"/>
          <p:nvPr/>
        </p:nvSpPr>
        <p:spPr>
          <a:xfrm>
            <a:off x="251520" y="1347614"/>
            <a:ext cx="8352928" cy="1477328"/>
          </a:xfrm>
          <a:prstGeom prst="rect">
            <a:avLst/>
          </a:prstGeom>
          <a:noFill/>
        </p:spPr>
        <p:txBody>
          <a:bodyPr wrap="square" rtlCol="0">
            <a:spAutoFit/>
          </a:bodyPr>
          <a:lstStyle/>
          <a:p>
            <a:pPr marL="285750" indent="-285750">
              <a:buFont typeface="Arial" panose="020B0604020202020204" pitchFamily="34" charset="0"/>
              <a:buChar char="•"/>
            </a:pPr>
            <a:r>
              <a:rPr lang="de-DE" b="1" dirty="0"/>
              <a:t>∪ (“</a:t>
            </a:r>
            <a:r>
              <a:rPr lang="de-DE" b="1" dirty="0" err="1"/>
              <a:t>cup</a:t>
            </a:r>
            <a:r>
              <a:rPr lang="de-DE" b="1" dirty="0"/>
              <a:t>”)</a:t>
            </a:r>
            <a:r>
              <a:rPr lang="de-DE" dirty="0"/>
              <a:t> erinnert an eine </a:t>
            </a:r>
            <a:r>
              <a:rPr lang="de-DE" b="1" dirty="0"/>
              <a:t>Tasse</a:t>
            </a:r>
            <a:r>
              <a:rPr lang="de-DE" dirty="0"/>
              <a:t>, die zwei Mengen „aufsammelt“ und so das Zusammenführen der Elemente symbolisiert</a:t>
            </a:r>
            <a:r>
              <a:rPr lang="de-DE" dirty="0" smtClean="0"/>
              <a:t>.</a:t>
            </a:r>
          </a:p>
          <a:p>
            <a:pPr marL="285750" indent="-285750">
              <a:buFont typeface="Arial" panose="020B0604020202020204" pitchFamily="34" charset="0"/>
              <a:buChar char="•"/>
            </a:pPr>
            <a:r>
              <a:rPr lang="de-DE" b="1" dirty="0"/>
              <a:t>∩ (“</a:t>
            </a:r>
            <a:r>
              <a:rPr lang="de-DE" b="1" dirty="0" err="1"/>
              <a:t>cap</a:t>
            </a:r>
            <a:r>
              <a:rPr lang="de-DE" b="1" dirty="0"/>
              <a:t>”)</a:t>
            </a:r>
            <a:r>
              <a:rPr lang="de-DE" dirty="0"/>
              <a:t> wirkt wie eine </a:t>
            </a:r>
            <a:r>
              <a:rPr lang="de-DE" b="1" dirty="0"/>
              <a:t>Kappe</a:t>
            </a:r>
            <a:r>
              <a:rPr lang="de-DE" dirty="0"/>
              <a:t>, die nur den überlappenden Teil zweier Mengen „abdeckt“ und damit den Schnitt veranschaulicht</a:t>
            </a:r>
          </a:p>
          <a:p>
            <a:endParaRPr lang="de-DE" dirty="0"/>
          </a:p>
        </p:txBody>
      </p:sp>
      <p:pic>
        <p:nvPicPr>
          <p:cNvPr id="5122" name="Picture 2" descr="undefine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03648" y="2715766"/>
            <a:ext cx="2808312" cy="2048642"/>
          </a:xfrm>
          <a:prstGeom prst="rect">
            <a:avLst/>
          </a:prstGeom>
          <a:noFill/>
          <a:extLst>
            <a:ext uri="{909E8E84-426E-40DD-AFC4-6F175D3DCCD1}">
              <a14:hiddenFill xmlns:a14="http://schemas.microsoft.com/office/drawing/2010/main">
                <a:solidFill>
                  <a:srgbClr val="FFFFFF"/>
                </a:solidFill>
              </a14:hiddenFill>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9992" y="3138300"/>
            <a:ext cx="2964935" cy="10176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feld 3"/>
          <p:cNvSpPr txBox="1"/>
          <p:nvPr/>
        </p:nvSpPr>
        <p:spPr>
          <a:xfrm>
            <a:off x="4788024" y="4434666"/>
            <a:ext cx="3456384" cy="369332"/>
          </a:xfrm>
          <a:prstGeom prst="rect">
            <a:avLst/>
          </a:prstGeom>
          <a:noFill/>
        </p:spPr>
        <p:txBody>
          <a:bodyPr wrap="square" rtlCol="0">
            <a:spAutoFit/>
          </a:bodyPr>
          <a:lstStyle/>
          <a:p>
            <a:pPr algn="ctr"/>
            <a:r>
              <a:rPr lang="de-DE" dirty="0" smtClean="0"/>
              <a:t>Dualität &lt;-&gt; Spiegelung</a:t>
            </a:r>
            <a:endParaRPr lang="de-DE" dirty="0"/>
          </a:p>
        </p:txBody>
      </p:sp>
    </p:spTree>
    <p:extLst>
      <p:ext uri="{BB962C8B-B14F-4D97-AF65-F5344CB8AC3E}">
        <p14:creationId xmlns:p14="http://schemas.microsoft.com/office/powerpoint/2010/main" val="1435069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2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1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hteck 5"/>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7" name="Textfeld 6"/>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Ikonizität</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mathematischer</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Zeichen</a:t>
            </a:r>
            <a:endParaRPr lang="en-CA" sz="3200" dirty="0">
              <a:solidFill>
                <a:schemeClr val="bg1"/>
              </a:solidFill>
              <a:effectLst>
                <a:outerShdw blurRad="38100" dist="38100" dir="2700000" algn="tl">
                  <a:srgbClr val="000000">
                    <a:alpha val="43137"/>
                  </a:srgbClr>
                </a:outerShdw>
              </a:effectLst>
            </a:endParaRPr>
          </a:p>
        </p:txBody>
      </p:sp>
      <p:sp>
        <p:nvSpPr>
          <p:cNvPr id="3" name="Textfeld 2"/>
          <p:cNvSpPr txBox="1"/>
          <p:nvPr/>
        </p:nvSpPr>
        <p:spPr>
          <a:xfrm>
            <a:off x="-36512" y="568300"/>
            <a:ext cx="8928992" cy="923330"/>
          </a:xfrm>
          <a:prstGeom prst="rect">
            <a:avLst/>
          </a:prstGeom>
          <a:noFill/>
        </p:spPr>
        <p:txBody>
          <a:bodyPr wrap="square" rtlCol="0">
            <a:spAutoFit/>
          </a:bodyPr>
          <a:lstStyle/>
          <a:p>
            <a:pPr algn="ctr"/>
            <a:r>
              <a:rPr lang="en-US" sz="5400" dirty="0"/>
              <a:t>Floor ⌊x⌋ und Ceiling ⌈x⌉</a:t>
            </a:r>
            <a:endParaRPr lang="de-DE" sz="5400" dirty="0"/>
          </a:p>
        </p:txBody>
      </p:sp>
      <p:sp>
        <p:nvSpPr>
          <p:cNvPr id="5" name="Textfeld 4"/>
          <p:cNvSpPr txBox="1"/>
          <p:nvPr/>
        </p:nvSpPr>
        <p:spPr>
          <a:xfrm>
            <a:off x="1619672" y="1563638"/>
            <a:ext cx="5976664" cy="369332"/>
          </a:xfrm>
          <a:prstGeom prst="rect">
            <a:avLst/>
          </a:prstGeom>
          <a:noFill/>
        </p:spPr>
        <p:txBody>
          <a:bodyPr wrap="square" rtlCol="0">
            <a:spAutoFit/>
          </a:bodyPr>
          <a:lstStyle/>
          <a:p>
            <a:pPr algn="ctr"/>
            <a:r>
              <a:rPr lang="de-DE" dirty="0" smtClean="0"/>
              <a:t>Ab- und Aufrunden</a:t>
            </a:r>
            <a:endParaRPr lang="de-DE" dirty="0"/>
          </a:p>
        </p:txBody>
      </p:sp>
      <p:sp>
        <p:nvSpPr>
          <p:cNvPr id="8" name="Textfeld 7"/>
          <p:cNvSpPr txBox="1"/>
          <p:nvPr/>
        </p:nvSpPr>
        <p:spPr>
          <a:xfrm>
            <a:off x="214616" y="1853411"/>
            <a:ext cx="8928992" cy="1107996"/>
          </a:xfrm>
          <a:prstGeom prst="rect">
            <a:avLst/>
          </a:prstGeom>
          <a:noFill/>
        </p:spPr>
        <p:txBody>
          <a:bodyPr wrap="square" rtlCol="0">
            <a:spAutoFit/>
          </a:bodyPr>
          <a:lstStyle/>
          <a:p>
            <a:pPr algn="ctr"/>
            <a:r>
              <a:rPr lang="de-DE" sz="6600" dirty="0" smtClean="0"/>
              <a:t>∅</a:t>
            </a:r>
            <a:endParaRPr lang="de-DE" sz="6600" dirty="0"/>
          </a:p>
        </p:txBody>
      </p:sp>
      <p:sp>
        <p:nvSpPr>
          <p:cNvPr id="9" name="Textfeld 8"/>
          <p:cNvSpPr txBox="1"/>
          <p:nvPr/>
        </p:nvSpPr>
        <p:spPr>
          <a:xfrm>
            <a:off x="574656" y="2961407"/>
            <a:ext cx="8064896" cy="369332"/>
          </a:xfrm>
          <a:prstGeom prst="rect">
            <a:avLst/>
          </a:prstGeom>
          <a:noFill/>
        </p:spPr>
        <p:txBody>
          <a:bodyPr wrap="square" rtlCol="0">
            <a:spAutoFit/>
          </a:bodyPr>
          <a:lstStyle/>
          <a:p>
            <a:pPr algn="ctr"/>
            <a:r>
              <a:rPr lang="de-DE" dirty="0"/>
              <a:t>Ein durchgestrichener Kreis visualisiert „Nichts-drin</a:t>
            </a:r>
            <a:r>
              <a:rPr lang="de-DE" dirty="0" smtClean="0"/>
              <a:t>“</a:t>
            </a:r>
            <a:endParaRPr lang="de-DE" dirty="0"/>
          </a:p>
        </p:txBody>
      </p:sp>
      <p:sp>
        <p:nvSpPr>
          <p:cNvPr id="10" name="Textfeld 9"/>
          <p:cNvSpPr txBox="1"/>
          <p:nvPr/>
        </p:nvSpPr>
        <p:spPr>
          <a:xfrm>
            <a:off x="934696" y="3509595"/>
            <a:ext cx="7632848" cy="646331"/>
          </a:xfrm>
          <a:prstGeom prst="rect">
            <a:avLst/>
          </a:prstGeom>
          <a:noFill/>
        </p:spPr>
        <p:txBody>
          <a:bodyPr wrap="square" rtlCol="0">
            <a:spAutoFit/>
          </a:bodyPr>
          <a:lstStyle/>
          <a:p>
            <a:pPr algn="ctr"/>
            <a:r>
              <a:rPr lang="de-DE" sz="3600" dirty="0"/>
              <a:t>„(  )“, „[  ]“ oder „{  }“</a:t>
            </a:r>
          </a:p>
        </p:txBody>
      </p:sp>
      <p:sp>
        <p:nvSpPr>
          <p:cNvPr id="11" name="Textfeld 10"/>
          <p:cNvSpPr txBox="1"/>
          <p:nvPr/>
        </p:nvSpPr>
        <p:spPr>
          <a:xfrm>
            <a:off x="934696" y="4155926"/>
            <a:ext cx="7416824" cy="646331"/>
          </a:xfrm>
          <a:prstGeom prst="rect">
            <a:avLst/>
          </a:prstGeom>
          <a:noFill/>
        </p:spPr>
        <p:txBody>
          <a:bodyPr wrap="square" rtlCol="0">
            <a:spAutoFit/>
          </a:bodyPr>
          <a:lstStyle/>
          <a:p>
            <a:r>
              <a:rPr lang="de-DE" dirty="0"/>
              <a:t>Ihr ikonischer  Gehalt liegt darin, dass sie den eingeschlossenen  Term als Einheit visualisieren  –  ähnlich  einem Behälter,  der Objekte zusammenhält.</a:t>
            </a:r>
          </a:p>
        </p:txBody>
      </p:sp>
    </p:spTree>
    <p:extLst>
      <p:ext uri="{BB962C8B-B14F-4D97-AF65-F5344CB8AC3E}">
        <p14:creationId xmlns:p14="http://schemas.microsoft.com/office/powerpoint/2010/main" val="2393279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8" grpId="0"/>
      <p:bldP spid="9" grpId="0"/>
      <p:bldP spid="10" grpId="0"/>
      <p:bldP spid="11"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hteck 5"/>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7" name="Textfeld 6"/>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Ikonizität</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mathematischer</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Zeichen</a:t>
            </a:r>
            <a:endParaRPr lang="en-CA" sz="3200" dirty="0">
              <a:solidFill>
                <a:schemeClr val="bg1"/>
              </a:solidFill>
              <a:effectLst>
                <a:outerShdw blurRad="38100" dist="38100" dir="2700000" algn="tl">
                  <a:srgbClr val="000000">
                    <a:alpha val="43137"/>
                  </a:srgbClr>
                </a:outerShdw>
              </a:effectLst>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7784" y="1635646"/>
            <a:ext cx="5212104" cy="29744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5656" y="1867448"/>
            <a:ext cx="828675" cy="2600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feld 2"/>
          <p:cNvSpPr txBox="1"/>
          <p:nvPr/>
        </p:nvSpPr>
        <p:spPr>
          <a:xfrm>
            <a:off x="1259632" y="627534"/>
            <a:ext cx="6336704" cy="923330"/>
          </a:xfrm>
          <a:prstGeom prst="rect">
            <a:avLst/>
          </a:prstGeom>
          <a:noFill/>
        </p:spPr>
        <p:txBody>
          <a:bodyPr wrap="square" rtlCol="0">
            <a:spAutoFit/>
          </a:bodyPr>
          <a:lstStyle/>
          <a:p>
            <a:pPr algn="ctr"/>
            <a:r>
              <a:rPr lang="de-DE" sz="5400" dirty="0" smtClean="0"/>
              <a:t>„Integral über A“</a:t>
            </a:r>
            <a:endParaRPr lang="de-DE" sz="5400" dirty="0"/>
          </a:p>
        </p:txBody>
      </p:sp>
    </p:spTree>
    <p:extLst>
      <p:ext uri="{BB962C8B-B14F-4D97-AF65-F5344CB8AC3E}">
        <p14:creationId xmlns:p14="http://schemas.microsoft.com/office/powerpoint/2010/main" val="320720246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hteck 5"/>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7" name="Textfeld 6"/>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Ikonizität</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mathematischer</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Zeichen</a:t>
            </a:r>
            <a:endParaRPr lang="en-CA" sz="3200" dirty="0">
              <a:solidFill>
                <a:schemeClr val="bg1"/>
              </a:solidFill>
              <a:effectLst>
                <a:outerShdw blurRad="38100" dist="38100" dir="2700000" algn="tl">
                  <a:srgbClr val="000000">
                    <a:alpha val="43137"/>
                  </a:srgbClr>
                </a:outerShdw>
              </a:effectLst>
            </a:endParaRP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699542"/>
            <a:ext cx="8064896" cy="4269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p14="http://schemas.microsoft.com/office/powerpoint/2010/main">
        <mc:Choice Requires="p14">
          <p:contentPart p14:bwMode="auto" r:id="rId3">
            <p14:nvContentPartPr>
              <p14:cNvPr id="2" name="Freihand 1"/>
              <p14:cNvContentPartPr/>
              <p14:nvPr/>
            </p14:nvContentPartPr>
            <p14:xfrm>
              <a:off x="1176480" y="1747800"/>
              <a:ext cx="6496200" cy="2191320"/>
            </p14:xfrm>
          </p:contentPart>
        </mc:Choice>
        <mc:Fallback xmlns="">
          <p:pic>
            <p:nvPicPr>
              <p:cNvPr id="2" name="Freihand 1"/>
              <p:cNvPicPr/>
              <p:nvPr/>
            </p:nvPicPr>
            <p:blipFill>
              <a:blip r:embed="rId4"/>
              <a:stretch>
                <a:fillRect/>
              </a:stretch>
            </p:blipFill>
            <p:spPr>
              <a:xfrm>
                <a:off x="1167120" y="1738440"/>
                <a:ext cx="6514920" cy="2210040"/>
              </a:xfrm>
              <a:prstGeom prst="rect">
                <a:avLst/>
              </a:prstGeom>
            </p:spPr>
          </p:pic>
        </mc:Fallback>
      </mc:AlternateContent>
    </p:spTree>
    <p:extLst>
      <p:ext uri="{BB962C8B-B14F-4D97-AF65-F5344CB8AC3E}">
        <p14:creationId xmlns:p14="http://schemas.microsoft.com/office/powerpoint/2010/main" val="315180640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hteck 5"/>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7" name="Textfeld 6"/>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Ikonizität</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mathematischer</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Zeichen</a:t>
            </a:r>
            <a:endParaRPr lang="en-CA" sz="3200" dirty="0">
              <a:solidFill>
                <a:schemeClr val="bg1"/>
              </a:solidFill>
              <a:effectLst>
                <a:outerShdw blurRad="38100" dist="38100" dir="2700000" algn="tl">
                  <a:srgbClr val="000000">
                    <a:alpha val="43137"/>
                  </a:srgbClr>
                </a:outerShdw>
              </a:effectLst>
            </a:endParaRPr>
          </a:p>
        </p:txBody>
      </p:sp>
      <p:sp>
        <p:nvSpPr>
          <p:cNvPr id="3" name="Textfeld 2"/>
          <p:cNvSpPr txBox="1"/>
          <p:nvPr/>
        </p:nvSpPr>
        <p:spPr>
          <a:xfrm>
            <a:off x="107504" y="483518"/>
            <a:ext cx="6336704" cy="1107996"/>
          </a:xfrm>
          <a:prstGeom prst="rect">
            <a:avLst/>
          </a:prstGeom>
          <a:noFill/>
        </p:spPr>
        <p:txBody>
          <a:bodyPr wrap="square" rtlCol="0">
            <a:spAutoFit/>
          </a:bodyPr>
          <a:lstStyle/>
          <a:p>
            <a:pPr algn="ctr"/>
            <a:r>
              <a:rPr lang="de-DE" sz="6600" dirty="0" smtClean="0"/>
              <a:t>=</a:t>
            </a:r>
            <a:endParaRPr lang="de-DE" sz="6600" dirty="0"/>
          </a:p>
        </p:txBody>
      </p:sp>
      <p:pic>
        <p:nvPicPr>
          <p:cNvPr id="3074" name="Picture 2" descr="undefin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53628" y="771550"/>
            <a:ext cx="2138852" cy="3240360"/>
          </a:xfrm>
          <a:prstGeom prst="rect">
            <a:avLst/>
          </a:prstGeom>
          <a:noFill/>
          <a:ln w="38100">
            <a:solidFill>
              <a:schemeClr val="accent1"/>
            </a:solidFill>
          </a:ln>
          <a:extLst>
            <a:ext uri="{909E8E84-426E-40DD-AFC4-6F175D3DCCD1}">
              <a14:hiddenFill xmlns:a14="http://schemas.microsoft.com/office/drawing/2010/main">
                <a:solidFill>
                  <a:srgbClr val="FFFFFF"/>
                </a:solidFill>
              </a14:hiddenFill>
            </a:ext>
          </a:extLst>
        </p:spPr>
      </p:pic>
      <p:sp>
        <p:nvSpPr>
          <p:cNvPr id="2" name="Textfeld 1"/>
          <p:cNvSpPr txBox="1"/>
          <p:nvPr/>
        </p:nvSpPr>
        <p:spPr>
          <a:xfrm>
            <a:off x="6753628" y="4083918"/>
            <a:ext cx="1994836" cy="646331"/>
          </a:xfrm>
          <a:prstGeom prst="rect">
            <a:avLst/>
          </a:prstGeom>
          <a:noFill/>
        </p:spPr>
        <p:txBody>
          <a:bodyPr wrap="square" rtlCol="0">
            <a:spAutoFit/>
          </a:bodyPr>
          <a:lstStyle/>
          <a:p>
            <a:pPr algn="ctr"/>
            <a:r>
              <a:rPr lang="de-DE" sz="2000" b="1" dirty="0"/>
              <a:t>Robert </a:t>
            </a:r>
            <a:r>
              <a:rPr lang="de-DE" sz="2000" b="1" dirty="0" err="1" smtClean="0"/>
              <a:t>Recorde</a:t>
            </a:r>
            <a:endParaRPr lang="de-DE" sz="2000" b="1" dirty="0" smtClean="0"/>
          </a:p>
          <a:p>
            <a:pPr algn="ctr"/>
            <a:r>
              <a:rPr lang="de-DE" sz="1600" dirty="0" smtClean="0"/>
              <a:t>(1510-1558)</a:t>
            </a:r>
            <a:endParaRPr lang="de-DE" sz="1600" dirty="0"/>
          </a:p>
        </p:txBody>
      </p:sp>
      <p:sp>
        <p:nvSpPr>
          <p:cNvPr id="4" name="Textfeld 3"/>
          <p:cNvSpPr txBox="1"/>
          <p:nvPr/>
        </p:nvSpPr>
        <p:spPr>
          <a:xfrm>
            <a:off x="230132" y="1390005"/>
            <a:ext cx="6646124" cy="461665"/>
          </a:xfrm>
          <a:prstGeom prst="rect">
            <a:avLst/>
          </a:prstGeom>
          <a:noFill/>
        </p:spPr>
        <p:txBody>
          <a:bodyPr wrap="square" rtlCol="0">
            <a:spAutoFit/>
          </a:bodyPr>
          <a:lstStyle/>
          <a:p>
            <a:r>
              <a:rPr lang="en-US" sz="2400" i="1" dirty="0" smtClean="0"/>
              <a:t>“[…] </a:t>
            </a:r>
            <a:r>
              <a:rPr lang="en-US" sz="2400" i="1" dirty="0" err="1" smtClean="0"/>
              <a:t>bicause</a:t>
            </a:r>
            <a:r>
              <a:rPr lang="en-US" sz="2400" i="1" dirty="0" smtClean="0"/>
              <a:t> </a:t>
            </a:r>
            <a:r>
              <a:rPr lang="en-US" sz="2400" i="1" dirty="0"/>
              <a:t>noe.2.thynges,can be </a:t>
            </a:r>
            <a:r>
              <a:rPr lang="en-US" sz="2400" i="1" dirty="0" err="1"/>
              <a:t>moare</a:t>
            </a:r>
            <a:r>
              <a:rPr lang="en-US" sz="2400" i="1" dirty="0"/>
              <a:t> </a:t>
            </a:r>
            <a:r>
              <a:rPr lang="en-US" sz="2400" i="1" dirty="0" err="1"/>
              <a:t>equalle</a:t>
            </a:r>
            <a:r>
              <a:rPr lang="en-US" sz="2400" i="1" dirty="0" smtClean="0"/>
              <a:t>.”</a:t>
            </a:r>
            <a:endParaRPr lang="de-DE" sz="2400" dirty="0"/>
          </a:p>
        </p:txBody>
      </p:sp>
      <p:pic>
        <p:nvPicPr>
          <p:cNvPr id="3076" name="Picture 4" descr="undefine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6104" y="1995686"/>
            <a:ext cx="4932040" cy="2551055"/>
          </a:xfrm>
          <a:prstGeom prst="rect">
            <a:avLst/>
          </a:prstGeom>
          <a:noFill/>
          <a:extLst>
            <a:ext uri="{909E8E84-426E-40DD-AFC4-6F175D3DCCD1}">
              <a14:hiddenFill xmlns:a14="http://schemas.microsoft.com/office/drawing/2010/main">
                <a:solidFill>
                  <a:srgbClr val="FFFFFF"/>
                </a:solidFill>
              </a14:hiddenFill>
            </a:ext>
          </a:extLst>
        </p:spPr>
      </p:pic>
      <p:sp>
        <p:nvSpPr>
          <p:cNvPr id="5" name="Textfeld 4"/>
          <p:cNvSpPr txBox="1"/>
          <p:nvPr/>
        </p:nvSpPr>
        <p:spPr>
          <a:xfrm>
            <a:off x="467544" y="4587974"/>
            <a:ext cx="5760640" cy="369332"/>
          </a:xfrm>
          <a:prstGeom prst="rect">
            <a:avLst/>
          </a:prstGeom>
          <a:noFill/>
        </p:spPr>
        <p:txBody>
          <a:bodyPr wrap="square" rtlCol="0">
            <a:spAutoFit/>
          </a:bodyPr>
          <a:lstStyle/>
          <a:p>
            <a:pPr algn="ctr"/>
            <a:r>
              <a:rPr lang="de-DE" dirty="0" smtClean="0"/>
              <a:t>(</a:t>
            </a:r>
            <a:r>
              <a:rPr lang="de-DE" dirty="0" err="1" smtClean="0"/>
              <a:t>Recordes</a:t>
            </a:r>
            <a:r>
              <a:rPr lang="de-DE" dirty="0" smtClean="0"/>
              <a:t> </a:t>
            </a:r>
            <a:r>
              <a:rPr lang="de-DE" dirty="0"/>
              <a:t>Original verwendete längere „</a:t>
            </a:r>
            <a:r>
              <a:rPr lang="de-DE" dirty="0" err="1"/>
              <a:t>Gemowe</a:t>
            </a:r>
            <a:r>
              <a:rPr lang="de-DE" dirty="0"/>
              <a:t> </a:t>
            </a:r>
            <a:r>
              <a:rPr lang="de-DE" dirty="0" err="1" smtClean="0"/>
              <a:t>lines</a:t>
            </a:r>
            <a:r>
              <a:rPr lang="de-DE" dirty="0" smtClean="0"/>
              <a:t>“)</a:t>
            </a:r>
            <a:endParaRPr lang="de-DE" dirty="0"/>
          </a:p>
        </p:txBody>
      </p:sp>
      <p:cxnSp>
        <p:nvCxnSpPr>
          <p:cNvPr id="9" name="Gerade Verbindung 8"/>
          <p:cNvCxnSpPr/>
          <p:nvPr/>
        </p:nvCxnSpPr>
        <p:spPr>
          <a:xfrm>
            <a:off x="4499992" y="4876006"/>
            <a:ext cx="1296144"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Gerade Verbindung 11"/>
          <p:cNvCxnSpPr/>
          <p:nvPr/>
        </p:nvCxnSpPr>
        <p:spPr>
          <a:xfrm>
            <a:off x="3164571" y="4520547"/>
            <a:ext cx="65461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1579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hteck 5"/>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7" name="Textfeld 6"/>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Gleichheitszeichen</a:t>
            </a:r>
            <a:endParaRPr lang="en-CA" sz="3200" dirty="0">
              <a:solidFill>
                <a:schemeClr val="bg1"/>
              </a:solidFill>
              <a:effectLst>
                <a:outerShdw blurRad="38100" dist="38100" dir="2700000" algn="tl">
                  <a:srgbClr val="000000">
                    <a:alpha val="43137"/>
                  </a:srgbClr>
                </a:outerShdw>
              </a:effectLst>
            </a:endParaRPr>
          </a:p>
        </p:txBody>
      </p:sp>
      <p:pic>
        <p:nvPicPr>
          <p:cNvPr id="921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6381" r="53838" b="68921"/>
          <a:stretch/>
        </p:blipFill>
        <p:spPr bwMode="auto">
          <a:xfrm>
            <a:off x="611560" y="771550"/>
            <a:ext cx="7124669" cy="2118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feld 1"/>
          <p:cNvSpPr txBox="1"/>
          <p:nvPr/>
        </p:nvSpPr>
        <p:spPr>
          <a:xfrm>
            <a:off x="467544" y="3130971"/>
            <a:ext cx="4680520" cy="1384995"/>
          </a:xfrm>
          <a:prstGeom prst="rect">
            <a:avLst/>
          </a:prstGeom>
          <a:noFill/>
        </p:spPr>
        <p:txBody>
          <a:bodyPr wrap="square" rtlCol="0">
            <a:spAutoFit/>
          </a:bodyPr>
          <a:lstStyle/>
          <a:p>
            <a:pPr marL="342900" indent="-342900">
              <a:buAutoNum type="arabicParenR"/>
            </a:pPr>
            <a:r>
              <a:rPr lang="de-DE" sz="2800" dirty="0" smtClean="0"/>
              <a:t>Identitätsgleichung (≡) </a:t>
            </a:r>
          </a:p>
          <a:p>
            <a:pPr marL="342900" indent="-342900">
              <a:buAutoNum type="arabicParenR"/>
            </a:pPr>
            <a:r>
              <a:rPr lang="de-DE" sz="2800" dirty="0" smtClean="0"/>
              <a:t>Definitionsgleichung (:=)</a:t>
            </a:r>
          </a:p>
          <a:p>
            <a:pPr marL="342900" indent="-342900">
              <a:buAutoNum type="arabicParenR"/>
            </a:pPr>
            <a:r>
              <a:rPr lang="de-DE" sz="2800" dirty="0"/>
              <a:t>Bestimmungsgleichung </a:t>
            </a:r>
            <a:r>
              <a:rPr lang="de-DE" sz="2800" dirty="0" smtClean="0"/>
              <a:t>(    )</a:t>
            </a:r>
            <a:endParaRPr lang="de-DE" sz="2800" dirty="0"/>
          </a:p>
        </p:txBody>
      </p:sp>
      <p:sp>
        <p:nvSpPr>
          <p:cNvPr id="3" name="Textfeld 2"/>
          <p:cNvSpPr txBox="1"/>
          <p:nvPr/>
        </p:nvSpPr>
        <p:spPr>
          <a:xfrm>
            <a:off x="5292080" y="3219822"/>
            <a:ext cx="3312368" cy="830997"/>
          </a:xfrm>
          <a:prstGeom prst="rect">
            <a:avLst/>
          </a:prstGeom>
          <a:noFill/>
        </p:spPr>
        <p:txBody>
          <a:bodyPr wrap="square" rtlCol="0">
            <a:spAutoFit/>
          </a:bodyPr>
          <a:lstStyle/>
          <a:p>
            <a:r>
              <a:rPr lang="de-DE" sz="2400" dirty="0"/>
              <a:t>„Gilt das? Oder soll ich das erst zeigen</a:t>
            </a:r>
            <a:r>
              <a:rPr lang="de-DE" sz="2400" dirty="0" smtClean="0"/>
              <a:t>?“</a:t>
            </a:r>
            <a:endParaRPr lang="de-DE" sz="2400" b="1" dirty="0" smtClean="0"/>
          </a:p>
        </p:txBody>
      </p:sp>
      <p:pic>
        <p:nvPicPr>
          <p:cNvPr id="1433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54843" y="4084405"/>
            <a:ext cx="266129" cy="352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p14="http://schemas.microsoft.com/office/powerpoint/2010/main">
        <mc:Choice Requires="p14">
          <p:contentPart p14:bwMode="auto" r:id="rId4">
            <p14:nvContentPartPr>
              <p14:cNvPr id="4" name="Freihand 3"/>
              <p14:cNvContentPartPr/>
              <p14:nvPr/>
            </p14:nvContentPartPr>
            <p14:xfrm>
              <a:off x="2747880" y="1714320"/>
              <a:ext cx="10080" cy="119520"/>
            </p14:xfrm>
          </p:contentPart>
        </mc:Choice>
        <mc:Fallback xmlns="">
          <p:pic>
            <p:nvPicPr>
              <p:cNvPr id="4" name="Freihand 3"/>
              <p:cNvPicPr/>
              <p:nvPr/>
            </p:nvPicPr>
            <p:blipFill>
              <a:blip r:embed="rId5"/>
              <a:stretch>
                <a:fillRect/>
              </a:stretch>
            </p:blipFill>
            <p:spPr>
              <a:xfrm>
                <a:off x="2738520" y="1704960"/>
                <a:ext cx="28800" cy="138240"/>
              </a:xfrm>
              <a:prstGeom prst="rect">
                <a:avLst/>
              </a:prstGeom>
            </p:spPr>
          </p:pic>
        </mc:Fallback>
      </mc:AlternateContent>
    </p:spTree>
    <p:extLst>
      <p:ext uri="{BB962C8B-B14F-4D97-AF65-F5344CB8AC3E}">
        <p14:creationId xmlns:p14="http://schemas.microsoft.com/office/powerpoint/2010/main" val="3394347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33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hteck 5"/>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7" name="Textfeld 6"/>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Gleichheitszeichen</a:t>
            </a:r>
            <a:endParaRPr lang="en-CA" sz="3200" dirty="0">
              <a:solidFill>
                <a:schemeClr val="bg1"/>
              </a:solidFill>
              <a:effectLst>
                <a:outerShdw blurRad="38100" dist="38100" dir="2700000" algn="tl">
                  <a:srgbClr val="000000">
                    <a:alpha val="43137"/>
                  </a:srgbClr>
                </a:outerShdw>
              </a:effectLst>
            </a:endParaRPr>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1203598"/>
            <a:ext cx="7745413"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feld 3"/>
          <p:cNvSpPr txBox="1"/>
          <p:nvPr/>
        </p:nvSpPr>
        <p:spPr>
          <a:xfrm>
            <a:off x="395536" y="669925"/>
            <a:ext cx="5544616" cy="461665"/>
          </a:xfrm>
          <a:prstGeom prst="rect">
            <a:avLst/>
          </a:prstGeom>
          <a:noFill/>
        </p:spPr>
        <p:txBody>
          <a:bodyPr wrap="square" rtlCol="0">
            <a:spAutoFit/>
          </a:bodyPr>
          <a:lstStyle/>
          <a:p>
            <a:r>
              <a:rPr lang="de-DE" sz="2400" b="1" dirty="0" smtClean="0"/>
              <a:t>Sind das verschiedene Zeichen?</a:t>
            </a:r>
            <a:endParaRPr lang="de-DE" sz="2400" b="1" dirty="0"/>
          </a:p>
        </p:txBody>
      </p:sp>
      <p:sp>
        <p:nvSpPr>
          <p:cNvPr id="5" name="Textfeld 4"/>
          <p:cNvSpPr txBox="1"/>
          <p:nvPr/>
        </p:nvSpPr>
        <p:spPr>
          <a:xfrm>
            <a:off x="611560" y="3003823"/>
            <a:ext cx="7673405" cy="369332"/>
          </a:xfrm>
          <a:prstGeom prst="rect">
            <a:avLst/>
          </a:prstGeom>
          <a:noFill/>
        </p:spPr>
        <p:txBody>
          <a:bodyPr wrap="square" rtlCol="0">
            <a:spAutoFit/>
          </a:bodyPr>
          <a:lstStyle/>
          <a:p>
            <a:pPr algn="ctr"/>
            <a:r>
              <a:rPr lang="de-DE" dirty="0" smtClean="0"/>
              <a:t>Die Zeichen drücken die </a:t>
            </a:r>
            <a:r>
              <a:rPr lang="de-DE" i="1" dirty="0"/>
              <a:t>Richtung einer </a:t>
            </a:r>
            <a:r>
              <a:rPr lang="de-DE" i="1" dirty="0" smtClean="0"/>
              <a:t>Argumentation </a:t>
            </a:r>
            <a:r>
              <a:rPr lang="de-DE" dirty="0" smtClean="0"/>
              <a:t>aus. </a:t>
            </a:r>
            <a:endParaRPr lang="de-DE" dirty="0"/>
          </a:p>
        </p:txBody>
      </p:sp>
    </p:spTree>
    <p:extLst>
      <p:ext uri="{BB962C8B-B14F-4D97-AF65-F5344CB8AC3E}">
        <p14:creationId xmlns:p14="http://schemas.microsoft.com/office/powerpoint/2010/main" val="512796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hteck 5"/>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7" name="Textfeld 6"/>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Gibt</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es</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eine</a:t>
            </a:r>
            <a:r>
              <a:rPr lang="en-CA" sz="3200" dirty="0" smtClean="0">
                <a:solidFill>
                  <a:schemeClr val="bg1"/>
                </a:solidFill>
                <a:effectLst>
                  <a:outerShdw blurRad="38100" dist="38100" dir="2700000" algn="tl">
                    <a:srgbClr val="000000">
                      <a:alpha val="43137"/>
                    </a:srgbClr>
                  </a:outerShdw>
                </a:effectLst>
              </a:rPr>
              <a:t> LHS und RHS?</a:t>
            </a:r>
            <a:endParaRPr lang="en-CA" sz="3200" dirty="0">
              <a:solidFill>
                <a:schemeClr val="bg1"/>
              </a:solidFill>
              <a:effectLst>
                <a:outerShdw blurRad="38100" dist="38100" dir="2700000" algn="tl">
                  <a:srgbClr val="000000">
                    <a:alpha val="43137"/>
                  </a:srgbClr>
                </a:outerShdw>
              </a:effectLst>
            </a:endParaRPr>
          </a:p>
        </p:txBody>
      </p:sp>
      <p:sp>
        <p:nvSpPr>
          <p:cNvPr id="2" name="Textfeld 1"/>
          <p:cNvSpPr txBox="1"/>
          <p:nvPr/>
        </p:nvSpPr>
        <p:spPr>
          <a:xfrm>
            <a:off x="179512" y="627534"/>
            <a:ext cx="2160240" cy="461665"/>
          </a:xfrm>
          <a:prstGeom prst="rect">
            <a:avLst/>
          </a:prstGeom>
          <a:noFill/>
        </p:spPr>
        <p:txBody>
          <a:bodyPr wrap="square" rtlCol="0">
            <a:spAutoFit/>
          </a:bodyPr>
          <a:lstStyle/>
          <a:p>
            <a:r>
              <a:rPr lang="de-DE" sz="2400" b="1" dirty="0" smtClean="0"/>
              <a:t>Nein.</a:t>
            </a:r>
            <a:endParaRPr lang="de-DE" sz="2400" b="1" dirty="0"/>
          </a:p>
        </p:txBody>
      </p:sp>
      <p:sp>
        <p:nvSpPr>
          <p:cNvPr id="3" name="Textfeld 2"/>
          <p:cNvSpPr txBox="1"/>
          <p:nvPr/>
        </p:nvSpPr>
        <p:spPr>
          <a:xfrm>
            <a:off x="1763688" y="1059582"/>
            <a:ext cx="5544616" cy="830997"/>
          </a:xfrm>
          <a:prstGeom prst="rect">
            <a:avLst/>
          </a:prstGeom>
          <a:noFill/>
        </p:spPr>
        <p:txBody>
          <a:bodyPr wrap="square" rtlCol="0">
            <a:spAutoFit/>
          </a:bodyPr>
          <a:lstStyle/>
          <a:p>
            <a:pPr algn="ctr"/>
            <a:r>
              <a:rPr lang="de-DE" sz="4800" dirty="0" smtClean="0"/>
              <a:t>A=B</a:t>
            </a:r>
            <a:endParaRPr lang="de-DE" sz="4800" dirty="0"/>
          </a:p>
        </p:txBody>
      </p:sp>
      <p:sp>
        <p:nvSpPr>
          <p:cNvPr id="4" name="Textfeld 3"/>
          <p:cNvSpPr txBox="1"/>
          <p:nvPr/>
        </p:nvSpPr>
        <p:spPr>
          <a:xfrm>
            <a:off x="467544" y="1779662"/>
            <a:ext cx="8352928" cy="369332"/>
          </a:xfrm>
          <a:prstGeom prst="rect">
            <a:avLst/>
          </a:prstGeom>
          <a:noFill/>
        </p:spPr>
        <p:txBody>
          <a:bodyPr wrap="square" rtlCol="0">
            <a:spAutoFit/>
          </a:bodyPr>
          <a:lstStyle/>
          <a:p>
            <a:pPr algn="ctr"/>
            <a:r>
              <a:rPr lang="de-DE" dirty="0" smtClean="0"/>
              <a:t>„=“ ist eine symmetrische Relation</a:t>
            </a:r>
            <a:endParaRPr lang="de-DE" dirty="0"/>
          </a:p>
        </p:txBody>
      </p:sp>
      <p:sp>
        <p:nvSpPr>
          <p:cNvPr id="5" name="Textfeld 4"/>
          <p:cNvSpPr txBox="1"/>
          <p:nvPr/>
        </p:nvSpPr>
        <p:spPr>
          <a:xfrm>
            <a:off x="323528" y="2211710"/>
            <a:ext cx="8568952" cy="338554"/>
          </a:xfrm>
          <a:prstGeom prst="rect">
            <a:avLst/>
          </a:prstGeom>
          <a:noFill/>
        </p:spPr>
        <p:txBody>
          <a:bodyPr wrap="square" rtlCol="0">
            <a:spAutoFit/>
          </a:bodyPr>
          <a:lstStyle/>
          <a:p>
            <a:r>
              <a:rPr lang="de-DE" sz="1600" dirty="0" smtClean="0"/>
              <a:t>Was „rechts“ und was „links“ von der Gleichung steht, ist ein akzidentelles Merkmal auf dem Papier.</a:t>
            </a:r>
            <a:endParaRPr lang="de-DE" sz="1600" dirty="0"/>
          </a:p>
        </p:txBody>
      </p:sp>
      <p:sp>
        <p:nvSpPr>
          <p:cNvPr id="8" name="Textfeld 7"/>
          <p:cNvSpPr txBox="1"/>
          <p:nvPr/>
        </p:nvSpPr>
        <p:spPr>
          <a:xfrm>
            <a:off x="4283968" y="2689632"/>
            <a:ext cx="1872208" cy="2123658"/>
          </a:xfrm>
          <a:prstGeom prst="rect">
            <a:avLst/>
          </a:prstGeom>
          <a:noFill/>
        </p:spPr>
        <p:txBody>
          <a:bodyPr wrap="square" rtlCol="0">
            <a:spAutoFit/>
          </a:bodyPr>
          <a:lstStyle/>
          <a:p>
            <a:r>
              <a:rPr lang="de-DE" sz="4400" dirty="0" smtClean="0"/>
              <a:t>A</a:t>
            </a:r>
          </a:p>
          <a:p>
            <a:r>
              <a:rPr lang="de-DE" sz="4400" dirty="0" smtClean="0"/>
              <a:t>=</a:t>
            </a:r>
          </a:p>
          <a:p>
            <a:r>
              <a:rPr lang="de-DE" sz="4400" dirty="0"/>
              <a:t>B</a:t>
            </a:r>
          </a:p>
        </p:txBody>
      </p:sp>
    </p:spTree>
    <p:extLst>
      <p:ext uri="{BB962C8B-B14F-4D97-AF65-F5344CB8AC3E}">
        <p14:creationId xmlns:p14="http://schemas.microsoft.com/office/powerpoint/2010/main" val="2987667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hteck 5"/>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7" name="Textfeld 6"/>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Gleichheit</a:t>
            </a:r>
            <a:r>
              <a:rPr lang="en-CA" sz="3200" dirty="0" smtClean="0">
                <a:solidFill>
                  <a:schemeClr val="bg1"/>
                </a:solidFill>
                <a:effectLst>
                  <a:outerShdw blurRad="38100" dist="38100" dir="2700000" algn="tl">
                    <a:srgbClr val="000000">
                      <a:alpha val="43137"/>
                    </a:srgbClr>
                  </a:outerShdw>
                </a:effectLst>
              </a:rPr>
              <a:t> und </a:t>
            </a:r>
            <a:r>
              <a:rPr lang="en-CA" sz="3200" dirty="0" err="1" smtClean="0">
                <a:solidFill>
                  <a:schemeClr val="bg1"/>
                </a:solidFill>
                <a:effectLst>
                  <a:outerShdw blurRad="38100" dist="38100" dir="2700000" algn="tl">
                    <a:srgbClr val="000000">
                      <a:alpha val="43137"/>
                    </a:srgbClr>
                  </a:outerShdw>
                </a:effectLst>
              </a:rPr>
              <a:t>Gleichgewicht</a:t>
            </a:r>
            <a:endParaRPr lang="en-CA" sz="3200" dirty="0">
              <a:solidFill>
                <a:schemeClr val="bg1"/>
              </a:solidFill>
              <a:effectLst>
                <a:outerShdw blurRad="38100" dist="38100" dir="2700000" algn="tl">
                  <a:srgbClr val="000000">
                    <a:alpha val="43137"/>
                  </a:srgbClr>
                </a:outerShdw>
              </a:effectLst>
            </a:endParaRPr>
          </a:p>
        </p:txBody>
      </p:sp>
      <p:sp>
        <p:nvSpPr>
          <p:cNvPr id="8" name="Textfeld 7"/>
          <p:cNvSpPr txBox="1"/>
          <p:nvPr/>
        </p:nvSpPr>
        <p:spPr>
          <a:xfrm>
            <a:off x="323528" y="699542"/>
            <a:ext cx="8496944" cy="3754874"/>
          </a:xfrm>
          <a:prstGeom prst="rect">
            <a:avLst/>
          </a:prstGeom>
          <a:noFill/>
        </p:spPr>
        <p:txBody>
          <a:bodyPr wrap="square" rtlCol="0">
            <a:spAutoFit/>
          </a:bodyPr>
          <a:lstStyle/>
          <a:p>
            <a:r>
              <a:rPr lang="de-DE" dirty="0" smtClean="0"/>
              <a:t>Nicht nur </a:t>
            </a:r>
            <a:r>
              <a:rPr lang="de-DE" dirty="0"/>
              <a:t>einzelne Zeichen, sondern auch </a:t>
            </a:r>
            <a:r>
              <a:rPr lang="de-DE" dirty="0" smtClean="0"/>
              <a:t>die  </a:t>
            </a:r>
            <a:r>
              <a:rPr lang="de-DE" dirty="0"/>
              <a:t>Anordnung  mehrerer Zeichen  –  also die Notationsstruktur  –  besitzt ikonische Qualitäten. </a:t>
            </a:r>
            <a:endParaRPr lang="de-DE" dirty="0" smtClean="0"/>
          </a:p>
          <a:p>
            <a:pPr marL="285750" indent="-285750">
              <a:buFont typeface="Arial" panose="020B0604020202020204" pitchFamily="34" charset="0"/>
              <a:buChar char="•"/>
            </a:pPr>
            <a:endParaRPr lang="de-DE" dirty="0"/>
          </a:p>
          <a:p>
            <a:pPr algn="ctr"/>
            <a:r>
              <a:rPr lang="de-DE" sz="4000" dirty="0" smtClean="0"/>
              <a:t>A=B</a:t>
            </a:r>
          </a:p>
          <a:p>
            <a:endParaRPr lang="de-DE" dirty="0"/>
          </a:p>
          <a:p>
            <a:r>
              <a:rPr lang="de-DE" b="1" dirty="0" smtClean="0"/>
              <a:t>Gleichheitszeichen ist zentriert: </a:t>
            </a:r>
            <a:r>
              <a:rPr lang="de-DE" dirty="0" smtClean="0"/>
              <a:t>visuelle </a:t>
            </a:r>
            <a:r>
              <a:rPr lang="de-DE" dirty="0"/>
              <a:t>Form einer  Balance, bei der beide Seiten „im Gleichgewicht“ sind</a:t>
            </a:r>
            <a:r>
              <a:rPr lang="de-DE" dirty="0" smtClean="0"/>
              <a:t>.</a:t>
            </a:r>
          </a:p>
          <a:p>
            <a:pPr algn="ctr"/>
            <a:endParaRPr lang="de-DE" dirty="0"/>
          </a:p>
          <a:p>
            <a:r>
              <a:rPr lang="de-DE" sz="4400" dirty="0" smtClean="0"/>
              <a:t>     Warum </a:t>
            </a:r>
            <a:r>
              <a:rPr lang="de-DE" sz="4400" dirty="0"/>
              <a:t>nicht </a:t>
            </a:r>
            <a:r>
              <a:rPr lang="de-DE" sz="4400" dirty="0" smtClean="0"/>
              <a:t>⚖?</a:t>
            </a:r>
          </a:p>
          <a:p>
            <a:r>
              <a:rPr lang="de-DE" sz="2800" dirty="0"/>
              <a:t> </a:t>
            </a:r>
            <a:r>
              <a:rPr lang="de-DE" sz="2800" dirty="0" smtClean="0"/>
              <a:t>              (</a:t>
            </a:r>
            <a:r>
              <a:rPr lang="de-DE" sz="2800" dirty="0" err="1" smtClean="0"/>
              <a:t>a+b</a:t>
            </a:r>
            <a:r>
              <a:rPr lang="de-DE" sz="2800" dirty="0" smtClean="0"/>
              <a:t>)²-2ab </a:t>
            </a:r>
            <a:r>
              <a:rPr lang="de-DE" sz="2800" b="1" dirty="0" smtClean="0">
                <a:solidFill>
                  <a:srgbClr val="FF0000"/>
                </a:solidFill>
              </a:rPr>
              <a:t>⚖</a:t>
            </a:r>
            <a:r>
              <a:rPr lang="de-DE" sz="2800" dirty="0" smtClean="0"/>
              <a:t> a²+b²</a:t>
            </a:r>
            <a:endParaRPr lang="de-DE" sz="2800" dirty="0"/>
          </a:p>
        </p:txBody>
      </p:sp>
      <p:pic>
        <p:nvPicPr>
          <p:cNvPr id="9" name="Picture 2" descr="https://sdmntpritalynorth.oaiusercontent.com/files/00000000-1004-6246-a195-e39c8f423729/raw?se=2025-05-26T21%3A33%3A11Z&amp;sp=r&amp;sv=2024-08-04&amp;sr=b&amp;scid=aacb125e-9e4e-5f6a-8e8d-cbb90b214b88&amp;skoid=eb780365-537d-4279-a878-cae64e33aa9c&amp;sktid=a48cca56-e6da-484e-a814-9c849652bcb3&amp;skt=2025-05-26T06%3A30%3A34Z&amp;ske=2025-05-27T06%3A30%3A34Z&amp;sks=b&amp;skv=2024-08-04&amp;sig=ulJuvCvPW5cHkb2G9Bvq4OZMLJJC5d3VvQHnx3//B/w%3D"/>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7669"/>
          <a:stretch/>
        </p:blipFill>
        <p:spPr bwMode="auto">
          <a:xfrm>
            <a:off x="5652120" y="2887980"/>
            <a:ext cx="2245387" cy="20731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1133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hteck 5"/>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7" name="Textfeld 6"/>
          <p:cNvSpPr txBox="1"/>
          <p:nvPr/>
        </p:nvSpPr>
        <p:spPr>
          <a:xfrm>
            <a:off x="0" y="15558"/>
            <a:ext cx="9144000" cy="523220"/>
          </a:xfrm>
          <a:prstGeom prst="rect">
            <a:avLst/>
          </a:prstGeom>
          <a:noFill/>
        </p:spPr>
        <p:txBody>
          <a:bodyPr wrap="square" rtlCol="0">
            <a:spAutoFit/>
          </a:bodyPr>
          <a:lstStyle/>
          <a:p>
            <a:pPr algn="ctr"/>
            <a:r>
              <a:rPr lang="en-CA" sz="2800" dirty="0" smtClean="0">
                <a:solidFill>
                  <a:schemeClr val="bg1"/>
                </a:solidFill>
                <a:effectLst>
                  <a:outerShdw blurRad="38100" dist="38100" dir="2700000" algn="tl">
                    <a:srgbClr val="000000">
                      <a:alpha val="43137"/>
                    </a:srgbClr>
                  </a:outerShdw>
                </a:effectLst>
              </a:rPr>
              <a:t>Dirk </a:t>
            </a:r>
            <a:r>
              <a:rPr lang="en-CA" sz="2800" dirty="0" err="1" smtClean="0">
                <a:solidFill>
                  <a:schemeClr val="bg1"/>
                </a:solidFill>
                <a:effectLst>
                  <a:outerShdw blurRad="38100" dist="38100" dir="2700000" algn="tl">
                    <a:srgbClr val="000000">
                      <a:alpha val="43137"/>
                    </a:srgbClr>
                  </a:outerShdw>
                </a:effectLst>
              </a:rPr>
              <a:t>Schlimm</a:t>
            </a:r>
            <a:r>
              <a:rPr lang="en-CA" sz="2800" dirty="0" smtClean="0">
                <a:solidFill>
                  <a:schemeClr val="bg1"/>
                </a:solidFill>
                <a:effectLst>
                  <a:outerShdw blurRad="38100" dist="38100" dir="2700000" algn="tl">
                    <a:srgbClr val="000000">
                      <a:alpha val="43137"/>
                    </a:srgbClr>
                  </a:outerShdw>
                </a:effectLst>
              </a:rPr>
              <a:t> –</a:t>
            </a:r>
            <a:r>
              <a:rPr lang="en-CA" sz="2800" dirty="0">
                <a:solidFill>
                  <a:schemeClr val="bg1"/>
                </a:solidFill>
                <a:effectLst>
                  <a:outerShdw blurRad="38100" dist="38100" dir="2700000" algn="tl">
                    <a:srgbClr val="000000">
                      <a:alpha val="43137"/>
                    </a:srgbClr>
                  </a:outerShdw>
                </a:effectLst>
              </a:rPr>
              <a:t> </a:t>
            </a:r>
            <a:r>
              <a:rPr lang="en-US" sz="2800" dirty="0">
                <a:solidFill>
                  <a:schemeClr val="bg1"/>
                </a:solidFill>
                <a:effectLst>
                  <a:outerShdw blurRad="38100" dist="38100" dir="2700000" algn="tl">
                    <a:srgbClr val="000000">
                      <a:alpha val="43137"/>
                    </a:srgbClr>
                  </a:outerShdw>
                </a:effectLst>
              </a:rPr>
              <a:t>Where Mathematical Symbols Come From</a:t>
            </a:r>
            <a:endParaRPr lang="en-CA" sz="2800" dirty="0" smtClean="0">
              <a:solidFill>
                <a:schemeClr val="bg1"/>
              </a:solidFill>
              <a:effectLst>
                <a:outerShdw blurRad="38100" dist="38100" dir="2700000" algn="tl">
                  <a:srgbClr val="000000">
                    <a:alpha val="43137"/>
                  </a:srgbClr>
                </a:outerShdw>
              </a:effectLst>
            </a:endParaRPr>
          </a:p>
        </p:txBody>
      </p:sp>
      <p:sp>
        <p:nvSpPr>
          <p:cNvPr id="4" name="Textfeld 3"/>
          <p:cNvSpPr txBox="1"/>
          <p:nvPr/>
        </p:nvSpPr>
        <p:spPr>
          <a:xfrm>
            <a:off x="107504" y="690831"/>
            <a:ext cx="8892480" cy="584775"/>
          </a:xfrm>
          <a:prstGeom prst="rect">
            <a:avLst/>
          </a:prstGeom>
          <a:noFill/>
        </p:spPr>
        <p:txBody>
          <a:bodyPr wrap="square" rtlCol="0">
            <a:spAutoFit/>
          </a:bodyPr>
          <a:lstStyle/>
          <a:p>
            <a:r>
              <a:rPr lang="de-DE" sz="1600" dirty="0"/>
              <a:t>Mathematische Symbole mögen formal willkürlich erscheinen, ihre Gestalt ist jedoch häufig wohlüberlegt und durch </a:t>
            </a:r>
            <a:r>
              <a:rPr lang="de-DE" sz="1600" b="1" dirty="0"/>
              <a:t>praktische, kognitive, semantische und historische Motive </a:t>
            </a:r>
            <a:r>
              <a:rPr lang="de-DE" sz="1600" dirty="0"/>
              <a:t>geprägt.</a:t>
            </a:r>
          </a:p>
        </p:txBody>
      </p:sp>
      <p:sp>
        <p:nvSpPr>
          <p:cNvPr id="5" name="Textfeld 4"/>
          <p:cNvSpPr txBox="1"/>
          <p:nvPr/>
        </p:nvSpPr>
        <p:spPr>
          <a:xfrm>
            <a:off x="179512" y="1347614"/>
            <a:ext cx="8748464" cy="369332"/>
          </a:xfrm>
          <a:prstGeom prst="rect">
            <a:avLst/>
          </a:prstGeom>
          <a:noFill/>
        </p:spPr>
        <p:txBody>
          <a:bodyPr wrap="square" rtlCol="0">
            <a:spAutoFit/>
          </a:bodyPr>
          <a:lstStyle/>
          <a:p>
            <a:endParaRPr lang="de-DE" dirty="0"/>
          </a:p>
        </p:txBody>
      </p:sp>
      <p:sp>
        <p:nvSpPr>
          <p:cNvPr id="8" name="Textfeld 7"/>
          <p:cNvSpPr txBox="1"/>
          <p:nvPr/>
        </p:nvSpPr>
        <p:spPr>
          <a:xfrm>
            <a:off x="179512" y="1347614"/>
            <a:ext cx="2952328" cy="369332"/>
          </a:xfrm>
          <a:prstGeom prst="rect">
            <a:avLst/>
          </a:prstGeom>
          <a:noFill/>
        </p:spPr>
        <p:txBody>
          <a:bodyPr wrap="square" rtlCol="0">
            <a:spAutoFit/>
          </a:bodyPr>
          <a:lstStyle/>
          <a:p>
            <a:r>
              <a:rPr lang="de-DE" b="1" dirty="0" smtClean="0"/>
              <a:t>1) Benutzerfreundlichkeit</a:t>
            </a:r>
            <a:endParaRPr lang="de-DE" b="1" dirty="0"/>
          </a:p>
        </p:txBody>
      </p:sp>
      <p:sp>
        <p:nvSpPr>
          <p:cNvPr id="9" name="Textfeld 8"/>
          <p:cNvSpPr txBox="1"/>
          <p:nvPr/>
        </p:nvSpPr>
        <p:spPr>
          <a:xfrm>
            <a:off x="467544" y="1779662"/>
            <a:ext cx="8424936" cy="738664"/>
          </a:xfrm>
          <a:prstGeom prst="rect">
            <a:avLst/>
          </a:prstGeom>
          <a:noFill/>
        </p:spPr>
        <p:txBody>
          <a:bodyPr wrap="square" rtlCol="0">
            <a:spAutoFit/>
          </a:bodyPr>
          <a:lstStyle/>
          <a:p>
            <a:pPr marL="285750" lvl="0" indent="-285750">
              <a:buFont typeface="Arial" panose="020B0604020202020204" pitchFamily="34" charset="0"/>
              <a:buChar char="•"/>
            </a:pPr>
            <a:r>
              <a:rPr lang="de-DE" sz="1400" b="1" dirty="0"/>
              <a:t>U1: Erkennbarkeit und Unterscheidbarkeit</a:t>
            </a:r>
            <a:r>
              <a:rPr lang="de-DE" sz="1400" dirty="0"/>
              <a:t>: Zeichen sollen klar unterscheidbar und visuell auffällig sein </a:t>
            </a:r>
            <a:r>
              <a:rPr lang="de-DE" sz="1400" dirty="0" smtClean="0"/>
              <a:t>–  </a:t>
            </a:r>
            <a:r>
              <a:rPr lang="de-DE" sz="1400" dirty="0"/>
              <a:t>z. B. ist „×” besser erkennbar als „·”, aber „×” kann mit „x” verwechselt werden.</a:t>
            </a:r>
            <a:endParaRPr lang="de-DE" sz="1400" dirty="0" smtClean="0"/>
          </a:p>
          <a:p>
            <a:pPr marL="285750" lvl="0" indent="-285750">
              <a:buFont typeface="Arial" panose="020B0604020202020204" pitchFamily="34" charset="0"/>
              <a:buChar char="•"/>
            </a:pPr>
            <a:r>
              <a:rPr lang="de-DE" sz="1400" b="1" dirty="0" smtClean="0"/>
              <a:t>U2</a:t>
            </a:r>
            <a:r>
              <a:rPr lang="de-DE" sz="1400" b="1" dirty="0"/>
              <a:t>: Schreibökonomie</a:t>
            </a:r>
            <a:r>
              <a:rPr lang="de-DE" sz="1400" dirty="0"/>
              <a:t>: Zeichen sollen sich leicht (per Hand, Druck, digital) schreiben lassen. </a:t>
            </a:r>
            <a:endParaRPr lang="de-DE" sz="1600" dirty="0"/>
          </a:p>
        </p:txBody>
      </p:sp>
      <p:pic>
        <p:nvPicPr>
          <p:cNvPr id="13" name="Grafik 12" descr="ALWAYS MIXED TOGETHER”: NOTATION, LANGUAGE, AND THE PEDAGOGY OF FREGE'S  BEGRIFFSSCHRIFT | Modern Intellectual History | Cambridge Core"/>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1600" y="2499742"/>
            <a:ext cx="6840760" cy="2016224"/>
          </a:xfrm>
          <a:prstGeom prst="rect">
            <a:avLst/>
          </a:prstGeom>
          <a:noFill/>
          <a:ln>
            <a:noFill/>
          </a:ln>
        </p:spPr>
      </p:pic>
      <p:sp>
        <p:nvSpPr>
          <p:cNvPr id="10" name="Textfeld 9"/>
          <p:cNvSpPr txBox="1"/>
          <p:nvPr/>
        </p:nvSpPr>
        <p:spPr>
          <a:xfrm>
            <a:off x="683568" y="4578682"/>
            <a:ext cx="7488832" cy="369332"/>
          </a:xfrm>
          <a:prstGeom prst="rect">
            <a:avLst/>
          </a:prstGeom>
          <a:noFill/>
        </p:spPr>
        <p:txBody>
          <a:bodyPr wrap="square" rtlCol="0">
            <a:spAutoFit/>
          </a:bodyPr>
          <a:lstStyle/>
          <a:p>
            <a:pPr algn="ctr"/>
            <a:r>
              <a:rPr lang="de-DE" dirty="0" smtClean="0"/>
              <a:t>Freges Begriffsschriftnotation ist wenig benutzerfreundlich.</a:t>
            </a:r>
            <a:endParaRPr lang="de-DE" dirty="0"/>
          </a:p>
        </p:txBody>
      </p:sp>
    </p:spTree>
    <p:extLst>
      <p:ext uri="{BB962C8B-B14F-4D97-AF65-F5344CB8AC3E}">
        <p14:creationId xmlns:p14="http://schemas.microsoft.com/office/powerpoint/2010/main" val="290203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hteck 5"/>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7" name="Textfeld 6"/>
          <p:cNvSpPr txBox="1"/>
          <p:nvPr/>
        </p:nvSpPr>
        <p:spPr>
          <a:xfrm>
            <a:off x="0" y="15558"/>
            <a:ext cx="9144000" cy="523220"/>
          </a:xfrm>
          <a:prstGeom prst="rect">
            <a:avLst/>
          </a:prstGeom>
          <a:noFill/>
        </p:spPr>
        <p:txBody>
          <a:bodyPr wrap="square" rtlCol="0">
            <a:spAutoFit/>
          </a:bodyPr>
          <a:lstStyle/>
          <a:p>
            <a:pPr algn="ctr"/>
            <a:r>
              <a:rPr lang="en-CA" sz="2800" dirty="0" smtClean="0">
                <a:solidFill>
                  <a:schemeClr val="bg1"/>
                </a:solidFill>
                <a:effectLst>
                  <a:outerShdw blurRad="38100" dist="38100" dir="2700000" algn="tl">
                    <a:srgbClr val="000000">
                      <a:alpha val="43137"/>
                    </a:srgbClr>
                  </a:outerShdw>
                </a:effectLst>
              </a:rPr>
              <a:t>Dirk </a:t>
            </a:r>
            <a:r>
              <a:rPr lang="en-CA" sz="2800" dirty="0" err="1" smtClean="0">
                <a:solidFill>
                  <a:schemeClr val="bg1"/>
                </a:solidFill>
                <a:effectLst>
                  <a:outerShdw blurRad="38100" dist="38100" dir="2700000" algn="tl">
                    <a:srgbClr val="000000">
                      <a:alpha val="43137"/>
                    </a:srgbClr>
                  </a:outerShdw>
                </a:effectLst>
              </a:rPr>
              <a:t>Schlimm</a:t>
            </a:r>
            <a:r>
              <a:rPr lang="en-CA" sz="2800" dirty="0" smtClean="0">
                <a:solidFill>
                  <a:schemeClr val="bg1"/>
                </a:solidFill>
                <a:effectLst>
                  <a:outerShdw blurRad="38100" dist="38100" dir="2700000" algn="tl">
                    <a:srgbClr val="000000">
                      <a:alpha val="43137"/>
                    </a:srgbClr>
                  </a:outerShdw>
                </a:effectLst>
              </a:rPr>
              <a:t> –</a:t>
            </a:r>
            <a:r>
              <a:rPr lang="en-CA" sz="2800" dirty="0">
                <a:solidFill>
                  <a:schemeClr val="bg1"/>
                </a:solidFill>
                <a:effectLst>
                  <a:outerShdw blurRad="38100" dist="38100" dir="2700000" algn="tl">
                    <a:srgbClr val="000000">
                      <a:alpha val="43137"/>
                    </a:srgbClr>
                  </a:outerShdw>
                </a:effectLst>
              </a:rPr>
              <a:t> </a:t>
            </a:r>
            <a:r>
              <a:rPr lang="en-US" sz="2800" dirty="0">
                <a:solidFill>
                  <a:schemeClr val="bg1"/>
                </a:solidFill>
                <a:effectLst>
                  <a:outerShdw blurRad="38100" dist="38100" dir="2700000" algn="tl">
                    <a:srgbClr val="000000">
                      <a:alpha val="43137"/>
                    </a:srgbClr>
                  </a:outerShdw>
                </a:effectLst>
              </a:rPr>
              <a:t>Where Mathematical Symbols Come From</a:t>
            </a:r>
            <a:endParaRPr lang="en-CA" sz="2800" dirty="0" smtClean="0">
              <a:solidFill>
                <a:schemeClr val="bg1"/>
              </a:solidFill>
              <a:effectLst>
                <a:outerShdw blurRad="38100" dist="38100" dir="2700000" algn="tl">
                  <a:srgbClr val="000000">
                    <a:alpha val="43137"/>
                  </a:srgbClr>
                </a:outerShdw>
              </a:effectLst>
            </a:endParaRPr>
          </a:p>
        </p:txBody>
      </p:sp>
      <p:sp>
        <p:nvSpPr>
          <p:cNvPr id="8" name="Textfeld 7"/>
          <p:cNvSpPr txBox="1"/>
          <p:nvPr/>
        </p:nvSpPr>
        <p:spPr>
          <a:xfrm>
            <a:off x="179512" y="690250"/>
            <a:ext cx="8856984" cy="1692771"/>
          </a:xfrm>
          <a:prstGeom prst="rect">
            <a:avLst/>
          </a:prstGeom>
          <a:noFill/>
        </p:spPr>
        <p:txBody>
          <a:bodyPr wrap="square" rtlCol="0">
            <a:spAutoFit/>
          </a:bodyPr>
          <a:lstStyle/>
          <a:p>
            <a:r>
              <a:rPr lang="de-DE" sz="2000" b="1" dirty="0" smtClean="0"/>
              <a:t>2</a:t>
            </a:r>
            <a:r>
              <a:rPr lang="de-DE" sz="2000" b="1" dirty="0"/>
              <a:t>) </a:t>
            </a:r>
            <a:r>
              <a:rPr lang="de-DE" sz="2000" b="1" dirty="0" smtClean="0"/>
              <a:t>Quellen für die Form von Zeichen</a:t>
            </a:r>
          </a:p>
          <a:p>
            <a:endParaRPr lang="de-DE" sz="2000" b="1" dirty="0"/>
          </a:p>
          <a:p>
            <a:pPr marL="285750" lvl="0" indent="-285750">
              <a:buFont typeface="Arial" panose="020B0604020202020204" pitchFamily="34" charset="0"/>
              <a:buChar char="•"/>
            </a:pPr>
            <a:r>
              <a:rPr lang="de-DE" sz="1600" b="1" dirty="0"/>
              <a:t>C1: Übernahme existierender Zeichen</a:t>
            </a:r>
            <a:r>
              <a:rPr lang="de-DE" sz="1600" dirty="0"/>
              <a:t> (z. B. </a:t>
            </a:r>
            <a:r>
              <a:rPr lang="de-DE" sz="1600" dirty="0" err="1" smtClean="0"/>
              <a:t>griech</a:t>
            </a:r>
            <a:r>
              <a:rPr lang="de-DE" sz="1600" dirty="0" smtClean="0"/>
              <a:t>. Buchstaben</a:t>
            </a:r>
            <a:r>
              <a:rPr lang="de-DE" sz="1600" dirty="0"/>
              <a:t>, Fraktur, </a:t>
            </a:r>
            <a:r>
              <a:rPr lang="de-DE" sz="1600" dirty="0" err="1" smtClean="0"/>
              <a:t>hebrä</a:t>
            </a:r>
            <a:r>
              <a:rPr lang="de-DE" sz="1600" dirty="0" smtClean="0"/>
              <a:t>. Buchstaben </a:t>
            </a:r>
            <a:r>
              <a:rPr lang="de-DE" sz="1600" dirty="0"/>
              <a:t>wie ℵ)</a:t>
            </a:r>
          </a:p>
          <a:p>
            <a:pPr marL="285750" lvl="0" indent="-285750">
              <a:buFont typeface="Arial" panose="020B0604020202020204" pitchFamily="34" charset="0"/>
              <a:buChar char="•"/>
            </a:pPr>
            <a:r>
              <a:rPr lang="de-DE" sz="1600" b="1" dirty="0"/>
              <a:t>C2: Variationen existierender Zeichen</a:t>
            </a:r>
            <a:r>
              <a:rPr lang="de-DE" sz="1600" dirty="0"/>
              <a:t> (z. B. ∫ als langes </a:t>
            </a:r>
            <a:r>
              <a:rPr lang="de-DE" sz="1600" dirty="0" smtClean="0"/>
              <a:t>S, </a:t>
            </a:r>
            <a:r>
              <a:rPr lang="de-DE" sz="1600" dirty="0"/>
              <a:t>∨ als Variation von ∪)</a:t>
            </a:r>
          </a:p>
          <a:p>
            <a:pPr marL="285750" lvl="0" indent="-285750">
              <a:buFont typeface="Arial" panose="020B0604020202020204" pitchFamily="34" charset="0"/>
              <a:buChar char="•"/>
            </a:pPr>
            <a:r>
              <a:rPr lang="de-DE" sz="1600" b="1" dirty="0"/>
              <a:t>C3: Kombination existierender Zeichen</a:t>
            </a:r>
            <a:r>
              <a:rPr lang="de-DE" sz="1600" dirty="0"/>
              <a:t> (z. B. ±, ≠, a′, ā)</a:t>
            </a:r>
          </a:p>
          <a:p>
            <a:pPr marL="285750" lvl="0" indent="-285750">
              <a:buFont typeface="Arial" panose="020B0604020202020204" pitchFamily="34" charset="0"/>
              <a:buChar char="•"/>
            </a:pPr>
            <a:r>
              <a:rPr lang="de-DE" sz="1600" b="1" dirty="0"/>
              <a:t>C4: Neuschöpfungen</a:t>
            </a:r>
            <a:r>
              <a:rPr lang="de-DE" sz="1600" dirty="0"/>
              <a:t> (nur wenn keine andere Lösung praktikabel ist</a:t>
            </a:r>
            <a:r>
              <a:rPr lang="de-DE" sz="1600" dirty="0" smtClean="0"/>
              <a:t>)</a:t>
            </a:r>
            <a:endParaRPr lang="de-DE" sz="1600" dirty="0"/>
          </a:p>
        </p:txBody>
      </p:sp>
    </p:spTree>
    <p:extLst>
      <p:ext uri="{BB962C8B-B14F-4D97-AF65-F5344CB8AC3E}">
        <p14:creationId xmlns:p14="http://schemas.microsoft.com/office/powerpoint/2010/main" val="2744220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hteck 5"/>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7" name="Textfeld 6"/>
          <p:cNvSpPr txBox="1"/>
          <p:nvPr/>
        </p:nvSpPr>
        <p:spPr>
          <a:xfrm>
            <a:off x="0" y="15558"/>
            <a:ext cx="9144000" cy="523220"/>
          </a:xfrm>
          <a:prstGeom prst="rect">
            <a:avLst/>
          </a:prstGeom>
          <a:noFill/>
        </p:spPr>
        <p:txBody>
          <a:bodyPr wrap="square" rtlCol="0">
            <a:spAutoFit/>
          </a:bodyPr>
          <a:lstStyle/>
          <a:p>
            <a:pPr algn="ctr"/>
            <a:r>
              <a:rPr lang="en-CA" sz="2800" dirty="0" smtClean="0">
                <a:solidFill>
                  <a:schemeClr val="bg1"/>
                </a:solidFill>
                <a:effectLst>
                  <a:outerShdw blurRad="38100" dist="38100" dir="2700000" algn="tl">
                    <a:srgbClr val="000000">
                      <a:alpha val="43137"/>
                    </a:srgbClr>
                  </a:outerShdw>
                </a:effectLst>
              </a:rPr>
              <a:t>Dirk </a:t>
            </a:r>
            <a:r>
              <a:rPr lang="en-CA" sz="2800" dirty="0" err="1" smtClean="0">
                <a:solidFill>
                  <a:schemeClr val="bg1"/>
                </a:solidFill>
                <a:effectLst>
                  <a:outerShdw blurRad="38100" dist="38100" dir="2700000" algn="tl">
                    <a:srgbClr val="000000">
                      <a:alpha val="43137"/>
                    </a:srgbClr>
                  </a:outerShdw>
                </a:effectLst>
              </a:rPr>
              <a:t>Schlimm</a:t>
            </a:r>
            <a:r>
              <a:rPr lang="en-CA" sz="2800" dirty="0" smtClean="0">
                <a:solidFill>
                  <a:schemeClr val="bg1"/>
                </a:solidFill>
                <a:effectLst>
                  <a:outerShdw blurRad="38100" dist="38100" dir="2700000" algn="tl">
                    <a:srgbClr val="000000">
                      <a:alpha val="43137"/>
                    </a:srgbClr>
                  </a:outerShdw>
                </a:effectLst>
              </a:rPr>
              <a:t> –</a:t>
            </a:r>
            <a:r>
              <a:rPr lang="en-CA" sz="2800" dirty="0">
                <a:solidFill>
                  <a:schemeClr val="bg1"/>
                </a:solidFill>
                <a:effectLst>
                  <a:outerShdw blurRad="38100" dist="38100" dir="2700000" algn="tl">
                    <a:srgbClr val="000000">
                      <a:alpha val="43137"/>
                    </a:srgbClr>
                  </a:outerShdw>
                </a:effectLst>
              </a:rPr>
              <a:t> </a:t>
            </a:r>
            <a:r>
              <a:rPr lang="en-US" sz="2800" dirty="0">
                <a:solidFill>
                  <a:schemeClr val="bg1"/>
                </a:solidFill>
                <a:effectLst>
                  <a:outerShdw blurRad="38100" dist="38100" dir="2700000" algn="tl">
                    <a:srgbClr val="000000">
                      <a:alpha val="43137"/>
                    </a:srgbClr>
                  </a:outerShdw>
                </a:effectLst>
              </a:rPr>
              <a:t>Where Mathematical Symbols Come From</a:t>
            </a:r>
            <a:endParaRPr lang="en-CA" sz="2800" dirty="0" smtClean="0">
              <a:solidFill>
                <a:schemeClr val="bg1"/>
              </a:solidFill>
              <a:effectLst>
                <a:outerShdw blurRad="38100" dist="38100" dir="2700000" algn="tl">
                  <a:srgbClr val="000000">
                    <a:alpha val="43137"/>
                  </a:srgbClr>
                </a:outerShdw>
              </a:effectLst>
            </a:endParaRPr>
          </a:p>
        </p:txBody>
      </p:sp>
      <p:sp>
        <p:nvSpPr>
          <p:cNvPr id="8" name="Textfeld 7"/>
          <p:cNvSpPr txBox="1"/>
          <p:nvPr/>
        </p:nvSpPr>
        <p:spPr>
          <a:xfrm>
            <a:off x="179512" y="690250"/>
            <a:ext cx="8856984" cy="400110"/>
          </a:xfrm>
          <a:prstGeom prst="rect">
            <a:avLst/>
          </a:prstGeom>
          <a:noFill/>
        </p:spPr>
        <p:txBody>
          <a:bodyPr wrap="square" rtlCol="0">
            <a:spAutoFit/>
          </a:bodyPr>
          <a:lstStyle/>
          <a:p>
            <a:r>
              <a:rPr lang="de-DE" sz="2000" b="1" dirty="0" smtClean="0"/>
              <a:t>3) </a:t>
            </a:r>
            <a:r>
              <a:rPr lang="de-DE" sz="2000" b="1" dirty="0"/>
              <a:t>Motivationen unter Einbezug der </a:t>
            </a:r>
            <a:r>
              <a:rPr lang="de-DE" sz="2000" b="1" dirty="0" smtClean="0"/>
              <a:t>Bedeutung</a:t>
            </a:r>
            <a:endParaRPr lang="de-DE" sz="2800" b="1" dirty="0"/>
          </a:p>
        </p:txBody>
      </p:sp>
      <mc:AlternateContent xmlns:mc="http://schemas.openxmlformats.org/markup-compatibility/2006" xmlns:a14="http://schemas.microsoft.com/office/drawing/2010/main">
        <mc:Choice Requires="a14">
          <p:sp>
            <p:nvSpPr>
              <p:cNvPr id="2" name="Textfeld 1"/>
              <p:cNvSpPr txBox="1"/>
              <p:nvPr/>
            </p:nvSpPr>
            <p:spPr>
              <a:xfrm>
                <a:off x="395536" y="1203598"/>
                <a:ext cx="8136904" cy="2770630"/>
              </a:xfrm>
              <a:prstGeom prst="rect">
                <a:avLst/>
              </a:prstGeom>
              <a:noFill/>
            </p:spPr>
            <p:txBody>
              <a:bodyPr wrap="square" rtlCol="0">
                <a:spAutoFit/>
              </a:bodyPr>
              <a:lstStyle/>
              <a:p>
                <a:r>
                  <a:rPr lang="de-DE" b="1" dirty="0" smtClean="0"/>
                  <a:t>3.1. Rolle im Ausdruck (Syntax)</a:t>
                </a:r>
              </a:p>
              <a:p>
                <a:endParaRPr lang="de-DE" dirty="0"/>
              </a:p>
              <a:p>
                <a:pPr marL="285750" lvl="0" indent="-285750">
                  <a:buFont typeface="Arial" panose="020B0604020202020204" pitchFamily="34" charset="0"/>
                  <a:buChar char="•"/>
                </a:pPr>
                <a:r>
                  <a:rPr lang="de-DE" sz="1600" b="1" dirty="0"/>
                  <a:t>S1: Aufmerksamkeit erzeugen</a:t>
                </a:r>
                <a:r>
                  <a:rPr lang="de-DE" sz="1600" dirty="0"/>
                  <a:t>: Auffällige Zeichen für strukturtragende Elemente </a:t>
                </a:r>
                <a:r>
                  <a:rPr lang="de-DE" sz="1600" dirty="0" smtClean="0"/>
                  <a:t>– durch </a:t>
                </a:r>
                <a:r>
                  <a:rPr lang="de-DE" sz="1600" dirty="0"/>
                  <a:t>Größe, Position, Form und Stil</a:t>
                </a:r>
                <a:r>
                  <a:rPr lang="de-DE" sz="1600" b="1" dirty="0"/>
                  <a:t> </a:t>
                </a:r>
                <a:r>
                  <a:rPr lang="de-DE" sz="1600" dirty="0"/>
                  <a:t>(z. B. ∫, ∑)</a:t>
                </a:r>
              </a:p>
              <a:p>
                <a:pPr marL="285750" lvl="0" indent="-285750">
                  <a:buFont typeface="Arial" panose="020B0604020202020204" pitchFamily="34" charset="0"/>
                  <a:buChar char="•"/>
                </a:pPr>
                <a:r>
                  <a:rPr lang="de-DE" sz="1600" b="1" dirty="0"/>
                  <a:t>S2: Abgrenzung von Ausdrücken</a:t>
                </a:r>
                <a:r>
                  <a:rPr lang="de-DE" sz="1600" dirty="0"/>
                  <a:t>: z. B. über </a:t>
                </a:r>
                <a:r>
                  <a:rPr lang="de-DE" sz="1600" dirty="0" err="1"/>
                  <a:t>Vincula</a:t>
                </a:r>
                <a:r>
                  <a:rPr lang="de-DE" sz="1600" dirty="0"/>
                  <a:t> (Verbindungs- oder </a:t>
                </a:r>
                <a:r>
                  <a:rPr lang="de-DE" sz="1600" dirty="0" err="1"/>
                  <a:t>Überstreichungszeiche</a:t>
                </a:r>
                <a:r>
                  <a:rPr lang="de-DE" sz="1600" dirty="0"/>
                  <a:t>) – z. B. </a:t>
                </a:r>
                <a14:m>
                  <m:oMath xmlns:m="http://schemas.openxmlformats.org/officeDocument/2006/math">
                    <m:f>
                      <m:fPr>
                        <m:ctrlPr>
                          <a:rPr lang="de-DE" sz="1600" i="1" smtClean="0">
                            <a:latin typeface="Cambria Math"/>
                          </a:rPr>
                        </m:ctrlPr>
                      </m:fPr>
                      <m:num>
                        <m:r>
                          <a:rPr lang="en-CA" sz="1600" b="0" i="1" smtClean="0">
                            <a:latin typeface="Cambria Math"/>
                          </a:rPr>
                          <m:t>𝑎</m:t>
                        </m:r>
                      </m:num>
                      <m:den>
                        <m:r>
                          <a:rPr lang="en-CA" sz="1600" b="0" i="1" smtClean="0">
                            <a:latin typeface="Cambria Math"/>
                          </a:rPr>
                          <m:t>𝑏</m:t>
                        </m:r>
                      </m:den>
                    </m:f>
                  </m:oMath>
                </a14:m>
                <a:r>
                  <a:rPr lang="de-DE" sz="1600" dirty="0" smtClean="0"/>
                  <a:t> oder </a:t>
                </a:r>
                <a14:m>
                  <m:oMath xmlns:m="http://schemas.openxmlformats.org/officeDocument/2006/math">
                    <m:rad>
                      <m:radPr>
                        <m:degHide m:val="on"/>
                        <m:ctrlPr>
                          <a:rPr lang="de-DE" sz="1600" i="1" smtClean="0">
                            <a:latin typeface="Cambria Math"/>
                          </a:rPr>
                        </m:ctrlPr>
                      </m:radPr>
                      <m:deg/>
                      <m:e>
                        <m:r>
                          <a:rPr lang="en-CA" sz="1600" b="0" i="1" smtClean="0">
                            <a:latin typeface="Cambria Math"/>
                          </a:rPr>
                          <m:t>𝑎</m:t>
                        </m:r>
                        <m:r>
                          <a:rPr lang="en-CA" sz="1600" b="0" i="1" smtClean="0">
                            <a:latin typeface="Cambria Math"/>
                          </a:rPr>
                          <m:t>+</m:t>
                        </m:r>
                        <m:r>
                          <a:rPr lang="en-CA" sz="1600" b="0" i="1" smtClean="0">
                            <a:latin typeface="Cambria Math"/>
                          </a:rPr>
                          <m:t>𝑏</m:t>
                        </m:r>
                      </m:e>
                    </m:rad>
                  </m:oMath>
                </a14:m>
                <a:r>
                  <a:rPr lang="de-DE" sz="1600" dirty="0" smtClean="0"/>
                  <a:t>.</a:t>
                </a:r>
                <a:endParaRPr lang="de-DE" sz="1600" dirty="0"/>
              </a:p>
              <a:p>
                <a:pPr marL="285750" lvl="0" indent="-285750">
                  <a:buFont typeface="Arial" panose="020B0604020202020204" pitchFamily="34" charset="0"/>
                  <a:buChar char="•"/>
                </a:pPr>
                <a:r>
                  <a:rPr lang="de-DE" sz="1600" b="1" dirty="0"/>
                  <a:t>S3a/b: Gruppierung</a:t>
                </a:r>
                <a:r>
                  <a:rPr lang="de-DE" sz="1600" dirty="0"/>
                  <a:t>: Klammerung ((), {}, …), Operator-Gruppierung (z. B. Brüche, Wurzeln)</a:t>
                </a:r>
              </a:p>
              <a:p>
                <a:pPr marL="285750" lvl="0" indent="-285750">
                  <a:buFont typeface="Arial" panose="020B0604020202020204" pitchFamily="34" charset="0"/>
                  <a:buChar char="•"/>
                </a:pPr>
                <a:r>
                  <a:rPr lang="de-DE" sz="1600" b="1" dirty="0"/>
                  <a:t>S4: Ordnung anzeigen</a:t>
                </a:r>
                <a:r>
                  <a:rPr lang="de-DE" sz="1600" dirty="0"/>
                  <a:t>: z. B. Indizes oder alphabetische Reihenfolge</a:t>
                </a:r>
              </a:p>
              <a:p>
                <a:pPr marL="285750" lvl="0" indent="-285750">
                  <a:buFont typeface="Arial" panose="020B0604020202020204" pitchFamily="34" charset="0"/>
                  <a:buChar char="•"/>
                </a:pPr>
                <a:r>
                  <a:rPr lang="de-DE" sz="1600" b="1" dirty="0"/>
                  <a:t>S5: Unbegrenzte Zeichenmengen</a:t>
                </a:r>
                <a:r>
                  <a:rPr lang="de-DE" sz="1600" dirty="0"/>
                  <a:t>: x, x′, x″ usw. </a:t>
                </a:r>
                <a:r>
                  <a:rPr lang="de-DE" sz="1600" dirty="0" smtClean="0"/>
                  <a:t>wird irgendwann schwierig, daher x1,x2,x3…</a:t>
                </a:r>
                <a:endParaRPr lang="de-DE" sz="1600" dirty="0"/>
              </a:p>
              <a:p>
                <a:endParaRPr lang="de-DE" dirty="0"/>
              </a:p>
            </p:txBody>
          </p:sp>
        </mc:Choice>
        <mc:Fallback xmlns="">
          <p:sp>
            <p:nvSpPr>
              <p:cNvPr id="2" name="Textfeld 1"/>
              <p:cNvSpPr txBox="1">
                <a:spLocks noRot="1" noChangeAspect="1" noMove="1" noResize="1" noEditPoints="1" noAdjustHandles="1" noChangeArrowheads="1" noChangeShapeType="1" noTextEdit="1"/>
              </p:cNvSpPr>
              <p:nvPr/>
            </p:nvSpPr>
            <p:spPr>
              <a:xfrm>
                <a:off x="395536" y="1203598"/>
                <a:ext cx="8136904" cy="2770630"/>
              </a:xfrm>
              <a:prstGeom prst="rect">
                <a:avLst/>
              </a:prstGeom>
              <a:blipFill rotWithShape="1">
                <a:blip r:embed="rId2"/>
                <a:stretch>
                  <a:fillRect l="-674" t="-1099"/>
                </a:stretch>
              </a:blipFill>
            </p:spPr>
            <p:txBody>
              <a:bodyPr/>
              <a:lstStyle/>
              <a:p>
                <a:r>
                  <a:rPr lang="de-DE">
                    <a:noFill/>
                  </a:rPr>
                  <a:t> </a:t>
                </a:r>
              </a:p>
            </p:txBody>
          </p:sp>
        </mc:Fallback>
      </mc:AlternateContent>
    </p:spTree>
    <p:extLst>
      <p:ext uri="{BB962C8B-B14F-4D97-AF65-F5344CB8AC3E}">
        <p14:creationId xmlns:p14="http://schemas.microsoft.com/office/powerpoint/2010/main" val="159805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hteck 5"/>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7" name="Textfeld 6"/>
          <p:cNvSpPr txBox="1"/>
          <p:nvPr/>
        </p:nvSpPr>
        <p:spPr>
          <a:xfrm>
            <a:off x="0" y="15558"/>
            <a:ext cx="9144000" cy="523220"/>
          </a:xfrm>
          <a:prstGeom prst="rect">
            <a:avLst/>
          </a:prstGeom>
          <a:noFill/>
        </p:spPr>
        <p:txBody>
          <a:bodyPr wrap="square" rtlCol="0">
            <a:spAutoFit/>
          </a:bodyPr>
          <a:lstStyle/>
          <a:p>
            <a:pPr algn="ctr"/>
            <a:r>
              <a:rPr lang="en-CA" sz="2800" dirty="0" smtClean="0">
                <a:solidFill>
                  <a:schemeClr val="bg1"/>
                </a:solidFill>
                <a:effectLst>
                  <a:outerShdw blurRad="38100" dist="38100" dir="2700000" algn="tl">
                    <a:srgbClr val="000000">
                      <a:alpha val="43137"/>
                    </a:srgbClr>
                  </a:outerShdw>
                </a:effectLst>
              </a:rPr>
              <a:t>Dirk </a:t>
            </a:r>
            <a:r>
              <a:rPr lang="en-CA" sz="2800" dirty="0" err="1" smtClean="0">
                <a:solidFill>
                  <a:schemeClr val="bg1"/>
                </a:solidFill>
                <a:effectLst>
                  <a:outerShdw blurRad="38100" dist="38100" dir="2700000" algn="tl">
                    <a:srgbClr val="000000">
                      <a:alpha val="43137"/>
                    </a:srgbClr>
                  </a:outerShdw>
                </a:effectLst>
              </a:rPr>
              <a:t>Schlimm</a:t>
            </a:r>
            <a:r>
              <a:rPr lang="en-CA" sz="2800" dirty="0" smtClean="0">
                <a:solidFill>
                  <a:schemeClr val="bg1"/>
                </a:solidFill>
                <a:effectLst>
                  <a:outerShdw blurRad="38100" dist="38100" dir="2700000" algn="tl">
                    <a:srgbClr val="000000">
                      <a:alpha val="43137"/>
                    </a:srgbClr>
                  </a:outerShdw>
                </a:effectLst>
              </a:rPr>
              <a:t> –</a:t>
            </a:r>
            <a:r>
              <a:rPr lang="en-CA" sz="2800" dirty="0">
                <a:solidFill>
                  <a:schemeClr val="bg1"/>
                </a:solidFill>
                <a:effectLst>
                  <a:outerShdw blurRad="38100" dist="38100" dir="2700000" algn="tl">
                    <a:srgbClr val="000000">
                      <a:alpha val="43137"/>
                    </a:srgbClr>
                  </a:outerShdw>
                </a:effectLst>
              </a:rPr>
              <a:t> </a:t>
            </a:r>
            <a:r>
              <a:rPr lang="en-US" sz="2800" dirty="0">
                <a:solidFill>
                  <a:schemeClr val="bg1"/>
                </a:solidFill>
                <a:effectLst>
                  <a:outerShdw blurRad="38100" dist="38100" dir="2700000" algn="tl">
                    <a:srgbClr val="000000">
                      <a:alpha val="43137"/>
                    </a:srgbClr>
                  </a:outerShdw>
                </a:effectLst>
              </a:rPr>
              <a:t>Where Mathematical Symbols Come From</a:t>
            </a:r>
            <a:endParaRPr lang="en-CA" sz="2800" dirty="0" smtClean="0">
              <a:solidFill>
                <a:schemeClr val="bg1"/>
              </a:solidFill>
              <a:effectLst>
                <a:outerShdw blurRad="38100" dist="38100" dir="2700000" algn="tl">
                  <a:srgbClr val="000000">
                    <a:alpha val="43137"/>
                  </a:srgbClr>
                </a:outerShdw>
              </a:effectLst>
            </a:endParaRPr>
          </a:p>
        </p:txBody>
      </p:sp>
      <p:sp>
        <p:nvSpPr>
          <p:cNvPr id="8" name="Textfeld 7"/>
          <p:cNvSpPr txBox="1"/>
          <p:nvPr/>
        </p:nvSpPr>
        <p:spPr>
          <a:xfrm>
            <a:off x="179512" y="690250"/>
            <a:ext cx="8856984" cy="400110"/>
          </a:xfrm>
          <a:prstGeom prst="rect">
            <a:avLst/>
          </a:prstGeom>
          <a:noFill/>
        </p:spPr>
        <p:txBody>
          <a:bodyPr wrap="square" rtlCol="0">
            <a:spAutoFit/>
          </a:bodyPr>
          <a:lstStyle/>
          <a:p>
            <a:r>
              <a:rPr lang="de-DE" sz="2000" b="1" dirty="0" smtClean="0"/>
              <a:t>3) </a:t>
            </a:r>
            <a:r>
              <a:rPr lang="de-DE" sz="2000" b="1" dirty="0"/>
              <a:t>Motivationen unter Einbezug der </a:t>
            </a:r>
            <a:r>
              <a:rPr lang="de-DE" sz="2000" b="1" dirty="0" smtClean="0"/>
              <a:t>Bedeutung</a:t>
            </a:r>
            <a:endParaRPr lang="de-DE" sz="2800" b="1" dirty="0"/>
          </a:p>
        </p:txBody>
      </p:sp>
      <p:sp>
        <p:nvSpPr>
          <p:cNvPr id="2" name="Textfeld 1"/>
          <p:cNvSpPr txBox="1"/>
          <p:nvPr/>
        </p:nvSpPr>
        <p:spPr>
          <a:xfrm>
            <a:off x="395536" y="1203598"/>
            <a:ext cx="8496944" cy="3139321"/>
          </a:xfrm>
          <a:prstGeom prst="rect">
            <a:avLst/>
          </a:prstGeom>
          <a:noFill/>
        </p:spPr>
        <p:txBody>
          <a:bodyPr wrap="square" rtlCol="0">
            <a:spAutoFit/>
          </a:bodyPr>
          <a:lstStyle/>
          <a:p>
            <a:r>
              <a:rPr lang="de-DE" b="1" dirty="0" smtClean="0"/>
              <a:t>3.</a:t>
            </a:r>
            <a:r>
              <a:rPr lang="en-CA" b="1" dirty="0" smtClean="0"/>
              <a:t>2. </a:t>
            </a:r>
            <a:r>
              <a:rPr lang="en-CA" b="1" dirty="0" err="1" smtClean="0"/>
              <a:t>Semantische</a:t>
            </a:r>
            <a:r>
              <a:rPr lang="en-CA" b="1" dirty="0" smtClean="0"/>
              <a:t> </a:t>
            </a:r>
            <a:r>
              <a:rPr lang="en-CA" b="1" dirty="0" err="1" smtClean="0"/>
              <a:t>Prinzipien</a:t>
            </a:r>
            <a:endParaRPr lang="en-CA" b="1" dirty="0" smtClean="0"/>
          </a:p>
          <a:p>
            <a:endParaRPr lang="en-CA" sz="1600" b="1" dirty="0"/>
          </a:p>
          <a:p>
            <a:pPr marL="285750" lvl="0" indent="-285750">
              <a:buFont typeface="Arial" panose="020B0604020202020204" pitchFamily="34" charset="0"/>
              <a:buChar char="•"/>
            </a:pPr>
            <a:r>
              <a:rPr lang="de-DE" sz="1600" b="1" dirty="0"/>
              <a:t>S6: Semantisch-syntaktische Ausrichtung</a:t>
            </a:r>
            <a:r>
              <a:rPr lang="de-DE" sz="1600" dirty="0"/>
              <a:t>: Visuelle Ähnlichkeit soll semantische Ähnlichkeit </a:t>
            </a:r>
            <a:r>
              <a:rPr lang="de-DE" sz="1600" dirty="0" smtClean="0"/>
              <a:t>widerspiegeln: z. B. „fett gedruckt“ immer für Vektoren.</a:t>
            </a:r>
            <a:endParaRPr lang="de-DE" sz="1600" dirty="0"/>
          </a:p>
          <a:p>
            <a:pPr marL="285750" lvl="0" indent="-285750">
              <a:buFont typeface="Arial" panose="020B0604020202020204" pitchFamily="34" charset="0"/>
              <a:buChar char="•"/>
            </a:pPr>
            <a:r>
              <a:rPr lang="de-DE" sz="1600" b="1" dirty="0"/>
              <a:t>S7a: Bildhafte </a:t>
            </a:r>
            <a:r>
              <a:rPr lang="de-DE" sz="1600" b="1" dirty="0" err="1"/>
              <a:t>Ikonizität</a:t>
            </a:r>
            <a:r>
              <a:rPr lang="de-DE" sz="1600" dirty="0"/>
              <a:t>: Zeichen ähneln dem Gemeinten (z. B. ⊥ für „senkrecht“)</a:t>
            </a:r>
          </a:p>
          <a:p>
            <a:pPr marL="285750" lvl="0" indent="-285750">
              <a:buFont typeface="Arial" panose="020B0604020202020204" pitchFamily="34" charset="0"/>
              <a:buChar char="•"/>
            </a:pPr>
            <a:r>
              <a:rPr lang="de-DE" sz="1600" b="1" dirty="0"/>
              <a:t>S7b: Metaphorische </a:t>
            </a:r>
            <a:r>
              <a:rPr lang="de-DE" sz="1600" b="1" dirty="0" err="1"/>
              <a:t>Ikonizität</a:t>
            </a:r>
            <a:r>
              <a:rPr lang="de-DE" sz="1600" dirty="0"/>
              <a:t>: z. B. ∨ als „volles Glas“</a:t>
            </a:r>
          </a:p>
          <a:p>
            <a:pPr marL="285750" lvl="0" indent="-285750">
              <a:buFont typeface="Arial" panose="020B0604020202020204" pitchFamily="34" charset="0"/>
              <a:buChar char="•"/>
            </a:pPr>
            <a:r>
              <a:rPr lang="de-DE" sz="1600" b="1" dirty="0"/>
              <a:t>S7c: Mnemotechnik</a:t>
            </a:r>
            <a:r>
              <a:rPr lang="de-DE" sz="1600" dirty="0"/>
              <a:t>: z. B. t für „</a:t>
            </a:r>
            <a:r>
              <a:rPr lang="de-DE" sz="1600" dirty="0" smtClean="0"/>
              <a:t>time“ oder ∈ für „</a:t>
            </a:r>
            <a:r>
              <a:rPr lang="de-DE" sz="1600" dirty="0" err="1" smtClean="0"/>
              <a:t>est</a:t>
            </a:r>
            <a:r>
              <a:rPr lang="de-DE" sz="1600" dirty="0" smtClean="0"/>
              <a:t>“.</a:t>
            </a:r>
          </a:p>
          <a:p>
            <a:pPr marL="285750" lvl="0" indent="-285750">
              <a:buFont typeface="Arial" panose="020B0604020202020204" pitchFamily="34" charset="0"/>
              <a:buChar char="•"/>
            </a:pPr>
            <a:r>
              <a:rPr lang="de-DE" sz="1600" b="1" dirty="0" smtClean="0"/>
              <a:t>S8</a:t>
            </a:r>
            <a:r>
              <a:rPr lang="de-DE" sz="1600" b="1" dirty="0"/>
              <a:t>: Analogie innerhalb eines Systems</a:t>
            </a:r>
            <a:r>
              <a:rPr lang="de-DE" sz="1600" dirty="0"/>
              <a:t>: systematische Zeichenverwandtschaft</a:t>
            </a:r>
          </a:p>
          <a:p>
            <a:pPr marL="285750" lvl="0" indent="-285750">
              <a:buFont typeface="Arial" panose="020B0604020202020204" pitchFamily="34" charset="0"/>
              <a:buChar char="•"/>
            </a:pPr>
            <a:r>
              <a:rPr lang="de-DE" sz="1600" b="1" dirty="0"/>
              <a:t>S9: Analogie zu anderen Systemen</a:t>
            </a:r>
            <a:r>
              <a:rPr lang="de-DE" sz="1600" dirty="0"/>
              <a:t>: z. B. </a:t>
            </a:r>
            <a:r>
              <a:rPr lang="de-DE" sz="1600" dirty="0" err="1"/>
              <a:t>Algebrazeichen</a:t>
            </a:r>
            <a:r>
              <a:rPr lang="de-DE" sz="1600" dirty="0"/>
              <a:t> für Logik verwenden</a:t>
            </a:r>
          </a:p>
          <a:p>
            <a:pPr marL="285750" lvl="0" indent="-285750">
              <a:buFont typeface="Arial" panose="020B0604020202020204" pitchFamily="34" charset="0"/>
              <a:buChar char="•"/>
            </a:pPr>
            <a:r>
              <a:rPr lang="de-DE" sz="1600" b="1" dirty="0"/>
              <a:t>S10: Konsistenz über Notationen hinweg</a:t>
            </a:r>
            <a:r>
              <a:rPr lang="de-DE" sz="1600" dirty="0"/>
              <a:t>: v. a. in Bezug auf Gruppierung und Bedeutungsstruktur</a:t>
            </a:r>
          </a:p>
          <a:p>
            <a:endParaRPr lang="de-DE" sz="1600" dirty="0"/>
          </a:p>
          <a:p>
            <a:endParaRPr lang="de-DE" dirty="0"/>
          </a:p>
        </p:txBody>
      </p:sp>
      <mc:AlternateContent xmlns:mc="http://schemas.openxmlformats.org/markup-compatibility/2006" xmlns:p14="http://schemas.microsoft.com/office/powerpoint/2010/main">
        <mc:Choice Requires="p14">
          <p:contentPart p14:bwMode="auto" r:id="rId2">
            <p14:nvContentPartPr>
              <p14:cNvPr id="3" name="Freihand 2"/>
              <p14:cNvContentPartPr/>
              <p14:nvPr/>
            </p14:nvContentPartPr>
            <p14:xfrm>
              <a:off x="2714760" y="3548160"/>
              <a:ext cx="3486240" cy="595440"/>
            </p14:xfrm>
          </p:contentPart>
        </mc:Choice>
        <mc:Fallback xmlns="">
          <p:pic>
            <p:nvPicPr>
              <p:cNvPr id="3" name="Freihand 2"/>
              <p:cNvPicPr/>
              <p:nvPr/>
            </p:nvPicPr>
            <p:blipFill>
              <a:blip r:embed="rId3"/>
              <a:stretch>
                <a:fillRect/>
              </a:stretch>
            </p:blipFill>
            <p:spPr>
              <a:xfrm>
                <a:off x="2705400" y="3538800"/>
                <a:ext cx="3504960" cy="614160"/>
              </a:xfrm>
              <a:prstGeom prst="rect">
                <a:avLst/>
              </a:prstGeom>
            </p:spPr>
          </p:pic>
        </mc:Fallback>
      </mc:AlternateContent>
    </p:spTree>
    <p:extLst>
      <p:ext uri="{BB962C8B-B14F-4D97-AF65-F5344CB8AC3E}">
        <p14:creationId xmlns:p14="http://schemas.microsoft.com/office/powerpoint/2010/main" val="405472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feld 3"/>
          <p:cNvSpPr txBox="1"/>
          <p:nvPr/>
        </p:nvSpPr>
        <p:spPr>
          <a:xfrm>
            <a:off x="323528" y="1419622"/>
            <a:ext cx="8280920" cy="1323439"/>
          </a:xfrm>
          <a:prstGeom prst="rect">
            <a:avLst/>
          </a:prstGeom>
          <a:noFill/>
        </p:spPr>
        <p:txBody>
          <a:bodyPr wrap="square" rtlCol="0">
            <a:spAutoFit/>
          </a:bodyPr>
          <a:lstStyle/>
          <a:p>
            <a:pPr algn="ctr"/>
            <a:r>
              <a:rPr lang="de-DE" sz="8000" dirty="0" err="1" smtClean="0"/>
              <a:t>Operativität</a:t>
            </a:r>
            <a:endParaRPr lang="de-DE" sz="8000" dirty="0"/>
          </a:p>
        </p:txBody>
      </p:sp>
      <p:sp>
        <p:nvSpPr>
          <p:cNvPr id="2" name="Textfeld 1"/>
          <p:cNvSpPr txBox="1"/>
          <p:nvPr/>
        </p:nvSpPr>
        <p:spPr>
          <a:xfrm>
            <a:off x="107504" y="2571750"/>
            <a:ext cx="9001000" cy="461665"/>
          </a:xfrm>
          <a:prstGeom prst="rect">
            <a:avLst/>
          </a:prstGeom>
          <a:noFill/>
        </p:spPr>
        <p:txBody>
          <a:bodyPr wrap="square" rtlCol="0">
            <a:spAutoFit/>
          </a:bodyPr>
          <a:lstStyle/>
          <a:p>
            <a:pPr algn="ctr"/>
            <a:r>
              <a:rPr lang="de-DE" sz="2400" dirty="0" smtClean="0"/>
              <a:t>Mit mathematischer Schrift kann man Dinge tun.</a:t>
            </a:r>
            <a:endParaRPr lang="de-DE" sz="2400" dirty="0"/>
          </a:p>
        </p:txBody>
      </p:sp>
    </p:spTree>
    <p:extLst>
      <p:ext uri="{BB962C8B-B14F-4D97-AF65-F5344CB8AC3E}">
        <p14:creationId xmlns:p14="http://schemas.microsoft.com/office/powerpoint/2010/main" val="204797548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hteck 1"/>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 name="Textfeld 2"/>
          <p:cNvSpPr txBox="1"/>
          <p:nvPr/>
        </p:nvSpPr>
        <p:spPr>
          <a:xfrm>
            <a:off x="0" y="-29246"/>
            <a:ext cx="9144000" cy="5847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Operativität</a:t>
            </a:r>
            <a:endParaRPr lang="en-CA" sz="3200" dirty="0">
              <a:solidFill>
                <a:schemeClr val="bg1"/>
              </a:solidFill>
              <a:effectLst>
                <a:outerShdw blurRad="38100" dist="38100" dir="2700000" algn="tl">
                  <a:srgbClr val="000000">
                    <a:alpha val="43137"/>
                  </a:srgbClr>
                </a:outerShdw>
              </a:effectLst>
            </a:endParaRPr>
          </a:p>
        </p:txBody>
      </p:sp>
      <mc:AlternateContent xmlns:mc="http://schemas.openxmlformats.org/markup-compatibility/2006">
        <mc:Choice xmlns:p14="http://schemas.microsoft.com/office/powerpoint/2010/main" Requires="p14">
          <p:contentPart p14:bwMode="auto" r:id="rId3">
            <p14:nvContentPartPr>
              <p14:cNvPr id="5" name="Freihand 4"/>
              <p14:cNvContentPartPr/>
              <p14:nvPr/>
            </p14:nvContentPartPr>
            <p14:xfrm>
              <a:off x="539552" y="1347614"/>
              <a:ext cx="7186680" cy="1672200"/>
            </p14:xfrm>
          </p:contentPart>
        </mc:Choice>
        <mc:Fallback>
          <p:pic>
            <p:nvPicPr>
              <p:cNvPr id="5" name="Freihand 4"/>
              <p:cNvPicPr/>
              <p:nvPr/>
            </p:nvPicPr>
            <p:blipFill>
              <a:blip r:embed="rId4"/>
              <a:stretch>
                <a:fillRect/>
              </a:stretch>
            </p:blipFill>
            <p:spPr>
              <a:xfrm>
                <a:off x="530192" y="1338254"/>
                <a:ext cx="7205400" cy="1690920"/>
              </a:xfrm>
              <a:prstGeom prst="rect">
                <a:avLst/>
              </a:prstGeom>
            </p:spPr>
          </p:pic>
        </mc:Fallback>
      </mc:AlternateContent>
      <p:sp>
        <p:nvSpPr>
          <p:cNvPr id="6" name="Textfeld 5"/>
          <p:cNvSpPr txBox="1"/>
          <p:nvPr/>
        </p:nvSpPr>
        <p:spPr>
          <a:xfrm>
            <a:off x="683568" y="4083918"/>
            <a:ext cx="7848872" cy="369332"/>
          </a:xfrm>
          <a:prstGeom prst="rect">
            <a:avLst/>
          </a:prstGeom>
          <a:noFill/>
        </p:spPr>
        <p:txBody>
          <a:bodyPr wrap="square" rtlCol="0">
            <a:spAutoFit/>
          </a:bodyPr>
          <a:lstStyle/>
          <a:p>
            <a:r>
              <a:rPr lang="de-DE" dirty="0" smtClean="0"/>
              <a:t>„x“ auf die andere Seite „</a:t>
            </a:r>
            <a:r>
              <a:rPr lang="de-DE" dirty="0" smtClean="0"/>
              <a:t>ziehen“; Gleichung </a:t>
            </a:r>
            <a:r>
              <a:rPr lang="de-DE" dirty="0" smtClean="0"/>
              <a:t>„umstellen“</a:t>
            </a:r>
            <a:endParaRPr lang="de-DE" dirty="0"/>
          </a:p>
        </p:txBody>
      </p:sp>
      <p:sp>
        <p:nvSpPr>
          <p:cNvPr id="20" name="Textfeld 19"/>
          <p:cNvSpPr txBox="1"/>
          <p:nvPr/>
        </p:nvSpPr>
        <p:spPr>
          <a:xfrm>
            <a:off x="107504" y="699542"/>
            <a:ext cx="8928992" cy="584775"/>
          </a:xfrm>
          <a:prstGeom prst="rect">
            <a:avLst/>
          </a:prstGeom>
          <a:noFill/>
        </p:spPr>
        <p:txBody>
          <a:bodyPr wrap="square" rtlCol="0">
            <a:spAutoFit/>
          </a:bodyPr>
          <a:lstStyle/>
          <a:p>
            <a:r>
              <a:rPr lang="de-DE" sz="1600" dirty="0" smtClean="0"/>
              <a:t>Mathematische Zeichen lassen sich durchstreichen, wegwischen, </a:t>
            </a:r>
            <a:r>
              <a:rPr lang="de-DE" sz="1600" dirty="0" err="1" smtClean="0"/>
              <a:t>rekonfigurieren</a:t>
            </a:r>
            <a:r>
              <a:rPr lang="de-DE" sz="1600" dirty="0" smtClean="0"/>
              <a:t>, verschieben, usw.</a:t>
            </a:r>
          </a:p>
          <a:p>
            <a:r>
              <a:rPr lang="de-DE" sz="1600" dirty="0" smtClean="0"/>
              <a:t>Sie sind </a:t>
            </a:r>
            <a:r>
              <a:rPr lang="de-DE" sz="1600" i="1" dirty="0" smtClean="0"/>
              <a:t>handhabbar</a:t>
            </a:r>
            <a:r>
              <a:rPr lang="de-DE" sz="1600" dirty="0" smtClean="0"/>
              <a:t>.</a:t>
            </a:r>
            <a:endParaRPr lang="de-DE" sz="1600" dirty="0"/>
          </a:p>
        </p:txBody>
      </p:sp>
      <p:pic>
        <p:nvPicPr>
          <p:cNvPr id="102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07904" y="2427734"/>
            <a:ext cx="4536504" cy="875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6762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0"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hteck 1"/>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 name="Textfeld 2"/>
          <p:cNvSpPr txBox="1"/>
          <p:nvPr/>
        </p:nvSpPr>
        <p:spPr>
          <a:xfrm>
            <a:off x="0" y="-29246"/>
            <a:ext cx="9144000" cy="5847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Operativität</a:t>
            </a:r>
            <a:endParaRPr lang="en-CA" sz="3200" dirty="0">
              <a:solidFill>
                <a:schemeClr val="bg1"/>
              </a:solidFill>
              <a:effectLst>
                <a:outerShdw blurRad="38100" dist="38100" dir="2700000" algn="tl">
                  <a:srgbClr val="000000">
                    <a:alpha val="43137"/>
                  </a:srgbClr>
                </a:outerShdw>
              </a:effectLst>
            </a:endParaRPr>
          </a:p>
        </p:txBody>
      </p:sp>
      <p:pic>
        <p:nvPicPr>
          <p:cNvPr id="17" name="Grafik 16"/>
          <p:cNvPicPr/>
          <p:nvPr/>
        </p:nvPicPr>
        <p:blipFill>
          <a:blip r:embed="rId3">
            <a:extLst>
              <a:ext uri="{28A0092B-C50C-407E-A947-70E740481C1C}">
                <a14:useLocalDpi xmlns:a14="http://schemas.microsoft.com/office/drawing/2010/main" val="0"/>
              </a:ext>
            </a:extLst>
          </a:blip>
          <a:stretch>
            <a:fillRect/>
          </a:stretch>
        </p:blipFill>
        <p:spPr>
          <a:xfrm>
            <a:off x="251520" y="771550"/>
            <a:ext cx="8640960" cy="3888432"/>
          </a:xfrm>
          <a:prstGeom prst="rect">
            <a:avLst/>
          </a:prstGeom>
        </p:spPr>
      </p:pic>
    </p:spTree>
    <p:extLst>
      <p:ext uri="{BB962C8B-B14F-4D97-AF65-F5344CB8AC3E}">
        <p14:creationId xmlns:p14="http://schemas.microsoft.com/office/powerpoint/2010/main" val="20993959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hteck 1"/>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 name="Textfeld 2"/>
          <p:cNvSpPr txBox="1"/>
          <p:nvPr/>
        </p:nvSpPr>
        <p:spPr>
          <a:xfrm>
            <a:off x="0" y="-29246"/>
            <a:ext cx="9144000" cy="5847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Operativität</a:t>
            </a:r>
            <a:endParaRPr lang="en-CA" sz="3200" dirty="0">
              <a:solidFill>
                <a:schemeClr val="bg1"/>
              </a:solidFill>
              <a:effectLst>
                <a:outerShdw blurRad="38100" dist="38100" dir="2700000" algn="tl">
                  <a:srgbClr val="000000">
                    <a:alpha val="43137"/>
                  </a:srgbClr>
                </a:outerShdw>
              </a:effectLst>
            </a:endParaRPr>
          </a:p>
        </p:txBody>
      </p:sp>
      <p:pic>
        <p:nvPicPr>
          <p:cNvPr id="23556" name="Picture 4" descr="D:\Downloads\bf1892ce016cc92db8a7926430cc0f13.gif"/>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395536" y="850083"/>
            <a:ext cx="8380412" cy="39539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5789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5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hteck 5"/>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7" name="Textfeld 6"/>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Autooperativität</a:t>
            </a:r>
            <a:r>
              <a:rPr lang="en-CA" sz="3200" dirty="0" smtClean="0">
                <a:solidFill>
                  <a:schemeClr val="bg1"/>
                </a:solidFill>
                <a:effectLst>
                  <a:outerShdw blurRad="38100" dist="38100" dir="2700000" algn="tl">
                    <a:srgbClr val="000000">
                      <a:alpha val="43137"/>
                    </a:srgbClr>
                  </a:outerShdw>
                </a:effectLst>
              </a:rPr>
              <a:t> von </a:t>
            </a:r>
            <a:r>
              <a:rPr lang="en-CA" sz="3200" dirty="0" err="1" smtClean="0">
                <a:solidFill>
                  <a:schemeClr val="bg1"/>
                </a:solidFill>
                <a:effectLst>
                  <a:outerShdw blurRad="38100" dist="38100" dir="2700000" algn="tl">
                    <a:srgbClr val="000000">
                      <a:alpha val="43137"/>
                    </a:srgbClr>
                  </a:outerShdw>
                </a:effectLst>
              </a:rPr>
              <a:t>Schrift</a:t>
            </a:r>
            <a:endParaRPr lang="en-CA" sz="3200" dirty="0">
              <a:solidFill>
                <a:schemeClr val="bg1"/>
              </a:solidFill>
              <a:effectLst>
                <a:outerShdw blurRad="38100" dist="38100" dir="2700000" algn="tl">
                  <a:srgbClr val="000000">
                    <a:alpha val="43137"/>
                  </a:srgbClr>
                </a:outerShdw>
              </a:effectLst>
            </a:endParaRPr>
          </a:p>
        </p:txBody>
      </p:sp>
      <p:sp>
        <p:nvSpPr>
          <p:cNvPr id="2" name="Textfeld 1"/>
          <p:cNvSpPr txBox="1"/>
          <p:nvPr/>
        </p:nvSpPr>
        <p:spPr>
          <a:xfrm>
            <a:off x="179512" y="699542"/>
            <a:ext cx="8856984" cy="2246769"/>
          </a:xfrm>
          <a:prstGeom prst="rect">
            <a:avLst/>
          </a:prstGeom>
          <a:noFill/>
        </p:spPr>
        <p:txBody>
          <a:bodyPr wrap="square" rtlCol="0">
            <a:spAutoFit/>
          </a:bodyPr>
          <a:lstStyle/>
          <a:p>
            <a:r>
              <a:rPr lang="de-DE" sz="1400" b="1" dirty="0"/>
              <a:t>Selbstbewegung der Schrift durch Links</a:t>
            </a:r>
            <a:r>
              <a:rPr lang="de-DE" sz="1400" dirty="0"/>
              <a:t/>
            </a:r>
            <a:br>
              <a:rPr lang="de-DE" sz="1400" dirty="0"/>
            </a:br>
            <a:r>
              <a:rPr lang="de-DE" sz="1400" dirty="0"/>
              <a:t>Hyperlinks übernehmen die Navigation: Der Text „fährt“ den Leser direkt zum Ziel, statt auf Fußnoten zu verweisen</a:t>
            </a:r>
            <a:r>
              <a:rPr lang="de-DE" sz="1400" dirty="0" smtClean="0"/>
              <a:t>.</a:t>
            </a:r>
          </a:p>
          <a:p>
            <a:endParaRPr lang="de-DE" sz="1400" dirty="0"/>
          </a:p>
          <a:p>
            <a:r>
              <a:rPr lang="de-DE" sz="1400" b="1" dirty="0" err="1"/>
              <a:t>Verzeitlichung</a:t>
            </a:r>
            <a:r>
              <a:rPr lang="de-DE" sz="1400" b="1" dirty="0"/>
              <a:t> und Interaktivität</a:t>
            </a:r>
            <a:r>
              <a:rPr lang="de-DE" sz="1400" dirty="0"/>
              <a:t/>
            </a:r>
            <a:br>
              <a:rPr lang="de-DE" sz="1400" dirty="0"/>
            </a:br>
            <a:r>
              <a:rPr lang="de-DE" sz="1400" dirty="0"/>
              <a:t>Zeit wird Teil der Schriftstruktur: automatische Textsequenzen, aufklappbare Menüs und Scroll-Effekte machen Lesen/Schreiben interaktiv</a:t>
            </a:r>
            <a:r>
              <a:rPr lang="de-DE" sz="1400" dirty="0" smtClean="0"/>
              <a:t>.</a:t>
            </a:r>
          </a:p>
          <a:p>
            <a:endParaRPr lang="de-DE" sz="1400" dirty="0"/>
          </a:p>
          <a:p>
            <a:r>
              <a:rPr lang="de-DE" sz="1400" b="1" dirty="0"/>
              <a:t>Erweiterung des kognitiven Potentials</a:t>
            </a:r>
            <a:r>
              <a:rPr lang="de-DE" sz="1400" dirty="0"/>
              <a:t/>
            </a:r>
            <a:br>
              <a:rPr lang="de-DE" sz="1400" dirty="0"/>
            </a:br>
            <a:r>
              <a:rPr lang="de-DE" sz="1400" dirty="0"/>
              <a:t>Nicht mehr nur der Leser agiert aktiv: Die Schrift übernimmt operative Funktionen und steigert das Denken über rein räumlich-strukturierte Texte hinaus.</a:t>
            </a:r>
          </a:p>
        </p:txBody>
      </p:sp>
    </p:spTree>
    <p:extLst>
      <p:ext uri="{BB962C8B-B14F-4D97-AF65-F5344CB8AC3E}">
        <p14:creationId xmlns:p14="http://schemas.microsoft.com/office/powerpoint/2010/main" val="2502756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feld 1"/>
          <p:cNvSpPr txBox="1"/>
          <p:nvPr/>
        </p:nvSpPr>
        <p:spPr>
          <a:xfrm>
            <a:off x="2483768" y="1536343"/>
            <a:ext cx="4320480" cy="1323439"/>
          </a:xfrm>
          <a:prstGeom prst="rect">
            <a:avLst/>
          </a:prstGeom>
          <a:noFill/>
        </p:spPr>
        <p:txBody>
          <a:bodyPr wrap="square" rtlCol="0">
            <a:spAutoFit/>
          </a:bodyPr>
          <a:lstStyle/>
          <a:p>
            <a:r>
              <a:rPr lang="de-DE" sz="8000" dirty="0" err="1" smtClean="0"/>
              <a:t>Chunking</a:t>
            </a:r>
            <a:endParaRPr lang="de-DE" sz="8000" dirty="0"/>
          </a:p>
        </p:txBody>
      </p:sp>
    </p:spTree>
    <p:extLst>
      <p:ext uri="{BB962C8B-B14F-4D97-AF65-F5344CB8AC3E}">
        <p14:creationId xmlns:p14="http://schemas.microsoft.com/office/powerpoint/2010/main" val="208127607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hteck 5"/>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7" name="Textfeld 6"/>
          <p:cNvSpPr txBox="1"/>
          <p:nvPr/>
        </p:nvSpPr>
        <p:spPr>
          <a:xfrm>
            <a:off x="0" y="-29240"/>
            <a:ext cx="9144000" cy="584775"/>
          </a:xfrm>
          <a:prstGeom prst="rect">
            <a:avLst/>
          </a:prstGeom>
          <a:noFill/>
        </p:spPr>
        <p:txBody>
          <a:bodyPr wrap="square" rtlCol="0">
            <a:spAutoFit/>
          </a:bodyPr>
          <a:lstStyle/>
          <a:p>
            <a:pPr algn="ctr"/>
            <a:r>
              <a:rPr lang="en-CA" sz="3200" dirty="0" smtClean="0">
                <a:solidFill>
                  <a:schemeClr val="bg1"/>
                </a:solidFill>
                <a:effectLst>
                  <a:outerShdw blurRad="38100" dist="38100" dir="2700000" algn="tl">
                    <a:srgbClr val="000000">
                      <a:alpha val="43137"/>
                    </a:srgbClr>
                  </a:outerShdw>
                </a:effectLst>
              </a:rPr>
              <a:t>Chunking</a:t>
            </a:r>
            <a:endParaRPr lang="en-CA" sz="3200" dirty="0">
              <a:solidFill>
                <a:schemeClr val="bg1"/>
              </a:solidFill>
              <a:effectLst>
                <a:outerShdw blurRad="38100" dist="38100" dir="2700000" algn="tl">
                  <a:srgbClr val="000000">
                    <a:alpha val="43137"/>
                  </a:srgbClr>
                </a:outerShdw>
              </a:effectLst>
            </a:endParaRPr>
          </a:p>
        </p:txBody>
      </p:sp>
      <p:sp>
        <p:nvSpPr>
          <p:cNvPr id="8" name="Textfeld 7"/>
          <p:cNvSpPr txBox="1"/>
          <p:nvPr/>
        </p:nvSpPr>
        <p:spPr>
          <a:xfrm>
            <a:off x="701070" y="2006138"/>
            <a:ext cx="2664296" cy="584775"/>
          </a:xfrm>
          <a:prstGeom prst="rect">
            <a:avLst/>
          </a:prstGeom>
          <a:noFill/>
        </p:spPr>
        <p:txBody>
          <a:bodyPr wrap="square" rtlCol="0">
            <a:spAutoFit/>
          </a:bodyPr>
          <a:lstStyle/>
          <a:p>
            <a:r>
              <a:rPr lang="en-CA" sz="3200" dirty="0" smtClean="0"/>
              <a:t>0172 9925904</a:t>
            </a:r>
            <a:endParaRPr lang="en-CA" sz="3200" dirty="0"/>
          </a:p>
        </p:txBody>
      </p:sp>
      <p:sp>
        <p:nvSpPr>
          <p:cNvPr id="9" name="Textfeld 8"/>
          <p:cNvSpPr txBox="1"/>
          <p:nvPr/>
        </p:nvSpPr>
        <p:spPr>
          <a:xfrm>
            <a:off x="3950369" y="1419622"/>
            <a:ext cx="2382640" cy="523220"/>
          </a:xfrm>
          <a:prstGeom prst="rect">
            <a:avLst/>
          </a:prstGeom>
          <a:noFill/>
        </p:spPr>
        <p:txBody>
          <a:bodyPr wrap="none" rtlCol="0">
            <a:spAutoFit/>
          </a:bodyPr>
          <a:lstStyle/>
          <a:p>
            <a:r>
              <a:rPr lang="en-CA" sz="2800" b="1" dirty="0" smtClean="0">
                <a:solidFill>
                  <a:schemeClr val="accent1"/>
                </a:solidFill>
              </a:rPr>
              <a:t>Kanalkapazität</a:t>
            </a:r>
            <a:endParaRPr lang="en-CA" sz="2800" b="1" dirty="0">
              <a:solidFill>
                <a:schemeClr val="accent1"/>
              </a:solidFill>
            </a:endParaRPr>
          </a:p>
        </p:txBody>
      </p:sp>
      <p:pic>
        <p:nvPicPr>
          <p:cNvPr id="10" name="Picture 17" descr="https://i.gyazo.com/a9c565ef7219635c626e2a11718ffaa6.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24697" y="1947148"/>
            <a:ext cx="3495575" cy="645054"/>
          </a:xfrm>
          <a:prstGeom prst="rect">
            <a:avLst/>
          </a:prstGeom>
          <a:noFill/>
          <a:extLst>
            <a:ext uri="{909E8E84-426E-40DD-AFC4-6F175D3DCCD1}">
              <a14:hiddenFill xmlns:a14="http://schemas.microsoft.com/office/drawing/2010/main">
                <a:solidFill>
                  <a:srgbClr val="FFFFFF"/>
                </a:solidFill>
              </a14:hiddenFill>
            </a:ext>
          </a:extLst>
        </p:spPr>
      </p:pic>
      <p:sp>
        <p:nvSpPr>
          <p:cNvPr id="11" name="Geschweifte Klammer links 10"/>
          <p:cNvSpPr/>
          <p:nvPr/>
        </p:nvSpPr>
        <p:spPr>
          <a:xfrm rot="16200000">
            <a:off x="1102553" y="2168161"/>
            <a:ext cx="216024" cy="77349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12" name="Geschweifte Klammer links 11"/>
          <p:cNvSpPr/>
          <p:nvPr/>
        </p:nvSpPr>
        <p:spPr>
          <a:xfrm rot="16200000">
            <a:off x="1803280" y="2364065"/>
            <a:ext cx="216024" cy="37216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13" name="Geschweifte Klammer links 12"/>
          <p:cNvSpPr/>
          <p:nvPr/>
        </p:nvSpPr>
        <p:spPr>
          <a:xfrm rot="16200000">
            <a:off x="2226100" y="2360345"/>
            <a:ext cx="216024" cy="37960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14" name="Geschweifte Klammer links 13"/>
          <p:cNvSpPr/>
          <p:nvPr/>
        </p:nvSpPr>
        <p:spPr>
          <a:xfrm rot="16200000">
            <a:off x="2735147" y="2265638"/>
            <a:ext cx="216024" cy="57854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15" name="Textfeld 14"/>
          <p:cNvSpPr txBox="1"/>
          <p:nvPr/>
        </p:nvSpPr>
        <p:spPr>
          <a:xfrm>
            <a:off x="823817" y="2590913"/>
            <a:ext cx="777777" cy="369332"/>
          </a:xfrm>
          <a:prstGeom prst="rect">
            <a:avLst/>
          </a:prstGeom>
          <a:noFill/>
        </p:spPr>
        <p:txBody>
          <a:bodyPr wrap="none" rtlCol="0">
            <a:spAutoFit/>
          </a:bodyPr>
          <a:lstStyle/>
          <a:p>
            <a:r>
              <a:rPr lang="en-CA" dirty="0" smtClean="0"/>
              <a:t>Chunk</a:t>
            </a:r>
            <a:endParaRPr lang="en-CA" dirty="0"/>
          </a:p>
        </p:txBody>
      </p:sp>
      <p:sp>
        <p:nvSpPr>
          <p:cNvPr id="16" name="Textfeld 15"/>
          <p:cNvSpPr txBox="1"/>
          <p:nvPr/>
        </p:nvSpPr>
        <p:spPr>
          <a:xfrm>
            <a:off x="557054" y="1428913"/>
            <a:ext cx="2664296" cy="523220"/>
          </a:xfrm>
          <a:prstGeom prst="rect">
            <a:avLst/>
          </a:prstGeom>
          <a:noFill/>
        </p:spPr>
        <p:txBody>
          <a:bodyPr wrap="square" rtlCol="0">
            <a:spAutoFit/>
          </a:bodyPr>
          <a:lstStyle/>
          <a:p>
            <a:pPr algn="ctr"/>
            <a:r>
              <a:rPr lang="en-CA" sz="2800" b="1" dirty="0" smtClean="0">
                <a:solidFill>
                  <a:schemeClr val="accent1"/>
                </a:solidFill>
              </a:rPr>
              <a:t>Chunks</a:t>
            </a:r>
            <a:endParaRPr lang="en-CA" sz="2800" b="1" dirty="0">
              <a:solidFill>
                <a:schemeClr val="accent1"/>
              </a:solidFill>
            </a:endParaRPr>
          </a:p>
        </p:txBody>
      </p:sp>
      <p:cxnSp>
        <p:nvCxnSpPr>
          <p:cNvPr id="17" name="Gerade Verbindung mit Pfeil 16"/>
          <p:cNvCxnSpPr/>
          <p:nvPr/>
        </p:nvCxnSpPr>
        <p:spPr>
          <a:xfrm>
            <a:off x="686783" y="1798592"/>
            <a:ext cx="183207" cy="3600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8" name="Textfeld 17"/>
          <p:cNvSpPr txBox="1"/>
          <p:nvPr/>
        </p:nvSpPr>
        <p:spPr>
          <a:xfrm>
            <a:off x="467544" y="1508522"/>
            <a:ext cx="439544" cy="369332"/>
          </a:xfrm>
          <a:prstGeom prst="rect">
            <a:avLst/>
          </a:prstGeom>
          <a:noFill/>
        </p:spPr>
        <p:txBody>
          <a:bodyPr wrap="none" rtlCol="0">
            <a:spAutoFit/>
          </a:bodyPr>
          <a:lstStyle/>
          <a:p>
            <a:r>
              <a:rPr lang="en-CA" dirty="0" smtClean="0"/>
              <a:t>Bit</a:t>
            </a:r>
            <a:endParaRPr lang="en-CA" dirty="0"/>
          </a:p>
        </p:txBody>
      </p:sp>
      <p:sp>
        <p:nvSpPr>
          <p:cNvPr id="19" name="Textfeld 18"/>
          <p:cNvSpPr txBox="1"/>
          <p:nvPr/>
        </p:nvSpPr>
        <p:spPr>
          <a:xfrm>
            <a:off x="1043608" y="771550"/>
            <a:ext cx="6912768" cy="584775"/>
          </a:xfrm>
          <a:prstGeom prst="rect">
            <a:avLst/>
          </a:prstGeom>
          <a:noFill/>
        </p:spPr>
        <p:txBody>
          <a:bodyPr wrap="square" rtlCol="0">
            <a:spAutoFit/>
          </a:bodyPr>
          <a:lstStyle/>
          <a:p>
            <a:pPr algn="ctr"/>
            <a:r>
              <a:rPr lang="de-DE" sz="3200" b="1" dirty="0" smtClean="0"/>
              <a:t>Bits und Chunks</a:t>
            </a:r>
            <a:endParaRPr lang="en-CA" sz="3200" dirty="0"/>
          </a:p>
        </p:txBody>
      </p:sp>
      <p:grpSp>
        <p:nvGrpSpPr>
          <p:cNvPr id="20" name="Gruppieren 19"/>
          <p:cNvGrpSpPr/>
          <p:nvPr/>
        </p:nvGrpSpPr>
        <p:grpSpPr>
          <a:xfrm>
            <a:off x="1331640" y="3230855"/>
            <a:ext cx="6590638" cy="1357119"/>
            <a:chOff x="1331640" y="3518887"/>
            <a:chExt cx="6590638" cy="1357119"/>
          </a:xfrm>
        </p:grpSpPr>
        <p:sp>
          <p:nvSpPr>
            <p:cNvPr id="21" name="Textfeld 20"/>
            <p:cNvSpPr txBox="1"/>
            <p:nvPr/>
          </p:nvSpPr>
          <p:spPr>
            <a:xfrm>
              <a:off x="1331640" y="3518887"/>
              <a:ext cx="6590638" cy="861774"/>
            </a:xfrm>
            <a:prstGeom prst="rect">
              <a:avLst/>
            </a:prstGeom>
            <a:noFill/>
          </p:spPr>
          <p:txBody>
            <a:bodyPr wrap="square" rtlCol="0">
              <a:spAutoFit/>
            </a:bodyPr>
            <a:lstStyle/>
            <a:p>
              <a:pPr algn="ctr"/>
              <a:r>
                <a:rPr lang="de-DE" sz="3200" dirty="0" smtClean="0"/>
                <a:t>Donaudampfschifffahrtsgesellschaft</a:t>
              </a:r>
              <a:endParaRPr lang="de-DE" sz="3200" dirty="0"/>
            </a:p>
            <a:p>
              <a:endParaRPr lang="en-CA" dirty="0"/>
            </a:p>
          </p:txBody>
        </p:sp>
        <p:sp>
          <p:nvSpPr>
            <p:cNvPr id="22" name="Geschweifte Klammer links 21"/>
            <p:cNvSpPr/>
            <p:nvPr/>
          </p:nvSpPr>
          <p:spPr>
            <a:xfrm rot="16200000">
              <a:off x="2133260" y="3641831"/>
              <a:ext cx="305617" cy="107085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23" name="Geschweifte Klammer links 22"/>
            <p:cNvSpPr/>
            <p:nvPr/>
          </p:nvSpPr>
          <p:spPr>
            <a:xfrm rot="16200000">
              <a:off x="3201040" y="3644496"/>
              <a:ext cx="305617" cy="1064708"/>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24" name="Geschweifte Klammer links 23"/>
            <p:cNvSpPr/>
            <p:nvPr/>
          </p:nvSpPr>
          <p:spPr>
            <a:xfrm rot="16200000">
              <a:off x="4140839" y="3784194"/>
              <a:ext cx="305617" cy="78530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25" name="Geschweifte Klammer links 24"/>
            <p:cNvSpPr/>
            <p:nvPr/>
          </p:nvSpPr>
          <p:spPr>
            <a:xfrm rot="16200000">
              <a:off x="5023489" y="3701643"/>
              <a:ext cx="305617" cy="95040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26" name="Geschweifte Klammer links 25"/>
            <p:cNvSpPr/>
            <p:nvPr/>
          </p:nvSpPr>
          <p:spPr>
            <a:xfrm rot="16200000">
              <a:off x="5982339" y="3707992"/>
              <a:ext cx="305617" cy="93770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27" name="Geschweifte Klammer links 26"/>
            <p:cNvSpPr/>
            <p:nvPr/>
          </p:nvSpPr>
          <p:spPr>
            <a:xfrm rot="16200000">
              <a:off x="6953889" y="3688941"/>
              <a:ext cx="305617" cy="97580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28" name="Textfeld 27"/>
            <p:cNvSpPr txBox="1"/>
            <p:nvPr/>
          </p:nvSpPr>
          <p:spPr>
            <a:xfrm>
              <a:off x="2197472" y="4352786"/>
              <a:ext cx="5398864" cy="523220"/>
            </a:xfrm>
            <a:prstGeom prst="rect">
              <a:avLst/>
            </a:prstGeom>
            <a:noFill/>
          </p:spPr>
          <p:txBody>
            <a:bodyPr wrap="square" rtlCol="0">
              <a:spAutoFit/>
            </a:bodyPr>
            <a:lstStyle/>
            <a:p>
              <a:pPr algn="ctr"/>
              <a:r>
                <a:rPr lang="en-CA" sz="2800" b="1" i="1" dirty="0" smtClean="0">
                  <a:solidFill>
                    <a:schemeClr val="accent1"/>
                  </a:solidFill>
                </a:rPr>
                <a:t>Chunking</a:t>
              </a:r>
              <a:endParaRPr lang="en-CA" b="1" i="1" dirty="0">
                <a:solidFill>
                  <a:schemeClr val="accent1"/>
                </a:solidFill>
              </a:endParaRPr>
            </a:p>
          </p:txBody>
        </p:sp>
      </p:grpSp>
      <p:pic>
        <p:nvPicPr>
          <p:cNvPr id="29" name="Picture 5" descr="D:\Downloads\brain.png"/>
          <p:cNvPicPr>
            <a:picLocks noChangeAspect="1" noChangeArrowheads="1"/>
          </p:cNvPicPr>
          <p:nvPr/>
        </p:nvPicPr>
        <p:blipFill>
          <a:blip r:embed="rId3" cstate="print">
            <a:duotone>
              <a:prstClr val="black"/>
              <a:schemeClr val="bg2">
                <a:tint val="45000"/>
                <a:satMod val="400000"/>
              </a:schemeClr>
            </a:duotone>
            <a:extLst>
              <a:ext uri="{28A0092B-C50C-407E-A947-70E740481C1C}">
                <a14:useLocalDpi xmlns:a14="http://schemas.microsoft.com/office/drawing/2010/main" val="0"/>
              </a:ext>
            </a:extLst>
          </a:blip>
          <a:srcRect/>
          <a:stretch>
            <a:fillRect/>
          </a:stretch>
        </p:blipFill>
        <p:spPr bwMode="auto">
          <a:xfrm>
            <a:off x="7369392" y="1516239"/>
            <a:ext cx="1440160" cy="1342166"/>
          </a:xfrm>
          <a:prstGeom prst="rect">
            <a:avLst/>
          </a:prstGeom>
          <a:noFill/>
          <a:ln w="28575">
            <a:noFill/>
          </a:ln>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3310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1" grpId="0" animBg="1"/>
      <p:bldP spid="12" grpId="0" animBg="1"/>
      <p:bldP spid="13" grpId="0" animBg="1"/>
      <p:bldP spid="14" grpId="0" animBg="1"/>
      <p:bldP spid="15" grpId="0"/>
      <p:bldP spid="16" grpId="0"/>
      <p:bldP spid="18"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hteck 5"/>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7" name="Textfeld 6"/>
          <p:cNvSpPr txBox="1"/>
          <p:nvPr/>
        </p:nvSpPr>
        <p:spPr>
          <a:xfrm>
            <a:off x="0" y="-29240"/>
            <a:ext cx="9144000" cy="584775"/>
          </a:xfrm>
          <a:prstGeom prst="rect">
            <a:avLst/>
          </a:prstGeom>
          <a:noFill/>
        </p:spPr>
        <p:txBody>
          <a:bodyPr wrap="square" rtlCol="0">
            <a:spAutoFit/>
          </a:bodyPr>
          <a:lstStyle/>
          <a:p>
            <a:pPr algn="ctr"/>
            <a:r>
              <a:rPr lang="en-CA" sz="3200" dirty="0" smtClean="0">
                <a:solidFill>
                  <a:schemeClr val="bg1"/>
                </a:solidFill>
                <a:effectLst>
                  <a:outerShdw blurRad="38100" dist="38100" dir="2700000" algn="tl">
                    <a:srgbClr val="000000">
                      <a:alpha val="43137"/>
                    </a:srgbClr>
                  </a:outerShdw>
                </a:effectLst>
              </a:rPr>
              <a:t>Chunking</a:t>
            </a:r>
            <a:endParaRPr lang="en-CA" sz="3200" dirty="0">
              <a:solidFill>
                <a:schemeClr val="bg1"/>
              </a:solidFill>
              <a:effectLst>
                <a:outerShdw blurRad="38100" dist="38100" dir="2700000" algn="tl">
                  <a:srgbClr val="000000">
                    <a:alpha val="43137"/>
                  </a:srgbClr>
                </a:outerShdw>
              </a:effectLst>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915566"/>
            <a:ext cx="7776864" cy="4534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Pfeil nach unten 1"/>
          <p:cNvSpPr/>
          <p:nvPr/>
        </p:nvSpPr>
        <p:spPr>
          <a:xfrm>
            <a:off x="3851920" y="1779662"/>
            <a:ext cx="720080" cy="151216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 name="Textfeld 2"/>
          <p:cNvSpPr txBox="1"/>
          <p:nvPr/>
        </p:nvSpPr>
        <p:spPr>
          <a:xfrm>
            <a:off x="4644008" y="2202418"/>
            <a:ext cx="2952328" cy="369332"/>
          </a:xfrm>
          <a:prstGeom prst="rect">
            <a:avLst/>
          </a:prstGeom>
          <a:noFill/>
        </p:spPr>
        <p:txBody>
          <a:bodyPr wrap="square" rtlCol="0">
            <a:spAutoFit/>
          </a:bodyPr>
          <a:lstStyle/>
          <a:p>
            <a:r>
              <a:rPr lang="de-DE" dirty="0" smtClean="0"/>
              <a:t>Einsetzungsinstanz von </a:t>
            </a:r>
            <a:endParaRPr lang="de-DE" dirty="0"/>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1922" y="3507854"/>
            <a:ext cx="3230238" cy="792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p14="http://schemas.microsoft.com/office/powerpoint/2010/main">
        <mc:Choice Requires="p14">
          <p:contentPart p14:bwMode="auto" r:id="rId4">
            <p14:nvContentPartPr>
              <p14:cNvPr id="4" name="Freihand 3"/>
              <p14:cNvContentPartPr/>
              <p14:nvPr/>
            </p14:nvContentPartPr>
            <p14:xfrm>
              <a:off x="581040" y="585720"/>
              <a:ext cx="7905960" cy="1067400"/>
            </p14:xfrm>
          </p:contentPart>
        </mc:Choice>
        <mc:Fallback xmlns="">
          <p:pic>
            <p:nvPicPr>
              <p:cNvPr id="4" name="Freihand 3"/>
              <p:cNvPicPr/>
              <p:nvPr/>
            </p:nvPicPr>
            <p:blipFill>
              <a:blip r:embed="rId5"/>
              <a:stretch>
                <a:fillRect/>
              </a:stretch>
            </p:blipFill>
            <p:spPr>
              <a:xfrm>
                <a:off x="571680" y="576360"/>
                <a:ext cx="7924680" cy="1086120"/>
              </a:xfrm>
              <a:prstGeom prst="rect">
                <a:avLst/>
              </a:prstGeom>
            </p:spPr>
          </p:pic>
        </mc:Fallback>
      </mc:AlternateContent>
    </p:spTree>
    <p:extLst>
      <p:ext uri="{BB962C8B-B14F-4D97-AF65-F5344CB8AC3E}">
        <p14:creationId xmlns:p14="http://schemas.microsoft.com/office/powerpoint/2010/main" val="81945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hteck 5"/>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7" name="Textfeld 6"/>
          <p:cNvSpPr txBox="1"/>
          <p:nvPr/>
        </p:nvSpPr>
        <p:spPr>
          <a:xfrm>
            <a:off x="0" y="-29240"/>
            <a:ext cx="9144000" cy="584775"/>
          </a:xfrm>
          <a:prstGeom prst="rect">
            <a:avLst/>
          </a:prstGeom>
          <a:noFill/>
        </p:spPr>
        <p:txBody>
          <a:bodyPr wrap="square" rtlCol="0">
            <a:spAutoFit/>
          </a:bodyPr>
          <a:lstStyle/>
          <a:p>
            <a:pPr algn="ctr"/>
            <a:r>
              <a:rPr lang="en-CA" sz="3200" dirty="0" smtClean="0">
                <a:solidFill>
                  <a:schemeClr val="bg1"/>
                </a:solidFill>
                <a:effectLst>
                  <a:outerShdw blurRad="38100" dist="38100" dir="2700000" algn="tl">
                    <a:srgbClr val="000000">
                      <a:alpha val="43137"/>
                    </a:srgbClr>
                  </a:outerShdw>
                </a:effectLst>
              </a:rPr>
              <a:t>“</a:t>
            </a:r>
            <a:r>
              <a:rPr lang="en-CA" sz="3200" dirty="0" err="1" smtClean="0">
                <a:solidFill>
                  <a:schemeClr val="bg1"/>
                </a:solidFill>
                <a:effectLst>
                  <a:outerShdw blurRad="38100" dist="38100" dir="2700000" algn="tl">
                    <a:srgbClr val="000000">
                      <a:alpha val="43137"/>
                    </a:srgbClr>
                  </a:outerShdw>
                </a:effectLst>
              </a:rPr>
              <a:t>Gussformen</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erkennen</a:t>
            </a:r>
            <a:r>
              <a:rPr lang="en-CA" sz="3200" dirty="0" smtClean="0">
                <a:solidFill>
                  <a:schemeClr val="bg1"/>
                </a:solidFill>
                <a:effectLst>
                  <a:outerShdw blurRad="38100" dist="38100" dir="2700000" algn="tl">
                    <a:srgbClr val="000000">
                      <a:alpha val="43137"/>
                    </a:srgbClr>
                  </a:outerShdw>
                </a:effectLst>
              </a:rPr>
              <a:t>”</a:t>
            </a:r>
            <a:endParaRPr lang="en-CA" sz="3200" dirty="0">
              <a:solidFill>
                <a:schemeClr val="bg1"/>
              </a:solidFill>
              <a:effectLst>
                <a:outerShdw blurRad="38100" dist="38100" dir="2700000" algn="tl">
                  <a:srgbClr val="000000">
                    <a:alpha val="43137"/>
                  </a:srgbClr>
                </a:outerShdw>
              </a:effectLst>
            </a:endParaRPr>
          </a:p>
        </p:txBody>
      </p:sp>
      <p:pic>
        <p:nvPicPr>
          <p:cNvPr id="1843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5656" y="1275606"/>
            <a:ext cx="5616624" cy="590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43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3897" y="757516"/>
            <a:ext cx="7092479" cy="446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feld 2"/>
          <p:cNvSpPr txBox="1"/>
          <p:nvPr/>
        </p:nvSpPr>
        <p:spPr>
          <a:xfrm>
            <a:off x="251520" y="1995686"/>
            <a:ext cx="8136904" cy="400110"/>
          </a:xfrm>
          <a:prstGeom prst="rect">
            <a:avLst/>
          </a:prstGeom>
          <a:noFill/>
        </p:spPr>
        <p:txBody>
          <a:bodyPr wrap="square" rtlCol="0">
            <a:spAutoFit/>
          </a:bodyPr>
          <a:lstStyle/>
          <a:p>
            <a:pPr algn="ctr"/>
            <a:r>
              <a:rPr lang="de-DE" sz="2000" b="1" dirty="0"/>
              <a:t>Das ist die quadratische Gleichung in der </a:t>
            </a:r>
            <a:r>
              <a:rPr lang="de-DE" sz="2000" b="1" dirty="0" smtClean="0"/>
              <a:t>„Unbekannten 5“.</a:t>
            </a:r>
            <a:endParaRPr lang="de-DE" sz="2000" b="1" dirty="0"/>
          </a:p>
        </p:txBody>
      </p:sp>
      <p:pic>
        <p:nvPicPr>
          <p:cNvPr id="18437"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9279" y="2644910"/>
            <a:ext cx="5398865" cy="646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438"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67744" y="3370532"/>
            <a:ext cx="5976664" cy="7133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439"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4192" y="4102625"/>
            <a:ext cx="7590216" cy="8453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10254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43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43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43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4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feld 3"/>
          <p:cNvSpPr txBox="1"/>
          <p:nvPr/>
        </p:nvSpPr>
        <p:spPr>
          <a:xfrm>
            <a:off x="395536" y="1680359"/>
            <a:ext cx="8280920" cy="1323439"/>
          </a:xfrm>
          <a:prstGeom prst="rect">
            <a:avLst/>
          </a:prstGeom>
          <a:noFill/>
        </p:spPr>
        <p:txBody>
          <a:bodyPr wrap="square" rtlCol="0">
            <a:spAutoFit/>
          </a:bodyPr>
          <a:lstStyle/>
          <a:p>
            <a:pPr algn="ctr"/>
            <a:r>
              <a:rPr lang="de-DE" sz="8000" dirty="0" smtClean="0"/>
              <a:t>Token und Type</a:t>
            </a:r>
            <a:endParaRPr lang="de-DE" sz="8000" dirty="0"/>
          </a:p>
        </p:txBody>
      </p:sp>
    </p:spTree>
    <p:extLst>
      <p:ext uri="{BB962C8B-B14F-4D97-AF65-F5344CB8AC3E}">
        <p14:creationId xmlns:p14="http://schemas.microsoft.com/office/powerpoint/2010/main" val="1616599521"/>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hteck 5"/>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7" name="Textfeld 6"/>
          <p:cNvSpPr txBox="1"/>
          <p:nvPr/>
        </p:nvSpPr>
        <p:spPr>
          <a:xfrm>
            <a:off x="0" y="-29240"/>
            <a:ext cx="9144000" cy="584775"/>
          </a:xfrm>
          <a:prstGeom prst="rect">
            <a:avLst/>
          </a:prstGeom>
          <a:noFill/>
        </p:spPr>
        <p:txBody>
          <a:bodyPr wrap="square" rtlCol="0">
            <a:spAutoFit/>
          </a:bodyPr>
          <a:lstStyle/>
          <a:p>
            <a:pPr algn="ctr"/>
            <a:r>
              <a:rPr lang="en-US" sz="3200" dirty="0" err="1" smtClean="0">
                <a:solidFill>
                  <a:schemeClr val="bg1"/>
                </a:solidFill>
                <a:effectLst>
                  <a:outerShdw blurRad="38100" dist="38100" dir="2700000" algn="tl">
                    <a:srgbClr val="000000">
                      <a:alpha val="43137"/>
                    </a:srgbClr>
                  </a:outerShdw>
                </a:effectLst>
              </a:rPr>
              <a:t>Notio</a:t>
            </a:r>
            <a:r>
              <a:rPr lang="en-US" sz="3200" dirty="0" smtClean="0">
                <a:solidFill>
                  <a:schemeClr val="bg1"/>
                </a:solidFill>
                <a:effectLst>
                  <a:outerShdw blurRad="38100" dist="38100" dir="2700000" algn="tl">
                    <a:srgbClr val="000000">
                      <a:alpha val="43137"/>
                    </a:srgbClr>
                  </a:outerShdw>
                </a:effectLst>
              </a:rPr>
              <a:t> und </a:t>
            </a:r>
            <a:r>
              <a:rPr lang="en-US" sz="3200" dirty="0" err="1" smtClean="0">
                <a:solidFill>
                  <a:schemeClr val="bg1"/>
                </a:solidFill>
                <a:effectLst>
                  <a:outerShdw blurRad="38100" dist="38100" dir="2700000" algn="tl">
                    <a:srgbClr val="000000">
                      <a:alpha val="43137"/>
                    </a:srgbClr>
                  </a:outerShdw>
                </a:effectLst>
              </a:rPr>
              <a:t>Notatio</a:t>
            </a:r>
            <a:endParaRPr lang="en-CA" sz="3200" dirty="0">
              <a:solidFill>
                <a:schemeClr val="bg1"/>
              </a:solidFill>
              <a:effectLst>
                <a:outerShdw blurRad="38100" dist="38100" dir="2700000" algn="tl">
                  <a:srgbClr val="000000">
                    <a:alpha val="43137"/>
                  </a:srgbClr>
                </a:outerShdw>
              </a:effectLst>
            </a:endParaRPr>
          </a:p>
        </p:txBody>
      </p:sp>
      <p:sp>
        <p:nvSpPr>
          <p:cNvPr id="10" name="AutoShape 8" descr="Peirce’s cubes (R S-1)"/>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a:p>
        </p:txBody>
      </p:sp>
      <p:sp>
        <p:nvSpPr>
          <p:cNvPr id="12" name="AutoShape 2" descr="https://www.researchgate.net/profile/Ahti-Pietarinen/publication/315949046/figure/fig2/AS:941836751343623@1601562788835/Peirces-cubes-R-S-1.gif"/>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a:p>
        </p:txBody>
      </p:sp>
      <p:pic>
        <p:nvPicPr>
          <p:cNvPr id="1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544" y="1455141"/>
            <a:ext cx="1212841" cy="415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7704" y="771550"/>
            <a:ext cx="913234" cy="492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31432" y="1455141"/>
            <a:ext cx="1252536" cy="328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Textfeld 14"/>
          <p:cNvSpPr txBox="1"/>
          <p:nvPr/>
        </p:nvSpPr>
        <p:spPr>
          <a:xfrm>
            <a:off x="251520" y="2067694"/>
            <a:ext cx="4248472" cy="523220"/>
          </a:xfrm>
          <a:prstGeom prst="rect">
            <a:avLst/>
          </a:prstGeom>
          <a:noFill/>
        </p:spPr>
        <p:txBody>
          <a:bodyPr wrap="square" rtlCol="0">
            <a:spAutoFit/>
          </a:bodyPr>
          <a:lstStyle/>
          <a:p>
            <a:pPr algn="ctr"/>
            <a:r>
              <a:rPr lang="de-DE" sz="2800" dirty="0" smtClean="0">
                <a:latin typeface="Palatino Linotype" panose="02040502050505030304" pitchFamily="18" charset="0"/>
              </a:rPr>
              <a:t>Palindrom vs. Prim</a:t>
            </a:r>
            <a:endParaRPr lang="de-DE" sz="2800" dirty="0">
              <a:latin typeface="Palatino Linotype" panose="02040502050505030304" pitchFamily="18" charset="0"/>
            </a:endParaRPr>
          </a:p>
        </p:txBody>
      </p:sp>
      <p:pic>
        <p:nvPicPr>
          <p:cNvPr id="16" name="Picture 6" descr="undefined"/>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860032" y="699542"/>
            <a:ext cx="3697502" cy="2995555"/>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7"/>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808562" y="3579862"/>
            <a:ext cx="4011910" cy="2524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 name="Textfeld 17"/>
          <p:cNvSpPr txBox="1"/>
          <p:nvPr/>
        </p:nvSpPr>
        <p:spPr>
          <a:xfrm>
            <a:off x="4716016" y="3976301"/>
            <a:ext cx="4176464" cy="369332"/>
          </a:xfrm>
          <a:prstGeom prst="rect">
            <a:avLst/>
          </a:prstGeom>
          <a:noFill/>
        </p:spPr>
        <p:txBody>
          <a:bodyPr wrap="square" rtlCol="0">
            <a:spAutoFit/>
          </a:bodyPr>
          <a:lstStyle/>
          <a:p>
            <a:pPr algn="ctr"/>
            <a:r>
              <a:rPr lang="de-DE" dirty="0" smtClean="0">
                <a:latin typeface="Palatino Linotype" panose="02040502050505030304" pitchFamily="18" charset="0"/>
                <a:sym typeface="Wingdings" panose="05000000000000000000" pitchFamily="2" charset="2"/>
              </a:rPr>
              <a:t> Eine Matrix ist eine Menge!</a:t>
            </a:r>
            <a:endParaRPr lang="de-DE" dirty="0">
              <a:latin typeface="Palatino Linotype" panose="02040502050505030304" pitchFamily="18" charset="0"/>
            </a:endParaRPr>
          </a:p>
        </p:txBody>
      </p:sp>
      <p:sp>
        <p:nvSpPr>
          <p:cNvPr id="19" name="Textfeld 18"/>
          <p:cNvSpPr txBox="1"/>
          <p:nvPr/>
        </p:nvSpPr>
        <p:spPr>
          <a:xfrm>
            <a:off x="4644008" y="4408349"/>
            <a:ext cx="4608512" cy="646331"/>
          </a:xfrm>
          <a:prstGeom prst="rect">
            <a:avLst/>
          </a:prstGeom>
          <a:noFill/>
        </p:spPr>
        <p:txBody>
          <a:bodyPr wrap="square" rtlCol="0">
            <a:spAutoFit/>
          </a:bodyPr>
          <a:lstStyle/>
          <a:p>
            <a:pPr algn="ctr"/>
            <a:r>
              <a:rPr lang="de-DE" dirty="0" smtClean="0">
                <a:latin typeface="Palatino Linotype" panose="02040502050505030304" pitchFamily="18" charset="0"/>
              </a:rPr>
              <a:t>Ist das Rechteckschema ein Diagramm?</a:t>
            </a:r>
            <a:br>
              <a:rPr lang="de-DE" dirty="0" smtClean="0">
                <a:latin typeface="Palatino Linotype" panose="02040502050505030304" pitchFamily="18" charset="0"/>
              </a:rPr>
            </a:br>
            <a:r>
              <a:rPr lang="de-DE" dirty="0" smtClean="0">
                <a:latin typeface="Palatino Linotype" panose="02040502050505030304" pitchFamily="18" charset="0"/>
              </a:rPr>
              <a:t>Oder komplexes Zeichen?</a:t>
            </a:r>
            <a:endParaRPr lang="de-DE" dirty="0">
              <a:latin typeface="Palatino Linotype" panose="02040502050505030304" pitchFamily="18" charset="0"/>
            </a:endParaRPr>
          </a:p>
        </p:txBody>
      </p:sp>
      <p:sp>
        <p:nvSpPr>
          <p:cNvPr id="5" name="Textfeld 4"/>
          <p:cNvSpPr txBox="1"/>
          <p:nvPr/>
        </p:nvSpPr>
        <p:spPr>
          <a:xfrm>
            <a:off x="395536" y="2787774"/>
            <a:ext cx="3960440" cy="1200329"/>
          </a:xfrm>
          <a:prstGeom prst="rect">
            <a:avLst/>
          </a:prstGeom>
          <a:noFill/>
        </p:spPr>
        <p:txBody>
          <a:bodyPr wrap="square" rtlCol="0">
            <a:spAutoFit/>
          </a:bodyPr>
          <a:lstStyle/>
          <a:p>
            <a:pPr algn="ctr"/>
            <a:r>
              <a:rPr lang="de-DE" sz="2400" dirty="0" smtClean="0"/>
              <a:t>Eigenschaft von …</a:t>
            </a:r>
          </a:p>
          <a:p>
            <a:pPr algn="ctr"/>
            <a:r>
              <a:rPr lang="de-DE" sz="2400" dirty="0" smtClean="0"/>
              <a:t>Zahlwort</a:t>
            </a:r>
          </a:p>
          <a:p>
            <a:pPr algn="ctr"/>
            <a:r>
              <a:rPr lang="de-DE" sz="2400" dirty="0" smtClean="0"/>
              <a:t>Zahl</a:t>
            </a:r>
            <a:endParaRPr lang="de-DE" sz="2400" dirty="0"/>
          </a:p>
        </p:txBody>
      </p:sp>
    </p:spTree>
    <p:extLst>
      <p:ext uri="{BB962C8B-B14F-4D97-AF65-F5344CB8AC3E}">
        <p14:creationId xmlns:p14="http://schemas.microsoft.com/office/powerpoint/2010/main" val="970719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8" grpId="0"/>
      <p:bldP spid="19"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feld 3"/>
          <p:cNvSpPr txBox="1"/>
          <p:nvPr/>
        </p:nvSpPr>
        <p:spPr>
          <a:xfrm>
            <a:off x="467544" y="1779662"/>
            <a:ext cx="8280920" cy="923330"/>
          </a:xfrm>
          <a:prstGeom prst="rect">
            <a:avLst/>
          </a:prstGeom>
          <a:noFill/>
        </p:spPr>
        <p:txBody>
          <a:bodyPr wrap="square" rtlCol="0">
            <a:spAutoFit/>
          </a:bodyPr>
          <a:lstStyle/>
          <a:p>
            <a:pPr algn="ctr"/>
            <a:r>
              <a:rPr lang="de-DE" sz="5400" dirty="0" smtClean="0"/>
              <a:t>Räumlichkeit der Zeichen</a:t>
            </a:r>
            <a:endParaRPr lang="de-DE" sz="5400" dirty="0"/>
          </a:p>
        </p:txBody>
      </p:sp>
    </p:spTree>
    <p:extLst>
      <p:ext uri="{BB962C8B-B14F-4D97-AF65-F5344CB8AC3E}">
        <p14:creationId xmlns:p14="http://schemas.microsoft.com/office/powerpoint/2010/main" val="2401162857"/>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hteck 5"/>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7" name="Textfeld 6"/>
          <p:cNvSpPr txBox="1"/>
          <p:nvPr/>
        </p:nvSpPr>
        <p:spPr>
          <a:xfrm>
            <a:off x="0" y="-29240"/>
            <a:ext cx="9144000" cy="584775"/>
          </a:xfrm>
          <a:prstGeom prst="rect">
            <a:avLst/>
          </a:prstGeom>
          <a:noFill/>
        </p:spPr>
        <p:txBody>
          <a:bodyPr wrap="square" rtlCol="0">
            <a:spAutoFit/>
          </a:bodyPr>
          <a:lstStyle/>
          <a:p>
            <a:pPr algn="ctr"/>
            <a:r>
              <a:rPr lang="en-US" sz="3200" dirty="0" err="1" smtClean="0">
                <a:solidFill>
                  <a:schemeClr val="bg1"/>
                </a:solidFill>
                <a:effectLst>
                  <a:outerShdw blurRad="38100" dist="38100" dir="2700000" algn="tl">
                    <a:srgbClr val="000000">
                      <a:alpha val="43137"/>
                    </a:srgbClr>
                  </a:outerShdw>
                </a:effectLst>
              </a:rPr>
              <a:t>Räumlichkeit</a:t>
            </a:r>
            <a:endParaRPr lang="en-CA" sz="3200" dirty="0">
              <a:solidFill>
                <a:schemeClr val="bg1"/>
              </a:solidFill>
              <a:effectLst>
                <a:outerShdw blurRad="38100" dist="38100" dir="2700000" algn="tl">
                  <a:srgbClr val="000000">
                    <a:alpha val="43137"/>
                  </a:srgbClr>
                </a:outerShdw>
              </a:effectLst>
            </a:endParaRPr>
          </a:p>
        </p:txBody>
      </p:sp>
      <p:sp>
        <p:nvSpPr>
          <p:cNvPr id="4" name="Textfeld 3"/>
          <p:cNvSpPr txBox="1"/>
          <p:nvPr/>
        </p:nvSpPr>
        <p:spPr>
          <a:xfrm>
            <a:off x="107504" y="699542"/>
            <a:ext cx="8784976" cy="3908762"/>
          </a:xfrm>
          <a:prstGeom prst="rect">
            <a:avLst/>
          </a:prstGeom>
          <a:noFill/>
        </p:spPr>
        <p:txBody>
          <a:bodyPr wrap="square" rtlCol="0">
            <a:spAutoFit/>
          </a:bodyPr>
          <a:lstStyle/>
          <a:p>
            <a:pPr algn="just"/>
            <a:r>
              <a:rPr lang="de-DE" dirty="0" smtClean="0"/>
              <a:t>„Wir </a:t>
            </a:r>
            <a:r>
              <a:rPr lang="de-DE" dirty="0"/>
              <a:t>können in der Rede und in der Niederschrift die Tatsachen und die Gedanken nur in der Form der linearen Sukzession wiedergeben, in jenem einfachen Nacheinander, in welchem immer je ein Einzelnes einem Einzelnen folgt; aber das Leben selbst und unsre Anschauung ist flächenhaft und räumlich; ein Schlag regt gleichzeitig hundert Gedanken, und sie verlangen, nebeneinander zu Gehör gebracht zu werden, und eine Tatsache hat gleichzeitig und nicht nur nacheinander die verschiedensten Folgen</a:t>
            </a:r>
            <a:r>
              <a:rPr lang="de-DE" dirty="0" smtClean="0"/>
              <a:t>.“</a:t>
            </a:r>
          </a:p>
          <a:p>
            <a:pPr algn="just"/>
            <a:endParaRPr lang="de-DE" sz="2000" dirty="0"/>
          </a:p>
          <a:p>
            <a:r>
              <a:rPr lang="de-DE" sz="1600" dirty="0" smtClean="0"/>
              <a:t>(</a:t>
            </a:r>
            <a:r>
              <a:rPr lang="de-DE" sz="1600" dirty="0"/>
              <a:t>Adolf von Harnack: Aus</a:t>
            </a:r>
            <a:r>
              <a:rPr lang="de-DE" sz="1600" i="1" dirty="0"/>
              <a:t> Wissenschaft und Leben</a:t>
            </a:r>
            <a:r>
              <a:rPr lang="de-DE" sz="1600" dirty="0"/>
              <a:t>, 155</a:t>
            </a:r>
            <a:r>
              <a:rPr lang="de-DE" sz="1600" dirty="0" smtClean="0"/>
              <a:t>)</a:t>
            </a:r>
          </a:p>
          <a:p>
            <a:endParaRPr lang="de-DE" sz="1400" dirty="0"/>
          </a:p>
          <a:p>
            <a:r>
              <a:rPr lang="de-DE" dirty="0" smtClean="0"/>
              <a:t>„Vielleicht </a:t>
            </a:r>
            <a:r>
              <a:rPr lang="de-DE" dirty="0"/>
              <a:t>wird einmal der Übermensch Bücher wie Partituren schreiben und lesen können, und so imstande sein, viele Gedanken- und Tatsachen-Folgen auf einmal und in ihrem Zusammenklang zu sehen — das wäre das Ideal</a:t>
            </a:r>
            <a:r>
              <a:rPr lang="de-DE" dirty="0" smtClean="0"/>
              <a:t>!“</a:t>
            </a:r>
          </a:p>
          <a:p>
            <a:endParaRPr lang="de-DE" dirty="0" smtClean="0"/>
          </a:p>
          <a:p>
            <a:r>
              <a:rPr lang="de-DE" dirty="0" smtClean="0"/>
              <a:t>(Adolf </a:t>
            </a:r>
            <a:r>
              <a:rPr lang="de-DE" dirty="0"/>
              <a:t>von Harnack: Aus </a:t>
            </a:r>
            <a:r>
              <a:rPr lang="de-DE" i="1" dirty="0"/>
              <a:t>Wissenschaft und Leben</a:t>
            </a:r>
            <a:r>
              <a:rPr lang="de-DE" dirty="0"/>
              <a:t>, 162</a:t>
            </a:r>
            <a:r>
              <a:rPr lang="de-DE" dirty="0" smtClean="0"/>
              <a:t>)</a:t>
            </a:r>
            <a:endParaRPr lang="de-DE" dirty="0"/>
          </a:p>
        </p:txBody>
      </p:sp>
    </p:spTree>
    <p:extLst>
      <p:ext uri="{BB962C8B-B14F-4D97-AF65-F5344CB8AC3E}">
        <p14:creationId xmlns:p14="http://schemas.microsoft.com/office/powerpoint/2010/main" val="2653280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hteck 5"/>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7" name="Textfeld 6"/>
          <p:cNvSpPr txBox="1"/>
          <p:nvPr/>
        </p:nvSpPr>
        <p:spPr>
          <a:xfrm>
            <a:off x="0" y="-29240"/>
            <a:ext cx="9144000" cy="584775"/>
          </a:xfrm>
          <a:prstGeom prst="rect">
            <a:avLst/>
          </a:prstGeom>
          <a:noFill/>
        </p:spPr>
        <p:txBody>
          <a:bodyPr wrap="square" rtlCol="0">
            <a:spAutoFit/>
          </a:bodyPr>
          <a:lstStyle/>
          <a:p>
            <a:pPr algn="ctr"/>
            <a:r>
              <a:rPr lang="en-US" sz="3200" dirty="0" err="1" smtClean="0">
                <a:solidFill>
                  <a:schemeClr val="bg1"/>
                </a:solidFill>
                <a:effectLst>
                  <a:outerShdw blurRad="38100" dist="38100" dir="2700000" algn="tl">
                    <a:srgbClr val="000000">
                      <a:alpha val="43137"/>
                    </a:srgbClr>
                  </a:outerShdw>
                </a:effectLst>
              </a:rPr>
              <a:t>Textvermessung</a:t>
            </a:r>
            <a:endParaRPr lang="en-CA" sz="3200" dirty="0">
              <a:solidFill>
                <a:schemeClr val="bg1"/>
              </a:solidFill>
              <a:effectLst>
                <a:outerShdw blurRad="38100" dist="38100" dir="2700000" algn="tl">
                  <a:srgbClr val="000000">
                    <a:alpha val="43137"/>
                  </a:srgbClr>
                </a:outerShdw>
              </a:effectLst>
            </a:endParaRPr>
          </a:p>
        </p:txBody>
      </p:sp>
      <p:pic>
        <p:nvPicPr>
          <p:cNvPr id="4098" name="Picture 2" descr="https://cdn.discordapp.com/attachments/1038196266313723905/1285002970500698132/image.png?ex=6836e406&amp;is=68359286&amp;hm=6598c72ba3fcfd7e8fee8fef992ec288b0be1b36149cc6e014c9c86ef2b81f10&am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608" y="699542"/>
            <a:ext cx="7200900" cy="2486026"/>
          </a:xfrm>
          <a:prstGeom prst="rect">
            <a:avLst/>
          </a:prstGeom>
          <a:noFill/>
          <a:extLst>
            <a:ext uri="{909E8E84-426E-40DD-AFC4-6F175D3DCCD1}">
              <a14:hiddenFill xmlns:a14="http://schemas.microsoft.com/office/drawing/2010/main">
                <a:solidFill>
                  <a:srgbClr val="FFFFFF"/>
                </a:solidFill>
              </a14:hiddenFill>
            </a:ext>
          </a:extLst>
        </p:spPr>
      </p:pic>
      <p:sp>
        <p:nvSpPr>
          <p:cNvPr id="2" name="Textfeld 1"/>
          <p:cNvSpPr txBox="1"/>
          <p:nvPr/>
        </p:nvSpPr>
        <p:spPr>
          <a:xfrm>
            <a:off x="467544" y="3363838"/>
            <a:ext cx="8208912" cy="1077218"/>
          </a:xfrm>
          <a:prstGeom prst="rect">
            <a:avLst/>
          </a:prstGeom>
          <a:noFill/>
        </p:spPr>
        <p:txBody>
          <a:bodyPr wrap="square" rtlCol="0">
            <a:spAutoFit/>
          </a:bodyPr>
          <a:lstStyle/>
          <a:p>
            <a:pPr marL="285750" indent="-285750">
              <a:buFont typeface="Arial" panose="020B0604020202020204" pitchFamily="34" charset="0"/>
              <a:buChar char="•"/>
            </a:pPr>
            <a:r>
              <a:rPr lang="de-DE" sz="1600" b="1" dirty="0" smtClean="0"/>
              <a:t>Absatz</a:t>
            </a:r>
            <a:r>
              <a:rPr lang="de-DE" sz="1600" dirty="0" smtClean="0"/>
              <a:t> (also „Leerraum“) signalisiert abgeschlossenen Gedanken </a:t>
            </a:r>
            <a:r>
              <a:rPr lang="de-DE" sz="1600" dirty="0" smtClean="0">
                <a:sym typeface="Wingdings" panose="05000000000000000000" pitchFamily="2" charset="2"/>
              </a:rPr>
              <a:t></a:t>
            </a:r>
            <a:r>
              <a:rPr lang="de-DE" sz="1100" dirty="0" smtClean="0">
                <a:sym typeface="Wingdings" panose="05000000000000000000" pitchFamily="2" charset="2"/>
              </a:rPr>
              <a:t> </a:t>
            </a:r>
            <a:r>
              <a:rPr lang="de-DE" sz="1100" dirty="0">
                <a:sym typeface="Wingdings" panose="05000000000000000000" pitchFamily="2" charset="2"/>
              </a:rPr>
              <a:t>„Leerstellen-Produktivität“ (Krämer)</a:t>
            </a:r>
            <a:endParaRPr lang="de-DE" sz="1100" dirty="0"/>
          </a:p>
          <a:p>
            <a:endParaRPr lang="de-DE" sz="1600" dirty="0" smtClean="0"/>
          </a:p>
          <a:p>
            <a:pPr marL="285750" indent="-285750">
              <a:buFont typeface="Arial" panose="020B0604020202020204" pitchFamily="34" charset="0"/>
              <a:buChar char="•"/>
            </a:pPr>
            <a:r>
              <a:rPr lang="de-DE" sz="1600" b="1" dirty="0" smtClean="0"/>
              <a:t>Fußnote</a:t>
            </a:r>
            <a:r>
              <a:rPr lang="de-DE" sz="1600" dirty="0" smtClean="0"/>
              <a:t> erlaubt „narrative Vielstimmigkeit“: Der Autor spricht nicht mehr „durch“ den Text, sondern kommentiert „von oben“. </a:t>
            </a:r>
            <a:endParaRPr lang="de-DE" sz="1600" dirty="0"/>
          </a:p>
        </p:txBody>
      </p:sp>
    </p:spTree>
    <p:extLst>
      <p:ext uri="{BB962C8B-B14F-4D97-AF65-F5344CB8AC3E}">
        <p14:creationId xmlns:p14="http://schemas.microsoft.com/office/powerpoint/2010/main" val="2642297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hteck 5"/>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7" name="Textfeld 6"/>
          <p:cNvSpPr txBox="1"/>
          <p:nvPr/>
        </p:nvSpPr>
        <p:spPr>
          <a:xfrm>
            <a:off x="0" y="-29240"/>
            <a:ext cx="9144000" cy="584775"/>
          </a:xfrm>
          <a:prstGeom prst="rect">
            <a:avLst/>
          </a:prstGeom>
          <a:noFill/>
        </p:spPr>
        <p:txBody>
          <a:bodyPr wrap="square" rtlCol="0">
            <a:spAutoFit/>
          </a:bodyPr>
          <a:lstStyle/>
          <a:p>
            <a:pPr algn="ctr"/>
            <a:r>
              <a:rPr lang="en-US" sz="3200" dirty="0" err="1" smtClean="0">
                <a:solidFill>
                  <a:schemeClr val="bg1"/>
                </a:solidFill>
                <a:effectLst>
                  <a:outerShdw blurRad="38100" dist="38100" dir="2700000" algn="tl">
                    <a:srgbClr val="000000">
                      <a:alpha val="43137"/>
                    </a:srgbClr>
                  </a:outerShdw>
                </a:effectLst>
              </a:rPr>
              <a:t>Verflachung</a:t>
            </a:r>
            <a:r>
              <a:rPr lang="en-US" sz="3200" dirty="0" smtClean="0">
                <a:solidFill>
                  <a:schemeClr val="bg1"/>
                </a:solidFill>
                <a:effectLst>
                  <a:outerShdw blurRad="38100" dist="38100" dir="2700000" algn="tl">
                    <a:srgbClr val="000000">
                      <a:alpha val="43137"/>
                    </a:srgbClr>
                  </a:outerShdw>
                </a:effectLst>
              </a:rPr>
              <a:t> </a:t>
            </a:r>
            <a:r>
              <a:rPr lang="en-US" sz="3200" dirty="0" err="1" smtClean="0">
                <a:solidFill>
                  <a:schemeClr val="bg1"/>
                </a:solidFill>
                <a:effectLst>
                  <a:outerShdw blurRad="38100" dist="38100" dir="2700000" algn="tl">
                    <a:srgbClr val="000000">
                      <a:alpha val="43137"/>
                    </a:srgbClr>
                  </a:outerShdw>
                </a:effectLst>
              </a:rPr>
              <a:t>als</a:t>
            </a:r>
            <a:r>
              <a:rPr lang="en-US" sz="3200" dirty="0" smtClean="0">
                <a:solidFill>
                  <a:schemeClr val="bg1"/>
                </a:solidFill>
                <a:effectLst>
                  <a:outerShdw blurRad="38100" dist="38100" dir="2700000" algn="tl">
                    <a:srgbClr val="000000">
                      <a:alpha val="43137"/>
                    </a:srgbClr>
                  </a:outerShdw>
                </a:effectLst>
              </a:rPr>
              <a:t> </a:t>
            </a:r>
            <a:r>
              <a:rPr lang="en-US" sz="3200" dirty="0" err="1" smtClean="0">
                <a:solidFill>
                  <a:schemeClr val="bg1"/>
                </a:solidFill>
                <a:effectLst>
                  <a:outerShdw blurRad="38100" dist="38100" dir="2700000" algn="tl">
                    <a:srgbClr val="000000">
                      <a:alpha val="43137"/>
                    </a:srgbClr>
                  </a:outerShdw>
                </a:effectLst>
              </a:rPr>
              <a:t>Kulturtechnik</a:t>
            </a:r>
            <a:endParaRPr lang="en-CA" sz="3200" dirty="0">
              <a:solidFill>
                <a:schemeClr val="bg1"/>
              </a:solidFill>
              <a:effectLst>
                <a:outerShdw blurRad="38100" dist="38100" dir="2700000" algn="tl">
                  <a:srgbClr val="000000">
                    <a:alpha val="43137"/>
                  </a:srgbClr>
                </a:outerShdw>
              </a:effectLst>
            </a:endParaRPr>
          </a:p>
        </p:txBody>
      </p:sp>
      <p:sp>
        <p:nvSpPr>
          <p:cNvPr id="3" name="Textfeld 2"/>
          <p:cNvSpPr txBox="1"/>
          <p:nvPr/>
        </p:nvSpPr>
        <p:spPr>
          <a:xfrm>
            <a:off x="179512" y="699542"/>
            <a:ext cx="8856984" cy="1569660"/>
          </a:xfrm>
          <a:prstGeom prst="rect">
            <a:avLst/>
          </a:prstGeom>
          <a:noFill/>
        </p:spPr>
        <p:txBody>
          <a:bodyPr wrap="square" rtlCol="0">
            <a:spAutoFit/>
          </a:bodyPr>
          <a:lstStyle/>
          <a:p>
            <a:r>
              <a:rPr lang="de-DE" sz="1600" dirty="0"/>
              <a:t>Das „Darunter“ – also die Tiefendimension der Realität – wird </a:t>
            </a:r>
            <a:r>
              <a:rPr lang="de-DE" sz="1600" b="1" dirty="0"/>
              <a:t>abgeschafft</a:t>
            </a:r>
            <a:r>
              <a:rPr lang="de-DE" sz="1600" dirty="0"/>
              <a:t>, um </a:t>
            </a:r>
            <a:r>
              <a:rPr lang="de-DE" sz="1600" b="1" dirty="0"/>
              <a:t>vollständige Sichtbarkeit</a:t>
            </a:r>
            <a:r>
              <a:rPr lang="de-DE" sz="1600" dirty="0"/>
              <a:t> und </a:t>
            </a:r>
            <a:r>
              <a:rPr lang="de-DE" sz="1600" b="1" dirty="0"/>
              <a:t>Kontrollierbarkeit</a:t>
            </a:r>
            <a:r>
              <a:rPr lang="de-DE" sz="1600" dirty="0"/>
              <a:t> zu erzeugen. Diese </a:t>
            </a:r>
            <a:r>
              <a:rPr lang="de-DE" sz="1600" b="1" dirty="0"/>
              <a:t>annullierte Tiefe</a:t>
            </a:r>
            <a:r>
              <a:rPr lang="de-DE" sz="1600" dirty="0"/>
              <a:t> kann als </a:t>
            </a:r>
            <a:r>
              <a:rPr lang="de-DE" sz="1600" b="1" dirty="0"/>
              <a:t>konstruierte Leerstelle</a:t>
            </a:r>
            <a:r>
              <a:rPr lang="de-DE" sz="1600" dirty="0"/>
              <a:t> verstanden werden, die epistemisch produktiv ist: Sie ermöglicht Überblick, Strukturierung und Manipulation</a:t>
            </a:r>
            <a:r>
              <a:rPr lang="de-DE" sz="1600" dirty="0" smtClean="0"/>
              <a:t>.</a:t>
            </a:r>
          </a:p>
          <a:p>
            <a:endParaRPr lang="de-DE" sz="1600" dirty="0"/>
          </a:p>
          <a:p>
            <a:r>
              <a:rPr lang="de-DE" sz="1600" dirty="0" smtClean="0">
                <a:sym typeface="Wingdings" panose="05000000000000000000" pitchFamily="2" charset="2"/>
              </a:rPr>
              <a:t> Geographische Karten, Zahlenstrahl, Tabellen, Diagramme aller Art (Entscheidungsbaum bis Flussdiagramm)</a:t>
            </a:r>
            <a:endParaRPr lang="de-DE" sz="1600" dirty="0"/>
          </a:p>
        </p:txBody>
      </p:sp>
      <p:pic>
        <p:nvPicPr>
          <p:cNvPr id="5122" name="Picture 2" descr="Weltkarte XXL Poster Riesen Landkarte Posterformat 140x100cm mit Flaggen  Fahnen 4250410326788 | eBa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7994" y="2355726"/>
            <a:ext cx="3587942" cy="2592288"/>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Was ist ein Entscheidungsbaum? - Wissen kompakt - t2informatik"/>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355976" y="2355725"/>
            <a:ext cx="3888432" cy="25922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2671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2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hteck 5"/>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7" name="Textfeld 6"/>
          <p:cNvSpPr txBox="1"/>
          <p:nvPr/>
        </p:nvSpPr>
        <p:spPr>
          <a:xfrm>
            <a:off x="0" y="-29240"/>
            <a:ext cx="9144000" cy="584775"/>
          </a:xfrm>
          <a:prstGeom prst="rect">
            <a:avLst/>
          </a:prstGeom>
          <a:noFill/>
        </p:spPr>
        <p:txBody>
          <a:bodyPr wrap="square" rtlCol="0">
            <a:spAutoFit/>
          </a:bodyPr>
          <a:lstStyle/>
          <a:p>
            <a:pPr algn="ctr"/>
            <a:r>
              <a:rPr lang="en-US" sz="3200" dirty="0" smtClean="0">
                <a:solidFill>
                  <a:schemeClr val="bg1"/>
                </a:solidFill>
                <a:effectLst>
                  <a:outerShdw blurRad="38100" dist="38100" dir="2700000" algn="tl">
                    <a:srgbClr val="000000">
                      <a:alpha val="43137"/>
                    </a:srgbClr>
                  </a:outerShdw>
                </a:effectLst>
              </a:rPr>
              <a:t>“</a:t>
            </a:r>
            <a:r>
              <a:rPr lang="en-US" sz="3200" dirty="0" err="1" smtClean="0">
                <a:solidFill>
                  <a:schemeClr val="bg1"/>
                </a:solidFill>
                <a:effectLst>
                  <a:outerShdw blurRad="38100" dist="38100" dir="2700000" algn="tl">
                    <a:srgbClr val="000000">
                      <a:alpha val="43137"/>
                    </a:srgbClr>
                  </a:outerShdw>
                </a:effectLst>
              </a:rPr>
              <a:t>Logik</a:t>
            </a:r>
            <a:r>
              <a:rPr lang="en-US" sz="3200" dirty="0" smtClean="0">
                <a:solidFill>
                  <a:schemeClr val="bg1"/>
                </a:solidFill>
                <a:effectLst>
                  <a:outerShdw blurRad="38100" dist="38100" dir="2700000" algn="tl">
                    <a:srgbClr val="000000">
                      <a:alpha val="43137"/>
                    </a:srgbClr>
                  </a:outerShdw>
                </a:effectLst>
              </a:rPr>
              <a:t> per </a:t>
            </a:r>
            <a:r>
              <a:rPr lang="en-US" sz="3200" dirty="0" err="1" smtClean="0">
                <a:solidFill>
                  <a:schemeClr val="bg1"/>
                </a:solidFill>
                <a:effectLst>
                  <a:outerShdw blurRad="38100" dist="38100" dir="2700000" algn="tl">
                    <a:srgbClr val="000000">
                      <a:alpha val="43137"/>
                    </a:srgbClr>
                  </a:outerShdw>
                </a:effectLst>
              </a:rPr>
              <a:t>Zeichenphysik</a:t>
            </a:r>
            <a:r>
              <a:rPr lang="en-US" sz="3200" dirty="0" smtClean="0">
                <a:solidFill>
                  <a:schemeClr val="bg1"/>
                </a:solidFill>
                <a:effectLst>
                  <a:outerShdw blurRad="38100" dist="38100" dir="2700000" algn="tl">
                    <a:srgbClr val="000000">
                      <a:alpha val="43137"/>
                    </a:srgbClr>
                  </a:outerShdw>
                </a:effectLst>
              </a:rPr>
              <a:t>”</a:t>
            </a:r>
            <a:endParaRPr lang="en-CA" sz="3200" dirty="0">
              <a:solidFill>
                <a:schemeClr val="bg1"/>
              </a:solidFill>
              <a:effectLst>
                <a:outerShdw blurRad="38100" dist="38100" dir="2700000" algn="tl">
                  <a:srgbClr val="000000">
                    <a:alpha val="43137"/>
                  </a:srgbClr>
                </a:outerShdw>
              </a:effectLst>
            </a:endParaRPr>
          </a:p>
        </p:txBody>
      </p:sp>
      <p:sp>
        <p:nvSpPr>
          <p:cNvPr id="10" name="AutoShape 8" descr="Peirce’s cubes (R S-1)"/>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a:p>
        </p:txBody>
      </p:sp>
      <p:sp>
        <p:nvSpPr>
          <p:cNvPr id="12" name="AutoShape 2" descr="https://www.researchgate.net/profile/Ahti-Pietarinen/publication/315949046/figure/fig2/AS:941836751343623@1601562788835/Peirces-cubes-R-S-1.gif"/>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a:p>
        </p:txBody>
      </p:sp>
      <p:pic>
        <p:nvPicPr>
          <p:cNvPr id="8" name="Grafik 7"/>
          <p:cNvPicPr/>
          <p:nvPr/>
        </p:nvPicPr>
        <p:blipFill rotWithShape="1">
          <a:blip r:embed="rId3"/>
          <a:srcRect t="2830"/>
          <a:stretch/>
        </p:blipFill>
        <p:spPr>
          <a:xfrm>
            <a:off x="323528" y="2571750"/>
            <a:ext cx="3938449" cy="2092604"/>
          </a:xfrm>
          <a:prstGeom prst="rect">
            <a:avLst/>
          </a:prstGeom>
        </p:spPr>
      </p:pic>
      <p:sp>
        <p:nvSpPr>
          <p:cNvPr id="3" name="Textfeld 2"/>
          <p:cNvSpPr txBox="1"/>
          <p:nvPr/>
        </p:nvSpPr>
        <p:spPr>
          <a:xfrm>
            <a:off x="107504" y="699542"/>
            <a:ext cx="4752528" cy="1815882"/>
          </a:xfrm>
          <a:prstGeom prst="rect">
            <a:avLst/>
          </a:prstGeom>
          <a:noFill/>
        </p:spPr>
        <p:txBody>
          <a:bodyPr wrap="square" rtlCol="0">
            <a:spAutoFit/>
          </a:bodyPr>
          <a:lstStyle/>
          <a:p>
            <a:r>
              <a:rPr lang="de-DE" sz="1600" dirty="0"/>
              <a:t>Möchte man die Konklusion zu den </a:t>
            </a:r>
            <a:r>
              <a:rPr lang="de-DE" sz="1600" dirty="0" smtClean="0"/>
              <a:t>Prämissen</a:t>
            </a:r>
          </a:p>
          <a:p>
            <a:r>
              <a:rPr lang="de-DE" sz="1600" dirty="0" smtClean="0"/>
              <a:t> </a:t>
            </a:r>
          </a:p>
          <a:p>
            <a:pPr marL="400050" indent="-400050">
              <a:buAutoNum type="romanLcParenBoth"/>
            </a:pPr>
            <a:r>
              <a:rPr lang="de-DE" sz="1600" dirty="0" smtClean="0"/>
              <a:t>„</a:t>
            </a:r>
            <a:r>
              <a:rPr lang="de-DE" sz="1600" dirty="0"/>
              <a:t>Alle A sind B“, </a:t>
            </a:r>
          </a:p>
          <a:p>
            <a:pPr marL="400050" indent="-400050">
              <a:buAutoNum type="romanLcParenBoth"/>
            </a:pPr>
            <a:r>
              <a:rPr lang="de-DE" sz="1600" dirty="0" smtClean="0"/>
              <a:t> </a:t>
            </a:r>
            <a:r>
              <a:rPr lang="de-DE" sz="1600" dirty="0"/>
              <a:t>„Kein B ist C“ </a:t>
            </a:r>
            <a:endParaRPr lang="de-DE" sz="1600" dirty="0" smtClean="0"/>
          </a:p>
          <a:p>
            <a:pPr marL="400050" indent="-400050">
              <a:buAutoNum type="romanLcParenBoth"/>
            </a:pPr>
            <a:endParaRPr lang="de-DE" sz="1600" dirty="0" smtClean="0"/>
          </a:p>
          <a:p>
            <a:r>
              <a:rPr lang="de-DE" sz="1600" dirty="0" smtClean="0"/>
              <a:t>bestimmen, </a:t>
            </a:r>
            <a:r>
              <a:rPr lang="de-DE" sz="1600" dirty="0"/>
              <a:t>lassen sich (i) und (ii) durch Euler-Diagramme </a:t>
            </a:r>
            <a:r>
              <a:rPr lang="de-DE" sz="1600" dirty="0" smtClean="0"/>
              <a:t>etwa </a:t>
            </a:r>
            <a:r>
              <a:rPr lang="de-DE" sz="1600" dirty="0"/>
              <a:t>wie folgt darstellen</a:t>
            </a:r>
            <a:r>
              <a:rPr lang="de-DE" sz="1600" dirty="0" smtClean="0"/>
              <a:t>:</a:t>
            </a:r>
            <a:endParaRPr lang="de-DE" sz="1600" dirty="0"/>
          </a:p>
        </p:txBody>
      </p:sp>
      <p:sp>
        <p:nvSpPr>
          <p:cNvPr id="4" name="Textfeld 3"/>
          <p:cNvSpPr txBox="1"/>
          <p:nvPr/>
        </p:nvSpPr>
        <p:spPr>
          <a:xfrm>
            <a:off x="4427984" y="699542"/>
            <a:ext cx="4536504" cy="4031873"/>
          </a:xfrm>
          <a:prstGeom prst="rect">
            <a:avLst/>
          </a:prstGeom>
          <a:noFill/>
        </p:spPr>
        <p:txBody>
          <a:bodyPr wrap="square" rtlCol="0">
            <a:spAutoFit/>
          </a:bodyPr>
          <a:lstStyle/>
          <a:p>
            <a:pPr algn="just"/>
            <a:r>
              <a:rPr lang="de-DE" sz="1600" dirty="0"/>
              <a:t>Die räumliche Trennung von B und C stellt Prämisse (ii) dar, während das Inklusionsverhältnis aus (i) durch das linke Gebilde dargestellt wird. Neben diesen Prämissen enthält das Diagramm aber eine bemerkenswerte weitere Information: </a:t>
            </a:r>
            <a:endParaRPr lang="de-DE" sz="1600" dirty="0" smtClean="0"/>
          </a:p>
          <a:p>
            <a:pPr algn="just"/>
            <a:endParaRPr lang="de-DE" sz="1600" dirty="0" smtClean="0"/>
          </a:p>
          <a:p>
            <a:pPr algn="ctr"/>
            <a:r>
              <a:rPr lang="de-DE" sz="1600" dirty="0" smtClean="0"/>
              <a:t>„</a:t>
            </a:r>
            <a:r>
              <a:rPr lang="de-DE" sz="1600" dirty="0"/>
              <a:t>Kein A ist C</a:t>
            </a:r>
            <a:r>
              <a:rPr lang="de-DE" sz="1600" dirty="0" smtClean="0"/>
              <a:t>“</a:t>
            </a:r>
          </a:p>
          <a:p>
            <a:pPr algn="just"/>
            <a:endParaRPr lang="de-DE" sz="1600" dirty="0"/>
          </a:p>
          <a:p>
            <a:pPr algn="just"/>
            <a:r>
              <a:rPr lang="de-DE" sz="1600" dirty="0" smtClean="0"/>
              <a:t>Und </a:t>
            </a:r>
            <a:r>
              <a:rPr lang="de-DE" sz="1600" dirty="0"/>
              <a:t>gerade dies ist die Konklusion der beiden Prämissen. </a:t>
            </a:r>
            <a:endParaRPr lang="de-DE" sz="1600" dirty="0" smtClean="0"/>
          </a:p>
          <a:p>
            <a:pPr algn="just"/>
            <a:endParaRPr lang="de-DE" sz="1600" b="1" dirty="0" smtClean="0"/>
          </a:p>
          <a:p>
            <a:pPr algn="just"/>
            <a:r>
              <a:rPr lang="de-DE" sz="1600" b="1" dirty="0" smtClean="0"/>
              <a:t>Es </a:t>
            </a:r>
            <a:r>
              <a:rPr lang="de-DE" sz="1600" b="1" dirty="0"/>
              <a:t>ist die konkrete Zeichnung – nicht die Anwendung bestimmter Inferenzregeln – und die dabei verwirklichten räumlichen Verhältnisse, welche die Konklusion hier durchführen und anzeigen.  </a:t>
            </a:r>
            <a:r>
              <a:rPr lang="de-DE" sz="1600" b="1" dirty="0" smtClean="0">
                <a:sym typeface="Wingdings" panose="05000000000000000000" pitchFamily="2" charset="2"/>
              </a:rPr>
              <a:t> „Free Rides“</a:t>
            </a:r>
            <a:endParaRPr lang="de-DE" sz="1600" b="1" dirty="0"/>
          </a:p>
        </p:txBody>
      </p:sp>
    </p:spTree>
    <p:extLst>
      <p:ext uri="{BB962C8B-B14F-4D97-AF65-F5344CB8AC3E}">
        <p14:creationId xmlns:p14="http://schemas.microsoft.com/office/powerpoint/2010/main" val="1400120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hteck 5"/>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7" name="Textfeld 6"/>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Räumliches</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Aspektsehen</a:t>
            </a:r>
            <a:endParaRPr lang="en-CA" sz="3200" dirty="0">
              <a:solidFill>
                <a:schemeClr val="bg1"/>
              </a:solidFill>
              <a:effectLst>
                <a:outerShdw blurRad="38100" dist="38100" dir="2700000" algn="tl">
                  <a:srgbClr val="000000">
                    <a:alpha val="43137"/>
                  </a:srgbClr>
                </a:outerShdw>
              </a:effectLst>
            </a:endParaRPr>
          </a:p>
        </p:txBody>
      </p:sp>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61606"/>
          <a:stretch/>
        </p:blipFill>
        <p:spPr bwMode="auto">
          <a:xfrm>
            <a:off x="1979712" y="2139702"/>
            <a:ext cx="5182938" cy="3618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10065" y="3082195"/>
            <a:ext cx="5026231" cy="4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55807"/>
          <a:stretch/>
        </p:blipFill>
        <p:spPr bwMode="auto">
          <a:xfrm>
            <a:off x="1979712" y="2596810"/>
            <a:ext cx="5182938" cy="4165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Geschweifte Klammer rechts 2"/>
          <p:cNvSpPr/>
          <p:nvPr/>
        </p:nvSpPr>
        <p:spPr>
          <a:xfrm rot="5400000">
            <a:off x="4548199" y="1372856"/>
            <a:ext cx="416025" cy="4945004"/>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5" name="Textfeld 4"/>
          <p:cNvSpPr txBox="1"/>
          <p:nvPr/>
        </p:nvSpPr>
        <p:spPr>
          <a:xfrm>
            <a:off x="4405242" y="4031642"/>
            <a:ext cx="1497293" cy="346733"/>
          </a:xfrm>
          <a:prstGeom prst="rect">
            <a:avLst/>
          </a:prstGeom>
          <a:noFill/>
        </p:spPr>
        <p:txBody>
          <a:bodyPr wrap="square" rtlCol="0">
            <a:spAutoFit/>
          </a:bodyPr>
          <a:lstStyle/>
          <a:p>
            <a:r>
              <a:rPr lang="de-DE" sz="2000" dirty="0" smtClean="0"/>
              <a:t>n-mal</a:t>
            </a:r>
            <a:endParaRPr lang="de-DE" sz="2000" dirty="0"/>
          </a:p>
        </p:txBody>
      </p:sp>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25241" y="4480946"/>
            <a:ext cx="4491880" cy="3950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5"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7544" y="1192417"/>
            <a:ext cx="8208912" cy="3697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34" name="Gerade Verbindung 33"/>
          <p:cNvCxnSpPr/>
          <p:nvPr/>
        </p:nvCxnSpPr>
        <p:spPr>
          <a:xfrm>
            <a:off x="467544" y="1492497"/>
            <a:ext cx="2160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4" name="Gerade Verbindung 53"/>
          <p:cNvCxnSpPr/>
          <p:nvPr/>
        </p:nvCxnSpPr>
        <p:spPr>
          <a:xfrm>
            <a:off x="8430444" y="1517897"/>
            <a:ext cx="2160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1" name="Gerade Verbindung 40"/>
          <p:cNvCxnSpPr/>
          <p:nvPr/>
        </p:nvCxnSpPr>
        <p:spPr>
          <a:xfrm>
            <a:off x="906736" y="1504403"/>
            <a:ext cx="263028" cy="2530"/>
          </a:xfrm>
          <a:prstGeom prst="line">
            <a:avLst/>
          </a:prstGeom>
          <a:ln w="1905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58" name="Gerade Verbindung 57"/>
          <p:cNvCxnSpPr/>
          <p:nvPr/>
        </p:nvCxnSpPr>
        <p:spPr>
          <a:xfrm>
            <a:off x="7262059" y="1560657"/>
            <a:ext cx="838333" cy="0"/>
          </a:xfrm>
          <a:prstGeom prst="line">
            <a:avLst/>
          </a:prstGeom>
          <a:ln w="1905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53" name="Gerade Verbindung 52"/>
          <p:cNvCxnSpPr/>
          <p:nvPr/>
        </p:nvCxnSpPr>
        <p:spPr>
          <a:xfrm>
            <a:off x="1427458" y="1505992"/>
            <a:ext cx="216024"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2" name="Gerade Verbindung 61"/>
          <p:cNvCxnSpPr/>
          <p:nvPr/>
        </p:nvCxnSpPr>
        <p:spPr>
          <a:xfrm>
            <a:off x="6065116" y="1562198"/>
            <a:ext cx="796381"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4" name="Gerade Verbindung 63"/>
          <p:cNvCxnSpPr/>
          <p:nvPr/>
        </p:nvCxnSpPr>
        <p:spPr>
          <a:xfrm>
            <a:off x="1936028" y="1505046"/>
            <a:ext cx="187700" cy="0"/>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66" name="Gerade Verbindung 65"/>
          <p:cNvCxnSpPr/>
          <p:nvPr/>
        </p:nvCxnSpPr>
        <p:spPr>
          <a:xfrm>
            <a:off x="4860032" y="1562198"/>
            <a:ext cx="792088" cy="0"/>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60" name="Gerade Verbindung 59"/>
          <p:cNvCxnSpPr/>
          <p:nvPr/>
        </p:nvCxnSpPr>
        <p:spPr>
          <a:xfrm flipV="1">
            <a:off x="2377852" y="1516458"/>
            <a:ext cx="227806" cy="1439"/>
          </a:xfrm>
          <a:prstGeom prst="line">
            <a:avLst/>
          </a:prstGeom>
          <a:ln w="190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71" name="Gerade Verbindung 70"/>
          <p:cNvCxnSpPr/>
          <p:nvPr/>
        </p:nvCxnSpPr>
        <p:spPr>
          <a:xfrm flipV="1">
            <a:off x="3635896" y="1563637"/>
            <a:ext cx="792088" cy="1"/>
          </a:xfrm>
          <a:prstGeom prst="line">
            <a:avLst/>
          </a:prstGeom>
          <a:ln w="19050">
            <a:solidFill>
              <a:srgbClr val="7030A0"/>
            </a:solidFill>
          </a:ln>
        </p:spPr>
        <p:style>
          <a:lnRef idx="1">
            <a:schemeClr val="accent1"/>
          </a:lnRef>
          <a:fillRef idx="0">
            <a:schemeClr val="accent1"/>
          </a:fillRef>
          <a:effectRef idx="0">
            <a:schemeClr val="accent1"/>
          </a:effectRef>
          <a:fontRef idx="minor">
            <a:schemeClr val="tx1"/>
          </a:fontRef>
        </p:style>
      </p:cxnSp>
      <p:sp>
        <p:nvSpPr>
          <p:cNvPr id="65" name="Textfeld 64"/>
          <p:cNvSpPr txBox="1"/>
          <p:nvPr/>
        </p:nvSpPr>
        <p:spPr>
          <a:xfrm>
            <a:off x="179512" y="627534"/>
            <a:ext cx="1152128" cy="461665"/>
          </a:xfrm>
          <a:prstGeom prst="rect">
            <a:avLst/>
          </a:prstGeom>
          <a:noFill/>
        </p:spPr>
        <p:txBody>
          <a:bodyPr wrap="square" rtlCol="0">
            <a:spAutoFit/>
          </a:bodyPr>
          <a:lstStyle/>
          <a:p>
            <a:r>
              <a:rPr lang="de-DE" sz="2400" b="1" dirty="0" smtClean="0"/>
              <a:t>(1)</a:t>
            </a:r>
            <a:endParaRPr lang="de-DE" sz="2400" b="1" dirty="0"/>
          </a:p>
        </p:txBody>
      </p:sp>
      <p:sp>
        <p:nvSpPr>
          <p:cNvPr id="74" name="Textfeld 73"/>
          <p:cNvSpPr txBox="1"/>
          <p:nvPr/>
        </p:nvSpPr>
        <p:spPr>
          <a:xfrm>
            <a:off x="198562" y="1681386"/>
            <a:ext cx="1152128" cy="461665"/>
          </a:xfrm>
          <a:prstGeom prst="rect">
            <a:avLst/>
          </a:prstGeom>
          <a:noFill/>
        </p:spPr>
        <p:txBody>
          <a:bodyPr wrap="square" rtlCol="0">
            <a:spAutoFit/>
          </a:bodyPr>
          <a:lstStyle/>
          <a:p>
            <a:r>
              <a:rPr lang="de-DE" sz="2400" b="1" dirty="0" smtClean="0"/>
              <a:t>(2)</a:t>
            </a:r>
            <a:endParaRPr lang="de-DE" sz="2400" b="1" dirty="0"/>
          </a:p>
        </p:txBody>
      </p:sp>
    </p:spTree>
    <p:extLst>
      <p:ext uri="{BB962C8B-B14F-4D97-AF65-F5344CB8AC3E}">
        <p14:creationId xmlns:p14="http://schemas.microsoft.com/office/powerpoint/2010/main" val="2421843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0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p:bldP spid="74"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hteck 5"/>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7" name="Textfeld 6"/>
          <p:cNvSpPr txBox="1"/>
          <p:nvPr/>
        </p:nvSpPr>
        <p:spPr>
          <a:xfrm>
            <a:off x="0" y="-29240"/>
            <a:ext cx="9144000" cy="584775"/>
          </a:xfrm>
          <a:prstGeom prst="rect">
            <a:avLst/>
          </a:prstGeom>
          <a:noFill/>
        </p:spPr>
        <p:txBody>
          <a:bodyPr wrap="square" rtlCol="0">
            <a:spAutoFit/>
          </a:bodyPr>
          <a:lstStyle/>
          <a:p>
            <a:pPr algn="ctr"/>
            <a:r>
              <a:rPr lang="en-US" sz="3200" dirty="0" smtClean="0">
                <a:solidFill>
                  <a:schemeClr val="bg1"/>
                </a:solidFill>
                <a:effectLst>
                  <a:outerShdw blurRad="38100" dist="38100" dir="2700000" algn="tl">
                    <a:srgbClr val="000000">
                      <a:alpha val="43137"/>
                    </a:srgbClr>
                  </a:outerShdw>
                </a:effectLst>
              </a:rPr>
              <a:t>Existential Graphs</a:t>
            </a:r>
            <a:endParaRPr lang="en-CA" sz="3200" dirty="0">
              <a:solidFill>
                <a:schemeClr val="bg1"/>
              </a:solidFill>
              <a:effectLst>
                <a:outerShdw blurRad="38100" dist="38100" dir="2700000" algn="tl">
                  <a:srgbClr val="000000">
                    <a:alpha val="43137"/>
                  </a:srgbClr>
                </a:outerShdw>
              </a:effectLst>
            </a:endParaRP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915566"/>
            <a:ext cx="7776864" cy="2932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98840729"/>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hteck 5"/>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7" name="Textfeld 6"/>
          <p:cNvSpPr txBox="1"/>
          <p:nvPr/>
        </p:nvSpPr>
        <p:spPr>
          <a:xfrm>
            <a:off x="0" y="-29240"/>
            <a:ext cx="9144000" cy="584775"/>
          </a:xfrm>
          <a:prstGeom prst="rect">
            <a:avLst/>
          </a:prstGeom>
          <a:noFill/>
        </p:spPr>
        <p:txBody>
          <a:bodyPr wrap="square" rtlCol="0">
            <a:spAutoFit/>
          </a:bodyPr>
          <a:lstStyle/>
          <a:p>
            <a:pPr algn="ctr"/>
            <a:r>
              <a:rPr lang="en-US" sz="3200" dirty="0" smtClean="0">
                <a:solidFill>
                  <a:schemeClr val="bg1"/>
                </a:solidFill>
                <a:effectLst>
                  <a:outerShdw blurRad="38100" dist="38100" dir="2700000" algn="tl">
                    <a:srgbClr val="000000">
                      <a:alpha val="43137"/>
                    </a:srgbClr>
                  </a:outerShdw>
                </a:effectLst>
              </a:rPr>
              <a:t>Existential Graphs</a:t>
            </a:r>
            <a:endParaRPr lang="en-CA" sz="3200" dirty="0">
              <a:solidFill>
                <a:schemeClr val="bg1"/>
              </a:solidFill>
              <a:effectLst>
                <a:outerShdw blurRad="38100" dist="38100" dir="2700000" algn="tl">
                  <a:srgbClr val="000000">
                    <a:alpha val="43137"/>
                  </a:srgbClr>
                </a:outerShdw>
              </a:effectLst>
            </a:endParaRPr>
          </a:p>
        </p:txBody>
      </p:sp>
      <p:pic>
        <p:nvPicPr>
          <p:cNvPr id="6146" name="Picture 2" descr="https://m.media-amazon.com/images/I/51pLeMHVNKL._SL1360_.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3987" y="843558"/>
            <a:ext cx="2479821" cy="3939902"/>
          </a:xfrm>
          <a:prstGeom prst="rect">
            <a:avLst/>
          </a:prstGeom>
          <a:noFill/>
          <a:extLst>
            <a:ext uri="{909E8E84-426E-40DD-AFC4-6F175D3DCCD1}">
              <a14:hiddenFill xmlns:a14="http://schemas.microsoft.com/office/drawing/2010/main">
                <a:solidFill>
                  <a:srgbClr val="FFFFFF"/>
                </a:solidFill>
              </a14:hiddenFill>
            </a:ext>
          </a:extLst>
        </p:spPr>
      </p:pic>
      <p:sp>
        <p:nvSpPr>
          <p:cNvPr id="2" name="Textfeld 1"/>
          <p:cNvSpPr txBox="1"/>
          <p:nvPr/>
        </p:nvSpPr>
        <p:spPr>
          <a:xfrm>
            <a:off x="3131840" y="699542"/>
            <a:ext cx="5544616" cy="923330"/>
          </a:xfrm>
          <a:prstGeom prst="rect">
            <a:avLst/>
          </a:prstGeom>
          <a:noFill/>
        </p:spPr>
        <p:txBody>
          <a:bodyPr wrap="square" rtlCol="0">
            <a:spAutoFit/>
          </a:bodyPr>
          <a:lstStyle/>
          <a:p>
            <a:r>
              <a:rPr lang="de-DE" b="1" dirty="0"/>
              <a:t>Kapitel </a:t>
            </a:r>
            <a:r>
              <a:rPr lang="de-DE" b="1" dirty="0" smtClean="0"/>
              <a:t>2.6.2 (S. 123-130)</a:t>
            </a:r>
            <a:endParaRPr lang="de-DE" b="1" dirty="0"/>
          </a:p>
          <a:p>
            <a:r>
              <a:rPr lang="de-DE" dirty="0"/>
              <a:t>„Generalisierung geometrischen </a:t>
            </a:r>
            <a:r>
              <a:rPr lang="de-DE" dirty="0" err="1"/>
              <a:t>Aspektsehens</a:t>
            </a:r>
            <a:r>
              <a:rPr lang="de-DE" dirty="0"/>
              <a:t>: Peirces Alpha-Graphen“</a:t>
            </a:r>
          </a:p>
        </p:txBody>
      </p:sp>
      <p:pic>
        <p:nvPicPr>
          <p:cNvPr id="6148" name="Picture 4" descr="undefine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13544" y="1779662"/>
            <a:ext cx="3186648" cy="3094946"/>
          </a:xfrm>
          <a:prstGeom prst="rect">
            <a:avLst/>
          </a:prstGeom>
          <a:noFill/>
          <a:extLst>
            <a:ext uri="{909E8E84-426E-40DD-AFC4-6F175D3DCCD1}">
              <a14:hiddenFill xmlns:a14="http://schemas.microsoft.com/office/drawing/2010/main">
                <a:solidFill>
                  <a:srgbClr val="FFFFFF"/>
                </a:solidFill>
              </a14:hiddenFill>
            </a:ext>
          </a:extLst>
        </p:spPr>
      </p:pic>
      <p:sp>
        <p:nvSpPr>
          <p:cNvPr id="3" name="Textfeld 2"/>
          <p:cNvSpPr txBox="1"/>
          <p:nvPr/>
        </p:nvSpPr>
        <p:spPr>
          <a:xfrm>
            <a:off x="6346204" y="2355726"/>
            <a:ext cx="2664296" cy="1200329"/>
          </a:xfrm>
          <a:prstGeom prst="rect">
            <a:avLst/>
          </a:prstGeom>
          <a:noFill/>
        </p:spPr>
        <p:txBody>
          <a:bodyPr wrap="square" rtlCol="0">
            <a:spAutoFit/>
          </a:bodyPr>
          <a:lstStyle/>
          <a:p>
            <a:pPr marL="285750" indent="-285750">
              <a:buFont typeface="Arial" panose="020B0604020202020204" pitchFamily="34" charset="0"/>
              <a:buChar char="•"/>
            </a:pPr>
            <a:r>
              <a:rPr lang="de-DE" sz="1200" dirty="0" smtClean="0"/>
              <a:t>Gleiche Aussagekraft wie klassische propositionale Logik, d. h. jede logische Kombination von Sätzen, die sich mit Alpha-Graphen zeigen lässt, lässt sich auch in </a:t>
            </a:r>
            <a:r>
              <a:rPr lang="de-DE" sz="1200" dirty="0" err="1" smtClean="0"/>
              <a:t>prop</a:t>
            </a:r>
            <a:r>
              <a:rPr lang="de-DE" sz="1200" dirty="0" smtClean="0"/>
              <a:t>. Logik zeigen und vice </a:t>
            </a:r>
            <a:r>
              <a:rPr lang="de-DE" sz="1200" dirty="0" err="1" smtClean="0"/>
              <a:t>versa</a:t>
            </a:r>
            <a:r>
              <a:rPr lang="de-DE" sz="1200" dirty="0" smtClean="0"/>
              <a:t>.</a:t>
            </a:r>
          </a:p>
        </p:txBody>
      </p:sp>
      <p:sp>
        <p:nvSpPr>
          <p:cNvPr id="4" name="Textfeld 3"/>
          <p:cNvSpPr txBox="1"/>
          <p:nvPr/>
        </p:nvSpPr>
        <p:spPr>
          <a:xfrm>
            <a:off x="6300192" y="1851670"/>
            <a:ext cx="2520280" cy="369332"/>
          </a:xfrm>
          <a:prstGeom prst="rect">
            <a:avLst/>
          </a:prstGeom>
          <a:noFill/>
        </p:spPr>
        <p:txBody>
          <a:bodyPr wrap="square" rtlCol="0">
            <a:spAutoFit/>
          </a:bodyPr>
          <a:lstStyle/>
          <a:p>
            <a:r>
              <a:rPr lang="de-DE" b="1" dirty="0" smtClean="0"/>
              <a:t>Alpha-Graphen</a:t>
            </a:r>
            <a:endParaRPr lang="de-DE" b="1" dirty="0"/>
          </a:p>
        </p:txBody>
      </p:sp>
      <p:pic>
        <p:nvPicPr>
          <p:cNvPr id="6150" name="Picture 6" descr="undefined"/>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60032" y="4243174"/>
            <a:ext cx="1800200" cy="814906"/>
          </a:xfrm>
          <a:prstGeom prst="rect">
            <a:avLst/>
          </a:prstGeom>
          <a:noFill/>
          <a:extLst>
            <a:ext uri="{909E8E84-426E-40DD-AFC4-6F175D3DCCD1}">
              <a14:hiddenFill xmlns:a14="http://schemas.microsoft.com/office/drawing/2010/main">
                <a:solidFill>
                  <a:srgbClr val="FFFFFF"/>
                </a:solidFill>
              </a14:hiddenFill>
            </a:ext>
          </a:extLst>
        </p:spPr>
      </p:pic>
      <p:sp>
        <p:nvSpPr>
          <p:cNvPr id="5" name="Textfeld 4"/>
          <p:cNvSpPr txBox="1"/>
          <p:nvPr/>
        </p:nvSpPr>
        <p:spPr>
          <a:xfrm>
            <a:off x="4932040" y="3579862"/>
            <a:ext cx="1728192" cy="369332"/>
          </a:xfrm>
          <a:prstGeom prst="rect">
            <a:avLst/>
          </a:prstGeom>
          <a:noFill/>
        </p:spPr>
        <p:txBody>
          <a:bodyPr wrap="square" rtlCol="0">
            <a:spAutoFit/>
          </a:bodyPr>
          <a:lstStyle/>
          <a:p>
            <a:r>
              <a:rPr lang="de-DE" b="1" dirty="0" smtClean="0"/>
              <a:t>Beta-Graphen</a:t>
            </a:r>
            <a:endParaRPr lang="de-DE" b="1" dirty="0"/>
          </a:p>
        </p:txBody>
      </p:sp>
      <p:sp>
        <p:nvSpPr>
          <p:cNvPr id="8" name="Textfeld 7"/>
          <p:cNvSpPr txBox="1"/>
          <p:nvPr/>
        </p:nvSpPr>
        <p:spPr>
          <a:xfrm>
            <a:off x="6660232" y="3642578"/>
            <a:ext cx="2448272" cy="707886"/>
          </a:xfrm>
          <a:prstGeom prst="rect">
            <a:avLst/>
          </a:prstGeom>
          <a:noFill/>
        </p:spPr>
        <p:txBody>
          <a:bodyPr wrap="square" rtlCol="0">
            <a:spAutoFit/>
          </a:bodyPr>
          <a:lstStyle/>
          <a:p>
            <a:r>
              <a:rPr lang="de-DE" b="1" dirty="0" smtClean="0"/>
              <a:t>Gamma-Graphen</a:t>
            </a:r>
          </a:p>
          <a:p>
            <a:pPr marL="171450" indent="-171450">
              <a:buFont typeface="Arial" panose="020B0604020202020204" pitchFamily="34" charset="0"/>
              <a:buChar char="•"/>
            </a:pPr>
            <a:r>
              <a:rPr lang="de-DE" sz="1100" dirty="0" smtClean="0"/>
              <a:t>Darstellung höherstufiger Prädikate</a:t>
            </a:r>
          </a:p>
          <a:p>
            <a:pPr marL="171450" indent="-171450">
              <a:buFont typeface="Arial" panose="020B0604020202020204" pitchFamily="34" charset="0"/>
              <a:buChar char="•"/>
            </a:pPr>
            <a:r>
              <a:rPr lang="de-DE" sz="1100" dirty="0" smtClean="0"/>
              <a:t>Modallogik</a:t>
            </a:r>
            <a:endParaRPr lang="de-DE" sz="1100" dirty="0"/>
          </a:p>
        </p:txBody>
      </p:sp>
      <p:sp>
        <p:nvSpPr>
          <p:cNvPr id="9" name="Textfeld 8"/>
          <p:cNvSpPr txBox="1"/>
          <p:nvPr/>
        </p:nvSpPr>
        <p:spPr>
          <a:xfrm>
            <a:off x="4788024" y="3996521"/>
            <a:ext cx="1800200" cy="253916"/>
          </a:xfrm>
          <a:prstGeom prst="rect">
            <a:avLst/>
          </a:prstGeom>
          <a:noFill/>
        </p:spPr>
        <p:txBody>
          <a:bodyPr wrap="square" rtlCol="0">
            <a:spAutoFit/>
          </a:bodyPr>
          <a:lstStyle/>
          <a:p>
            <a:pPr marL="285750" indent="-285750">
              <a:buFont typeface="Arial" panose="020B0604020202020204" pitchFamily="34" charset="0"/>
              <a:buChar char="•"/>
            </a:pPr>
            <a:r>
              <a:rPr lang="de-DE" sz="1050" dirty="0" smtClean="0"/>
              <a:t>Prädikatenlogik 1. Stufe</a:t>
            </a:r>
            <a:endParaRPr lang="de-DE" sz="1050" dirty="0"/>
          </a:p>
        </p:txBody>
      </p:sp>
      <p:sp>
        <p:nvSpPr>
          <p:cNvPr id="10" name="AutoShape 8" descr="Peirce’s cubes (R S-1)"/>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a:p>
        </p:txBody>
      </p:sp>
      <p:pic>
        <p:nvPicPr>
          <p:cNvPr id="6154" name="Picture 10"/>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370055" y="4299942"/>
            <a:ext cx="874353" cy="768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62871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14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15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1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8" grpId="0"/>
      <p:bldP spid="9"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hteck 5"/>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7" name="Textfeld 6"/>
          <p:cNvSpPr txBox="1"/>
          <p:nvPr/>
        </p:nvSpPr>
        <p:spPr>
          <a:xfrm>
            <a:off x="0" y="-29240"/>
            <a:ext cx="9144000" cy="584775"/>
          </a:xfrm>
          <a:prstGeom prst="rect">
            <a:avLst/>
          </a:prstGeom>
          <a:noFill/>
        </p:spPr>
        <p:txBody>
          <a:bodyPr wrap="square" rtlCol="0">
            <a:spAutoFit/>
          </a:bodyPr>
          <a:lstStyle/>
          <a:p>
            <a:pPr algn="ctr"/>
            <a:r>
              <a:rPr lang="en-US" sz="3200" dirty="0" smtClean="0">
                <a:solidFill>
                  <a:schemeClr val="bg1"/>
                </a:solidFill>
                <a:effectLst>
                  <a:outerShdw blurRad="38100" dist="38100" dir="2700000" algn="tl">
                    <a:srgbClr val="000000">
                      <a:alpha val="43137"/>
                    </a:srgbClr>
                  </a:outerShdw>
                </a:effectLst>
              </a:rPr>
              <a:t>Existential Graphs</a:t>
            </a:r>
            <a:endParaRPr lang="en-CA" sz="3200" dirty="0">
              <a:solidFill>
                <a:schemeClr val="bg1"/>
              </a:solidFill>
              <a:effectLst>
                <a:outerShdw blurRad="38100" dist="38100" dir="2700000" algn="tl">
                  <a:srgbClr val="000000">
                    <a:alpha val="43137"/>
                  </a:srgbClr>
                </a:outerShdw>
              </a:effectLst>
            </a:endParaRPr>
          </a:p>
        </p:txBody>
      </p:sp>
      <p:sp>
        <p:nvSpPr>
          <p:cNvPr id="10" name="AutoShape 8" descr="Peirce’s cubes (R S-1)"/>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a:p>
        </p:txBody>
      </p:sp>
      <p:sp>
        <p:nvSpPr>
          <p:cNvPr id="11" name="Textfeld 10"/>
          <p:cNvSpPr txBox="1"/>
          <p:nvPr/>
        </p:nvSpPr>
        <p:spPr>
          <a:xfrm>
            <a:off x="155575" y="699542"/>
            <a:ext cx="3192289" cy="369332"/>
          </a:xfrm>
          <a:prstGeom prst="rect">
            <a:avLst/>
          </a:prstGeom>
          <a:noFill/>
        </p:spPr>
        <p:txBody>
          <a:bodyPr wrap="square" rtlCol="0">
            <a:spAutoFit/>
          </a:bodyPr>
          <a:lstStyle/>
          <a:p>
            <a:r>
              <a:rPr lang="de-DE" b="1" dirty="0" smtClean="0"/>
              <a:t>Alpha-Graphen</a:t>
            </a:r>
            <a:endParaRPr lang="de-DE" b="1" dirty="0"/>
          </a:p>
        </p:txBody>
      </p:sp>
      <p:sp>
        <p:nvSpPr>
          <p:cNvPr id="12" name="AutoShape 2" descr="https://www.researchgate.net/profile/Ahti-Pietarinen/publication/315949046/figure/fig2/AS:941836751343623@1601562788835/Peirces-cubes-R-S-1.gif"/>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a:p>
        </p:txBody>
      </p:sp>
      <p:pic>
        <p:nvPicPr>
          <p:cNvPr id="18" name="Picture 4" descr="undefin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504" y="1131590"/>
            <a:ext cx="3822908" cy="3712896"/>
          </a:xfrm>
          <a:prstGeom prst="rect">
            <a:avLst/>
          </a:prstGeom>
          <a:noFill/>
          <a:extLst>
            <a:ext uri="{909E8E84-426E-40DD-AFC4-6F175D3DCCD1}">
              <a14:hiddenFill xmlns:a14="http://schemas.microsoft.com/office/drawing/2010/main">
                <a:solidFill>
                  <a:srgbClr val="FFFFFF"/>
                </a:solidFill>
              </a14:hiddenFill>
            </a:ext>
          </a:extLst>
        </p:spPr>
      </p:pic>
      <p:sp>
        <p:nvSpPr>
          <p:cNvPr id="19" name="Textfeld 18"/>
          <p:cNvSpPr txBox="1"/>
          <p:nvPr/>
        </p:nvSpPr>
        <p:spPr>
          <a:xfrm>
            <a:off x="4067944" y="667276"/>
            <a:ext cx="3192289" cy="369332"/>
          </a:xfrm>
          <a:prstGeom prst="rect">
            <a:avLst/>
          </a:prstGeom>
          <a:noFill/>
        </p:spPr>
        <p:txBody>
          <a:bodyPr wrap="square" rtlCol="0">
            <a:spAutoFit/>
          </a:bodyPr>
          <a:lstStyle/>
          <a:p>
            <a:r>
              <a:rPr lang="de-DE" b="1" dirty="0" smtClean="0"/>
              <a:t>Beta-Graphen</a:t>
            </a:r>
            <a:endParaRPr lang="de-DE" b="1" dirty="0"/>
          </a:p>
        </p:txBody>
      </p:sp>
      <p:pic>
        <p:nvPicPr>
          <p:cNvPr id="819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95936" y="1210884"/>
            <a:ext cx="5040560" cy="3449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71158309"/>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hteck 5"/>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7" name="Textfeld 6"/>
          <p:cNvSpPr txBox="1"/>
          <p:nvPr/>
        </p:nvSpPr>
        <p:spPr>
          <a:xfrm>
            <a:off x="0" y="-29240"/>
            <a:ext cx="9144000" cy="584775"/>
          </a:xfrm>
          <a:prstGeom prst="rect">
            <a:avLst/>
          </a:prstGeom>
          <a:noFill/>
        </p:spPr>
        <p:txBody>
          <a:bodyPr wrap="square" rtlCol="0">
            <a:spAutoFit/>
          </a:bodyPr>
          <a:lstStyle/>
          <a:p>
            <a:pPr algn="ctr"/>
            <a:r>
              <a:rPr lang="en-US" sz="3200" dirty="0" smtClean="0">
                <a:solidFill>
                  <a:schemeClr val="bg1"/>
                </a:solidFill>
                <a:effectLst>
                  <a:outerShdw blurRad="38100" dist="38100" dir="2700000" algn="tl">
                    <a:srgbClr val="000000">
                      <a:alpha val="43137"/>
                    </a:srgbClr>
                  </a:outerShdw>
                </a:effectLst>
              </a:rPr>
              <a:t>Existential Graphs</a:t>
            </a:r>
            <a:endParaRPr lang="en-CA" sz="3200" dirty="0">
              <a:solidFill>
                <a:schemeClr val="bg1"/>
              </a:solidFill>
              <a:effectLst>
                <a:outerShdw blurRad="38100" dist="38100" dir="2700000" algn="tl">
                  <a:srgbClr val="000000">
                    <a:alpha val="43137"/>
                  </a:srgbClr>
                </a:outerShdw>
              </a:effectLst>
            </a:endParaRPr>
          </a:p>
        </p:txBody>
      </p:sp>
      <p:sp>
        <p:nvSpPr>
          <p:cNvPr id="10" name="AutoShape 8" descr="Peirce’s cubes (R S-1)"/>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a:p>
        </p:txBody>
      </p:sp>
      <p:sp>
        <p:nvSpPr>
          <p:cNvPr id="11" name="Textfeld 10"/>
          <p:cNvSpPr txBox="1"/>
          <p:nvPr/>
        </p:nvSpPr>
        <p:spPr>
          <a:xfrm>
            <a:off x="155575" y="699542"/>
            <a:ext cx="3192289" cy="369332"/>
          </a:xfrm>
          <a:prstGeom prst="rect">
            <a:avLst/>
          </a:prstGeom>
          <a:noFill/>
        </p:spPr>
        <p:txBody>
          <a:bodyPr wrap="square" rtlCol="0">
            <a:spAutoFit/>
          </a:bodyPr>
          <a:lstStyle/>
          <a:p>
            <a:r>
              <a:rPr lang="de-DE" b="1" dirty="0" smtClean="0"/>
              <a:t>Gamma-Graphen</a:t>
            </a:r>
            <a:endParaRPr lang="de-DE" b="1" dirty="0"/>
          </a:p>
        </p:txBody>
      </p:sp>
      <p:sp>
        <p:nvSpPr>
          <p:cNvPr id="12" name="AutoShape 2" descr="https://www.researchgate.net/profile/Ahti-Pietarinen/publication/315949046/figure/fig2/AS:941836751343623@1601562788835/Peirces-cubes-R-S-1.gif"/>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a:p>
        </p:txBody>
      </p:sp>
      <p:pic>
        <p:nvPicPr>
          <p:cNvPr id="8195" name="Picture 3" descr="C:\Users\Anton\Desktop\Peirces-cubes-R-S-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9632" y="1210816"/>
            <a:ext cx="6624736" cy="34615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2386356"/>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xecutive">
  <a:themeElements>
    <a:clrScheme name="Executive">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xecuti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xecutiv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2508</Words>
  <Application>Microsoft Office PowerPoint</Application>
  <PresentationFormat>Bildschirmpräsentation (16:9)</PresentationFormat>
  <Paragraphs>351</Paragraphs>
  <Slides>58</Slides>
  <Notes>16</Notes>
  <HiddenSlides>0</HiddenSlides>
  <MMClips>0</MMClips>
  <ScaleCrop>false</ScaleCrop>
  <HeadingPairs>
    <vt:vector size="4" baseType="variant">
      <vt:variant>
        <vt:lpstr>Design</vt:lpstr>
      </vt:variant>
      <vt:variant>
        <vt:i4>2</vt:i4>
      </vt:variant>
      <vt:variant>
        <vt:lpstr>Folientitel</vt:lpstr>
      </vt:variant>
      <vt:variant>
        <vt:i4>58</vt:i4>
      </vt:variant>
    </vt:vector>
  </HeadingPairs>
  <TitlesOfParts>
    <vt:vector size="60" baseType="lpstr">
      <vt:lpstr>Executive</vt:lpstr>
      <vt:lpstr>Larissa</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Anton</dc:creator>
  <cp:lastModifiedBy>Anton </cp:lastModifiedBy>
  <cp:revision>74</cp:revision>
  <dcterms:created xsi:type="dcterms:W3CDTF">2025-05-07T17:31:55Z</dcterms:created>
  <dcterms:modified xsi:type="dcterms:W3CDTF">2025-12-22T22:56:14Z</dcterms:modified>
</cp:coreProperties>
</file>