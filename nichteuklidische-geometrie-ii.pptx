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84" r:id="rId2"/>
  </p:sldMasterIdLst>
  <p:notesMasterIdLst>
    <p:notesMasterId r:id="rId39"/>
  </p:notesMasterIdLst>
  <p:sldIdLst>
    <p:sldId id="257" r:id="rId3"/>
    <p:sldId id="258" r:id="rId4"/>
    <p:sldId id="281" r:id="rId5"/>
    <p:sldId id="280" r:id="rId6"/>
    <p:sldId id="284" r:id="rId7"/>
    <p:sldId id="260" r:id="rId8"/>
    <p:sldId id="265" r:id="rId9"/>
    <p:sldId id="263" r:id="rId10"/>
    <p:sldId id="264" r:id="rId11"/>
    <p:sldId id="262" r:id="rId12"/>
    <p:sldId id="297" r:id="rId13"/>
    <p:sldId id="293" r:id="rId14"/>
    <p:sldId id="283" r:id="rId15"/>
    <p:sldId id="267" r:id="rId16"/>
    <p:sldId id="298" r:id="rId17"/>
    <p:sldId id="266" r:id="rId18"/>
    <p:sldId id="268" r:id="rId19"/>
    <p:sldId id="269" r:id="rId20"/>
    <p:sldId id="285" r:id="rId21"/>
    <p:sldId id="300" r:id="rId22"/>
    <p:sldId id="286" r:id="rId23"/>
    <p:sldId id="288" r:id="rId24"/>
    <p:sldId id="299" r:id="rId25"/>
    <p:sldId id="289" r:id="rId26"/>
    <p:sldId id="274" r:id="rId27"/>
    <p:sldId id="301" r:id="rId28"/>
    <p:sldId id="273" r:id="rId29"/>
    <p:sldId id="272" r:id="rId30"/>
    <p:sldId id="270" r:id="rId31"/>
    <p:sldId id="271" r:id="rId32"/>
    <p:sldId id="302" r:id="rId33"/>
    <p:sldId id="276" r:id="rId34"/>
    <p:sldId id="275" r:id="rId35"/>
    <p:sldId id="291" r:id="rId36"/>
    <p:sldId id="290" r:id="rId37"/>
    <p:sldId id="296" r:id="rId3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 autoAdjust="0"/>
    <p:restoredTop sz="94707" autoAdjust="0"/>
  </p:normalViewPr>
  <p:slideViewPr>
    <p:cSldViewPr>
      <p:cViewPr>
        <p:scale>
          <a:sx n="125" d="100"/>
          <a:sy n="125" d="100"/>
        </p:scale>
        <p:origin x="-1224" y="-46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1E794B-B507-4F8C-834E-22ABBEDE4371}" type="datetimeFigureOut">
              <a:rPr lang="de-DE" smtClean="0"/>
              <a:t>29.06.2026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FFB3B3-BF9C-48FD-A37B-C57A148E537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8239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FB3B3-BF9C-48FD-A37B-C57A148E537C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66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FB3B3-BF9C-48FD-A37B-C57A148E537C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66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FB3B3-BF9C-48FD-A37B-C57A148E537C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66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FB3B3-BF9C-48FD-A37B-C57A148E537C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66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FB3B3-BF9C-48FD-A37B-C57A148E537C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668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FB3B3-BF9C-48FD-A37B-C57A148E537C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668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FB3B3-BF9C-48FD-A37B-C57A148E537C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668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FB3B3-BF9C-48FD-A37B-C57A148E537C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668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FB3B3-BF9C-48FD-A37B-C57A148E537C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668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FB3B3-BF9C-48FD-A37B-C57A148E537C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668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FB3B3-BF9C-48FD-A37B-C57A148E537C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668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FB3B3-BF9C-48FD-A37B-C57A148E537C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668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FB3B3-BF9C-48FD-A37B-C57A148E537C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668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FB3B3-BF9C-48FD-A37B-C57A148E537C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668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FB3B3-BF9C-48FD-A37B-C57A148E537C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668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FB3B3-BF9C-48FD-A37B-C57A148E537C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668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FB3B3-BF9C-48FD-A37B-C57A148E537C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668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FB3B3-BF9C-48FD-A37B-C57A148E537C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668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FB3B3-BF9C-48FD-A37B-C57A148E537C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668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FB3B3-BF9C-48FD-A37B-C57A148E537C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668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FB3B3-BF9C-48FD-A37B-C57A148E537C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668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FB3B3-BF9C-48FD-A37B-C57A148E537C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668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FB3B3-BF9C-48FD-A37B-C57A148E537C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668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FB3B3-BF9C-48FD-A37B-C57A148E537C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668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FB3B3-BF9C-48FD-A37B-C57A148E537C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668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FB3B3-BF9C-48FD-A37B-C57A148E537C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6683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FB3B3-BF9C-48FD-A37B-C57A148E537C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668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FB3B3-BF9C-48FD-A37B-C57A148E537C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668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FB3B3-BF9C-48FD-A37B-C57A148E537C}" type="slidenum">
              <a:rPr lang="de-DE" smtClean="0"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668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FB3B3-BF9C-48FD-A37B-C57A148E537C}" type="slidenum">
              <a:rPr lang="de-DE" smtClean="0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668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FB3B3-BF9C-48FD-A37B-C57A148E537C}" type="slidenum">
              <a:rPr lang="de-DE" smtClean="0"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668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FB3B3-BF9C-48FD-A37B-C57A148E537C}" type="slidenum">
              <a:rPr lang="de-DE" smtClean="0"/>
              <a:t>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668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FB3B3-BF9C-48FD-A37B-C57A148E537C}" type="slidenum">
              <a:rPr lang="de-DE" smtClean="0"/>
              <a:t>33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6683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 err="1" smtClean="0"/>
              <a:t>Torettis</a:t>
            </a:r>
            <a:r>
              <a:rPr lang="de-DE" dirty="0" smtClean="0"/>
              <a:t> </a:t>
            </a:r>
            <a:r>
              <a:rPr lang="de-DE" dirty="0" err="1" smtClean="0"/>
              <a:t>kritik</a:t>
            </a:r>
            <a:r>
              <a:rPr lang="de-DE" dirty="0" smtClean="0"/>
              <a:t> mit dem rudern etc.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FB3B3-BF9C-48FD-A37B-C57A148E537C}" type="slidenum">
              <a:rPr lang="de-DE" smtClean="0"/>
              <a:t>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668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FB3B3-BF9C-48FD-A37B-C57A148E537C}" type="slidenum">
              <a:rPr lang="de-DE" smtClean="0"/>
              <a:t>35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6683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FB3B3-BF9C-48FD-A37B-C57A148E537C}" type="slidenum">
              <a:rPr lang="de-DE" smtClean="0"/>
              <a:t>36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766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1"/>
            <a:ext cx="7772400" cy="32004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14750"/>
            <a:ext cx="6400800" cy="9144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June 29, 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028701"/>
            <a:ext cx="7772400" cy="1878806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051573"/>
            <a:ext cx="7772400" cy="848915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June 29,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200150"/>
            <a:ext cx="4041648" cy="339471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4040188" cy="4572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1" y="1200150"/>
            <a:ext cx="4041775" cy="4572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June 29,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1659636"/>
            <a:ext cx="4041648" cy="2935224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1659637"/>
            <a:ext cx="4041648" cy="293489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June 29,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June 29,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8" y="200025"/>
            <a:ext cx="3008313" cy="1571625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8" y="204788"/>
            <a:ext cx="4995863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8" y="1828801"/>
            <a:ext cx="3008313" cy="2765822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June 29,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171450"/>
            <a:ext cx="5711824" cy="671513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857250"/>
            <a:ext cx="6054724" cy="3405783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4357688"/>
            <a:ext cx="5711824" cy="40005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June 29,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June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June 29, 2026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512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June 29, 2026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4909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June 29, 2026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978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June 29, 2026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3288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June 29, 2026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0057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June 29, 2026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4353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June 29, 2026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177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June 29, 2026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8829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June 29, 2026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7813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June 29, 2026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4767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June 29, 2026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919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001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8" y="4767263"/>
            <a:ext cx="2085975" cy="273844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2B1B13E-D5AF-485E-81A1-82A140076526}" type="datetime4">
              <a:rPr lang="en-US" smtClean="0"/>
              <a:pPr/>
              <a:t>June 29,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6" y="4767263"/>
            <a:ext cx="2847975" cy="273844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9" y="4767263"/>
            <a:ext cx="561975" cy="273844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8457760" y="4874538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4874538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1B13E-D5AF-485E-81A1-82A140076526}" type="datetime4">
              <a:rPr lang="en-US" smtClean="0"/>
              <a:pPr/>
              <a:t>June 29, 2026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594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jpe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microsoft.com/office/2007/relationships/hdphoto" Target="../media/hdphoto3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microsoft.com/office/2007/relationships/hdphoto" Target="../media/hdphoto4.wdp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0.jpeg"/><Relationship Id="rId4" Type="http://schemas.microsoft.com/office/2007/relationships/hdphoto" Target="../media/hdphoto2.wdp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6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8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oincaré-Kreisscheibe - Lexikon der Mathematik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034" y="1662990"/>
            <a:ext cx="1674662" cy="1677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21" descr="Hintergrundstrahlung – Wikipedi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131840" y="1995686"/>
            <a:ext cx="5773707" cy="2886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9" name="Picture 25" descr="hyperbolic geometry - Is projection an isometry from the poincare disk to a  two-sheeted hyperboloid? - Mathematics Stack Exchange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761660"/>
            <a:ext cx="4536504" cy="3402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hteck 3"/>
          <p:cNvSpPr/>
          <p:nvPr/>
        </p:nvSpPr>
        <p:spPr>
          <a:xfrm>
            <a:off x="0" y="29111"/>
            <a:ext cx="9144000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5200" b="1" dirty="0" smtClean="0"/>
              <a:t>Nichteuklidische Geometrie</a:t>
            </a:r>
          </a:p>
          <a:p>
            <a:pPr algn="ctr"/>
            <a:r>
              <a:rPr lang="de-DE" sz="4200" b="1" dirty="0" smtClean="0">
                <a:solidFill>
                  <a:srgbClr val="FF0000"/>
                </a:solidFill>
              </a:rPr>
              <a:t>Philosophische Konsequenzen II</a:t>
            </a:r>
          </a:p>
        </p:txBody>
      </p:sp>
      <p:pic>
        <p:nvPicPr>
          <p:cNvPr id="1027" name="Picture 3" descr="D:\Downloads\images.png"/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45" b="100000" l="0" r="97993">
                        <a14:foregroundMark x1="9854" y1="98569" x2="73358" y2="99106"/>
                        <a14:foregroundMark x1="46533" y1="25045" x2="45620" y2="41145"/>
                        <a14:foregroundMark x1="47993" y1="44902" x2="36131" y2="33274"/>
                        <a14:foregroundMark x1="38139" y1="32379" x2="47628" y2="38283"/>
                        <a14:foregroundMark x1="35219" y1="40787" x2="32482" y2="35242"/>
                        <a14:foregroundMark x1="45620" y1="52236" x2="53832" y2="62970"/>
                        <a14:foregroundMark x1="30839" y1="53309" x2="21715" y2="58676"/>
                        <a14:foregroundMark x1="18248" y1="61181" x2="9854" y2="68873"/>
                        <a14:foregroundMark x1="9854" y1="68873" x2="4015" y2="83363"/>
                        <a14:foregroundMark x1="4015" y1="83363" x2="2190" y2="96601"/>
                        <a14:foregroundMark x1="39964" y1="12522" x2="32482" y2="25045"/>
                        <a14:foregroundMark x1="31387" y1="25581" x2="32664" y2="20751"/>
                        <a14:foregroundMark x1="33212" y1="20215" x2="36314" y2="15742"/>
                        <a14:foregroundMark x1="31569" y1="24508" x2="31387" y2="28444"/>
                        <a14:foregroundMark x1="7299" y1="73166" x2="1277" y2="86941"/>
                        <a14:foregroundMark x1="5474" y1="73703" x2="1277" y2="85510"/>
                        <a14:foregroundMark x1="2372" y1="84794" x2="1277" y2="88730"/>
                        <a14:foregroundMark x1="36679" y1="44186" x2="36496" y2="50089"/>
                        <a14:backgroundMark x1="14781" y1="35242" x2="12226" y2="62970"/>
                        <a14:backgroundMark x1="5109" y1="68515" x2="912" y2="88909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246132"/>
            <a:ext cx="3820675" cy="3897368"/>
          </a:xfrm>
          <a:prstGeom prst="rect">
            <a:avLst/>
          </a:prstGeom>
          <a:noFill/>
          <a:effectLst>
            <a:glow rad="63500">
              <a:schemeClr val="accent6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Hans Reichenbach (Physiker) – Wikipedia"/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0" r="100000">
                        <a14:foregroundMark x1="22000" y1="16809" x2="30000" y2="4843"/>
                        <a14:foregroundMark x1="82800" y1="17379" x2="78800" y2="28775"/>
                        <a14:foregroundMark x1="23200" y1="10826" x2="19200" y2="18803"/>
                        <a14:foregroundMark x1="31600" y1="4558" x2="66000" y2="1994"/>
                        <a14:foregroundMark x1="33600" y1="4558" x2="43600" y2="1425"/>
                        <a14:foregroundMark x1="41600" y1="2279" x2="57600" y2="1994"/>
                        <a14:foregroundMark x1="68800" y1="73504" x2="82400" y2="99145"/>
                        <a14:foregroundMark x1="64800" y1="65242" x2="78000" y2="81481"/>
                        <a14:backgroundMark x1="6000" y1="9972" x2="7200" y2="44160"/>
                        <a14:backgroundMark x1="10800" y1="47293" x2="21200" y2="48433"/>
                        <a14:backgroundMark x1="83600" y1="5128" x2="93200" y2="21652"/>
                        <a14:backgroundMark x1="30800" y1="1994" x2="34000" y2="285"/>
                        <a14:backgroundMark x1="23200" y1="45869" x2="13200" y2="5099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588224" y="1524467"/>
            <a:ext cx="2592288" cy="3639572"/>
          </a:xfrm>
          <a:prstGeom prst="rect">
            <a:avLst/>
          </a:prstGeom>
          <a:noFill/>
          <a:effectLst>
            <a:glow rad="63500">
              <a:schemeClr val="accent6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9618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feld 15"/>
          <p:cNvSpPr txBox="1"/>
          <p:nvPr/>
        </p:nvSpPr>
        <p:spPr>
          <a:xfrm>
            <a:off x="-10142" y="1707654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Verteidiger Euklids</a:t>
            </a:r>
            <a:endParaRPr lang="de-DE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265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ermann Lotze - Wikipe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512926"/>
            <a:ext cx="2100633" cy="3148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ilhelm Wundt – Wikipedi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636826"/>
            <a:ext cx="2160240" cy="2980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251520" y="123478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Hermann Lotze</a:t>
            </a:r>
            <a:endParaRPr lang="de-D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2555776" y="132770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Wilhelm Wundt</a:t>
            </a:r>
            <a:endParaRPr lang="de-D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4" name="Picture 6" descr="Charles Renouvier – Wikipedi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636826"/>
            <a:ext cx="1975208" cy="295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hteck 3"/>
          <p:cNvSpPr/>
          <p:nvPr/>
        </p:nvSpPr>
        <p:spPr>
          <a:xfrm>
            <a:off x="4716016" y="132770"/>
            <a:ext cx="20377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Charles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Renouvier</a:t>
            </a:r>
            <a:endParaRPr lang="de-D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6" name="Picture 8" descr="Joseph Delboeuf – Wikipedia"/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636826"/>
            <a:ext cx="2145216" cy="295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hteck 4"/>
          <p:cNvSpPr/>
          <p:nvPr/>
        </p:nvSpPr>
        <p:spPr>
          <a:xfrm>
            <a:off x="7076670" y="132770"/>
            <a:ext cx="18069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Joseph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Delboeuf</a:t>
            </a:r>
            <a:endParaRPr lang="de-D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elle 9"/>
          <p:cNvGraphicFramePr>
            <a:graphicFrameLocks noGrp="1"/>
          </p:cNvGraphicFramePr>
          <p:nvPr/>
        </p:nvGraphicFramePr>
        <p:xfrm>
          <a:off x="457200" y="2714307"/>
          <a:ext cx="8229600" cy="365760"/>
        </p:xfrm>
        <a:graphic>
          <a:graphicData uri="http://schemas.openxmlformats.org/drawingml/2006/table">
            <a:tbl>
              <a:tblPr/>
              <a:tblGrid>
                <a:gridCol w="8229600"/>
              </a:tblGrid>
              <a:tr h="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el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834772"/>
              </p:ext>
            </p:extLst>
          </p:nvPr>
        </p:nvGraphicFramePr>
        <p:xfrm>
          <a:off x="173068" y="3778726"/>
          <a:ext cx="2094676" cy="1097280"/>
        </p:xfrm>
        <a:graphic>
          <a:graphicData uri="http://schemas.openxmlformats.org/drawingml/2006/table">
            <a:tbl>
              <a:tblPr/>
              <a:tblGrid>
                <a:gridCol w="2094676"/>
              </a:tblGrid>
              <a:tr h="0">
                <a:tc>
                  <a:txBody>
                    <a:bodyPr/>
                    <a:lstStyle/>
                    <a:p>
                      <a:r>
                        <a:rPr lang="de-DE" sz="1100" b="0" dirty="0"/>
                        <a:t>Hermann Lotze, </a:t>
                      </a:r>
                      <a:r>
                        <a:rPr lang="de-DE" sz="1100" b="0" i="1" dirty="0"/>
                        <a:t>System der Philosophie. Zweiter </a:t>
                      </a:r>
                      <a:r>
                        <a:rPr lang="de-DE" sz="1100" b="0" i="1" dirty="0" err="1"/>
                        <a:t>Theil</a:t>
                      </a:r>
                      <a:r>
                        <a:rPr lang="de-DE" sz="1100" b="0" i="1" dirty="0"/>
                        <a:t>: Metaphysik. Drei Bücher der Ontologie, Kosmologie und Psychologie</a:t>
                      </a:r>
                      <a:r>
                        <a:rPr lang="de-DE" sz="1100" b="0" dirty="0"/>
                        <a:t>, Leipzig: S. Hirzel, 1879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Rechteck 11"/>
          <p:cNvSpPr/>
          <p:nvPr/>
        </p:nvSpPr>
        <p:spPr>
          <a:xfrm>
            <a:off x="2304256" y="3723878"/>
            <a:ext cx="219573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100" dirty="0"/>
              <a:t>Wilhelm Wundt, </a:t>
            </a:r>
            <a:r>
              <a:rPr lang="de-DE" sz="1100" i="1" dirty="0"/>
              <a:t>Logik. Eine Untersuchung der </a:t>
            </a:r>
            <a:r>
              <a:rPr lang="de-DE" sz="1100" i="1" dirty="0" err="1"/>
              <a:t>Principien</a:t>
            </a:r>
            <a:r>
              <a:rPr lang="de-DE" sz="1100" i="1" dirty="0"/>
              <a:t> der </a:t>
            </a:r>
            <a:r>
              <a:rPr lang="de-DE" sz="1100" i="1" dirty="0" err="1"/>
              <a:t>Erkenntniss</a:t>
            </a:r>
            <a:r>
              <a:rPr lang="de-DE" sz="1100" i="1" dirty="0"/>
              <a:t> und der Methoden wissenschaftlicher Forschung</a:t>
            </a:r>
            <a:r>
              <a:rPr lang="de-DE" sz="1100" dirty="0"/>
              <a:t>, Bd. I: Erkenntnislehre, Stuttgart: Enke, 1880 bzw. spätere Auflagen</a:t>
            </a:r>
          </a:p>
        </p:txBody>
      </p:sp>
      <p:sp>
        <p:nvSpPr>
          <p:cNvPr id="13" name="Rechteck 12"/>
          <p:cNvSpPr/>
          <p:nvPr/>
        </p:nvSpPr>
        <p:spPr>
          <a:xfrm>
            <a:off x="4708788" y="3707035"/>
            <a:ext cx="198243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050" dirty="0"/>
              <a:t>Charles Renouvier, „La philosophie de la règle et du compas. Théorie logique du jugement dans ses applications aux idées géométriques et à la méthode des géomètres“, </a:t>
            </a:r>
            <a:r>
              <a:rPr lang="fr-FR" sz="1050" i="1" dirty="0"/>
              <a:t>L’Année philosophique</a:t>
            </a:r>
            <a:r>
              <a:rPr lang="fr-FR" sz="1050" dirty="0"/>
              <a:t> 2, 1891, S. 1–66</a:t>
            </a:r>
            <a:endParaRPr lang="de-DE" sz="1050" dirty="0"/>
          </a:p>
        </p:txBody>
      </p:sp>
      <p:sp>
        <p:nvSpPr>
          <p:cNvPr id="14" name="Rechteck 13"/>
          <p:cNvSpPr/>
          <p:nvPr/>
        </p:nvSpPr>
        <p:spPr>
          <a:xfrm>
            <a:off x="6876256" y="3723878"/>
            <a:ext cx="214521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/>
              <a:t>Joseph </a:t>
            </a:r>
            <a:r>
              <a:rPr lang="fr-FR" sz="1200" dirty="0" err="1"/>
              <a:t>Delboeuf</a:t>
            </a:r>
            <a:r>
              <a:rPr lang="fr-FR" sz="1200" dirty="0"/>
              <a:t>, </a:t>
            </a:r>
            <a:r>
              <a:rPr lang="fr-FR" sz="1200" i="1" dirty="0"/>
              <a:t>Prolégomènes philosophiques de la géométrie et solution des postulats</a:t>
            </a:r>
            <a:r>
              <a:rPr lang="fr-FR" sz="1200" dirty="0"/>
              <a:t>, Liège: J. </a:t>
            </a:r>
            <a:r>
              <a:rPr lang="fr-FR" sz="1200" dirty="0" err="1"/>
              <a:t>Desoer</a:t>
            </a:r>
            <a:r>
              <a:rPr lang="fr-FR" sz="1200" dirty="0"/>
              <a:t>, 1860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2540752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feld 15"/>
          <p:cNvSpPr txBox="1"/>
          <p:nvPr/>
        </p:nvSpPr>
        <p:spPr>
          <a:xfrm>
            <a:off x="-10142" y="1720428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Das Problem des Apriorismus</a:t>
            </a:r>
            <a:endParaRPr lang="de-DE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539552" y="2634466"/>
            <a:ext cx="8208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Wie kann Euklid apriorisch gelten, wenn 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nichteuklidische Geometrien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konsistent sind? </a:t>
            </a:r>
          </a:p>
        </p:txBody>
      </p:sp>
    </p:spTree>
    <p:extLst>
      <p:ext uri="{BB962C8B-B14F-4D97-AF65-F5344CB8AC3E}">
        <p14:creationId xmlns:p14="http://schemas.microsoft.com/office/powerpoint/2010/main" val="3867425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feld 15"/>
          <p:cNvSpPr txBox="1"/>
          <p:nvPr/>
        </p:nvSpPr>
        <p:spPr>
          <a:xfrm>
            <a:off x="-10142" y="1271538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Konsistenz und Unabhängigkeit</a:t>
            </a:r>
            <a:endParaRPr lang="de-DE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384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179512" y="195486"/>
            <a:ext cx="3888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„Modell“</a:t>
            </a:r>
            <a:endParaRPr lang="de-D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232470" y="699542"/>
            <a:ext cx="84969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de-D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Ein Modell eines </a:t>
            </a:r>
            <a:r>
              <a:rPr lang="de-DE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Axiomensystems</a:t>
            </a:r>
            <a:r>
              <a:rPr lang="de-D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ist eine Interpretation der undefinierten Grundbegriffe, bei der alle Axiome des Systems wahr werden.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920" y="2020229"/>
            <a:ext cx="4680520" cy="504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625" y="2499743"/>
            <a:ext cx="4652416" cy="999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625" y="3723878"/>
            <a:ext cx="5562600" cy="117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Gerade Verbindung 6"/>
          <p:cNvCxnSpPr/>
          <p:nvPr/>
        </p:nvCxnSpPr>
        <p:spPr>
          <a:xfrm>
            <a:off x="279625" y="1899871"/>
            <a:ext cx="854084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9764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07504" y="123478"/>
            <a:ext cx="3312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Konsistenz</a:t>
            </a:r>
            <a:endParaRPr lang="de-D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771550"/>
            <a:ext cx="8823898" cy="2790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09087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07504" y="123478"/>
            <a:ext cx="3312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Konsistenz</a:t>
            </a:r>
            <a:endParaRPr lang="de-D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804969"/>
            <a:ext cx="8496944" cy="2821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038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07504" y="123478"/>
            <a:ext cx="3312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Konsistenz</a:t>
            </a:r>
            <a:endParaRPr lang="de-D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771550"/>
            <a:ext cx="8496944" cy="34501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856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07504" y="123478"/>
            <a:ext cx="7056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Konsistenz: </a:t>
            </a:r>
            <a:r>
              <a:rPr lang="de-DE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</a:t>
            </a:r>
            <a:r>
              <a:rPr lang="de-DE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(E) </a:t>
            </a:r>
            <a:r>
              <a:rPr lang="de-DE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⇒ </a:t>
            </a:r>
            <a:r>
              <a:rPr lang="de-DE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Con</a:t>
            </a:r>
            <a:r>
              <a:rPr lang="de-DE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(H)</a:t>
            </a:r>
            <a:endParaRPr lang="de-D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107504" y="699542"/>
            <a:ext cx="885698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 baut </a:t>
            </a:r>
            <a:r>
              <a:rPr lang="de-DE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innerhalb der euklidischen Geometrie</a:t>
            </a:r>
            <a:r>
              <a:rPr lang="de-DE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ein Modell der hyperbolischen Geometrie.</a:t>
            </a:r>
          </a:p>
        </p:txBody>
      </p:sp>
      <p:pic>
        <p:nvPicPr>
          <p:cNvPr id="3074" name="Picture 2" descr="https://cdn.discordapp.com/attachments/1483066022482415721/1510732560966226131/image.png?ex=6a3e2f96&amp;is=6a3cde16&amp;hm=fb26456d8238cad01f1aba4724743fca2e3cfda5a92108f496a7e9318e889d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32" y="1248295"/>
            <a:ext cx="8352928" cy="354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6306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s://cdn.discordapp.com/attachments/1484123966112268432/1517172664932896798/relativitaetstheorie-und-erkenntnis-apriori-taschenbuch-hans-reichenbach.png?ex=6a389c67&amp;is=6a374ae7&amp;hm=f7ff76399d0a01a2c0baab46189a53cac4294ab0860710346fb936640e0755b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098" y="123478"/>
            <a:ext cx="2899664" cy="4495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s://upload.wikimedia.org/wikipedia/commons/6/66/H_Reichenbach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95486"/>
            <a:ext cx="3210598" cy="4512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363838"/>
            <a:ext cx="7754937" cy="177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40495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395536" y="483518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de-DE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Zwei Bedeutungen des Apriori-Begriffs</a:t>
            </a:r>
          </a:p>
          <a:p>
            <a:pPr fontAlgn="base"/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„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 Begriff des Apriori hat bei Kant zwei verschiedene Bedeutungen. Einmal heißt er soviel wie ‚apodiktisch gültig‘, ‚für alle Zeiten gültig‘, und zweitens bedeutet er ‚den Gegenstandsbegriff konstituierend‘.“ (S. 46)</a:t>
            </a:r>
          </a:p>
        </p:txBody>
      </p:sp>
      <p:pic>
        <p:nvPicPr>
          <p:cNvPr id="5" name="Picture 4" descr="https://cdn.discordapp.com/attachments/1484123966112268432/1517172664932896798/relativitaetstheorie-und-erkenntnis-apriori-taschenbuch-hans-reichenbach.png?ex=6a389c67&amp;is=6a374ae7&amp;hm=f7ff76399d0a01a2c0baab46189a53cac4294ab0860710346fb936640e0755b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098" y="381000"/>
            <a:ext cx="2899664" cy="4495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0533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0"/>
          <a:stretch/>
        </p:blipFill>
        <p:spPr bwMode="auto">
          <a:xfrm>
            <a:off x="835204" y="195486"/>
            <a:ext cx="4032448" cy="4700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 descr="https://cdn.discordapp.com/attachments/1484123966112268432/1517172664932896798/relativitaetstheorie-und-erkenntnis-apriori-taschenbuch-hans-reichenbach.png?ex=6a389c67&amp;is=6a374ae7&amp;hm=f7ff76399d0a01a2c0baab46189a53cac4294ab0860710346fb936640e0755b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098" y="381000"/>
            <a:ext cx="2899664" cy="4495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1842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2051720" y="1403359"/>
            <a:ext cx="47525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Empirismus</a:t>
            </a:r>
            <a:endParaRPr lang="de-DE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827584" y="2603688"/>
            <a:ext cx="80648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Um herauszufinden, was die „wahre“ Geometrie ist, muss man messen.</a:t>
            </a:r>
            <a:endParaRPr lang="de-D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079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576064" y="123478"/>
            <a:ext cx="89644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Mechanik und Geometrie</a:t>
            </a:r>
            <a:endParaRPr lang="de-DE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https://upload.wikimedia.org/wikipedia/commons/9/9b/Carl_Friedrich_Gaus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1347614"/>
            <a:ext cx="2736304" cy="3521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953" y="1347614"/>
            <a:ext cx="3892055" cy="3509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3835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107504" y="104314"/>
            <a:ext cx="5904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Mechanik und Geometrie</a:t>
            </a:r>
            <a:endParaRPr lang="de-D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207449"/>
            <a:ext cx="7488832" cy="359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Gerade Verbindung 4"/>
          <p:cNvCxnSpPr/>
          <p:nvPr/>
        </p:nvCxnSpPr>
        <p:spPr>
          <a:xfrm>
            <a:off x="7596336" y="627534"/>
            <a:ext cx="0" cy="4176464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6"/>
          <p:cNvCxnSpPr/>
          <p:nvPr/>
        </p:nvCxnSpPr>
        <p:spPr>
          <a:xfrm>
            <a:off x="2135336" y="589434"/>
            <a:ext cx="0" cy="4176464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feld 1"/>
          <p:cNvSpPr txBox="1"/>
          <p:nvPr/>
        </p:nvSpPr>
        <p:spPr>
          <a:xfrm>
            <a:off x="179512" y="627534"/>
            <a:ext cx="6048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Parallelenpostulat und Hebelgesetze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(Lambert, Fourier)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542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107504" y="104314"/>
            <a:ext cx="5904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Mechanik und Geometrie</a:t>
            </a:r>
            <a:endParaRPr lang="de-D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feld 1"/>
          <p:cNvSpPr txBox="1"/>
          <p:nvPr/>
        </p:nvSpPr>
        <p:spPr>
          <a:xfrm>
            <a:off x="179512" y="627534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Kräfteparallelogramm (Lagrange)</a:t>
            </a:r>
            <a:endParaRPr lang="de-DE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347614"/>
            <a:ext cx="2247900" cy="296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1233313"/>
            <a:ext cx="2628900" cy="319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1070967"/>
            <a:ext cx="2581275" cy="322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Pfeil nach rechts 2"/>
          <p:cNvSpPr/>
          <p:nvPr/>
        </p:nvSpPr>
        <p:spPr>
          <a:xfrm>
            <a:off x="2483768" y="2211710"/>
            <a:ext cx="504056" cy="2496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Pfeil nach rechts 8"/>
          <p:cNvSpPr/>
          <p:nvPr/>
        </p:nvSpPr>
        <p:spPr>
          <a:xfrm>
            <a:off x="5724128" y="2211709"/>
            <a:ext cx="504056" cy="2496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490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107504" y="104314"/>
            <a:ext cx="5904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Mechanik und Geometrie</a:t>
            </a:r>
            <a:endParaRPr lang="de-D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feld 1"/>
          <p:cNvSpPr txBox="1"/>
          <p:nvPr/>
        </p:nvSpPr>
        <p:spPr>
          <a:xfrm>
            <a:off x="179512" y="627534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Gravitationsgesetz (Laplace)</a:t>
            </a:r>
            <a:endParaRPr lang="de-DE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upload.wikimedia.org/wikipedia/commons/e/e3/Pierre-Simon_Laplace.jpg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24364" y1="61167" x2="12000" y2="95167"/>
                        <a14:foregroundMark x1="28909" y1="95167" x2="41818" y2="89500"/>
                        <a14:foregroundMark x1="59091" y1="45167" x2="92545" y2="94167"/>
                        <a14:foregroundMark x1="68000" y1="67167" x2="67455" y2="91500"/>
                        <a14:foregroundMark x1="82727" y1="55667" x2="96909" y2="91500"/>
                        <a14:foregroundMark x1="62364" y1="70500" x2="61636" y2="96833"/>
                        <a14:foregroundMark x1="72182" y1="76500" x2="78364" y2="93833"/>
                        <a14:foregroundMark x1="78364" y1="93833" x2="85636" y2="99167"/>
                        <a14:backgroundMark x1="78182" y1="41000" x2="85455" y2="45667"/>
                        <a14:backgroundMark x1="95455" y1="57667" x2="99091" y2="67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949826"/>
            <a:ext cx="3870598" cy="4222471"/>
          </a:xfrm>
          <a:prstGeom prst="rect">
            <a:avLst/>
          </a:prstGeom>
          <a:noFill/>
          <a:effectLst>
            <a:glow rad="101600">
              <a:schemeClr val="bg1">
                <a:lumMod val="75000"/>
                <a:alpha val="6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upload.wikimedia.org/wikipedia/commons/thumb/0/0e/NewtonsLawOfUniversalGravitation.svg/960px-NewtonsLawOfUniversalGravitation.svg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761660"/>
            <a:ext cx="4752528" cy="2970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feld 2"/>
          <p:cNvSpPr txBox="1"/>
          <p:nvPr/>
        </p:nvSpPr>
        <p:spPr>
          <a:xfrm>
            <a:off x="5580112" y="557267"/>
            <a:ext cx="295232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Pierre-Simon Laplace</a:t>
            </a:r>
          </a:p>
          <a:p>
            <a:pPr algn="ctr"/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(1749-1827)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323528" y="1194306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Skalierungsinvarianz und euklidische Ähnlichkeit</a:t>
            </a:r>
            <a:endParaRPr lang="de-D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755576" y="4731990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„inverse-</a:t>
            </a:r>
            <a:r>
              <a:rPr lang="de-DE" dirty="0" err="1" smtClean="0"/>
              <a:t>square</a:t>
            </a:r>
            <a:r>
              <a:rPr lang="de-DE" dirty="0" smtClean="0"/>
              <a:t> </a:t>
            </a:r>
            <a:r>
              <a:rPr lang="de-DE" dirty="0" err="1" smtClean="0"/>
              <a:t>law</a:t>
            </a:r>
            <a:r>
              <a:rPr lang="de-DE" dirty="0" smtClean="0"/>
              <a:t>“</a:t>
            </a:r>
            <a:endParaRPr lang="de-DE" dirty="0"/>
          </a:p>
        </p:txBody>
      </p:sp>
      <p:cxnSp>
        <p:nvCxnSpPr>
          <p:cNvPr id="8" name="Gerade Verbindung mit Pfeil 7"/>
          <p:cNvCxnSpPr/>
          <p:nvPr/>
        </p:nvCxnSpPr>
        <p:spPr>
          <a:xfrm flipV="1">
            <a:off x="2897907" y="4568924"/>
            <a:ext cx="809997" cy="32868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0476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/>
        </p:nvSpPr>
        <p:spPr>
          <a:xfrm>
            <a:off x="-180528" y="1275606"/>
            <a:ext cx="957706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Wie misst man die Geometrie des Raums?</a:t>
            </a:r>
            <a:endParaRPr lang="de-DE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0210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1115616" y="339502"/>
            <a:ext cx="2736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Geometrie </a:t>
            </a:r>
            <a:endParaRPr lang="de-D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796136" y="339502"/>
            <a:ext cx="2736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Topologie</a:t>
            </a:r>
            <a:endParaRPr lang="de-D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upload.wikimedia.org/wikipedia/commons/9/98/End_of_univers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698" y="1131590"/>
            <a:ext cx="3707904" cy="3335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0717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/>
        </p:nvSpPr>
        <p:spPr>
          <a:xfrm>
            <a:off x="-36512" y="135672"/>
            <a:ext cx="9145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Gauß: Messung eines terrestrischen Dreiecks</a:t>
            </a:r>
            <a:endParaRPr lang="de-DE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1059582"/>
            <a:ext cx="2661223" cy="3736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 descr="https://upload.wikimedia.org/wikipedia/commons/thumb/c/cb/Dreieckssystem-%C3%9Cbersicht_Gau%C3%9F-Ausstellung_Bomann-Museum_%281%29.JPG/960px-Dreieckssystem-%C3%9Cbersicht_Gau%C3%9F-Ausstellung_Bomann-Museum_%281%29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046530"/>
            <a:ext cx="4752528" cy="3757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1235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/>
        </p:nvSpPr>
        <p:spPr>
          <a:xfrm>
            <a:off x="-252536" y="114767"/>
            <a:ext cx="9145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Lobatschewski</a:t>
            </a:r>
            <a:r>
              <a:rPr lang="de-DE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Messung eines stellaren Dreiecks</a:t>
            </a:r>
            <a:endParaRPr lang="de-DE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002382"/>
            <a:ext cx="6202363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 descr="https://upload.wikimedia.org/wikipedia/commons/4/4d/Lobachevsky_03_crop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1222792"/>
            <a:ext cx="2214690" cy="3149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6547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/>
        </p:nvSpPr>
        <p:spPr>
          <a:xfrm>
            <a:off x="35496" y="114767"/>
            <a:ext cx="91450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Prinzip der Sternenparallaxe</a:t>
            </a:r>
            <a:endParaRPr lang="de-DE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Definition eines Parsecs anhand des Systems Sonne-Erde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976773"/>
            <a:ext cx="4104456" cy="3899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s://upload.wikimedia.org/wikipedia/commons/thumb/5/51/ParallaxV2.svg/1280px-ParallaxV2.svg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636" y="1497874"/>
            <a:ext cx="4248472" cy="309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7943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s://upload.wikimedia.org/wikipedia/commons/thumb/e/ed/WMAP_2012.png/1920px-WMAP_201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059581"/>
            <a:ext cx="7776864" cy="3888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feld 5"/>
          <p:cNvSpPr txBox="1"/>
          <p:nvPr/>
        </p:nvSpPr>
        <p:spPr>
          <a:xfrm>
            <a:off x="35496" y="114767"/>
            <a:ext cx="9145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Kosmische </a:t>
            </a:r>
            <a:r>
              <a:rPr lang="de-DE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Mikrowellenhintergrundstrahlung</a:t>
            </a:r>
          </a:p>
        </p:txBody>
      </p:sp>
    </p:spTree>
    <p:extLst>
      <p:ext uri="{BB962C8B-B14F-4D97-AF65-F5344CB8AC3E}">
        <p14:creationId xmlns:p14="http://schemas.microsoft.com/office/powerpoint/2010/main" val="2682769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107504" y="32306"/>
            <a:ext cx="9865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Probleme der Messung</a:t>
            </a:r>
            <a:endParaRPr lang="de-D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27534"/>
            <a:ext cx="4520265" cy="440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1"/>
          <a:stretch/>
        </p:blipFill>
        <p:spPr bwMode="auto">
          <a:xfrm>
            <a:off x="5436096" y="367133"/>
            <a:ext cx="2988819" cy="458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4067944" y="4825484"/>
            <a:ext cx="12241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S. 291</a:t>
            </a:r>
            <a:endParaRPr lang="de-D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5237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143245" y="2283718"/>
            <a:ext cx="3744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Koordinationsregeln</a:t>
            </a:r>
            <a:endParaRPr lang="de-D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215253" y="2859782"/>
            <a:ext cx="60129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Beispiele:</a:t>
            </a:r>
            <a:endParaRPr lang="de-D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„Gerade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 ↔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Bahn eines Lichtstrahls im Vakuum. </a:t>
            </a:r>
          </a:p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„Länge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“↔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Anzeige eines Messstabs. </a:t>
            </a:r>
          </a:p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„Zeitintervall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“↔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Anzeige einer Uhr. </a:t>
            </a:r>
          </a:p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„Gleich lang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“↔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zwei Stäbe lassen sich zur Deckung bringen. </a:t>
            </a:r>
          </a:p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„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Geodäte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 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↔Bahn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eines frei fallenden Testkörpers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4" descr="Hans Reichenbach (Physiker) – Wikipedia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22000" y1="16809" x2="30000" y2="4843"/>
                        <a14:foregroundMark x1="82800" y1="17379" x2="78800" y2="28775"/>
                        <a14:foregroundMark x1="23200" y1="10826" x2="19200" y2="18803"/>
                        <a14:foregroundMark x1="31600" y1="4558" x2="66000" y2="1994"/>
                        <a14:foregroundMark x1="33600" y1="4558" x2="43600" y2="1425"/>
                        <a14:foregroundMark x1="41600" y1="2279" x2="57600" y2="1994"/>
                        <a14:foregroundMark x1="68800" y1="73504" x2="82400" y2="99145"/>
                        <a14:foregroundMark x1="64800" y1="65242" x2="78000" y2="81481"/>
                        <a14:backgroundMark x1="6000" y1="9972" x2="7200" y2="44160"/>
                        <a14:backgroundMark x1="10800" y1="47293" x2="21200" y2="48433"/>
                        <a14:backgroundMark x1="83600" y1="5128" x2="93200" y2="21652"/>
                        <a14:backgroundMark x1="30800" y1="1994" x2="34000" y2="285"/>
                        <a14:backgroundMark x1="23200" y1="45869" x2="13200" y2="5099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319627" y="2551358"/>
            <a:ext cx="1860883" cy="261268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hteck 8"/>
          <p:cNvSpPr/>
          <p:nvPr/>
        </p:nvSpPr>
        <p:spPr>
          <a:xfrm>
            <a:off x="179512" y="1131590"/>
            <a:ext cx="87849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„Die Mathematik lehrt nur die 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möglichen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Räume kennen, die Physik entscheidet, welcher unter diesen dem </a:t>
            </a:r>
            <a:r>
              <a:rPr lang="de-DE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wirklichen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Raum 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entspricht“ (S. 14)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192805" y="1851670"/>
            <a:ext cx="5976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Bedeutungs- und Zuordnungsdefinitionen</a:t>
            </a:r>
            <a:endParaRPr lang="de-D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&quot;Philosophie der Raum-Zeit-Lehre&quot; online kaufen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1648306"/>
            <a:ext cx="1440160" cy="2184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feld 9"/>
          <p:cNvSpPr txBox="1"/>
          <p:nvPr/>
        </p:nvSpPr>
        <p:spPr>
          <a:xfrm>
            <a:off x="179512" y="195486"/>
            <a:ext cx="98650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Hans Reichenbach</a:t>
            </a:r>
            <a:endParaRPr lang="de-DE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032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339502"/>
            <a:ext cx="9036496" cy="2989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feld 3"/>
          <p:cNvSpPr txBox="1"/>
          <p:nvPr/>
        </p:nvSpPr>
        <p:spPr>
          <a:xfrm>
            <a:off x="107504" y="-20538"/>
            <a:ext cx="9865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Probleme der Messung</a:t>
            </a:r>
            <a:endParaRPr lang="de-D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212"/>
          <a:stretch/>
        </p:blipFill>
        <p:spPr bwMode="auto">
          <a:xfrm>
            <a:off x="1259632" y="3316722"/>
            <a:ext cx="5184576" cy="767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1259632" y="4155926"/>
            <a:ext cx="5184576" cy="85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 descr="Hans Reichenbach (Physiker) – Wikipedia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22000" y1="16809" x2="30000" y2="4843"/>
                        <a14:foregroundMark x1="82800" y1="17379" x2="78800" y2="28775"/>
                        <a14:foregroundMark x1="23200" y1="10826" x2="19200" y2="18803"/>
                        <a14:foregroundMark x1="31600" y1="4558" x2="66000" y2="1994"/>
                        <a14:foregroundMark x1="33600" y1="4558" x2="43600" y2="1425"/>
                        <a14:foregroundMark x1="41600" y1="2279" x2="57600" y2="1994"/>
                        <a14:foregroundMark x1="68800" y1="73504" x2="82400" y2="99145"/>
                        <a14:foregroundMark x1="64800" y1="65242" x2="78000" y2="81481"/>
                        <a14:backgroundMark x1="6000" y1="9972" x2="7200" y2="44160"/>
                        <a14:backgroundMark x1="10800" y1="47293" x2="21200" y2="48433"/>
                        <a14:backgroundMark x1="83600" y1="5128" x2="93200" y2="21652"/>
                        <a14:backgroundMark x1="30800" y1="1994" x2="34000" y2="285"/>
                        <a14:backgroundMark x1="23200" y1="45869" x2="13200" y2="5099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588224" y="1524467"/>
            <a:ext cx="2592288" cy="3639572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5119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107504" y="104314"/>
            <a:ext cx="9865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Probleme der Messung</a:t>
            </a:r>
            <a:endParaRPr lang="de-D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362" name="Picture 2" descr="https://cdn.discordapp.com/attachments/1484123966112268432/1517899107094499590/image.png?ex=6a3946b4&amp;is=6a37f534&amp;hm=4877bd71f11995d7840071f8d963b46ce03c7191af65aa9224bed18bc22a68f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63" y="699542"/>
            <a:ext cx="8444930" cy="2736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251520" y="3572892"/>
            <a:ext cx="878497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Philosophischer Sinn:</a:t>
            </a:r>
          </a:p>
          <a:p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Dieselben Messungen lassen zwei Deutungen zu: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Der Raum ist wirklich gekrümmt.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Der Raum ist euklidisch, aber die Maßstabe werden durch universelle Kräfte verzerrt.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391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107504" y="104314"/>
            <a:ext cx="9865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„Muttersprache“ und „Muttergeometrie“</a:t>
            </a:r>
            <a:endParaRPr lang="de-D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7" b="1506"/>
          <a:stretch/>
        </p:blipFill>
        <p:spPr bwMode="auto">
          <a:xfrm>
            <a:off x="257299" y="863843"/>
            <a:ext cx="8563173" cy="3292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feld 2"/>
          <p:cNvSpPr txBox="1"/>
          <p:nvPr/>
        </p:nvSpPr>
        <p:spPr>
          <a:xfrm>
            <a:off x="323528" y="4443958"/>
            <a:ext cx="8496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Philosophie der Raum-Zeit-Lehre</a:t>
            </a:r>
            <a:r>
              <a:rPr lang="de-DE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S. 72</a:t>
            </a:r>
            <a:endParaRPr lang="de-D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806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107504" y="104314"/>
            <a:ext cx="9865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Geometrie und Gewöhnung</a:t>
            </a:r>
            <a:endParaRPr lang="de-D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feld 1"/>
          <p:cNvSpPr txBox="1"/>
          <p:nvPr/>
        </p:nvSpPr>
        <p:spPr>
          <a:xfrm>
            <a:off x="251520" y="699542"/>
            <a:ext cx="87129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DE" dirty="0"/>
              <a:t>„Alle Einstellung auf Kongruenz ist ein Produkt der Gewöhnung; die Gewöhnung ist vollzogen, wenn bei Bewegung der Objekte oder des Beobachters das veränderte Anschauungsbild als veränderte Perspektive, nicht aber als Formänderung der Objekte erlebt wird</a:t>
            </a:r>
            <a:r>
              <a:rPr lang="de-DE" dirty="0" smtClean="0"/>
              <a:t>.“ (S. 71)</a:t>
            </a:r>
            <a:endParaRPr lang="de-DE" dirty="0"/>
          </a:p>
        </p:txBody>
      </p:sp>
      <p:pic>
        <p:nvPicPr>
          <p:cNvPr id="8194" name="Picture 2" descr="Wie stelle ich den Außenspiegel richtig ein?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067694"/>
            <a:ext cx="3456384" cy="259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ttps://upload.wikimedia.org/wikipedia/commons/thumb/3/3a/Belay_Glasses.jpg/1280px-Belay_Glasses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067694"/>
            <a:ext cx="3467708" cy="2589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9622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107504" y="104314"/>
            <a:ext cx="9865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Hans Hahn: Geometrie und Gewöhnung</a:t>
            </a:r>
            <a:endParaRPr lang="de-D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795" y="915566"/>
            <a:ext cx="6221413" cy="299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 descr="Hans Hahn – Wikipedi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915566"/>
            <a:ext cx="2381250" cy="386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4005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/>
        </p:nvSpPr>
        <p:spPr>
          <a:xfrm>
            <a:off x="0" y="1875477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Nachtrag zu Teil I</a:t>
            </a:r>
            <a:endParaRPr lang="de-DE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696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107504" y="104314"/>
            <a:ext cx="554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Poincaréscher</a:t>
            </a:r>
            <a:r>
              <a:rPr lang="de-DE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Konventionalismus</a:t>
            </a:r>
            <a:endParaRPr lang="de-D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3" descr="D:\Downloads\images.png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945" b="100000" l="0" r="97993">
                        <a14:foregroundMark x1="9854" y1="98569" x2="73358" y2="99106"/>
                        <a14:foregroundMark x1="46533" y1="25045" x2="45620" y2="41145"/>
                        <a14:foregroundMark x1="47993" y1="44902" x2="36131" y2="33274"/>
                        <a14:foregroundMark x1="38139" y1="32379" x2="47628" y2="38283"/>
                        <a14:foregroundMark x1="35219" y1="40787" x2="32482" y2="35242"/>
                        <a14:foregroundMark x1="45620" y1="52236" x2="53832" y2="62970"/>
                        <a14:foregroundMark x1="30839" y1="53309" x2="21715" y2="58676"/>
                        <a14:foregroundMark x1="18248" y1="61181" x2="9854" y2="68873"/>
                        <a14:foregroundMark x1="9854" y1="68873" x2="4015" y2="83363"/>
                        <a14:foregroundMark x1="4015" y1="83363" x2="2190" y2="96601"/>
                        <a14:foregroundMark x1="39964" y1="12522" x2="32482" y2="25045"/>
                        <a14:foregroundMark x1="31387" y1="25581" x2="32664" y2="20751"/>
                        <a14:foregroundMark x1="33212" y1="20215" x2="36314" y2="15742"/>
                        <a14:foregroundMark x1="31569" y1="24508" x2="31387" y2="28444"/>
                        <a14:foregroundMark x1="7299" y1="73166" x2="1277" y2="86941"/>
                        <a14:foregroundMark x1="5474" y1="73703" x2="1277" y2="85510"/>
                        <a14:foregroundMark x1="2372" y1="84794" x2="1277" y2="88730"/>
                        <a14:foregroundMark x1="36679" y1="44186" x2="36496" y2="50089"/>
                        <a14:backgroundMark x1="14781" y1="35242" x2="12226" y2="62970"/>
                        <a14:backgroundMark x1="5109" y1="68515" x2="912" y2="88909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148064" y="1046310"/>
            <a:ext cx="4036699" cy="4117728"/>
          </a:xfrm>
          <a:prstGeom prst="rect">
            <a:avLst/>
          </a:prstGeom>
          <a:noFill/>
          <a:effectLst>
            <a:glow rad="101600">
              <a:schemeClr val="bg1">
                <a:lumMod val="85000"/>
                <a:alpha val="6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107504" y="618823"/>
            <a:ext cx="88569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Geometrische Axiome 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sind weder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synthetisch-apriorische Wahrheiten noch experimentelle Tatsachen. </a:t>
            </a:r>
          </a:p>
          <a:p>
            <a:endParaRPr lang="de-DE" dirty="0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     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Sie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sind Konventionen („verkleidete Definitionen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“)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1187624" y="2176019"/>
            <a:ext cx="22322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Euklidisch </a:t>
            </a:r>
          </a:p>
          <a:p>
            <a:pPr algn="ctr"/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vs.</a:t>
            </a:r>
          </a:p>
          <a:p>
            <a:pPr algn="ctr"/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Nichteuklidisch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Pfeil nach links und rechts 5"/>
          <p:cNvSpPr/>
          <p:nvPr/>
        </p:nvSpPr>
        <p:spPr>
          <a:xfrm>
            <a:off x="3131840" y="2434434"/>
            <a:ext cx="792088" cy="245641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/>
          <p:cNvSpPr txBox="1"/>
          <p:nvPr/>
        </p:nvSpPr>
        <p:spPr>
          <a:xfrm>
            <a:off x="3849290" y="2176019"/>
            <a:ext cx="14041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Elle </a:t>
            </a:r>
          </a:p>
          <a:p>
            <a:pPr algn="ctr"/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vs.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Yard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hteck 7"/>
          <p:cNvSpPr/>
          <p:nvPr/>
        </p:nvSpPr>
        <p:spPr>
          <a:xfrm>
            <a:off x="1475804" y="2067694"/>
            <a:ext cx="3683359" cy="11462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/>
          <p:cNvSpPr txBox="1"/>
          <p:nvPr/>
        </p:nvSpPr>
        <p:spPr>
          <a:xfrm>
            <a:off x="323528" y="3387645"/>
            <a:ext cx="49076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Nützlichkeitserwägungen</a:t>
            </a:r>
            <a:br>
              <a:rPr lang="de-DE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de-DE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technischen Anwendungen: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Euklidsch</a:t>
            </a:r>
            <a:endParaRPr lang="de-DE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der Relativitätstheorie: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Nichteuklidisch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13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107504" y="51470"/>
            <a:ext cx="89289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Psychophysische Genese der Geometrie</a:t>
            </a:r>
            <a:endParaRPr lang="de-D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feld 1"/>
          <p:cNvSpPr txBox="1"/>
          <p:nvPr/>
        </p:nvSpPr>
        <p:spPr>
          <a:xfrm>
            <a:off x="539552" y="629275"/>
            <a:ext cx="8640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Zustandsveränderung: 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Farbveränderung, Formveränderung, … [</a:t>
            </a:r>
            <a:r>
              <a:rPr lang="de-D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unkompensierbar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r>
              <a:rPr lang="de-DE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Ortsänderung: 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Translation, Rotation, usw. [durch Bewegung </a:t>
            </a:r>
            <a:r>
              <a:rPr lang="de-D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kompensierbar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419622"/>
            <a:ext cx="7056784" cy="3518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feld 2"/>
          <p:cNvSpPr txBox="1"/>
          <p:nvPr/>
        </p:nvSpPr>
        <p:spPr>
          <a:xfrm>
            <a:off x="2506628" y="2624013"/>
            <a:ext cx="648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4007236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feld 8"/>
          <p:cNvSpPr txBox="1"/>
          <p:nvPr/>
        </p:nvSpPr>
        <p:spPr>
          <a:xfrm>
            <a:off x="323528" y="123478"/>
            <a:ext cx="87129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Inwiefern </a:t>
            </a:r>
            <a:r>
              <a:rPr lang="de-DE" sz="3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widerspricht</a:t>
            </a:r>
            <a:r>
              <a:rPr lang="de-DE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die nichteuklidische Geometrie der euklidischen?</a:t>
            </a:r>
            <a:endParaRPr lang="de-DE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:\Downloads\ChatGPT Image Jun 23, 2026, 10_55_43 PM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4" b="12907"/>
          <a:stretch/>
        </p:blipFill>
        <p:spPr bwMode="auto">
          <a:xfrm>
            <a:off x="727475" y="1347614"/>
            <a:ext cx="7588941" cy="3435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5951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feld 8"/>
          <p:cNvSpPr txBox="1"/>
          <p:nvPr/>
        </p:nvSpPr>
        <p:spPr>
          <a:xfrm>
            <a:off x="323528" y="123478"/>
            <a:ext cx="87129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Inwiefern </a:t>
            </a:r>
            <a:r>
              <a:rPr lang="de-DE" sz="3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widerspricht</a:t>
            </a:r>
            <a:r>
              <a:rPr lang="de-DE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die nichteuklidische Geometrie der euklidischen?</a:t>
            </a:r>
            <a:endParaRPr lang="de-DE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feld 1"/>
          <p:cNvSpPr txBox="1"/>
          <p:nvPr/>
        </p:nvSpPr>
        <p:spPr>
          <a:xfrm>
            <a:off x="251520" y="1419622"/>
            <a:ext cx="8568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Implizite Definition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Bestimmung eines Begriffs nicht durch direkte Erklärung, sondern durch seine 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Stellung in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einem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Axiomensystem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3" name="Textfeld 2"/>
          <p:cNvSpPr txBox="1"/>
          <p:nvPr/>
        </p:nvSpPr>
        <p:spPr>
          <a:xfrm>
            <a:off x="755576" y="2254101"/>
            <a:ext cx="7704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„Punkt, Gerade, Ebene“ </a:t>
            </a:r>
            <a:r>
              <a:rPr lang="de-DE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 „Tische, Stühle, Bierseidel“</a:t>
            </a:r>
            <a:endParaRPr lang="de-D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982441"/>
            <a:ext cx="2390775" cy="153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013" y="2859782"/>
            <a:ext cx="2276475" cy="181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feld 3"/>
          <p:cNvSpPr txBox="1"/>
          <p:nvPr/>
        </p:nvSpPr>
        <p:spPr>
          <a:xfrm>
            <a:off x="2627784" y="3147814"/>
            <a:ext cx="40324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„Banks </a:t>
            </a:r>
            <a:r>
              <a:rPr lang="de-DE" dirty="0" err="1" smtClean="0"/>
              <a:t>are</a:t>
            </a:r>
            <a:r>
              <a:rPr lang="de-DE" dirty="0" smtClean="0"/>
              <a:t> a </a:t>
            </a:r>
            <a:r>
              <a:rPr lang="de-DE" dirty="0" err="1" smtClean="0"/>
              <a:t>good</a:t>
            </a:r>
            <a:r>
              <a:rPr lang="de-DE" dirty="0" smtClean="0"/>
              <a:t> </a:t>
            </a:r>
            <a:r>
              <a:rPr lang="de-DE" dirty="0" err="1" smtClean="0"/>
              <a:t>place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store</a:t>
            </a:r>
            <a:r>
              <a:rPr lang="de-DE" dirty="0" smtClean="0"/>
              <a:t> </a:t>
            </a:r>
            <a:r>
              <a:rPr lang="de-DE" dirty="0" err="1" smtClean="0"/>
              <a:t>money</a:t>
            </a:r>
            <a:r>
              <a:rPr lang="de-DE" dirty="0" smtClean="0"/>
              <a:t>“</a:t>
            </a:r>
          </a:p>
          <a:p>
            <a:endParaRPr lang="de-DE" dirty="0"/>
          </a:p>
          <a:p>
            <a:r>
              <a:rPr lang="de-DE" dirty="0" smtClean="0"/>
              <a:t>„Banks </a:t>
            </a:r>
            <a:r>
              <a:rPr lang="de-DE" dirty="0" err="1" smtClean="0"/>
              <a:t>are</a:t>
            </a:r>
            <a:r>
              <a:rPr lang="de-DE" dirty="0" smtClean="0"/>
              <a:t> a </a:t>
            </a:r>
            <a:r>
              <a:rPr lang="de-DE" dirty="0" err="1" smtClean="0"/>
              <a:t>poor</a:t>
            </a:r>
            <a:r>
              <a:rPr lang="de-DE" dirty="0" smtClean="0"/>
              <a:t> </a:t>
            </a:r>
            <a:r>
              <a:rPr lang="de-DE" dirty="0" err="1" smtClean="0"/>
              <a:t>place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store</a:t>
            </a:r>
            <a:r>
              <a:rPr lang="de-DE" dirty="0" smtClean="0"/>
              <a:t> </a:t>
            </a:r>
            <a:r>
              <a:rPr lang="de-DE" dirty="0" err="1" smtClean="0"/>
              <a:t>money</a:t>
            </a:r>
            <a:r>
              <a:rPr lang="de-DE" dirty="0" smtClean="0"/>
              <a:t>“</a:t>
            </a:r>
            <a:endParaRPr lang="de-DE" sz="3200" dirty="0"/>
          </a:p>
        </p:txBody>
      </p:sp>
      <p:sp>
        <p:nvSpPr>
          <p:cNvPr id="5" name="Rechteck 4"/>
          <p:cNvSpPr/>
          <p:nvPr/>
        </p:nvSpPr>
        <p:spPr>
          <a:xfrm>
            <a:off x="4234794" y="4155926"/>
            <a:ext cx="48122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sz="4000" dirty="0"/>
              <a:t>↯</a:t>
            </a:r>
          </a:p>
        </p:txBody>
      </p:sp>
    </p:spTree>
    <p:extLst>
      <p:ext uri="{BB962C8B-B14F-4D97-AF65-F5344CB8AC3E}">
        <p14:creationId xmlns:p14="http://schemas.microsoft.com/office/powerpoint/2010/main" val="748208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0</TotalTime>
  <Words>702</Words>
  <Application>Microsoft Office PowerPoint</Application>
  <PresentationFormat>Bildschirmpräsentation (16:9)</PresentationFormat>
  <Paragraphs>130</Paragraphs>
  <Slides>36</Slides>
  <Notes>36</Notes>
  <HiddenSlides>0</HiddenSlides>
  <MMClips>0</MMClips>
  <ScaleCrop>false</ScaleCrop>
  <HeadingPairs>
    <vt:vector size="4" baseType="variant">
      <vt:variant>
        <vt:lpstr>Design</vt:lpstr>
      </vt:variant>
      <vt:variant>
        <vt:i4>2</vt:i4>
      </vt:variant>
      <vt:variant>
        <vt:lpstr>Folientitel</vt:lpstr>
      </vt:variant>
      <vt:variant>
        <vt:i4>36</vt:i4>
      </vt:variant>
    </vt:vector>
  </HeadingPairs>
  <TitlesOfParts>
    <vt:vector size="38" baseType="lpstr">
      <vt:lpstr>Executive</vt:lpstr>
      <vt:lpstr>Larissa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Anton</dc:creator>
  <cp:lastModifiedBy>Anton </cp:lastModifiedBy>
  <cp:revision>71</cp:revision>
  <dcterms:created xsi:type="dcterms:W3CDTF">2026-06-19T12:08:57Z</dcterms:created>
  <dcterms:modified xsi:type="dcterms:W3CDTF">2026-06-29T17:21:32Z</dcterms:modified>
</cp:coreProperties>
</file>